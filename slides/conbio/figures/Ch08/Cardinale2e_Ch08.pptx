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 id="2147483675" r:id="rId5"/>
  </p:sldMasterIdLst>
  <p:notesMasterIdLst>
    <p:notesMasterId r:id="rId31"/>
  </p:notesMasterIdLst>
  <p:handoutMasterIdLst>
    <p:handoutMasterId r:id="rId32"/>
  </p:handoutMasterIdLst>
  <p:sldIdLst>
    <p:sldId id="301" r:id="rId6"/>
    <p:sldId id="304" r:id="rId7"/>
    <p:sldId id="308" r:id="rId8"/>
    <p:sldId id="313" r:id="rId9"/>
    <p:sldId id="314" r:id="rId10"/>
    <p:sldId id="305" r:id="rId11"/>
    <p:sldId id="306" r:id="rId12"/>
    <p:sldId id="315" r:id="rId13"/>
    <p:sldId id="307" r:id="rId14"/>
    <p:sldId id="316" r:id="rId15"/>
    <p:sldId id="309" r:id="rId16"/>
    <p:sldId id="310" r:id="rId17"/>
    <p:sldId id="317" r:id="rId18"/>
    <p:sldId id="318" r:id="rId19"/>
    <p:sldId id="319" r:id="rId20"/>
    <p:sldId id="320" r:id="rId21"/>
    <p:sldId id="321" r:id="rId22"/>
    <p:sldId id="322" r:id="rId23"/>
    <p:sldId id="323" r:id="rId24"/>
    <p:sldId id="324" r:id="rId25"/>
    <p:sldId id="311" r:id="rId26"/>
    <p:sldId id="312" r:id="rId27"/>
    <p:sldId id="325" r:id="rId28"/>
    <p:sldId id="326" r:id="rId29"/>
    <p:sldId id="327" r:id="rId30"/>
  </p:sldIdLst>
  <p:sldSz cx="12192000" cy="68580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41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A47"/>
    <a:srgbClr val="014478"/>
    <a:srgbClr val="001B47"/>
    <a:srgbClr val="1F497D"/>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74" autoAdjust="0"/>
    <p:restoredTop sz="82303" autoAdjust="0"/>
  </p:normalViewPr>
  <p:slideViewPr>
    <p:cSldViewPr snapToGrid="0" snapToObjects="1" showGuides="1">
      <p:cViewPr varScale="1">
        <p:scale>
          <a:sx n="87" d="100"/>
          <a:sy n="87" d="100"/>
        </p:scale>
        <p:origin x="1314" y="102"/>
      </p:cViewPr>
      <p:guideLst>
        <p:guide orient="horz" pos="2160"/>
        <p:guide pos="3840"/>
        <p:guide orient="horz" pos="415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showGuides="1">
      <p:cViewPr varScale="1">
        <p:scale>
          <a:sx n="85" d="100"/>
          <a:sy n="85" d="100"/>
        </p:scale>
        <p:origin x="3132"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33484EFE-59B9-4DD1-9E31-555AF443E27A}" type="datetimeFigureOut">
              <a:rPr lang="en-US"/>
              <a:pPr>
                <a:defRPr/>
              </a:pPr>
              <a:t>11/22/2024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F0E10CF-C023-475F-8DBA-2466A9B4A087}"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0FC2DBE2-B7F6-4C15-91C1-319B21052016}" type="datetimeFigureOut">
              <a:rPr lang="en-US"/>
              <a:pPr>
                <a:defRPr/>
              </a:pPr>
              <a:t>11/22/2024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F6F973A6-1012-42FB-8183-4D3C37B2EBC3}"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IN" altLang="en-US" smtClean="0"/>
          </a:p>
        </p:txBody>
      </p:sp>
      <p:sp>
        <p:nvSpPr>
          <p:cNvPr id="4" name="Slide Number Placeholder 3"/>
          <p:cNvSpPr>
            <a:spLocks noGrp="1"/>
          </p:cNvSpPr>
          <p:nvPr>
            <p:ph type="sldNum" sz="quarter" idx="5"/>
          </p:nvPr>
        </p:nvSpPr>
        <p:spPr/>
        <p:txBody>
          <a:bodyPr/>
          <a:lstStyle/>
          <a:p>
            <a:pPr>
              <a:defRPr/>
            </a:pPr>
            <a:fld id="{9612BA8A-E8E9-4511-909B-839A2B6A42FB}" type="slidenum">
              <a:rPr lang="en-US" smtClean="0"/>
              <a:pPr>
                <a:defRPr/>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iconic baobab tree faces ever-increasing threats from climate change and habitat loss. The most threatened of the African baobabs is </a:t>
            </a:r>
            <a:r>
              <a:rPr lang="en-US" sz="1200" b="0" i="1" u="none" strike="noStrike" kern="1200" baseline="0" dirty="0" err="1" smtClean="0">
                <a:solidFill>
                  <a:schemeClr val="tx1"/>
                </a:solidFill>
                <a:latin typeface="+mn-lt"/>
                <a:ea typeface="+mn-ea"/>
                <a:cs typeface="+mn-cs"/>
              </a:rPr>
              <a:t>Adansonia</a:t>
            </a:r>
            <a:r>
              <a:rPr lang="en-US" sz="1200" b="0" i="1" u="none" strike="noStrike" kern="1200" baseline="0" dirty="0" smtClean="0">
                <a:solidFill>
                  <a:schemeClr val="tx1"/>
                </a:solidFill>
                <a:latin typeface="+mn-lt"/>
                <a:ea typeface="+mn-ea"/>
                <a:cs typeface="+mn-cs"/>
              </a:rPr>
              <a:t> </a:t>
            </a:r>
            <a:r>
              <a:rPr lang="en-US" sz="1200" b="0" i="1" u="none" strike="noStrike" kern="1200" baseline="0" dirty="0" err="1" smtClean="0">
                <a:solidFill>
                  <a:schemeClr val="tx1"/>
                </a:solidFill>
                <a:latin typeface="+mn-lt"/>
                <a:ea typeface="+mn-ea"/>
                <a:cs typeface="+mn-cs"/>
              </a:rPr>
              <a:t>perrieri</a:t>
            </a:r>
            <a:r>
              <a:rPr lang="en-US" sz="1200" b="0" i="0" u="none" strike="noStrike" kern="1200" baseline="0" dirty="0" smtClean="0">
                <a:solidFill>
                  <a:schemeClr val="tx1"/>
                </a:solidFill>
                <a:latin typeface="+mn-lt"/>
                <a:ea typeface="+mn-ea"/>
                <a:cs typeface="+mn-cs"/>
              </a:rPr>
              <a:t>, which is Critically Endangered, with fewer than 100 known trees </a:t>
            </a:r>
            <a:r>
              <a:rPr lang="en-IN" sz="1200" b="0" i="0" u="none" strike="noStrike" kern="1200" baseline="0" dirty="0" smtClean="0">
                <a:solidFill>
                  <a:schemeClr val="tx1"/>
                </a:solidFill>
                <a:latin typeface="+mn-lt"/>
                <a:ea typeface="+mn-ea"/>
                <a:cs typeface="+mn-cs"/>
              </a:rPr>
              <a:t>remaining.</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2</a:t>
            </a:fld>
            <a:endParaRPr lang="en-US"/>
          </a:p>
        </p:txBody>
      </p:sp>
    </p:spTree>
    <p:extLst>
      <p:ext uri="{BB962C8B-B14F-4D97-AF65-F5344CB8AC3E}">
        <p14:creationId xmlns:p14="http://schemas.microsoft.com/office/powerpoint/2010/main" val="3912734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3</a:t>
            </a:fld>
            <a:endParaRPr lang="en-US"/>
          </a:p>
        </p:txBody>
      </p:sp>
    </p:spTree>
    <p:extLst>
      <p:ext uri="{BB962C8B-B14F-4D97-AF65-F5344CB8AC3E}">
        <p14:creationId xmlns:p14="http://schemas.microsoft.com/office/powerpoint/2010/main" val="5108264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8.1 </a:t>
            </a:r>
            <a:r>
              <a:rPr lang="en-US" sz="1200" b="0" i="0" u="none" strike="noStrike" kern="1200" baseline="0" dirty="0" smtClean="0">
                <a:solidFill>
                  <a:schemeClr val="tx1"/>
                </a:solidFill>
                <a:latin typeface="+mn-lt"/>
                <a:ea typeface="+mn-ea"/>
                <a:cs typeface="+mn-cs"/>
              </a:rPr>
              <a:t>A summary of species that comprise the 2022 IUCN Red List of threatened species. To date, a total of 150,388 species have been assessed. Of those, 986 species have been declared Extinct or Extinct in the Wild, while 42,108 are considered threatened with extinction.</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4</a:t>
            </a:fld>
            <a:endParaRPr lang="en-US"/>
          </a:p>
        </p:txBody>
      </p:sp>
    </p:spTree>
    <p:extLst>
      <p:ext uri="{BB962C8B-B14F-4D97-AF65-F5344CB8AC3E}">
        <p14:creationId xmlns:p14="http://schemas.microsoft.com/office/powerpoint/2010/main" val="19193813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8.2 </a:t>
            </a:r>
            <a:r>
              <a:rPr lang="en-US" sz="1200" b="0" i="0" u="none" strike="noStrike" kern="1200" baseline="0" dirty="0" smtClean="0">
                <a:solidFill>
                  <a:schemeClr val="tx1"/>
                </a:solidFill>
                <a:latin typeface="+mn-lt"/>
                <a:ea typeface="+mn-ea"/>
                <a:cs typeface="+mn-cs"/>
              </a:rPr>
              <a:t>The cumulative percentage of vertebrate species that have been declared Extinct or Extinct in the Wild over the past 500 years.</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5</a:t>
            </a:fld>
            <a:endParaRPr lang="en-US"/>
          </a:p>
        </p:txBody>
      </p:sp>
    </p:spTree>
    <p:extLst>
      <p:ext uri="{BB962C8B-B14F-4D97-AF65-F5344CB8AC3E}">
        <p14:creationId xmlns:p14="http://schemas.microsoft.com/office/powerpoint/2010/main" val="10989637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TABLE 8.1 </a:t>
            </a:r>
            <a:r>
              <a:rPr lang="en-US" sz="1200" b="0" i="0" u="none" strike="noStrike" kern="1200" baseline="0" dirty="0" smtClean="0">
                <a:solidFill>
                  <a:schemeClr val="tx1"/>
                </a:solidFill>
                <a:latin typeface="+mn-lt"/>
                <a:ea typeface="+mn-ea"/>
                <a:cs typeface="+mn-cs"/>
              </a:rPr>
              <a:t>Numbers of threatened species by major groups of organisms (1996–2022)</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6</a:t>
            </a:fld>
            <a:endParaRPr lang="en-US"/>
          </a:p>
        </p:txBody>
      </p:sp>
    </p:spTree>
    <p:extLst>
      <p:ext uri="{BB962C8B-B14F-4D97-AF65-F5344CB8AC3E}">
        <p14:creationId xmlns:p14="http://schemas.microsoft.com/office/powerpoint/2010/main" val="7217803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TABLE 8.1 </a:t>
            </a:r>
            <a:r>
              <a:rPr lang="en-US" dirty="0" smtClean="0"/>
              <a:t>Numbers of threatened species by major groups of organisms (1996–2022)</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7</a:t>
            </a:fld>
            <a:endParaRPr lang="en-US"/>
          </a:p>
        </p:txBody>
      </p:sp>
    </p:spTree>
    <p:extLst>
      <p:ext uri="{BB962C8B-B14F-4D97-AF65-F5344CB8AC3E}">
        <p14:creationId xmlns:p14="http://schemas.microsoft.com/office/powerpoint/2010/main" val="21645762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8.3 </a:t>
            </a:r>
            <a:r>
              <a:rPr lang="en-US" sz="1200" b="0" i="0" u="none" strike="noStrike" kern="1200" baseline="0" dirty="0" smtClean="0">
                <a:solidFill>
                  <a:schemeClr val="tx1"/>
                </a:solidFill>
                <a:latin typeface="+mn-lt"/>
                <a:ea typeface="+mn-ea"/>
                <a:cs typeface="+mn-cs"/>
              </a:rPr>
              <a:t>The global distribution of species threatened with extinction. (A) World map of countries having the highest (darker blue) and lowest (lighter blue) numbers of threatened species on the International Union for Conservation of Nature’s Red List. Inset pie charts show the proportion of threatened species of plants, vertebrates, and invertebrates in several countries that rank among those with the highest number of threatened species. (B) Twenty-three countries have more than 800 threatened species on the Red List.</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8</a:t>
            </a:fld>
            <a:endParaRPr lang="en-US"/>
          </a:p>
        </p:txBody>
      </p:sp>
    </p:spTree>
    <p:extLst>
      <p:ext uri="{BB962C8B-B14F-4D97-AF65-F5344CB8AC3E}">
        <p14:creationId xmlns:p14="http://schemas.microsoft.com/office/powerpoint/2010/main" val="14110048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i="0" u="none" strike="noStrike" kern="1200" baseline="0" dirty="0" smtClean="0">
                <a:solidFill>
                  <a:schemeClr val="tx1"/>
                </a:solidFill>
                <a:latin typeface="+mn-lt"/>
                <a:ea typeface="+mn-ea"/>
                <a:cs typeface="+mn-cs"/>
              </a:rPr>
              <a:t>TABLE 8.2</a:t>
            </a:r>
            <a:r>
              <a:rPr lang="en-IN" sz="1200" b="0" i="0" u="none" strike="noStrike" kern="1200" baseline="0" dirty="0" smtClean="0">
                <a:solidFill>
                  <a:schemeClr val="tx1"/>
                </a:solidFill>
                <a:latin typeface="+mn-lt"/>
                <a:ea typeface="+mn-ea"/>
                <a:cs typeface="+mn-cs"/>
              </a:rPr>
              <a:t> </a:t>
            </a:r>
            <a:r>
              <a:rPr lang="en-US" sz="1200" b="0" i="0" u="none" strike="noStrike" kern="1200" baseline="0" dirty="0" smtClean="0">
                <a:solidFill>
                  <a:schemeClr val="tx1"/>
                </a:solidFill>
                <a:latin typeface="+mn-lt"/>
                <a:ea typeface="+mn-ea"/>
                <a:cs typeface="+mn-cs"/>
              </a:rPr>
              <a:t>Estimates of modern extinction rates (in extinctions per million species years) vary depending on the time frame used and the number of species included in the </a:t>
            </a:r>
            <a:r>
              <a:rPr lang="en-IN" sz="1200" b="0" i="0" u="none" strike="noStrike" kern="1200" baseline="0" dirty="0" smtClean="0">
                <a:solidFill>
                  <a:schemeClr val="tx1"/>
                </a:solidFill>
                <a:latin typeface="+mn-lt"/>
                <a:ea typeface="+mn-ea"/>
                <a:cs typeface="+mn-cs"/>
              </a:rPr>
              <a:t>calculation</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9</a:t>
            </a:fld>
            <a:endParaRPr lang="en-US"/>
          </a:p>
        </p:txBody>
      </p:sp>
    </p:spTree>
    <p:extLst>
      <p:ext uri="{BB962C8B-B14F-4D97-AF65-F5344CB8AC3E}">
        <p14:creationId xmlns:p14="http://schemas.microsoft.com/office/powerpoint/2010/main" val="18522146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8.4 </a:t>
            </a:r>
            <a:r>
              <a:rPr lang="en-US" sz="1200" b="0" i="0" u="none" strike="noStrike" kern="1200" baseline="0" dirty="0" smtClean="0">
                <a:solidFill>
                  <a:schemeClr val="tx1"/>
                </a:solidFill>
                <a:latin typeface="+mn-lt"/>
                <a:ea typeface="+mn-ea"/>
                <a:cs typeface="+mn-cs"/>
              </a:rPr>
              <a:t>A summary of studies (</a:t>
            </a:r>
            <a:r>
              <a:rPr lang="en-US" sz="1200" b="0" i="1" u="none" strike="noStrike" kern="1200" baseline="0" dirty="0" smtClean="0">
                <a:solidFill>
                  <a:schemeClr val="tx1"/>
                </a:solidFill>
                <a:latin typeface="+mn-lt"/>
                <a:ea typeface="+mn-ea"/>
                <a:cs typeface="+mn-cs"/>
              </a:rPr>
              <a:t>y </a:t>
            </a:r>
            <a:r>
              <a:rPr lang="en-US" sz="1200" b="0" i="0" u="none" strike="noStrike" kern="1200" baseline="0" dirty="0" smtClean="0">
                <a:solidFill>
                  <a:schemeClr val="tx1"/>
                </a:solidFill>
                <a:latin typeface="+mn-lt"/>
                <a:ea typeface="+mn-ea"/>
                <a:cs typeface="+mn-cs"/>
              </a:rPr>
              <a:t>axis) that have published estimates of modern extinction rates (</a:t>
            </a:r>
            <a:r>
              <a:rPr lang="en-US" sz="1200" b="0" i="1" u="none" strike="noStrike" kern="1200" baseline="0" dirty="0" smtClean="0">
                <a:solidFill>
                  <a:schemeClr val="tx1"/>
                </a:solidFill>
                <a:latin typeface="+mn-lt"/>
                <a:ea typeface="+mn-ea"/>
                <a:cs typeface="+mn-cs"/>
              </a:rPr>
              <a:t>x </a:t>
            </a:r>
            <a:r>
              <a:rPr lang="en-US" sz="1200" b="0" i="0" u="none" strike="noStrike" kern="1200" baseline="0" dirty="0" smtClean="0">
                <a:solidFill>
                  <a:schemeClr val="tx1"/>
                </a:solidFill>
                <a:latin typeface="+mn-lt"/>
                <a:ea typeface="+mn-ea"/>
                <a:cs typeface="+mn-cs"/>
              </a:rPr>
              <a:t>axis) for various groups of organisms. Extinction rates are reported in extinctions per million species years (</a:t>
            </a:r>
            <a:r>
              <a:rPr lang="en-US" sz="1200" b="0" i="1" u="none" strike="noStrike" kern="1200" baseline="0" dirty="0" smtClean="0">
                <a:solidFill>
                  <a:schemeClr val="tx1"/>
                </a:solidFill>
                <a:latin typeface="+mn-lt"/>
                <a:ea typeface="+mn-ea"/>
                <a:cs typeface="+mn-cs"/>
              </a:rPr>
              <a:t>E</a:t>
            </a:r>
            <a:r>
              <a:rPr lang="en-US" sz="1200" b="0" i="0" u="none" strike="noStrike" kern="1200" baseline="0" dirty="0" smtClean="0">
                <a:solidFill>
                  <a:schemeClr val="tx1"/>
                </a:solidFill>
                <a:latin typeface="+mn-lt"/>
                <a:ea typeface="+mn-ea"/>
                <a:cs typeface="+mn-cs"/>
              </a:rPr>
              <a:t>/MSY). Estimates are given for extinctions since 1900 (blue circles) and extinctions projected in the near future (red squares) assuming all threatened species go extinct in the next 100 years.</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10</a:t>
            </a:fld>
            <a:endParaRPr lang="en-US"/>
          </a:p>
        </p:txBody>
      </p:sp>
    </p:spTree>
    <p:extLst>
      <p:ext uri="{BB962C8B-B14F-4D97-AF65-F5344CB8AC3E}">
        <p14:creationId xmlns:p14="http://schemas.microsoft.com/office/powerpoint/2010/main" val="11223215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Many biologists believe we are currently entering the sixth mass extinction in the history of life on Earth, and this view has been popularized in the public media. But until recently, the scientific evidence to support this view has been lacking.</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11</a:t>
            </a:fld>
            <a:endParaRPr lang="en-US"/>
          </a:p>
        </p:txBody>
      </p:sp>
    </p:spTree>
    <p:extLst>
      <p:ext uri="{BB962C8B-B14F-4D97-AF65-F5344CB8AC3E}">
        <p14:creationId xmlns:p14="http://schemas.microsoft.com/office/powerpoint/2010/main" val="15320372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Extinction magnitudes for well-studied taxonomic groups compared with the 75% benchmark used to classify prior mass extinction events. White icons and numbers indicate species extinctions that have occurred over the past 500 years. Black icons add currently threatened species to those that are already known to be extinct. Yellow icons indicate species lost in the Big Five extinctions: Cretaceous–Tertiary, Devonian, Triassic, Ordovician–Silurian, and Permian–Triassic (from left to right). Asterisks indicate taxa for which very few species (less than 3% for gastropods and bivalves) have been assessed; white arrows show where extinction magnitudes are probably inflated (because species perceived to be in peril are often assessed first).</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12</a:t>
            </a:fld>
            <a:endParaRPr lang="en-US"/>
          </a:p>
        </p:txBody>
      </p:sp>
    </p:spTree>
    <p:extLst>
      <p:ext uri="{BB962C8B-B14F-4D97-AF65-F5344CB8AC3E}">
        <p14:creationId xmlns:p14="http://schemas.microsoft.com/office/powerpoint/2010/main" val="20161747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8.5 </a:t>
            </a:r>
            <a:r>
              <a:rPr lang="en-US" sz="1200" b="0" i="0" u="none" strike="noStrike" kern="1200" baseline="0" dirty="0" smtClean="0">
                <a:solidFill>
                  <a:schemeClr val="tx1"/>
                </a:solidFill>
                <a:latin typeface="+mn-lt"/>
                <a:ea typeface="+mn-ea"/>
                <a:cs typeface="+mn-cs"/>
              </a:rPr>
              <a:t>Drivers of biodiversity loss. The ultimate causes of biodiversity loss are given by the </a:t>
            </a:r>
            <a:r>
              <a:rPr lang="en-US" sz="1200" b="0" i="1" u="none" strike="noStrike" kern="1200" baseline="0" dirty="0" smtClean="0">
                <a:solidFill>
                  <a:schemeClr val="tx1"/>
                </a:solidFill>
                <a:latin typeface="+mn-lt"/>
                <a:ea typeface="+mn-ea"/>
                <a:cs typeface="+mn-cs"/>
              </a:rPr>
              <a:t>IPAT </a:t>
            </a:r>
            <a:r>
              <a:rPr lang="en-US" sz="1200" b="0" i="0" u="none" strike="noStrike" kern="1200" baseline="0" dirty="0" smtClean="0">
                <a:solidFill>
                  <a:schemeClr val="tx1"/>
                </a:solidFill>
                <a:latin typeface="+mn-lt"/>
                <a:ea typeface="+mn-ea"/>
                <a:cs typeface="+mn-cs"/>
              </a:rPr>
              <a:t>equation, which shows how human impacts on the environment are proportional to human population growth, as well as increases in affluence and improvements in technology that underlie resource consumption. Population growth and consumption, in turn, drive a wide variety of human activities that lead to major forms of environmental change. It is these forms of environmental change that are the proximate causes of biodiversity loss </a:t>
            </a:r>
            <a:r>
              <a:rPr lang="en-IN" sz="1200" b="0" i="0" u="none" strike="noStrike" kern="1200" baseline="0" dirty="0" smtClean="0">
                <a:solidFill>
                  <a:schemeClr val="tx1"/>
                </a:solidFill>
                <a:latin typeface="+mn-lt"/>
                <a:ea typeface="+mn-ea"/>
                <a:cs typeface="+mn-cs"/>
              </a:rPr>
              <a:t>on the planet.</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13</a:t>
            </a:fld>
            <a:endParaRPr lang="en-US"/>
          </a:p>
        </p:txBody>
      </p:sp>
    </p:spTree>
    <p:extLst>
      <p:ext uri="{BB962C8B-B14F-4D97-AF65-F5344CB8AC3E}">
        <p14:creationId xmlns:p14="http://schemas.microsoft.com/office/powerpoint/2010/main" val="3045029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8.6 </a:t>
            </a:r>
            <a:r>
              <a:rPr lang="en-US" sz="1200" b="0" i="0" u="none" strike="noStrike" kern="1200" baseline="0" dirty="0" smtClean="0">
                <a:solidFill>
                  <a:schemeClr val="tx1"/>
                </a:solidFill>
                <a:latin typeface="+mn-lt"/>
                <a:ea typeface="+mn-ea"/>
                <a:cs typeface="+mn-cs"/>
              </a:rPr>
              <a:t>(A) The Living Planet Index (LPI), represented on the </a:t>
            </a:r>
            <a:r>
              <a:rPr lang="en-US" sz="1200" b="0" i="1" u="none" strike="noStrike" kern="1200" baseline="0" dirty="0" smtClean="0">
                <a:solidFill>
                  <a:schemeClr val="tx1"/>
                </a:solidFill>
                <a:latin typeface="+mn-lt"/>
                <a:ea typeface="+mn-ea"/>
                <a:cs typeface="+mn-cs"/>
              </a:rPr>
              <a:t>y </a:t>
            </a:r>
            <a:r>
              <a:rPr lang="en-US" sz="1200" b="0" i="0" u="none" strike="noStrike" kern="1200" baseline="0" dirty="0" smtClean="0">
                <a:solidFill>
                  <a:schemeClr val="tx1"/>
                </a:solidFill>
                <a:latin typeface="+mn-lt"/>
                <a:ea typeface="+mn-ea"/>
                <a:cs typeface="+mn-cs"/>
              </a:rPr>
              <a:t>axis, is an indicator of the state of global biodiversity, based on trends in more than 32,000 populations of 5,230 terrestrial, freshwater, and marine species. The most recent LPI shows that relative to 1970 levels, the average species population has declined by 69%. (B) The primary causes of these population declines are habitat loss and degradation, followed by overexploitation. Invasive species and disease are common threats to amphibians </a:t>
            </a:r>
            <a:r>
              <a:rPr lang="en-IN" sz="1200" b="0" i="0" u="none" strike="noStrike" kern="1200" baseline="0" dirty="0" smtClean="0">
                <a:solidFill>
                  <a:schemeClr val="tx1"/>
                </a:solidFill>
                <a:latin typeface="+mn-lt"/>
                <a:ea typeface="+mn-ea"/>
                <a:cs typeface="+mn-cs"/>
              </a:rPr>
              <a:t>and reptiles.</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14</a:t>
            </a:fld>
            <a:endParaRPr lang="en-US"/>
          </a:p>
        </p:txBody>
      </p:sp>
    </p:spTree>
    <p:extLst>
      <p:ext uri="{BB962C8B-B14F-4D97-AF65-F5344CB8AC3E}">
        <p14:creationId xmlns:p14="http://schemas.microsoft.com/office/powerpoint/2010/main" val="3657814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8.7 </a:t>
            </a:r>
            <a:r>
              <a:rPr lang="en-US" sz="1200" b="0" i="0" u="none" strike="noStrike" kern="1200" baseline="0" dirty="0" smtClean="0">
                <a:solidFill>
                  <a:schemeClr val="tx1"/>
                </a:solidFill>
                <a:latin typeface="+mn-lt"/>
                <a:ea typeface="+mn-ea"/>
                <a:cs typeface="+mn-cs"/>
              </a:rPr>
              <a:t>Corals are a good example of how multiple stressors can interact to cause population declines. As they respond to increasing water temperatures, many types of coral become physiologically stressed, which can subsequently make them more susceptible to disease due to viral, bacterial, and fungal pathogens. (A) Black band disease is present as dark pigmented areas of tissue on this coral in the Caribbean. (B) An </a:t>
            </a:r>
            <a:r>
              <a:rPr lang="en-US" sz="1200" b="0" i="0" u="none" strike="noStrike" kern="1200" baseline="0" dirty="0" err="1" smtClean="0">
                <a:solidFill>
                  <a:schemeClr val="tx1"/>
                </a:solidFill>
                <a:latin typeface="+mn-lt"/>
                <a:ea typeface="+mn-ea"/>
                <a:cs typeface="+mn-cs"/>
              </a:rPr>
              <a:t>acroporid</a:t>
            </a:r>
            <a:r>
              <a:rPr lang="en-US" sz="1200" b="0" i="0" u="none" strike="noStrike" kern="1200" baseline="0" dirty="0" smtClean="0">
                <a:solidFill>
                  <a:schemeClr val="tx1"/>
                </a:solidFill>
                <a:latin typeface="+mn-lt"/>
                <a:ea typeface="+mn-ea"/>
                <a:cs typeface="+mn-cs"/>
              </a:rPr>
              <a:t> coral is infected with white band </a:t>
            </a:r>
            <a:r>
              <a:rPr lang="en-US" sz="1200" b="0" i="0" u="none" strike="noStrike" kern="1200" baseline="0" dirty="0" smtClean="0">
                <a:solidFill>
                  <a:schemeClr val="tx1"/>
                </a:solidFill>
                <a:latin typeface="+mn-lt"/>
                <a:ea typeface="+mn-ea"/>
                <a:cs typeface="+mn-cs"/>
              </a:rPr>
              <a:t>disease, which </a:t>
            </a:r>
            <a:r>
              <a:rPr lang="en-US" sz="1200" b="0" i="0" u="none" strike="noStrike" kern="1200" baseline="0" dirty="0" smtClean="0">
                <a:solidFill>
                  <a:schemeClr val="tx1"/>
                </a:solidFill>
                <a:latin typeface="+mn-lt"/>
                <a:ea typeface="+mn-ea"/>
                <a:cs typeface="+mn-cs"/>
              </a:rPr>
              <a:t>is caused by a species of </a:t>
            </a:r>
            <a:r>
              <a:rPr lang="en-US" sz="1200" b="0" i="1" u="none" strike="noStrike" kern="1200" baseline="0" dirty="0" smtClean="0">
                <a:solidFill>
                  <a:schemeClr val="tx1"/>
                </a:solidFill>
                <a:latin typeface="+mn-lt"/>
                <a:ea typeface="+mn-ea"/>
                <a:cs typeface="+mn-cs"/>
              </a:rPr>
              <a:t>Vibrio </a:t>
            </a:r>
            <a:r>
              <a:rPr lang="en-US" sz="1200" b="0" i="0" u="none" strike="noStrike" kern="1200" baseline="0" dirty="0" smtClean="0">
                <a:solidFill>
                  <a:schemeClr val="tx1"/>
                </a:solidFill>
                <a:latin typeface="+mn-lt"/>
                <a:ea typeface="+mn-ea"/>
                <a:cs typeface="+mn-cs"/>
              </a:rPr>
              <a:t>bacteria that destroys the coral tissue. (C) White pox, characterized by circular lesions, is caused </a:t>
            </a:r>
            <a:r>
              <a:rPr lang="en-IN" sz="1200" b="0" i="0" u="none" strike="noStrike" kern="1200" baseline="0" dirty="0" smtClean="0">
                <a:solidFill>
                  <a:schemeClr val="tx1"/>
                </a:solidFill>
                <a:latin typeface="+mn-lt"/>
                <a:ea typeface="+mn-ea"/>
                <a:cs typeface="+mn-cs"/>
              </a:rPr>
              <a:t>by the gram-negative </a:t>
            </a:r>
            <a:r>
              <a:rPr lang="en-IN" sz="1200" b="0" i="0" u="none" strike="noStrike" kern="1200" baseline="0" dirty="0" err="1" smtClean="0">
                <a:solidFill>
                  <a:schemeClr val="tx1"/>
                </a:solidFill>
                <a:latin typeface="+mn-lt"/>
                <a:ea typeface="+mn-ea"/>
                <a:cs typeface="+mn-cs"/>
              </a:rPr>
              <a:t>enterobacterium</a:t>
            </a:r>
            <a:r>
              <a:rPr lang="en-IN" sz="1200" b="0" i="0" u="none" strike="noStrike" kern="1200" baseline="0" dirty="0" smtClean="0">
                <a:solidFill>
                  <a:schemeClr val="tx1"/>
                </a:solidFill>
                <a:latin typeface="+mn-lt"/>
                <a:ea typeface="+mn-ea"/>
                <a:cs typeface="+mn-cs"/>
              </a:rPr>
              <a:t> </a:t>
            </a:r>
            <a:r>
              <a:rPr lang="en-IN" sz="1200" b="0" i="1" u="none" strike="noStrike" kern="1200" baseline="0" dirty="0" err="1" smtClean="0">
                <a:solidFill>
                  <a:schemeClr val="tx1"/>
                </a:solidFill>
                <a:latin typeface="+mn-lt"/>
                <a:ea typeface="+mn-ea"/>
                <a:cs typeface="+mn-cs"/>
              </a:rPr>
              <a:t>Serratia</a:t>
            </a:r>
            <a:r>
              <a:rPr lang="en-IN" sz="1200" b="0" i="1" u="none" strike="noStrike" kern="1200" baseline="0" dirty="0" smtClean="0">
                <a:solidFill>
                  <a:schemeClr val="tx1"/>
                </a:solidFill>
                <a:latin typeface="+mn-lt"/>
                <a:ea typeface="+mn-ea"/>
                <a:cs typeface="+mn-cs"/>
              </a:rPr>
              <a:t> </a:t>
            </a:r>
            <a:r>
              <a:rPr lang="en-IN" sz="1200" b="0" i="1" u="none" strike="noStrike" kern="1200" baseline="0" dirty="0" err="1" smtClean="0">
                <a:solidFill>
                  <a:schemeClr val="tx1"/>
                </a:solidFill>
                <a:latin typeface="+mn-lt"/>
                <a:ea typeface="+mn-ea"/>
                <a:cs typeface="+mn-cs"/>
              </a:rPr>
              <a:t>marcescens</a:t>
            </a:r>
            <a:r>
              <a:rPr lang="en-IN" sz="1200" b="0" i="1" u="none" strike="noStrike" kern="1200" baseline="0" dirty="0" smtClean="0">
                <a:solidFill>
                  <a:schemeClr val="tx1"/>
                </a:solidFill>
                <a:latin typeface="+mn-lt"/>
                <a:ea typeface="+mn-ea"/>
                <a:cs typeface="+mn-cs"/>
              </a:rPr>
              <a:t>.</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15</a:t>
            </a:fld>
            <a:endParaRPr lang="en-US"/>
          </a:p>
        </p:txBody>
      </p:sp>
    </p:spTree>
    <p:extLst>
      <p:ext uri="{BB962C8B-B14F-4D97-AF65-F5344CB8AC3E}">
        <p14:creationId xmlns:p14="http://schemas.microsoft.com/office/powerpoint/2010/main" val="3970446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8.8 </a:t>
            </a:r>
            <a:r>
              <a:rPr lang="en-US" sz="1200" b="0" i="0" u="none" strike="noStrike" kern="1200" baseline="0" dirty="0" smtClean="0">
                <a:solidFill>
                  <a:schemeClr val="tx1"/>
                </a:solidFill>
                <a:latin typeface="+mn-lt"/>
                <a:ea typeface="+mn-ea"/>
                <a:cs typeface="+mn-cs"/>
              </a:rPr>
              <a:t>A hypothetical species–area relationship relating the species richness (</a:t>
            </a:r>
            <a:r>
              <a:rPr lang="en-US" sz="1200" b="0" i="1" u="none" strike="noStrike" kern="1200" baseline="0" dirty="0" smtClean="0">
                <a:solidFill>
                  <a:schemeClr val="tx1"/>
                </a:solidFill>
                <a:latin typeface="+mn-lt"/>
                <a:ea typeface="+mn-ea"/>
                <a:cs typeface="+mn-cs"/>
              </a:rPr>
              <a:t>S</a:t>
            </a:r>
            <a:r>
              <a:rPr lang="en-US" sz="1200" b="0" i="0" u="none" strike="noStrike" kern="1200" baseline="0" dirty="0" smtClean="0">
                <a:solidFill>
                  <a:schemeClr val="tx1"/>
                </a:solidFill>
                <a:latin typeface="+mn-lt"/>
                <a:ea typeface="+mn-ea"/>
                <a:cs typeface="+mn-cs"/>
              </a:rPr>
              <a:t>) of freshwater fish (</a:t>
            </a:r>
            <a:r>
              <a:rPr lang="en-US" sz="1200" b="0" i="1" u="none" strike="noStrike" kern="1200" baseline="0" dirty="0" smtClean="0">
                <a:solidFill>
                  <a:schemeClr val="tx1"/>
                </a:solidFill>
                <a:latin typeface="+mn-lt"/>
                <a:ea typeface="+mn-ea"/>
                <a:cs typeface="+mn-cs"/>
              </a:rPr>
              <a:t>y </a:t>
            </a:r>
            <a:r>
              <a:rPr lang="en-US" sz="1200" b="0" i="0" u="none" strike="noStrike" kern="1200" baseline="0" dirty="0" smtClean="0">
                <a:solidFill>
                  <a:schemeClr val="tx1"/>
                </a:solidFill>
                <a:latin typeface="+mn-lt"/>
                <a:ea typeface="+mn-ea"/>
                <a:cs typeface="+mn-cs"/>
              </a:rPr>
              <a:t>axis) to the surface area (</a:t>
            </a:r>
            <a:r>
              <a:rPr lang="en-US" sz="1200" b="0" i="1" u="none" strike="noStrike" kern="1200" baseline="0" dirty="0" smtClean="0">
                <a:solidFill>
                  <a:schemeClr val="tx1"/>
                </a:solidFill>
                <a:latin typeface="+mn-lt"/>
                <a:ea typeface="+mn-ea"/>
                <a:cs typeface="+mn-cs"/>
              </a:rPr>
              <a:t>A</a:t>
            </a:r>
            <a:r>
              <a:rPr lang="en-US" sz="1200" b="0" i="0" u="none" strike="noStrike" kern="1200" baseline="0" dirty="0" smtClean="0">
                <a:solidFill>
                  <a:schemeClr val="tx1"/>
                </a:solidFill>
                <a:latin typeface="+mn-lt"/>
                <a:ea typeface="+mn-ea"/>
                <a:cs typeface="+mn-cs"/>
              </a:rPr>
              <a:t>, in hectares) of lakes (</a:t>
            </a:r>
            <a:r>
              <a:rPr lang="en-US" sz="1200" b="0" i="1" u="none" strike="noStrike" kern="1200" baseline="0" dirty="0" smtClean="0">
                <a:solidFill>
                  <a:schemeClr val="tx1"/>
                </a:solidFill>
                <a:latin typeface="+mn-lt"/>
                <a:ea typeface="+mn-ea"/>
                <a:cs typeface="+mn-cs"/>
              </a:rPr>
              <a:t>x </a:t>
            </a:r>
            <a:r>
              <a:rPr lang="en-US" sz="1200" b="0" i="0" u="none" strike="noStrike" kern="1200" baseline="0" dirty="0" smtClean="0">
                <a:solidFill>
                  <a:schemeClr val="tx1"/>
                </a:solidFill>
                <a:latin typeface="+mn-lt"/>
                <a:ea typeface="+mn-ea"/>
                <a:cs typeface="+mn-cs"/>
              </a:rPr>
              <a:t>axis). (A) The relationship is expressed as the nonlinear power function </a:t>
            </a:r>
            <a:r>
              <a:rPr lang="en-US" sz="1200" b="0" i="1" u="none" strike="noStrike" kern="1200" baseline="0" dirty="0" smtClean="0">
                <a:solidFill>
                  <a:schemeClr val="tx1"/>
                </a:solidFill>
                <a:latin typeface="+mn-lt"/>
                <a:ea typeface="+mn-ea"/>
                <a:cs typeface="+mn-cs"/>
              </a:rPr>
              <a:t>S </a:t>
            </a:r>
            <a:r>
              <a:rPr lang="en-US" sz="1200" b="0" i="0" u="none" strike="noStrike" kern="1200" baseline="0" dirty="0" smtClean="0">
                <a:solidFill>
                  <a:schemeClr val="tx1"/>
                </a:solidFill>
                <a:latin typeface="+mn-lt"/>
                <a:ea typeface="+mn-ea"/>
                <a:cs typeface="+mn-cs"/>
              </a:rPr>
              <a:t>= 3.13 × </a:t>
            </a:r>
            <a:r>
              <a:rPr lang="en-US" sz="1200" b="0" i="1" u="none" strike="noStrike" kern="1200" baseline="0" dirty="0" smtClean="0">
                <a:solidFill>
                  <a:schemeClr val="tx1"/>
                </a:solidFill>
                <a:latin typeface="+mn-lt"/>
                <a:ea typeface="+mn-ea"/>
                <a:cs typeface="+mn-cs"/>
              </a:rPr>
              <a:t>A</a:t>
            </a:r>
            <a:r>
              <a:rPr lang="en-US" sz="1200" b="0" i="0" u="none" strike="noStrike" kern="1200" baseline="30000" dirty="0" smtClean="0">
                <a:solidFill>
                  <a:schemeClr val="tx1"/>
                </a:solidFill>
                <a:latin typeface="+mn-lt"/>
                <a:ea typeface="+mn-ea"/>
                <a:cs typeface="+mn-cs"/>
              </a:rPr>
              <a:t>0.28</a:t>
            </a:r>
            <a:r>
              <a:rPr lang="en-US" sz="1200" b="0" i="0" u="none" strike="noStrike" kern="1200" baseline="0" dirty="0" smtClean="0">
                <a:solidFill>
                  <a:schemeClr val="tx1"/>
                </a:solidFill>
                <a:latin typeface="+mn-lt"/>
                <a:ea typeface="+mn-ea"/>
                <a:cs typeface="+mn-cs"/>
              </a:rPr>
              <a:t>. (B) The relationship is shown log transformed to the linear function.</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16</a:t>
            </a:fld>
            <a:endParaRPr lang="en-US"/>
          </a:p>
        </p:txBody>
      </p:sp>
    </p:spTree>
    <p:extLst>
      <p:ext uri="{BB962C8B-B14F-4D97-AF65-F5344CB8AC3E}">
        <p14:creationId xmlns:p14="http://schemas.microsoft.com/office/powerpoint/2010/main" val="5463720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8.9 </a:t>
            </a:r>
            <a:r>
              <a:rPr lang="en-US" sz="1200" b="0" i="0" u="none" strike="noStrike" kern="1200" baseline="0" dirty="0" smtClean="0">
                <a:solidFill>
                  <a:schemeClr val="tx1"/>
                </a:solidFill>
                <a:latin typeface="+mn-lt"/>
                <a:ea typeface="+mn-ea"/>
                <a:cs typeface="+mn-cs"/>
              </a:rPr>
              <a:t>St. Helena ebony (</a:t>
            </a:r>
            <a:r>
              <a:rPr lang="en-US" sz="1200" b="0" i="1" u="none" strike="noStrike" kern="1200" baseline="0" dirty="0" err="1" smtClean="0">
                <a:solidFill>
                  <a:schemeClr val="tx1"/>
                </a:solidFill>
                <a:latin typeface="+mn-lt"/>
                <a:ea typeface="+mn-ea"/>
                <a:cs typeface="+mn-cs"/>
              </a:rPr>
              <a:t>Trochetiopsis</a:t>
            </a:r>
            <a:r>
              <a:rPr lang="en-US" sz="1200" b="0" i="1" u="none" strike="noStrike" kern="1200" baseline="0" dirty="0" smtClean="0">
                <a:solidFill>
                  <a:schemeClr val="tx1"/>
                </a:solidFill>
                <a:latin typeface="+mn-lt"/>
                <a:ea typeface="+mn-ea"/>
                <a:cs typeface="+mn-cs"/>
              </a:rPr>
              <a:t> </a:t>
            </a:r>
            <a:r>
              <a:rPr lang="en-US" sz="1200" b="0" i="1" u="none" strike="noStrike" kern="1200" baseline="0" dirty="0" err="1" smtClean="0">
                <a:solidFill>
                  <a:schemeClr val="tx1"/>
                </a:solidFill>
                <a:latin typeface="+mn-lt"/>
                <a:ea typeface="+mn-ea"/>
                <a:cs typeface="+mn-cs"/>
              </a:rPr>
              <a:t>ebenus</a:t>
            </a:r>
            <a:r>
              <a:rPr lang="en-US" sz="1200" b="0" i="0" u="none" strike="noStrike" kern="1200" baseline="0" dirty="0" smtClean="0">
                <a:solidFill>
                  <a:schemeClr val="tx1"/>
                </a:solidFill>
                <a:latin typeface="+mn-lt"/>
                <a:ea typeface="+mn-ea"/>
                <a:cs typeface="+mn-cs"/>
              </a:rPr>
              <a:t>) is endemic to the island of St. Helena in the southern Atlantic Ocean. The wild population has been reduced to just two individuals on the side of a cliff. Given such low numbers, the species will almost certainly go extinct in the wild.</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17</a:t>
            </a:fld>
            <a:endParaRPr lang="en-US"/>
          </a:p>
        </p:txBody>
      </p:sp>
    </p:spTree>
    <p:extLst>
      <p:ext uri="{BB962C8B-B14F-4D97-AF65-F5344CB8AC3E}">
        <p14:creationId xmlns:p14="http://schemas.microsoft.com/office/powerpoint/2010/main" val="17881871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8.10 </a:t>
            </a:r>
            <a:r>
              <a:rPr lang="en-US" sz="1200" b="0" i="0" u="none" strike="noStrike" kern="1200" baseline="0" dirty="0" smtClean="0">
                <a:solidFill>
                  <a:schemeClr val="tx1"/>
                </a:solidFill>
                <a:latin typeface="+mn-lt"/>
                <a:ea typeface="+mn-ea"/>
                <a:cs typeface="+mn-cs"/>
              </a:rPr>
              <a:t>Empirically documented changes in local biodiversity. (A) Newbold and colleagues60 used spatial comparisons to quantify the difference in biodiversity between reference sites and paired sites (locations of paired sites are shown as dots on the map) that have experienced human disturbance. Results are shown for different habitat types: primary vegetation (primary); mature secondary vegetation (MSV); intermediate secondary vegetation (ISV); young secondary </a:t>
            </a:r>
            <a:r>
              <a:rPr lang="en-IN" sz="1200" b="0" i="0" u="none" strike="noStrike" kern="1200" baseline="0" dirty="0" smtClean="0">
                <a:solidFill>
                  <a:schemeClr val="tx1"/>
                </a:solidFill>
                <a:latin typeface="+mn-lt"/>
                <a:ea typeface="+mn-ea"/>
                <a:cs typeface="+mn-cs"/>
              </a:rPr>
              <a:t>vegetation (YSV); plantations; croplands; pastures; and </a:t>
            </a:r>
            <a:r>
              <a:rPr lang="en-US" sz="1200" b="0" i="0" u="none" strike="noStrike" kern="1200" baseline="0" dirty="0" smtClean="0">
                <a:solidFill>
                  <a:schemeClr val="tx1"/>
                </a:solidFill>
                <a:latin typeface="+mn-lt"/>
                <a:ea typeface="+mn-ea"/>
                <a:cs typeface="+mn-cs"/>
              </a:rPr>
              <a:t>urban habitats. (B) </a:t>
            </a:r>
            <a:r>
              <a:rPr lang="en-US" sz="1200" b="0" i="0" u="none" strike="noStrike" kern="1200" baseline="0" dirty="0" err="1" smtClean="0">
                <a:solidFill>
                  <a:schemeClr val="tx1"/>
                </a:solidFill>
                <a:latin typeface="+mn-lt"/>
                <a:ea typeface="+mn-ea"/>
                <a:cs typeface="+mn-cs"/>
              </a:rPr>
              <a:t>Dornelas</a:t>
            </a:r>
            <a:r>
              <a:rPr lang="en-US" sz="1200" b="0" i="0" u="none" strike="noStrike" kern="1200" baseline="0" dirty="0" smtClean="0">
                <a:solidFill>
                  <a:schemeClr val="tx1"/>
                </a:solidFill>
                <a:latin typeface="+mn-lt"/>
                <a:ea typeface="+mn-ea"/>
                <a:cs typeface="+mn-cs"/>
              </a:rPr>
              <a:t> and colleagues65 collated results from 100 biological monitoring programs that have collected time-series data on biodiversity (lines of varying colors), most of which were in intact sites that have not been destroyed or converted by human activities. The black line shows the authors’ best statistical model, one that has a single slope, but which allows the time series to have differing intercepts. Note the line shows no net change over time.</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18</a:t>
            </a:fld>
            <a:endParaRPr lang="en-US"/>
          </a:p>
        </p:txBody>
      </p:sp>
    </p:spTree>
    <p:extLst>
      <p:ext uri="{BB962C8B-B14F-4D97-AF65-F5344CB8AC3E}">
        <p14:creationId xmlns:p14="http://schemas.microsoft.com/office/powerpoint/2010/main" val="27290168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8.11 </a:t>
            </a:r>
            <a:r>
              <a:rPr lang="en-US" sz="1200" b="0" i="0" u="none" strike="noStrike" kern="1200" baseline="0" dirty="0" smtClean="0">
                <a:solidFill>
                  <a:schemeClr val="tx1"/>
                </a:solidFill>
                <a:latin typeface="+mn-lt"/>
                <a:ea typeface="+mn-ea"/>
                <a:cs typeface="+mn-cs"/>
              </a:rPr>
              <a:t>Natural or </a:t>
            </a:r>
            <a:r>
              <a:rPr lang="en-US" sz="1200" b="0" i="0" u="none" strike="noStrike" kern="1200" baseline="0" dirty="0" err="1" smtClean="0">
                <a:solidFill>
                  <a:schemeClr val="tx1"/>
                </a:solidFill>
                <a:latin typeface="+mn-lt"/>
                <a:ea typeface="+mn-ea"/>
                <a:cs typeface="+mn-cs"/>
              </a:rPr>
              <a:t>seminatural</a:t>
            </a:r>
            <a:r>
              <a:rPr lang="en-US" sz="1200" b="0" i="0" u="none" strike="noStrike" kern="1200" baseline="0" dirty="0" smtClean="0">
                <a:solidFill>
                  <a:schemeClr val="tx1"/>
                </a:solidFill>
                <a:latin typeface="+mn-lt"/>
                <a:ea typeface="+mn-ea"/>
                <a:cs typeface="+mn-cs"/>
              </a:rPr>
              <a:t> landscapes (A) that are transformed by human activities (B) are often a spatial mosaic of habitats, each with unique changes in biodiversity. Habitats that are destroyed or converted to other uses (point 1) tend to experience large declines in biodiversity. Habitat patches (point 2) may experience declines caused by fragmentation or increases in biodiversity due to colonization of novel species. Habitats that are recovering from disturbed conditions, such as the abandoned farm field at point 3, could return to historic conditions with no net </a:t>
            </a:r>
            <a:r>
              <a:rPr lang="en-IN" sz="1200" b="0" i="0" u="none" strike="noStrike" kern="1200" baseline="0" dirty="0" smtClean="0">
                <a:solidFill>
                  <a:schemeClr val="tx1"/>
                </a:solidFill>
                <a:latin typeface="+mn-lt"/>
                <a:ea typeface="+mn-ea"/>
                <a:cs typeface="+mn-cs"/>
              </a:rPr>
              <a:t>loss of species.</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19</a:t>
            </a:fld>
            <a:endParaRPr lang="en-US"/>
          </a:p>
        </p:txBody>
      </p:sp>
    </p:spTree>
    <p:extLst>
      <p:ext uri="{BB962C8B-B14F-4D97-AF65-F5344CB8AC3E}">
        <p14:creationId xmlns:p14="http://schemas.microsoft.com/office/powerpoint/2010/main" val="10892432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8.12 </a:t>
            </a:r>
            <a:r>
              <a:rPr lang="en-US" sz="1200" b="0" i="0" u="none" strike="noStrike" kern="1200" baseline="0" dirty="0" smtClean="0">
                <a:solidFill>
                  <a:schemeClr val="tx1"/>
                </a:solidFill>
                <a:latin typeface="+mn-lt"/>
                <a:ea typeface="+mn-ea"/>
                <a:cs typeface="+mn-cs"/>
              </a:rPr>
              <a:t>Regional observation and monitoring networks like the U.S. National </a:t>
            </a:r>
            <a:r>
              <a:rPr lang="en-IN" sz="1200" b="0" i="0" u="none" strike="noStrike" kern="1200" baseline="0" dirty="0" smtClean="0">
                <a:solidFill>
                  <a:schemeClr val="tx1"/>
                </a:solidFill>
                <a:latin typeface="+mn-lt"/>
                <a:ea typeface="+mn-ea"/>
                <a:cs typeface="+mn-cs"/>
              </a:rPr>
              <a:t>Ecological Observatory Network (NEON) </a:t>
            </a:r>
            <a:r>
              <a:rPr lang="en-US" sz="1200" b="0" i="0" u="none" strike="noStrike" kern="1200" baseline="0" dirty="0" smtClean="0">
                <a:solidFill>
                  <a:schemeClr val="tx1"/>
                </a:solidFill>
                <a:latin typeface="+mn-lt"/>
                <a:ea typeface="+mn-ea"/>
                <a:cs typeface="+mn-cs"/>
              </a:rPr>
              <a:t>are designed with in situ sensor </a:t>
            </a:r>
            <a:r>
              <a:rPr lang="en-US" sz="1200" b="0" i="0" u="none" strike="noStrike" kern="1200" baseline="0" dirty="0" smtClean="0">
                <a:solidFill>
                  <a:schemeClr val="tx1"/>
                </a:solidFill>
                <a:latin typeface="+mn-lt"/>
                <a:ea typeface="+mn-ea"/>
                <a:cs typeface="+mn-cs"/>
              </a:rPr>
              <a:t>arrays, advanced </a:t>
            </a:r>
            <a:r>
              <a:rPr lang="en-US" sz="1200" b="0" i="0" u="none" strike="noStrike" kern="1200" baseline="0" dirty="0" smtClean="0">
                <a:solidFill>
                  <a:schemeClr val="tx1"/>
                </a:solidFill>
                <a:latin typeface="+mn-lt"/>
                <a:ea typeface="+mn-ea"/>
                <a:cs typeface="+mn-cs"/>
              </a:rPr>
              <a:t>instrumentation towers, and airborne platforms that monitor the health of natural ecosystems and the services they provide to society. The Global Earth Observation System of Systems is an effort by more than 100 national governments to connect the instrumentation from regional networks like NEON to enhance data sharing and promote common standards for </a:t>
            </a:r>
            <a:r>
              <a:rPr lang="en-IN" sz="1200" b="0" i="0" u="none" strike="noStrike" kern="1200" baseline="0" dirty="0" smtClean="0">
                <a:solidFill>
                  <a:schemeClr val="tx1"/>
                </a:solidFill>
                <a:latin typeface="+mn-lt"/>
                <a:ea typeface="+mn-ea"/>
                <a:cs typeface="+mn-cs"/>
              </a:rPr>
              <a:t>monitoring Earth’s ecosystems.</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20</a:t>
            </a:fld>
            <a:endParaRPr lang="en-US"/>
          </a:p>
        </p:txBody>
      </p:sp>
    </p:spTree>
    <p:extLst>
      <p:ext uri="{BB962C8B-B14F-4D97-AF65-F5344CB8AC3E}">
        <p14:creationId xmlns:p14="http://schemas.microsoft.com/office/powerpoint/2010/main" val="24487176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Citizen science programs like </a:t>
            </a:r>
            <a:r>
              <a:rPr lang="en-US" sz="1200" b="0" i="0" u="none" strike="noStrike" kern="1200" baseline="0" dirty="0" err="1" smtClean="0">
                <a:solidFill>
                  <a:schemeClr val="tx1"/>
                </a:solidFill>
                <a:latin typeface="+mn-lt"/>
                <a:ea typeface="+mn-ea"/>
                <a:cs typeface="+mn-cs"/>
              </a:rPr>
              <a:t>iNaturalist</a:t>
            </a:r>
            <a:r>
              <a:rPr lang="en-US" sz="1200" b="0" i="0" u="none" strike="noStrike" kern="1200" baseline="0" dirty="0" smtClean="0">
                <a:solidFill>
                  <a:schemeClr val="tx1"/>
                </a:solidFill>
                <a:latin typeface="+mn-lt"/>
                <a:ea typeface="+mn-ea"/>
                <a:cs typeface="+mn-cs"/>
              </a:rPr>
              <a:t>, which use crowdsourcing to identify species and collect data on their distribution and population sizes, are helping to establish a much-needed global biodiversity monitoring network.</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21</a:t>
            </a:fld>
            <a:endParaRPr lang="en-US"/>
          </a:p>
        </p:txBody>
      </p:sp>
    </p:spTree>
    <p:extLst>
      <p:ext uri="{BB962C8B-B14F-4D97-AF65-F5344CB8AC3E}">
        <p14:creationId xmlns:p14="http://schemas.microsoft.com/office/powerpoint/2010/main" val="42940450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Worldwide studies have shown that amphibians face multiple threats. Infection by a waterborne fungus is a major contributor to amphibian decline. Here, a researcher uses a cotton swab on an Australian frog, which will be tested for the presence of the disease-causing </a:t>
            </a:r>
            <a:r>
              <a:rPr lang="en-US" sz="1200" b="0" i="0" u="none" strike="noStrike" kern="1200" baseline="0" dirty="0" err="1" smtClean="0">
                <a:solidFill>
                  <a:schemeClr val="tx1"/>
                </a:solidFill>
                <a:latin typeface="+mn-lt"/>
                <a:ea typeface="+mn-ea"/>
                <a:cs typeface="+mn-cs"/>
              </a:rPr>
              <a:t>chytrid</a:t>
            </a:r>
            <a:r>
              <a:rPr lang="en-US" sz="1200" b="0" i="0" u="none" strike="noStrike" kern="1200" baseline="0" dirty="0" smtClean="0">
                <a:solidFill>
                  <a:schemeClr val="tx1"/>
                </a:solidFill>
                <a:latin typeface="+mn-lt"/>
                <a:ea typeface="+mn-ea"/>
                <a:cs typeface="+mn-cs"/>
              </a:rPr>
              <a:t> </a:t>
            </a:r>
            <a:r>
              <a:rPr lang="en-IN" sz="1200" b="0" i="0" u="none" strike="noStrike" kern="1200" baseline="0" dirty="0" smtClean="0">
                <a:solidFill>
                  <a:schemeClr val="tx1"/>
                </a:solidFill>
                <a:latin typeface="+mn-lt"/>
                <a:ea typeface="+mn-ea"/>
                <a:cs typeface="+mn-cs"/>
              </a:rPr>
              <a:t>fungus.</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22</a:t>
            </a:fld>
            <a:endParaRPr lang="en-US"/>
          </a:p>
        </p:txBody>
      </p:sp>
    </p:spTree>
    <p:extLst>
      <p:ext uri="{BB962C8B-B14F-4D97-AF65-F5344CB8AC3E}">
        <p14:creationId xmlns:p14="http://schemas.microsoft.com/office/powerpoint/2010/main" val="16577324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8.13 </a:t>
            </a:r>
            <a:r>
              <a:rPr lang="en-US" sz="1200" b="0" i="0" u="none" strike="noStrike" kern="1200" baseline="0" dirty="0" smtClean="0">
                <a:solidFill>
                  <a:schemeClr val="tx1"/>
                </a:solidFill>
                <a:latin typeface="+mn-lt"/>
                <a:ea typeface="+mn-ea"/>
                <a:cs typeface="+mn-cs"/>
              </a:rPr>
              <a:t>The Iberian lynx (</a:t>
            </a:r>
            <a:r>
              <a:rPr lang="en-US" sz="1200" b="0" i="1" u="none" strike="noStrike" kern="1200" baseline="0" dirty="0" smtClean="0">
                <a:solidFill>
                  <a:schemeClr val="tx1"/>
                </a:solidFill>
                <a:latin typeface="+mn-lt"/>
                <a:ea typeface="+mn-ea"/>
                <a:cs typeface="+mn-cs"/>
              </a:rPr>
              <a:t>Lynx </a:t>
            </a:r>
            <a:r>
              <a:rPr lang="en-US" sz="1200" b="0" i="1" u="none" strike="noStrike" kern="1200" baseline="0" dirty="0" err="1" smtClean="0">
                <a:solidFill>
                  <a:schemeClr val="tx1"/>
                </a:solidFill>
                <a:latin typeface="+mn-lt"/>
                <a:ea typeface="+mn-ea"/>
                <a:cs typeface="+mn-cs"/>
              </a:rPr>
              <a:t>pardinus</a:t>
            </a:r>
            <a:r>
              <a:rPr lang="en-US" sz="1200" b="0" i="0" u="none" strike="noStrike" kern="1200" baseline="0" dirty="0" smtClean="0">
                <a:solidFill>
                  <a:schemeClr val="tx1"/>
                </a:solidFill>
                <a:latin typeface="+mn-lt"/>
                <a:ea typeface="+mn-ea"/>
                <a:cs typeface="+mn-cs"/>
              </a:rPr>
              <a:t>) occupies a highly restricted geographic range, with only two breeding populations in Spain. As a result, the species is the world’s most endangered felid.</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23</a:t>
            </a:fld>
            <a:endParaRPr lang="en-US"/>
          </a:p>
        </p:txBody>
      </p:sp>
    </p:spTree>
    <p:extLst>
      <p:ext uri="{BB962C8B-B14F-4D97-AF65-F5344CB8AC3E}">
        <p14:creationId xmlns:p14="http://schemas.microsoft.com/office/powerpoint/2010/main" val="41043204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8.14 </a:t>
            </a:r>
            <a:r>
              <a:rPr lang="en-US" sz="1200" b="0" i="0" u="none" strike="noStrike" kern="1200" baseline="0" dirty="0" smtClean="0">
                <a:solidFill>
                  <a:schemeClr val="tx1"/>
                </a:solidFill>
                <a:latin typeface="+mn-lt"/>
                <a:ea typeface="+mn-ea"/>
                <a:cs typeface="+mn-cs"/>
              </a:rPr>
              <a:t>The world’s largest species at risk. Scientists examined the conservation status of 105 of the world’s largest land animals and found that 60% are threatened </a:t>
            </a:r>
            <a:r>
              <a:rPr lang="en-IN" sz="1200" b="0" i="0" u="none" strike="noStrike" kern="1200" baseline="0" dirty="0" smtClean="0">
                <a:solidFill>
                  <a:schemeClr val="tx1"/>
                </a:solidFill>
                <a:latin typeface="+mn-lt"/>
                <a:ea typeface="+mn-ea"/>
                <a:cs typeface="+mn-cs"/>
              </a:rPr>
              <a:t>with extinction. These megafauna </a:t>
            </a:r>
            <a:r>
              <a:rPr lang="en-US" sz="1200" b="0" i="0" u="none" strike="noStrike" kern="1200" baseline="0" dirty="0" smtClean="0">
                <a:solidFill>
                  <a:schemeClr val="tx1"/>
                </a:solidFill>
                <a:latin typeface="+mn-lt"/>
                <a:ea typeface="+mn-ea"/>
                <a:cs typeface="+mn-cs"/>
              </a:rPr>
              <a:t>(very large animals) are concentrated in sub-Saharan Africa and Southeast Asia and are often keystone species with profound </a:t>
            </a:r>
            <a:r>
              <a:rPr lang="en-IN" sz="1200" b="0" i="0" u="none" strike="noStrike" kern="1200" baseline="0" dirty="0" smtClean="0">
                <a:solidFill>
                  <a:schemeClr val="tx1"/>
                </a:solidFill>
                <a:latin typeface="+mn-lt"/>
                <a:ea typeface="+mn-ea"/>
                <a:cs typeface="+mn-cs"/>
              </a:rPr>
              <a:t>impacts on their ecosystems.</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24</a:t>
            </a:fld>
            <a:endParaRPr lang="en-US"/>
          </a:p>
        </p:txBody>
      </p:sp>
    </p:spTree>
    <p:extLst>
      <p:ext uri="{BB962C8B-B14F-4D97-AF65-F5344CB8AC3E}">
        <p14:creationId xmlns:p14="http://schemas.microsoft.com/office/powerpoint/2010/main" val="33881927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i="0" u="none" strike="noStrike" kern="1200" baseline="0" dirty="0" smtClean="0">
                <a:solidFill>
                  <a:schemeClr val="tx1"/>
                </a:solidFill>
                <a:latin typeface="+mn-lt"/>
                <a:ea typeface="+mn-ea"/>
                <a:cs typeface="+mn-cs"/>
              </a:rPr>
              <a:t>Figure 8.15 </a:t>
            </a:r>
            <a:r>
              <a:rPr lang="en-IN" sz="1200" b="0" i="0" u="none" strike="noStrike" kern="1200" baseline="0" dirty="0" smtClean="0">
                <a:solidFill>
                  <a:schemeClr val="tx1"/>
                </a:solidFill>
                <a:latin typeface="+mn-lt"/>
                <a:ea typeface="+mn-ea"/>
                <a:cs typeface="+mn-cs"/>
              </a:rPr>
              <a:t>Simulations of a simple population model illustrate the </a:t>
            </a:r>
            <a:r>
              <a:rPr lang="en-US" sz="1200" b="0" i="0" u="none" strike="noStrike" kern="1200" baseline="0" dirty="0" smtClean="0">
                <a:solidFill>
                  <a:schemeClr val="tx1"/>
                </a:solidFill>
                <a:latin typeface="+mn-lt"/>
                <a:ea typeface="+mn-ea"/>
                <a:cs typeface="+mn-cs"/>
              </a:rPr>
              <a:t>impacts of </a:t>
            </a:r>
            <a:r>
              <a:rPr lang="en-US" sz="1200" b="0" i="0" u="none" strike="noStrike" kern="1200" baseline="0" dirty="0" err="1" smtClean="0">
                <a:solidFill>
                  <a:schemeClr val="tx1"/>
                </a:solidFill>
                <a:latin typeface="+mn-lt"/>
                <a:ea typeface="+mn-ea"/>
                <a:cs typeface="+mn-cs"/>
              </a:rPr>
              <a:t>stochasticity</a:t>
            </a:r>
            <a:r>
              <a:rPr lang="en-US" sz="1200" b="0" i="0" u="none" strike="noStrike" kern="1200" baseline="0" dirty="0" smtClean="0">
                <a:solidFill>
                  <a:schemeClr val="tx1"/>
                </a:solidFill>
                <a:latin typeface="+mn-lt"/>
                <a:ea typeface="+mn-ea"/>
                <a:cs typeface="+mn-cs"/>
              </a:rPr>
              <a:t> on population growth. With no variation in birth (</a:t>
            </a:r>
            <a:r>
              <a:rPr lang="en-US" sz="1200" b="0" i="1" u="none" strike="noStrike" kern="1200" baseline="0" dirty="0" smtClean="0">
                <a:solidFill>
                  <a:schemeClr val="tx1"/>
                </a:solidFill>
                <a:latin typeface="+mn-lt"/>
                <a:ea typeface="+mn-ea"/>
                <a:cs typeface="+mn-cs"/>
              </a:rPr>
              <a:t>b</a:t>
            </a:r>
            <a:r>
              <a:rPr lang="en-US" sz="1200" b="0" i="0" u="none" strike="noStrike" kern="1200" baseline="0" dirty="0" smtClean="0">
                <a:solidFill>
                  <a:schemeClr val="tx1"/>
                </a:solidFill>
                <a:latin typeface="+mn-lt"/>
                <a:ea typeface="+mn-ea"/>
                <a:cs typeface="+mn-cs"/>
              </a:rPr>
              <a:t>) or death (</a:t>
            </a:r>
            <a:r>
              <a:rPr lang="en-US" sz="1200" b="0" i="1" u="none" strike="noStrike" kern="1200" baseline="0" dirty="0" smtClean="0">
                <a:solidFill>
                  <a:schemeClr val="tx1"/>
                </a:solidFill>
                <a:latin typeface="+mn-lt"/>
                <a:ea typeface="+mn-ea"/>
                <a:cs typeface="+mn-cs"/>
              </a:rPr>
              <a:t>d</a:t>
            </a:r>
            <a:r>
              <a:rPr lang="en-US" sz="1200" b="0" i="0" u="none" strike="noStrike" kern="1200" baseline="0" dirty="0" smtClean="0">
                <a:solidFill>
                  <a:schemeClr val="tx1"/>
                </a:solidFill>
                <a:latin typeface="+mn-lt"/>
                <a:ea typeface="+mn-ea"/>
                <a:cs typeface="+mn-cs"/>
              </a:rPr>
              <a:t>) rates, populations grow deterministically (B, dashed purple line). When </a:t>
            </a:r>
            <a:r>
              <a:rPr lang="en-US" sz="1200" b="0" i="1" u="none" strike="noStrike" kern="1200" baseline="0" dirty="0" smtClean="0">
                <a:solidFill>
                  <a:schemeClr val="tx1"/>
                </a:solidFill>
                <a:latin typeface="+mn-lt"/>
                <a:ea typeface="+mn-ea"/>
                <a:cs typeface="+mn-cs"/>
              </a:rPr>
              <a:t>b </a:t>
            </a:r>
            <a:r>
              <a:rPr lang="en-US" sz="1200" b="0" i="0" u="none" strike="noStrike" kern="1200" baseline="0" dirty="0" smtClean="0">
                <a:solidFill>
                  <a:schemeClr val="tx1"/>
                </a:solidFill>
                <a:latin typeface="+mn-lt"/>
                <a:ea typeface="+mn-ea"/>
                <a:cs typeface="+mn-cs"/>
              </a:rPr>
              <a:t>and </a:t>
            </a:r>
            <a:r>
              <a:rPr lang="en-US" sz="1200" b="0" i="1" u="none" strike="noStrike" kern="1200" baseline="0" dirty="0" smtClean="0">
                <a:solidFill>
                  <a:schemeClr val="tx1"/>
                </a:solidFill>
                <a:latin typeface="+mn-lt"/>
                <a:ea typeface="+mn-ea"/>
                <a:cs typeface="+mn-cs"/>
              </a:rPr>
              <a:t>d </a:t>
            </a:r>
            <a:r>
              <a:rPr lang="en-US" sz="1200" b="0" i="0" u="none" strike="noStrike" kern="1200" baseline="0" dirty="0" smtClean="0">
                <a:solidFill>
                  <a:schemeClr val="tx1"/>
                </a:solidFill>
                <a:latin typeface="+mn-lt"/>
                <a:ea typeface="+mn-ea"/>
                <a:cs typeface="+mn-cs"/>
              </a:rPr>
              <a:t>are selected at random from a normal probability distribution (A), populations may grow faster or slower (B, solid green lines) or even go extinct (B, dashed red line).</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25</a:t>
            </a:fld>
            <a:endParaRPr lang="en-US"/>
          </a:p>
        </p:txBody>
      </p:sp>
    </p:spTree>
    <p:extLst>
      <p:ext uri="{BB962C8B-B14F-4D97-AF65-F5344CB8AC3E}">
        <p14:creationId xmlns:p14="http://schemas.microsoft.com/office/powerpoint/2010/main" val="18593832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5" name="Picture 5" descr="Oxford University Press logo"/>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5976938"/>
            <a:ext cx="2505075" cy="88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Placeholder 1"/>
          <p:cNvSpPr>
            <a:spLocks noGrp="1"/>
          </p:cNvSpPr>
          <p:nvPr>
            <p:ph type="title"/>
          </p:nvPr>
        </p:nvSpPr>
        <p:spPr>
          <a:xfrm>
            <a:off x="450575" y="586409"/>
            <a:ext cx="11317356" cy="566530"/>
          </a:xfrm>
          <a:prstGeom prst="rect">
            <a:avLst/>
          </a:prstGeom>
        </p:spPr>
        <p:txBody>
          <a:bodyPr rtlCol="0" anchor="t">
            <a:normAutofit/>
          </a:bodyPr>
          <a:lstStyle>
            <a:lvl1pPr algn="ctr">
              <a:defRPr sz="3600" b="1" i="1"/>
            </a:lvl1pPr>
          </a:lstStyle>
          <a:p>
            <a:r>
              <a:rPr lang="en-US" smtClean="0"/>
              <a:t>Click to edit Master title style</a:t>
            </a:r>
            <a:endParaRPr lang="en-US" dirty="0"/>
          </a:p>
        </p:txBody>
      </p:sp>
      <p:sp>
        <p:nvSpPr>
          <p:cNvPr id="11" name="Text Placeholder 10"/>
          <p:cNvSpPr>
            <a:spLocks noGrp="1"/>
          </p:cNvSpPr>
          <p:nvPr>
            <p:ph type="body" sz="quarter" idx="11"/>
          </p:nvPr>
        </p:nvSpPr>
        <p:spPr>
          <a:xfrm>
            <a:off x="450851" y="1152525"/>
            <a:ext cx="11317816" cy="477838"/>
          </a:xfrm>
          <a:prstGeom prst="rect">
            <a:avLst/>
          </a:prstGeom>
        </p:spPr>
        <p:txBody>
          <a:bodyPr/>
          <a:lstStyle>
            <a:lvl1pPr marL="0" indent="0" algn="ctr">
              <a:buNone/>
              <a:defRPr sz="2400">
                <a:solidFill>
                  <a:srgbClr val="1F497D"/>
                </a:solidFill>
              </a:defRPr>
            </a:lvl1pPr>
          </a:lstStyle>
          <a:p>
            <a:pPr lvl="0"/>
            <a:r>
              <a:rPr lang="en-US"/>
              <a:t>Edit Master text styles</a:t>
            </a:r>
          </a:p>
        </p:txBody>
      </p:sp>
      <p:sp>
        <p:nvSpPr>
          <p:cNvPr id="6" name="Picture Placeholder 5"/>
          <p:cNvSpPr>
            <a:spLocks noGrp="1"/>
          </p:cNvSpPr>
          <p:nvPr>
            <p:ph type="pic" sz="quarter" idx="10"/>
          </p:nvPr>
        </p:nvSpPr>
        <p:spPr>
          <a:xfrm>
            <a:off x="3710609" y="1808921"/>
            <a:ext cx="4770784" cy="4283766"/>
          </a:xfrm>
          <a:prstGeom prst="rect">
            <a:avLst/>
          </a:prstGeom>
        </p:spPr>
        <p:txBody>
          <a:bodyPr rtlCol="0">
            <a:normAutofit/>
          </a:bodyPr>
          <a:lstStyle/>
          <a:p>
            <a:pPr lvl="0"/>
            <a:r>
              <a:rPr lang="en-US" noProof="0"/>
              <a:t>Click icon to add picture</a:t>
            </a:r>
            <a:endParaRPr lang="en-US" noProof="0" dirty="0"/>
          </a:p>
        </p:txBody>
      </p:sp>
    </p:spTree>
    <p:extLst>
      <p:ext uri="{BB962C8B-B14F-4D97-AF65-F5344CB8AC3E}">
        <p14:creationId xmlns:p14="http://schemas.microsoft.com/office/powerpoint/2010/main" val="3890316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15462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p:txBody>
      </p:sp>
    </p:spTree>
    <p:extLst>
      <p:ext uri="{BB962C8B-B14F-4D97-AF65-F5344CB8AC3E}">
        <p14:creationId xmlns:p14="http://schemas.microsoft.com/office/powerpoint/2010/main" val="38035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8EB49-10B0-434E-B9A9-AEEABF0BE468}"/>
              </a:ext>
            </a:extLst>
          </p:cNvPr>
          <p:cNvSpPr>
            <a:spLocks noGrp="1"/>
          </p:cNvSpPr>
          <p:nvPr>
            <p:ph type="title"/>
          </p:nvPr>
        </p:nvSpPr>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97363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igur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1A7EB-3577-43FD-9B2D-BCEA4F83C945}"/>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546028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8EB49-10B0-434E-B9A9-AEEABF0BE468}"/>
              </a:ext>
            </a:extLst>
          </p:cNvPr>
          <p:cNvSpPr>
            <a:spLocks noGrp="1"/>
          </p:cNvSpPr>
          <p:nvPr>
            <p:ph type="title"/>
          </p:nvPr>
        </p:nvSpPr>
        <p:spPr/>
        <p:txBody>
          <a:bodyPr/>
          <a:lstStyle/>
          <a:p>
            <a:r>
              <a:rPr lang="en-US"/>
              <a:t>Click to edit Master title style</a:t>
            </a:r>
          </a:p>
        </p:txBody>
      </p:sp>
      <p:sp>
        <p:nvSpPr>
          <p:cNvPr id="4" name="Table Placeholder 3">
            <a:extLst>
              <a:ext uri="{FF2B5EF4-FFF2-40B4-BE49-F238E27FC236}">
                <a16:creationId xmlns:a16="http://schemas.microsoft.com/office/drawing/2014/main" id="{143F8EF5-4C16-48DE-A586-E7CCF94F9F03}"/>
              </a:ext>
            </a:extLst>
          </p:cNvPr>
          <p:cNvSpPr>
            <a:spLocks noGrp="1"/>
          </p:cNvSpPr>
          <p:nvPr>
            <p:ph type="tbl" sz="quarter" idx="10"/>
          </p:nvPr>
        </p:nvSpPr>
        <p:spPr>
          <a:xfrm>
            <a:off x="1366838" y="808037"/>
            <a:ext cx="9759950" cy="5045832"/>
          </a:xfrm>
        </p:spPr>
        <p:txBody>
          <a:bodyPr rtlCol="0">
            <a:normAutofit/>
          </a:bodyPr>
          <a:lstStyle/>
          <a:p>
            <a:pPr lvl="0"/>
            <a:endParaRPr lang="en-US" noProof="0"/>
          </a:p>
        </p:txBody>
      </p:sp>
      <p:sp>
        <p:nvSpPr>
          <p:cNvPr id="6" name="Text Placeholder 5">
            <a:extLst>
              <a:ext uri="{FF2B5EF4-FFF2-40B4-BE49-F238E27FC236}">
                <a16:creationId xmlns:a16="http://schemas.microsoft.com/office/drawing/2014/main" id="{F24482F5-5C68-40F1-BAC8-3387D676EB94}"/>
              </a:ext>
            </a:extLst>
          </p:cNvPr>
          <p:cNvSpPr>
            <a:spLocks noGrp="1"/>
          </p:cNvSpPr>
          <p:nvPr>
            <p:ph type="body" sz="quarter" idx="11"/>
          </p:nvPr>
        </p:nvSpPr>
        <p:spPr>
          <a:xfrm>
            <a:off x="1366838" y="5973510"/>
            <a:ext cx="9759950" cy="503490"/>
          </a:xfrm>
        </p:spPr>
        <p:txBody>
          <a:bodyPr>
            <a:noAutofit/>
          </a:bodyPr>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dirty="0"/>
              <a:t>Edit Master text styles</a:t>
            </a:r>
          </a:p>
        </p:txBody>
      </p:sp>
    </p:spTree>
    <p:extLst>
      <p:ext uri="{BB962C8B-B14F-4D97-AF65-F5344CB8AC3E}">
        <p14:creationId xmlns:p14="http://schemas.microsoft.com/office/powerpoint/2010/main" val="4034427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11/22/2024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523572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588" y="3175"/>
            <a:ext cx="12190412"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8" name="Text Placeholder 2"/>
          <p:cNvSpPr>
            <a:spLocks noGrp="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0"/>
            <a:r>
              <a:rPr lang="en-US" altLang="en-US" smtClean="0"/>
              <a:t>Click to edit Master text styles</a:t>
            </a:r>
          </a:p>
        </p:txBody>
      </p:sp>
      <p:sp>
        <p:nvSpPr>
          <p:cNvPr id="9" name="TextBox 8"/>
          <p:cNvSpPr txBox="1">
            <a:spLocks noChangeArrowheads="1"/>
          </p:cNvSpPr>
          <p:nvPr userDrawn="1"/>
        </p:nvSpPr>
        <p:spPr bwMode="auto">
          <a:xfrm>
            <a:off x="10363200" y="6605588"/>
            <a:ext cx="1827213" cy="246062"/>
          </a:xfrm>
          <a:prstGeom prst="rect">
            <a:avLst/>
          </a:prstGeom>
          <a:noFill/>
          <a:ln>
            <a:noFill/>
          </a:ln>
        </p:spPr>
        <p:txBody>
          <a:bodyPr wrap="none">
            <a:spAutoFit/>
          </a:bodyPr>
          <a:lstStyle>
            <a:lvl1pPr>
              <a:defRPr sz="2400" b="1">
                <a:solidFill>
                  <a:schemeClr val="bg2"/>
                </a:solidFill>
                <a:latin typeface="Times New Roman" panose="02020603050405020304" pitchFamily="18" charset="0"/>
                <a:ea typeface="ＭＳ Ｐゴシック" panose="020B0600070205080204" pitchFamily="34" charset="-128"/>
              </a:defRPr>
            </a:lvl1pPr>
            <a:lvl2pPr marL="742950" indent="-285750">
              <a:defRPr sz="2400" b="1">
                <a:solidFill>
                  <a:schemeClr val="bg2"/>
                </a:solidFill>
                <a:latin typeface="Times New Roman" panose="02020603050405020304" pitchFamily="18" charset="0"/>
                <a:ea typeface="ＭＳ Ｐゴシック" panose="020B0600070205080204" pitchFamily="34" charset="-128"/>
              </a:defRPr>
            </a:lvl2pPr>
            <a:lvl3pPr marL="1143000" indent="-228600">
              <a:defRPr sz="2400" b="1">
                <a:solidFill>
                  <a:schemeClr val="bg2"/>
                </a:solidFill>
                <a:latin typeface="Times New Roman" panose="02020603050405020304" pitchFamily="18" charset="0"/>
                <a:ea typeface="ＭＳ Ｐゴシック" panose="020B0600070205080204" pitchFamily="34" charset="-128"/>
              </a:defRPr>
            </a:lvl3pPr>
            <a:lvl4pPr marL="1600200" indent="-228600">
              <a:defRPr sz="2400" b="1">
                <a:solidFill>
                  <a:schemeClr val="bg2"/>
                </a:solidFill>
                <a:latin typeface="Times New Roman" panose="02020603050405020304" pitchFamily="18" charset="0"/>
                <a:ea typeface="ＭＳ Ｐゴシック" panose="020B0600070205080204" pitchFamily="34" charset="-128"/>
              </a:defRPr>
            </a:lvl4pPr>
            <a:lvl5pPr marL="2057400" indent="-228600">
              <a:defRPr sz="2400" b="1">
                <a:solidFill>
                  <a:schemeClr val="bg2"/>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9pPr>
          </a:lstStyle>
          <a:p>
            <a:pPr algn="r" eaLnBrk="1" fontAlgn="auto" hangingPunct="1">
              <a:spcBef>
                <a:spcPts val="0"/>
              </a:spcBef>
              <a:spcAft>
                <a:spcPts val="0"/>
              </a:spcAft>
              <a:defRPr/>
            </a:pPr>
            <a:r>
              <a:rPr lang="en-US" altLang="en-US" sz="1000" b="0" dirty="0">
                <a:solidFill>
                  <a:schemeClr val="tx1"/>
                </a:solidFill>
                <a:latin typeface="+mj-lt"/>
                <a:cs typeface="Arial" panose="020B0604020202020204" pitchFamily="34" charset="0"/>
              </a:rPr>
              <a:t>© </a:t>
            </a:r>
            <a:r>
              <a:rPr lang="en-US" altLang="en-US" sz="1000" b="0" dirty="0" smtClean="0">
                <a:solidFill>
                  <a:schemeClr val="tx1"/>
                </a:solidFill>
                <a:latin typeface="+mj-lt"/>
                <a:cs typeface="Arial" panose="020B0604020202020204" pitchFamily="34" charset="0"/>
              </a:rPr>
              <a:t>2024 </a:t>
            </a:r>
            <a:r>
              <a:rPr lang="en-US" altLang="en-US" sz="1000" b="0" dirty="0">
                <a:solidFill>
                  <a:schemeClr val="tx1"/>
                </a:solidFill>
                <a:latin typeface="+mj-lt"/>
                <a:cs typeface="Arial" panose="020B0604020202020204" pitchFamily="34" charset="0"/>
              </a:rPr>
              <a:t>Oxford University Press</a:t>
            </a:r>
          </a:p>
        </p:txBody>
      </p:sp>
    </p:spTree>
  </p:cSld>
  <p:clrMap bg1="lt1" tx1="dk1" bg2="lt2" tx2="dk2" accent1="accent1" accent2="accent2" accent3="accent3" accent4="accent4" accent5="accent5" accent6="accent6" hlink="hlink" folHlink="folHlink"/>
  <p:sldLayoutIdLst>
    <p:sldLayoutId id="2147483692" r:id="rId1"/>
    <p:sldLayoutId id="2147483687" r:id="rId2"/>
    <p:sldLayoutId id="2147483688" r:id="rId3"/>
    <p:sldLayoutId id="2147483689" r:id="rId4"/>
  </p:sldLayoutIdLst>
  <p:txStyles>
    <p:titleStyle>
      <a:lvl1pPr algn="ctr" rtl="0" eaLnBrk="0" fontAlgn="base" hangingPunct="0">
        <a:spcBef>
          <a:spcPct val="0"/>
        </a:spcBef>
        <a:spcAft>
          <a:spcPct val="0"/>
        </a:spcAft>
        <a:defRPr sz="3600" kern="1200">
          <a:solidFill>
            <a:schemeClr val="tx2"/>
          </a:solidFill>
          <a:latin typeface="+mj-lt"/>
          <a:ea typeface="+mj-ea"/>
          <a:cs typeface="+mj-cs"/>
        </a:defRPr>
      </a:lvl1pPr>
      <a:lvl2pPr algn="ctr" rtl="0" eaLnBrk="0" fontAlgn="base" hangingPunct="0">
        <a:spcBef>
          <a:spcPct val="0"/>
        </a:spcBef>
        <a:spcAft>
          <a:spcPct val="0"/>
        </a:spcAft>
        <a:defRPr sz="3600">
          <a:solidFill>
            <a:schemeClr val="tx2"/>
          </a:solidFill>
          <a:latin typeface="Calibri" panose="020F0502020204030204" pitchFamily="34" charset="0"/>
        </a:defRPr>
      </a:lvl2pPr>
      <a:lvl3pPr algn="ctr" rtl="0" eaLnBrk="0" fontAlgn="base" hangingPunct="0">
        <a:spcBef>
          <a:spcPct val="0"/>
        </a:spcBef>
        <a:spcAft>
          <a:spcPct val="0"/>
        </a:spcAft>
        <a:defRPr sz="3600">
          <a:solidFill>
            <a:schemeClr val="tx2"/>
          </a:solidFill>
          <a:latin typeface="Calibri" panose="020F0502020204030204" pitchFamily="34" charset="0"/>
        </a:defRPr>
      </a:lvl3pPr>
      <a:lvl4pPr algn="ctr" rtl="0" eaLnBrk="0" fontAlgn="base" hangingPunct="0">
        <a:spcBef>
          <a:spcPct val="0"/>
        </a:spcBef>
        <a:spcAft>
          <a:spcPct val="0"/>
        </a:spcAft>
        <a:defRPr sz="3600">
          <a:solidFill>
            <a:schemeClr val="tx2"/>
          </a:solidFill>
          <a:latin typeface="Calibri" panose="020F0502020204030204" pitchFamily="34" charset="0"/>
        </a:defRPr>
      </a:lvl4pPr>
      <a:lvl5pPr algn="ctr" rtl="0" eaLnBrk="0" fontAlgn="base" hangingPunct="0">
        <a:spcBef>
          <a:spcPct val="0"/>
        </a:spcBef>
        <a:spcAft>
          <a:spcPct val="0"/>
        </a:spcAft>
        <a:defRPr sz="3600">
          <a:solidFill>
            <a:schemeClr val="tx2"/>
          </a:solidFill>
          <a:latin typeface="Calibri" panose="020F0502020204030204" pitchFamily="34" charset="0"/>
        </a:defRPr>
      </a:lvl5pPr>
      <a:lvl6pPr marL="457200" algn="ctr" rtl="0" fontAlgn="base">
        <a:spcBef>
          <a:spcPct val="0"/>
        </a:spcBef>
        <a:spcAft>
          <a:spcPct val="0"/>
        </a:spcAft>
        <a:defRPr sz="3600">
          <a:solidFill>
            <a:schemeClr val="tx2"/>
          </a:solidFill>
          <a:latin typeface="Calibri" panose="020F0502020204030204" pitchFamily="34" charset="0"/>
        </a:defRPr>
      </a:lvl6pPr>
      <a:lvl7pPr marL="914400" algn="ctr" rtl="0" fontAlgn="base">
        <a:spcBef>
          <a:spcPct val="0"/>
        </a:spcBef>
        <a:spcAft>
          <a:spcPct val="0"/>
        </a:spcAft>
        <a:defRPr sz="3600">
          <a:solidFill>
            <a:schemeClr val="tx2"/>
          </a:solidFill>
          <a:latin typeface="Calibri" panose="020F0502020204030204" pitchFamily="34" charset="0"/>
        </a:defRPr>
      </a:lvl7pPr>
      <a:lvl8pPr marL="1371600" algn="ctr" rtl="0" fontAlgn="base">
        <a:spcBef>
          <a:spcPct val="0"/>
        </a:spcBef>
        <a:spcAft>
          <a:spcPct val="0"/>
        </a:spcAft>
        <a:defRPr sz="3600">
          <a:solidFill>
            <a:schemeClr val="tx2"/>
          </a:solidFill>
          <a:latin typeface="Calibri" panose="020F0502020204030204" pitchFamily="34" charset="0"/>
        </a:defRPr>
      </a:lvl8pPr>
      <a:lvl9pPr marL="1828800" algn="ctr" rtl="0" fontAlgn="base">
        <a:spcBef>
          <a:spcPct val="0"/>
        </a:spcBef>
        <a:spcAft>
          <a:spcPct val="0"/>
        </a:spcAft>
        <a:defRPr sz="3600">
          <a:solidFill>
            <a:schemeClr val="tx2"/>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0" y="0"/>
            <a:ext cx="12192000" cy="369888"/>
          </a:xfrm>
          <a:prstGeom prst="rect">
            <a:avLst/>
          </a:prstGeom>
          <a:solidFill>
            <a:srgbClr val="001A4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lvl="0"/>
            <a:r>
              <a:rPr lang="en-US" altLang="en-US" smtClean="0"/>
              <a:t>Click to edit Master title style</a:t>
            </a:r>
          </a:p>
        </p:txBody>
      </p:sp>
      <p:sp>
        <p:nvSpPr>
          <p:cNvPr id="2051" name="Text Placeholder 3"/>
          <p:cNvSpPr>
            <a:spLocks noGrp="1"/>
          </p:cNvSpPr>
          <p:nvPr>
            <p:ph type="body" idx="1"/>
          </p:nvPr>
        </p:nvSpPr>
        <p:spPr bwMode="auto">
          <a:xfrm>
            <a:off x="838200" y="952500"/>
            <a:ext cx="10515600" cy="522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6" name="TextBox 5">
            <a:extLst>
              <a:ext uri="{FF2B5EF4-FFF2-40B4-BE49-F238E27FC236}">
                <a16:creationId xmlns:a16="http://schemas.microsoft.com/office/drawing/2014/main" id="{B9A352A1-3B59-4F46-8B27-7104614BE002}"/>
              </a:ext>
            </a:extLst>
          </p:cNvPr>
          <p:cNvSpPr txBox="1">
            <a:spLocks noChangeArrowheads="1"/>
          </p:cNvSpPr>
          <p:nvPr userDrawn="1"/>
        </p:nvSpPr>
        <p:spPr bwMode="auto">
          <a:xfrm>
            <a:off x="10363200" y="6605588"/>
            <a:ext cx="1827213" cy="246062"/>
          </a:xfrm>
          <a:prstGeom prst="rect">
            <a:avLst/>
          </a:prstGeom>
          <a:noFill/>
          <a:ln>
            <a:noFill/>
          </a:ln>
        </p:spPr>
        <p:txBody>
          <a:bodyPr wrap="none">
            <a:spAutoFit/>
          </a:bodyPr>
          <a:lstStyle>
            <a:lvl1pPr>
              <a:defRPr sz="2400" b="1">
                <a:solidFill>
                  <a:schemeClr val="bg2"/>
                </a:solidFill>
                <a:latin typeface="Times New Roman" panose="02020603050405020304" pitchFamily="18" charset="0"/>
                <a:ea typeface="ＭＳ Ｐゴシック" panose="020B0600070205080204" pitchFamily="34" charset="-128"/>
              </a:defRPr>
            </a:lvl1pPr>
            <a:lvl2pPr marL="742950" indent="-285750">
              <a:defRPr sz="2400" b="1">
                <a:solidFill>
                  <a:schemeClr val="bg2"/>
                </a:solidFill>
                <a:latin typeface="Times New Roman" panose="02020603050405020304" pitchFamily="18" charset="0"/>
                <a:ea typeface="ＭＳ Ｐゴシック" panose="020B0600070205080204" pitchFamily="34" charset="-128"/>
              </a:defRPr>
            </a:lvl2pPr>
            <a:lvl3pPr marL="1143000" indent="-228600">
              <a:defRPr sz="2400" b="1">
                <a:solidFill>
                  <a:schemeClr val="bg2"/>
                </a:solidFill>
                <a:latin typeface="Times New Roman" panose="02020603050405020304" pitchFamily="18" charset="0"/>
                <a:ea typeface="ＭＳ Ｐゴシック" panose="020B0600070205080204" pitchFamily="34" charset="-128"/>
              </a:defRPr>
            </a:lvl3pPr>
            <a:lvl4pPr marL="1600200" indent="-228600">
              <a:defRPr sz="2400" b="1">
                <a:solidFill>
                  <a:schemeClr val="bg2"/>
                </a:solidFill>
                <a:latin typeface="Times New Roman" panose="02020603050405020304" pitchFamily="18" charset="0"/>
                <a:ea typeface="ＭＳ Ｐゴシック" panose="020B0600070205080204" pitchFamily="34" charset="-128"/>
              </a:defRPr>
            </a:lvl4pPr>
            <a:lvl5pPr marL="2057400" indent="-228600">
              <a:defRPr sz="2400" b="1">
                <a:solidFill>
                  <a:schemeClr val="bg2"/>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9pPr>
          </a:lstStyle>
          <a:p>
            <a:pPr algn="r" eaLnBrk="1" fontAlgn="auto" hangingPunct="1">
              <a:spcBef>
                <a:spcPts val="0"/>
              </a:spcBef>
              <a:spcAft>
                <a:spcPts val="0"/>
              </a:spcAft>
              <a:defRPr/>
            </a:pPr>
            <a:r>
              <a:rPr lang="en-US" altLang="en-US" sz="1000" b="0" dirty="0">
                <a:solidFill>
                  <a:schemeClr val="tx1"/>
                </a:solidFill>
                <a:latin typeface="+mj-lt"/>
                <a:cs typeface="Arial" panose="020B0604020202020204" pitchFamily="34" charset="0"/>
              </a:rPr>
              <a:t>© </a:t>
            </a:r>
            <a:r>
              <a:rPr lang="en-US" altLang="en-US" sz="1000" b="0" dirty="0" smtClean="0">
                <a:solidFill>
                  <a:schemeClr val="tx1"/>
                </a:solidFill>
                <a:latin typeface="+mj-lt"/>
                <a:cs typeface="Arial" panose="020B0604020202020204" pitchFamily="34" charset="0"/>
              </a:rPr>
              <a:t>2024 </a:t>
            </a:r>
            <a:r>
              <a:rPr lang="en-US" altLang="en-US" sz="1000" b="0" dirty="0">
                <a:solidFill>
                  <a:schemeClr val="tx1"/>
                </a:solidFill>
                <a:latin typeface="+mj-lt"/>
                <a:cs typeface="Arial" panose="020B0604020202020204" pitchFamily="34" charset="0"/>
              </a:rPr>
              <a:t>Oxford University Press</a:t>
            </a:r>
          </a:p>
        </p:txBody>
      </p:sp>
    </p:spTree>
  </p:cSld>
  <p:clrMap bg1="lt1" tx1="dk1" bg2="lt2" tx2="dk2" accent1="accent1" accent2="accent2" accent3="accent3" accent4="accent4" accent5="accent5" accent6="accent6" hlink="hlink" folHlink="folHlink"/>
  <p:sldLayoutIdLst>
    <p:sldLayoutId id="2147483690" r:id="rId1"/>
    <p:sldLayoutId id="2147483691" r:id="rId2"/>
    <p:sldLayoutId id="2147483693" r:id="rId3"/>
  </p:sldLayoutIdLst>
  <p:txStyles>
    <p:titleStyle>
      <a:lvl1pPr algn="l" rtl="0" eaLnBrk="0" fontAlgn="base" hangingPunct="0">
        <a:spcBef>
          <a:spcPct val="0"/>
        </a:spcBef>
        <a:spcAft>
          <a:spcPct val="0"/>
        </a:spcAft>
        <a:defRPr kern="1200">
          <a:solidFill>
            <a:schemeClr val="bg1"/>
          </a:solidFill>
          <a:latin typeface="+mj-lt"/>
          <a:ea typeface="+mj-ea"/>
          <a:cs typeface="+mj-cs"/>
        </a:defRPr>
      </a:lvl1pPr>
      <a:lvl2pPr algn="l" rtl="0" eaLnBrk="0" fontAlgn="base" hangingPunct="0">
        <a:spcBef>
          <a:spcPct val="0"/>
        </a:spcBef>
        <a:spcAft>
          <a:spcPct val="0"/>
        </a:spcAft>
        <a:defRPr>
          <a:solidFill>
            <a:schemeClr val="bg1"/>
          </a:solidFill>
          <a:latin typeface="Calibri" panose="020F0502020204030204" pitchFamily="34" charset="0"/>
        </a:defRPr>
      </a:lvl2pPr>
      <a:lvl3pPr algn="l" rtl="0" eaLnBrk="0" fontAlgn="base" hangingPunct="0">
        <a:spcBef>
          <a:spcPct val="0"/>
        </a:spcBef>
        <a:spcAft>
          <a:spcPct val="0"/>
        </a:spcAft>
        <a:defRPr>
          <a:solidFill>
            <a:schemeClr val="bg1"/>
          </a:solidFill>
          <a:latin typeface="Calibri" panose="020F0502020204030204" pitchFamily="34" charset="0"/>
        </a:defRPr>
      </a:lvl3pPr>
      <a:lvl4pPr algn="l" rtl="0" eaLnBrk="0" fontAlgn="base" hangingPunct="0">
        <a:spcBef>
          <a:spcPct val="0"/>
        </a:spcBef>
        <a:spcAft>
          <a:spcPct val="0"/>
        </a:spcAft>
        <a:defRPr>
          <a:solidFill>
            <a:schemeClr val="bg1"/>
          </a:solidFill>
          <a:latin typeface="Calibri" panose="020F0502020204030204" pitchFamily="34" charset="0"/>
        </a:defRPr>
      </a:lvl4pPr>
      <a:lvl5pPr algn="l" rtl="0" eaLnBrk="0" fontAlgn="base" hangingPunct="0">
        <a:spcBef>
          <a:spcPct val="0"/>
        </a:spcBef>
        <a:spcAft>
          <a:spcPct val="0"/>
        </a:spcAft>
        <a:defRPr>
          <a:solidFill>
            <a:schemeClr val="bg1"/>
          </a:solidFill>
          <a:latin typeface="Calibri" panose="020F0502020204030204" pitchFamily="34" charset="0"/>
        </a:defRPr>
      </a:lvl5pPr>
      <a:lvl6pPr marL="457200" algn="l" rtl="0" fontAlgn="base">
        <a:spcBef>
          <a:spcPct val="0"/>
        </a:spcBef>
        <a:spcAft>
          <a:spcPct val="0"/>
        </a:spcAft>
        <a:defRPr>
          <a:solidFill>
            <a:schemeClr val="bg1"/>
          </a:solidFill>
          <a:latin typeface="Calibri" panose="020F0502020204030204" pitchFamily="34" charset="0"/>
        </a:defRPr>
      </a:lvl6pPr>
      <a:lvl7pPr marL="914400" algn="l" rtl="0" fontAlgn="base">
        <a:spcBef>
          <a:spcPct val="0"/>
        </a:spcBef>
        <a:spcAft>
          <a:spcPct val="0"/>
        </a:spcAft>
        <a:defRPr>
          <a:solidFill>
            <a:schemeClr val="bg1"/>
          </a:solidFill>
          <a:latin typeface="Calibri" panose="020F0502020204030204" pitchFamily="34" charset="0"/>
        </a:defRPr>
      </a:lvl7pPr>
      <a:lvl8pPr marL="1371600" algn="l" rtl="0" fontAlgn="base">
        <a:spcBef>
          <a:spcPct val="0"/>
        </a:spcBef>
        <a:spcAft>
          <a:spcPct val="0"/>
        </a:spcAft>
        <a:defRPr>
          <a:solidFill>
            <a:schemeClr val="bg1"/>
          </a:solidFill>
          <a:latin typeface="Calibri" panose="020F0502020204030204" pitchFamily="34" charset="0"/>
        </a:defRPr>
      </a:lvl8pPr>
      <a:lvl9pPr marL="1828800" algn="l" rtl="0" fontAlgn="base">
        <a:spcBef>
          <a:spcPct val="0"/>
        </a:spcBef>
        <a:spcAft>
          <a:spcPct val="0"/>
        </a:spcAft>
        <a:defRPr>
          <a:solidFill>
            <a:schemeClr val="bg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hyperlink" Target="http://www.iucnredlist.org/" TargetMode="External"/><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3"/>
          <p:cNvSpPr>
            <a:spLocks noGrp="1"/>
          </p:cNvSpPr>
          <p:nvPr>
            <p:ph type="title"/>
          </p:nvPr>
        </p:nvSpPr>
        <p:spPr>
          <a:xfrm>
            <a:off x="439738" y="585788"/>
            <a:ext cx="11317287" cy="593017"/>
          </a:xfrm>
        </p:spPr>
        <p:txBody>
          <a:bodyPr>
            <a:noAutofit/>
          </a:bodyPr>
          <a:lstStyle/>
          <a:p>
            <a:pPr eaLnBrk="1" hangingPunct="1"/>
            <a:r>
              <a:rPr lang="en-US" altLang="en-US" sz="3500" dirty="0"/>
              <a:t>CONSERVATION </a:t>
            </a:r>
            <a:r>
              <a:rPr lang="en-US" altLang="en-US" sz="3500" dirty="0" smtClean="0"/>
              <a:t>BIOLOGY</a:t>
            </a:r>
            <a:endParaRPr lang="en-IN" altLang="en-US" sz="2600" dirty="0" smtClean="0"/>
          </a:p>
        </p:txBody>
      </p:sp>
      <p:sp>
        <p:nvSpPr>
          <p:cNvPr id="6147" name="Text Placeholder 5"/>
          <p:cNvSpPr>
            <a:spLocks noGrp="1"/>
          </p:cNvSpPr>
          <p:nvPr>
            <p:ph type="body" sz="quarter" idx="11"/>
          </p:nvPr>
        </p:nvSpPr>
        <p:spPr>
          <a:xfrm>
            <a:off x="450850" y="1178805"/>
            <a:ext cx="11317288" cy="450850"/>
          </a:xfrm>
        </p:spPr>
        <p:txBody>
          <a:bodyPr/>
          <a:lstStyle/>
          <a:p>
            <a:pPr eaLnBrk="1" hangingPunct="1"/>
            <a:r>
              <a:rPr lang="en-US" altLang="en-US" kern="1000" dirty="0" smtClean="0"/>
              <a:t>By </a:t>
            </a:r>
            <a:r>
              <a:rPr lang="en-US" altLang="en-US" kern="1000" dirty="0"/>
              <a:t>Bradley J. </a:t>
            </a:r>
            <a:r>
              <a:rPr lang="en-US" altLang="en-US" kern="1000" dirty="0" err="1"/>
              <a:t>Cardinale</a:t>
            </a:r>
            <a:r>
              <a:rPr lang="de-DE" dirty="0" smtClean="0"/>
              <a:t> and </a:t>
            </a:r>
            <a:r>
              <a:rPr lang="de-DE" dirty="0"/>
              <a:t>James D. Murdoch</a:t>
            </a:r>
            <a:endParaRPr lang="en-IN" altLang="en-US" kern="1000" dirty="0" smtClean="0"/>
          </a:p>
        </p:txBody>
      </p:sp>
      <p:pic>
        <p:nvPicPr>
          <p:cNvPr id="3" name="Picture 2" title="Cove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8482" y="1762127"/>
            <a:ext cx="3775037" cy="483204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2</a:t>
            </a:r>
            <a:endParaRPr lang="en-IN" dirty="0"/>
          </a:p>
        </p:txBody>
      </p:sp>
      <p:pic>
        <p:nvPicPr>
          <p:cNvPr id="2" name="Picture 1" descr="A photo shows baobab trees in a grassland.&#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5125" y="746185"/>
            <a:ext cx="6781751" cy="5365630"/>
          </a:xfrm>
          <a:prstGeom prst="rect">
            <a:avLst/>
          </a:prstGeom>
        </p:spPr>
      </p:pic>
    </p:spTree>
    <p:extLst>
      <p:ext uri="{BB962C8B-B14F-4D97-AF65-F5344CB8AC3E}">
        <p14:creationId xmlns:p14="http://schemas.microsoft.com/office/powerpoint/2010/main" val="1162091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3</a:t>
            </a:r>
            <a:endParaRPr lang="en-IN" dirty="0"/>
          </a:p>
        </p:txBody>
      </p:sp>
      <p:pic>
        <p:nvPicPr>
          <p:cNvPr id="2" name="Picture 1" descr="An illustration shows the IUCN classification. All species are classified into not evaluated or NE and evaluated. Evaluated is divided into data deficient or DD and adequate data. Adequate data is classified into the following, in the increasing order of the extinction rate: least concerned or LC, near threatened or NT, threatened categories, extinct in the wild or EW, and extinct EX. The threatened categories are vulnerable or VU, endangered or EN, and critically endangered or CR.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4461" y="803657"/>
            <a:ext cx="5803079" cy="5250686"/>
          </a:xfrm>
          <a:prstGeom prst="rect">
            <a:avLst/>
          </a:prstGeom>
        </p:spPr>
      </p:pic>
    </p:spTree>
    <p:extLst>
      <p:ext uri="{BB962C8B-B14F-4D97-AF65-F5344CB8AC3E}">
        <p14:creationId xmlns:p14="http://schemas.microsoft.com/office/powerpoint/2010/main" val="2003701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369332"/>
          </a:xfrm>
        </p:spPr>
        <p:txBody>
          <a:bodyPr/>
          <a:lstStyle/>
          <a:p>
            <a:r>
              <a:rPr lang="en-US" b="1" dirty="0"/>
              <a:t>Figure 8.1 </a:t>
            </a:r>
            <a:r>
              <a:rPr lang="en-US" dirty="0"/>
              <a:t>A summary of species that comprise the 2022 IUCN Red List of threatened species. </a:t>
            </a:r>
          </a:p>
        </p:txBody>
      </p:sp>
      <p:pic>
        <p:nvPicPr>
          <p:cNvPr id="2" name="Picture 1" descr="&quot;An illustration of the categorisation of the threatened species in the I U C N red list. Out of 986 extinct species 902 are globally extinct and 84 are extinct in&#10;the wild. Out of 42108 threatened species 9251 are critically endangered, 16364 are endangered, and 16493 are vulnerable. &quot;&#10;" title="Figure 8.1 A summary of species that comprise the 2022 IUCN Red List of threatened species.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3881" y="2146027"/>
            <a:ext cx="7264238" cy="2565947"/>
          </a:xfrm>
          <a:prstGeom prst="rect">
            <a:avLst/>
          </a:prstGeom>
        </p:spPr>
      </p:pic>
    </p:spTree>
    <p:extLst>
      <p:ext uri="{BB962C8B-B14F-4D97-AF65-F5344CB8AC3E}">
        <p14:creationId xmlns:p14="http://schemas.microsoft.com/office/powerpoint/2010/main" val="1633818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8.2 </a:t>
            </a:r>
            <a:r>
              <a:rPr lang="en-US" dirty="0"/>
              <a:t>The cumulative percentage of vertebrate species that have been declared Extinct or Extinct in the Wild over the past 500 years.</a:t>
            </a:r>
            <a:endParaRPr lang="en-IN" dirty="0"/>
          </a:p>
        </p:txBody>
      </p:sp>
      <p:pic>
        <p:nvPicPr>
          <p:cNvPr id="2" name="Picture 1" descr="A line graph shows the cumulative percentage of species driven extinct versus the years 1500 to 2018. Mammals start at 0 in 1500 and end at 1.8 in 2018. Birds start at  0 in 1500 and end at 1.7 in 2018. Reptiles start at 0 in 1500 and end at 1 in 2018. Amphibians start at 0 in 1800 and end at 2.4 in 2018. Fishes start at 0 in 1800 and end at 0.9 in 2018. &#10;" title="Figure 8.2 The cumulative percentage of vertebrate species that have been declared Extinct or Extinct in the Wild over the past 500 year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82979" y="919343"/>
            <a:ext cx="7826042" cy="5607057"/>
          </a:xfrm>
          <a:prstGeom prst="rect">
            <a:avLst/>
          </a:prstGeom>
        </p:spPr>
      </p:pic>
    </p:spTree>
    <p:extLst>
      <p:ext uri="{BB962C8B-B14F-4D97-AF65-F5344CB8AC3E}">
        <p14:creationId xmlns:p14="http://schemas.microsoft.com/office/powerpoint/2010/main" val="124302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title="TABLE 8.1 Numbers of threatened species by major groups of organisms (1996–2022)"/>
          <p:cNvGraphicFramePr>
            <a:graphicFrameLocks noGrp="1"/>
          </p:cNvGraphicFramePr>
          <p:nvPr>
            <p:extLst>
              <p:ext uri="{D42A27DB-BD31-4B8C-83A1-F6EECF244321}">
                <p14:modId xmlns:p14="http://schemas.microsoft.com/office/powerpoint/2010/main" val="805478605"/>
              </p:ext>
            </p:extLst>
          </p:nvPr>
        </p:nvGraphicFramePr>
        <p:xfrm>
          <a:off x="1871334" y="1294407"/>
          <a:ext cx="8447404" cy="4284332"/>
        </p:xfrm>
        <a:graphic>
          <a:graphicData uri="http://schemas.openxmlformats.org/drawingml/2006/table">
            <a:tbl>
              <a:tblPr firstRow="1" bandRow="1">
                <a:tableStyleId>{2D5ABB26-0587-4C30-8999-92F81FD0307C}</a:tableStyleId>
              </a:tblPr>
              <a:tblGrid>
                <a:gridCol w="1718310">
                  <a:extLst>
                    <a:ext uri="{9D8B030D-6E8A-4147-A177-3AD203B41FA5}">
                      <a16:colId xmlns:a16="http://schemas.microsoft.com/office/drawing/2014/main" val="20000"/>
                    </a:ext>
                  </a:extLst>
                </a:gridCol>
                <a:gridCol w="1560830">
                  <a:extLst>
                    <a:ext uri="{9D8B030D-6E8A-4147-A177-3AD203B41FA5}">
                      <a16:colId xmlns:a16="http://schemas.microsoft.com/office/drawing/2014/main" val="20001"/>
                    </a:ext>
                  </a:extLst>
                </a:gridCol>
                <a:gridCol w="1449070">
                  <a:extLst>
                    <a:ext uri="{9D8B030D-6E8A-4147-A177-3AD203B41FA5}">
                      <a16:colId xmlns:a16="http://schemas.microsoft.com/office/drawing/2014/main" val="20002"/>
                    </a:ext>
                  </a:extLst>
                </a:gridCol>
                <a:gridCol w="1829435">
                  <a:extLst>
                    <a:ext uri="{9D8B030D-6E8A-4147-A177-3AD203B41FA5}">
                      <a16:colId xmlns:a16="http://schemas.microsoft.com/office/drawing/2014/main" val="20003"/>
                    </a:ext>
                  </a:extLst>
                </a:gridCol>
                <a:gridCol w="1889759">
                  <a:extLst>
                    <a:ext uri="{9D8B030D-6E8A-4147-A177-3AD203B41FA5}">
                      <a16:colId xmlns:a16="http://schemas.microsoft.com/office/drawing/2014/main" val="20004"/>
                    </a:ext>
                  </a:extLst>
                </a:gridCol>
              </a:tblGrid>
              <a:tr h="587375">
                <a:tc>
                  <a:txBody>
                    <a:bodyPr/>
                    <a:lstStyle/>
                    <a:p>
                      <a:pPr>
                        <a:lnSpc>
                          <a:spcPct val="100000"/>
                        </a:lnSpc>
                      </a:pPr>
                      <a:endParaRPr sz="1000">
                        <a:latin typeface="Times New Roman"/>
                        <a:cs typeface="Times New Roman"/>
                      </a:endParaRPr>
                    </a:p>
                  </a:txBody>
                  <a:tcPr marL="0" marR="0" marT="0" marB="0">
                    <a:lnB w="19050">
                      <a:solidFill>
                        <a:srgbClr val="C2DCDF"/>
                      </a:solidFill>
                      <a:prstDash val="solid"/>
                    </a:lnB>
                  </a:tcPr>
                </a:tc>
                <a:tc>
                  <a:txBody>
                    <a:bodyPr/>
                    <a:lstStyle/>
                    <a:p>
                      <a:pPr>
                        <a:lnSpc>
                          <a:spcPct val="100000"/>
                        </a:lnSpc>
                        <a:spcBef>
                          <a:spcPts val="60"/>
                        </a:spcBef>
                      </a:pPr>
                      <a:endParaRPr sz="1100">
                        <a:latin typeface="Times New Roman"/>
                        <a:cs typeface="Times New Roman"/>
                      </a:endParaRPr>
                    </a:p>
                    <a:p>
                      <a:pPr marL="76200" marR="99695">
                        <a:lnSpc>
                          <a:spcPct val="103800"/>
                        </a:lnSpc>
                      </a:pPr>
                      <a:r>
                        <a:rPr sz="1100" b="0" dirty="0">
                          <a:solidFill>
                            <a:srgbClr val="231F20"/>
                          </a:solidFill>
                          <a:latin typeface="Aktiv Grotesk Medium"/>
                          <a:cs typeface="Aktiv Grotesk Medium"/>
                        </a:rPr>
                        <a:t>Estimated</a:t>
                      </a:r>
                      <a:r>
                        <a:rPr sz="1100" b="0" spc="65" dirty="0">
                          <a:solidFill>
                            <a:srgbClr val="231F20"/>
                          </a:solidFill>
                          <a:latin typeface="Aktiv Grotesk Medium"/>
                          <a:cs typeface="Aktiv Grotesk Medium"/>
                        </a:rPr>
                        <a:t> </a:t>
                      </a:r>
                      <a:r>
                        <a:rPr sz="1100" b="0" dirty="0">
                          <a:solidFill>
                            <a:srgbClr val="231F20"/>
                          </a:solidFill>
                          <a:latin typeface="Aktiv Grotesk Medium"/>
                          <a:cs typeface="Aktiv Grotesk Medium"/>
                        </a:rPr>
                        <a:t>number</a:t>
                      </a:r>
                      <a:r>
                        <a:rPr sz="1100" b="0" spc="70" dirty="0">
                          <a:solidFill>
                            <a:srgbClr val="231F20"/>
                          </a:solidFill>
                          <a:latin typeface="Aktiv Grotesk Medium"/>
                          <a:cs typeface="Aktiv Grotesk Medium"/>
                        </a:rPr>
                        <a:t> </a:t>
                      </a:r>
                      <a:r>
                        <a:rPr sz="1100" b="0" spc="-25" dirty="0">
                          <a:solidFill>
                            <a:srgbClr val="231F20"/>
                          </a:solidFill>
                          <a:latin typeface="Aktiv Grotesk Medium"/>
                          <a:cs typeface="Aktiv Grotesk Medium"/>
                        </a:rPr>
                        <a:t>of </a:t>
                      </a:r>
                      <a:r>
                        <a:rPr sz="1100" b="0" dirty="0">
                          <a:solidFill>
                            <a:srgbClr val="231F20"/>
                          </a:solidFill>
                          <a:latin typeface="Aktiv Grotesk Medium"/>
                          <a:cs typeface="Aktiv Grotesk Medium"/>
                        </a:rPr>
                        <a:t>described</a:t>
                      </a:r>
                      <a:r>
                        <a:rPr sz="1100" b="0" spc="65" dirty="0">
                          <a:solidFill>
                            <a:srgbClr val="231F20"/>
                          </a:solidFill>
                          <a:latin typeface="Aktiv Grotesk Medium"/>
                          <a:cs typeface="Aktiv Grotesk Medium"/>
                        </a:rPr>
                        <a:t> </a:t>
                      </a:r>
                      <a:r>
                        <a:rPr sz="1100" b="0" spc="-10" dirty="0">
                          <a:solidFill>
                            <a:srgbClr val="231F20"/>
                          </a:solidFill>
                          <a:latin typeface="Aktiv Grotesk Medium"/>
                          <a:cs typeface="Aktiv Grotesk Medium"/>
                        </a:rPr>
                        <a:t>species</a:t>
                      </a:r>
                      <a:endParaRPr sz="1100">
                        <a:latin typeface="Aktiv Grotesk Medium"/>
                        <a:cs typeface="Aktiv Grotesk Medium"/>
                      </a:endParaRPr>
                    </a:p>
                  </a:txBody>
                  <a:tcPr marL="0" marR="0" marT="7620" marB="0">
                    <a:lnB w="19050">
                      <a:solidFill>
                        <a:srgbClr val="C2DCDF"/>
                      </a:solidFill>
                      <a:prstDash val="solid"/>
                    </a:lnB>
                  </a:tcPr>
                </a:tc>
                <a:tc>
                  <a:txBody>
                    <a:bodyPr/>
                    <a:lstStyle/>
                    <a:p>
                      <a:pPr>
                        <a:lnSpc>
                          <a:spcPct val="100000"/>
                        </a:lnSpc>
                        <a:spcBef>
                          <a:spcPts val="60"/>
                        </a:spcBef>
                      </a:pPr>
                      <a:endParaRPr sz="1100">
                        <a:latin typeface="Times New Roman"/>
                        <a:cs typeface="Times New Roman"/>
                      </a:endParaRPr>
                    </a:p>
                    <a:p>
                      <a:pPr marL="107314" marR="93980">
                        <a:lnSpc>
                          <a:spcPct val="103800"/>
                        </a:lnSpc>
                      </a:pPr>
                      <a:r>
                        <a:rPr sz="1100" b="0" dirty="0">
                          <a:solidFill>
                            <a:srgbClr val="231F20"/>
                          </a:solidFill>
                          <a:latin typeface="Aktiv Grotesk Medium"/>
                          <a:cs typeface="Aktiv Grotesk Medium"/>
                        </a:rPr>
                        <a:t>Number</a:t>
                      </a:r>
                      <a:r>
                        <a:rPr sz="1100" b="0" spc="30" dirty="0">
                          <a:solidFill>
                            <a:srgbClr val="231F20"/>
                          </a:solidFill>
                          <a:latin typeface="Aktiv Grotesk Medium"/>
                          <a:cs typeface="Aktiv Grotesk Medium"/>
                        </a:rPr>
                        <a:t> </a:t>
                      </a:r>
                      <a:r>
                        <a:rPr sz="1100" b="0" dirty="0">
                          <a:solidFill>
                            <a:srgbClr val="231F20"/>
                          </a:solidFill>
                          <a:latin typeface="Aktiv Grotesk Medium"/>
                          <a:cs typeface="Aktiv Grotesk Medium"/>
                        </a:rPr>
                        <a:t>of</a:t>
                      </a:r>
                      <a:r>
                        <a:rPr sz="1100" b="0" spc="35" dirty="0">
                          <a:solidFill>
                            <a:srgbClr val="231F20"/>
                          </a:solidFill>
                          <a:latin typeface="Aktiv Grotesk Medium"/>
                          <a:cs typeface="Aktiv Grotesk Medium"/>
                        </a:rPr>
                        <a:t> </a:t>
                      </a:r>
                      <a:r>
                        <a:rPr sz="1100" b="0" spc="-10" dirty="0">
                          <a:solidFill>
                            <a:srgbClr val="231F20"/>
                          </a:solidFill>
                          <a:latin typeface="Aktiv Grotesk Medium"/>
                          <a:cs typeface="Aktiv Grotesk Medium"/>
                        </a:rPr>
                        <a:t>species </a:t>
                      </a:r>
                      <a:r>
                        <a:rPr sz="1100" b="0" dirty="0">
                          <a:solidFill>
                            <a:srgbClr val="231F20"/>
                          </a:solidFill>
                          <a:latin typeface="Aktiv Grotesk Medium"/>
                          <a:cs typeface="Aktiv Grotesk Medium"/>
                        </a:rPr>
                        <a:t>evaluated</a:t>
                      </a:r>
                      <a:r>
                        <a:rPr sz="1100" b="0" spc="10" dirty="0">
                          <a:solidFill>
                            <a:srgbClr val="231F20"/>
                          </a:solidFill>
                          <a:latin typeface="Aktiv Grotesk Medium"/>
                          <a:cs typeface="Aktiv Grotesk Medium"/>
                        </a:rPr>
                        <a:t> </a:t>
                      </a:r>
                      <a:r>
                        <a:rPr sz="1100" b="0" dirty="0">
                          <a:solidFill>
                            <a:srgbClr val="231F20"/>
                          </a:solidFill>
                          <a:latin typeface="Aktiv Grotesk Medium"/>
                          <a:cs typeface="Aktiv Grotesk Medium"/>
                        </a:rPr>
                        <a:t>by</a:t>
                      </a:r>
                      <a:r>
                        <a:rPr sz="1100" b="0" spc="15" dirty="0">
                          <a:solidFill>
                            <a:srgbClr val="231F20"/>
                          </a:solidFill>
                          <a:latin typeface="Aktiv Grotesk Medium"/>
                          <a:cs typeface="Aktiv Grotesk Medium"/>
                        </a:rPr>
                        <a:t> </a:t>
                      </a:r>
                      <a:r>
                        <a:rPr sz="1100" b="0" spc="-20" dirty="0">
                          <a:solidFill>
                            <a:srgbClr val="231F20"/>
                          </a:solidFill>
                          <a:latin typeface="Aktiv Grotesk Medium"/>
                          <a:cs typeface="Aktiv Grotesk Medium"/>
                        </a:rPr>
                        <a:t>IUCN</a:t>
                      </a:r>
                      <a:endParaRPr sz="1100">
                        <a:latin typeface="Aktiv Grotesk Medium"/>
                        <a:cs typeface="Aktiv Grotesk Medium"/>
                      </a:endParaRPr>
                    </a:p>
                  </a:txBody>
                  <a:tcPr marL="0" marR="0" marT="7620" marB="0">
                    <a:lnB w="19050">
                      <a:solidFill>
                        <a:srgbClr val="C2DCDF"/>
                      </a:solidFill>
                      <a:prstDash val="solid"/>
                    </a:lnB>
                  </a:tcPr>
                </a:tc>
                <a:tc>
                  <a:txBody>
                    <a:bodyPr/>
                    <a:lstStyle/>
                    <a:p>
                      <a:pPr>
                        <a:lnSpc>
                          <a:spcPct val="100000"/>
                        </a:lnSpc>
                        <a:spcBef>
                          <a:spcPts val="60"/>
                        </a:spcBef>
                      </a:pPr>
                      <a:endParaRPr sz="1100">
                        <a:latin typeface="Times New Roman"/>
                        <a:cs typeface="Times New Roman"/>
                      </a:endParaRPr>
                    </a:p>
                    <a:p>
                      <a:pPr marL="101600" marR="90805">
                        <a:lnSpc>
                          <a:spcPct val="103800"/>
                        </a:lnSpc>
                      </a:pPr>
                      <a:r>
                        <a:rPr sz="1100" b="0" dirty="0">
                          <a:solidFill>
                            <a:srgbClr val="231F20"/>
                          </a:solidFill>
                          <a:latin typeface="Aktiv Grotesk Medium"/>
                          <a:cs typeface="Aktiv Grotesk Medium"/>
                        </a:rPr>
                        <a:t>Percentage</a:t>
                      </a:r>
                      <a:r>
                        <a:rPr sz="1100" b="0" spc="25" dirty="0">
                          <a:solidFill>
                            <a:srgbClr val="231F20"/>
                          </a:solidFill>
                          <a:latin typeface="Aktiv Grotesk Medium"/>
                          <a:cs typeface="Aktiv Grotesk Medium"/>
                        </a:rPr>
                        <a:t> </a:t>
                      </a:r>
                      <a:r>
                        <a:rPr sz="1100" b="0" dirty="0">
                          <a:solidFill>
                            <a:srgbClr val="231F20"/>
                          </a:solidFill>
                          <a:latin typeface="Aktiv Grotesk Medium"/>
                          <a:cs typeface="Aktiv Grotesk Medium"/>
                        </a:rPr>
                        <a:t>of</a:t>
                      </a:r>
                      <a:r>
                        <a:rPr sz="1100" b="0" spc="25" dirty="0">
                          <a:solidFill>
                            <a:srgbClr val="231F20"/>
                          </a:solidFill>
                          <a:latin typeface="Aktiv Grotesk Medium"/>
                          <a:cs typeface="Aktiv Grotesk Medium"/>
                        </a:rPr>
                        <a:t> </a:t>
                      </a:r>
                      <a:r>
                        <a:rPr sz="1100" b="0" spc="-10" dirty="0">
                          <a:solidFill>
                            <a:srgbClr val="231F20"/>
                          </a:solidFill>
                          <a:latin typeface="Aktiv Grotesk Medium"/>
                          <a:cs typeface="Aktiv Grotesk Medium"/>
                        </a:rPr>
                        <a:t>described </a:t>
                      </a:r>
                      <a:r>
                        <a:rPr sz="1100" b="0" dirty="0">
                          <a:solidFill>
                            <a:srgbClr val="231F20"/>
                          </a:solidFill>
                          <a:latin typeface="Aktiv Grotesk Medium"/>
                          <a:cs typeface="Aktiv Grotesk Medium"/>
                        </a:rPr>
                        <a:t>species</a:t>
                      </a:r>
                      <a:r>
                        <a:rPr sz="1100" b="0" spc="45" dirty="0">
                          <a:solidFill>
                            <a:srgbClr val="231F20"/>
                          </a:solidFill>
                          <a:latin typeface="Aktiv Grotesk Medium"/>
                          <a:cs typeface="Aktiv Grotesk Medium"/>
                        </a:rPr>
                        <a:t> </a:t>
                      </a:r>
                      <a:r>
                        <a:rPr sz="1100" b="0" spc="-10" dirty="0">
                          <a:solidFill>
                            <a:srgbClr val="231F20"/>
                          </a:solidFill>
                          <a:latin typeface="Aktiv Grotesk Medium"/>
                          <a:cs typeface="Aktiv Grotesk Medium"/>
                        </a:rPr>
                        <a:t>assessed</a:t>
                      </a:r>
                      <a:endParaRPr sz="1100">
                        <a:latin typeface="Aktiv Grotesk Medium"/>
                        <a:cs typeface="Aktiv Grotesk Medium"/>
                      </a:endParaRPr>
                    </a:p>
                  </a:txBody>
                  <a:tcPr marL="0" marR="0" marT="7620" marB="0">
                    <a:lnB w="19050">
                      <a:solidFill>
                        <a:srgbClr val="C2DCDF"/>
                      </a:solidFill>
                      <a:prstDash val="solid"/>
                    </a:lnB>
                  </a:tcPr>
                </a:tc>
                <a:tc>
                  <a:txBody>
                    <a:bodyPr/>
                    <a:lstStyle/>
                    <a:p>
                      <a:pPr marL="98425" marR="217170">
                        <a:lnSpc>
                          <a:spcPts val="1370"/>
                        </a:lnSpc>
                        <a:spcBef>
                          <a:spcPts val="10"/>
                        </a:spcBef>
                      </a:pPr>
                      <a:r>
                        <a:rPr sz="1100" b="0" dirty="0">
                          <a:solidFill>
                            <a:srgbClr val="231F20"/>
                          </a:solidFill>
                          <a:latin typeface="Aktiv Grotesk Medium"/>
                          <a:cs typeface="Aktiv Grotesk Medium"/>
                        </a:rPr>
                        <a:t>Number</a:t>
                      </a:r>
                      <a:r>
                        <a:rPr sz="1100" b="0" spc="30" dirty="0">
                          <a:solidFill>
                            <a:srgbClr val="231F20"/>
                          </a:solidFill>
                          <a:latin typeface="Aktiv Grotesk Medium"/>
                          <a:cs typeface="Aktiv Grotesk Medium"/>
                        </a:rPr>
                        <a:t> </a:t>
                      </a:r>
                      <a:r>
                        <a:rPr sz="1100" b="0" dirty="0">
                          <a:solidFill>
                            <a:srgbClr val="231F20"/>
                          </a:solidFill>
                          <a:latin typeface="Aktiv Grotesk Medium"/>
                          <a:cs typeface="Aktiv Grotesk Medium"/>
                        </a:rPr>
                        <a:t>of</a:t>
                      </a:r>
                      <a:r>
                        <a:rPr sz="1100" b="0" spc="35" dirty="0">
                          <a:solidFill>
                            <a:srgbClr val="231F20"/>
                          </a:solidFill>
                          <a:latin typeface="Aktiv Grotesk Medium"/>
                          <a:cs typeface="Aktiv Grotesk Medium"/>
                        </a:rPr>
                        <a:t> </a:t>
                      </a:r>
                      <a:r>
                        <a:rPr sz="1100" b="0" spc="-10" dirty="0">
                          <a:solidFill>
                            <a:srgbClr val="231F20"/>
                          </a:solidFill>
                          <a:latin typeface="Aktiv Grotesk Medium"/>
                          <a:cs typeface="Aktiv Grotesk Medium"/>
                        </a:rPr>
                        <a:t>threatened </a:t>
                      </a:r>
                      <a:r>
                        <a:rPr sz="1100" b="0" dirty="0">
                          <a:solidFill>
                            <a:srgbClr val="231F20"/>
                          </a:solidFill>
                          <a:latin typeface="Aktiv Grotesk Medium"/>
                          <a:cs typeface="Aktiv Grotesk Medium"/>
                        </a:rPr>
                        <a:t>species</a:t>
                      </a:r>
                      <a:r>
                        <a:rPr sz="1100" b="0" spc="15" dirty="0">
                          <a:solidFill>
                            <a:srgbClr val="231F20"/>
                          </a:solidFill>
                          <a:latin typeface="Aktiv Grotesk Medium"/>
                          <a:cs typeface="Aktiv Grotesk Medium"/>
                        </a:rPr>
                        <a:t> </a:t>
                      </a:r>
                      <a:r>
                        <a:rPr sz="1100" b="0" dirty="0">
                          <a:solidFill>
                            <a:srgbClr val="231F20"/>
                          </a:solidFill>
                          <a:latin typeface="Aktiv Grotesk Medium"/>
                          <a:cs typeface="Aktiv Grotesk Medium"/>
                        </a:rPr>
                        <a:t>on</a:t>
                      </a:r>
                      <a:r>
                        <a:rPr sz="1100" b="0" spc="20" dirty="0">
                          <a:solidFill>
                            <a:srgbClr val="231F20"/>
                          </a:solidFill>
                          <a:latin typeface="Aktiv Grotesk Medium"/>
                          <a:cs typeface="Aktiv Grotesk Medium"/>
                        </a:rPr>
                        <a:t> </a:t>
                      </a:r>
                      <a:r>
                        <a:rPr sz="1100" b="0" dirty="0">
                          <a:solidFill>
                            <a:srgbClr val="231F20"/>
                          </a:solidFill>
                          <a:latin typeface="Aktiv Grotesk Medium"/>
                          <a:cs typeface="Aktiv Grotesk Medium"/>
                        </a:rPr>
                        <a:t>2022</a:t>
                      </a:r>
                      <a:r>
                        <a:rPr sz="1100" b="0" spc="15" dirty="0">
                          <a:solidFill>
                            <a:srgbClr val="231F20"/>
                          </a:solidFill>
                          <a:latin typeface="Aktiv Grotesk Medium"/>
                          <a:cs typeface="Aktiv Grotesk Medium"/>
                        </a:rPr>
                        <a:t> </a:t>
                      </a:r>
                      <a:r>
                        <a:rPr sz="1100" b="0" spc="-20" dirty="0">
                          <a:solidFill>
                            <a:srgbClr val="231F20"/>
                          </a:solidFill>
                          <a:latin typeface="Aktiv Grotesk Medium"/>
                          <a:cs typeface="Aktiv Grotesk Medium"/>
                        </a:rPr>
                        <a:t>IUCN </a:t>
                      </a:r>
                      <a:r>
                        <a:rPr sz="1100" b="0" dirty="0">
                          <a:solidFill>
                            <a:srgbClr val="231F20"/>
                          </a:solidFill>
                          <a:latin typeface="Aktiv Grotesk Medium"/>
                          <a:cs typeface="Aktiv Grotesk Medium"/>
                        </a:rPr>
                        <a:t>Red</a:t>
                      </a:r>
                      <a:r>
                        <a:rPr sz="1100" b="0" spc="30" dirty="0">
                          <a:solidFill>
                            <a:srgbClr val="231F20"/>
                          </a:solidFill>
                          <a:latin typeface="Aktiv Grotesk Medium"/>
                          <a:cs typeface="Aktiv Grotesk Medium"/>
                        </a:rPr>
                        <a:t> </a:t>
                      </a:r>
                      <a:r>
                        <a:rPr sz="1100" b="0" dirty="0">
                          <a:solidFill>
                            <a:srgbClr val="231F20"/>
                          </a:solidFill>
                          <a:latin typeface="Aktiv Grotesk Medium"/>
                          <a:cs typeface="Aktiv Grotesk Medium"/>
                        </a:rPr>
                        <a:t>List</a:t>
                      </a:r>
                      <a:r>
                        <a:rPr sz="1100" b="0" spc="35" dirty="0">
                          <a:solidFill>
                            <a:srgbClr val="231F20"/>
                          </a:solidFill>
                          <a:latin typeface="Aktiv Grotesk Medium"/>
                          <a:cs typeface="Aktiv Grotesk Medium"/>
                        </a:rPr>
                        <a:t> </a:t>
                      </a:r>
                      <a:r>
                        <a:rPr sz="1100" b="0" dirty="0">
                          <a:solidFill>
                            <a:srgbClr val="231F20"/>
                          </a:solidFill>
                          <a:latin typeface="Aktiv Grotesk Medium"/>
                          <a:cs typeface="Aktiv Grotesk Medium"/>
                        </a:rPr>
                        <a:t>version</a:t>
                      </a:r>
                      <a:r>
                        <a:rPr sz="1100" b="0" spc="30" dirty="0">
                          <a:solidFill>
                            <a:srgbClr val="231F20"/>
                          </a:solidFill>
                          <a:latin typeface="Aktiv Grotesk Medium"/>
                          <a:cs typeface="Aktiv Grotesk Medium"/>
                        </a:rPr>
                        <a:t> </a:t>
                      </a:r>
                      <a:r>
                        <a:rPr sz="1100" b="0" spc="-10" dirty="0">
                          <a:solidFill>
                            <a:srgbClr val="231F20"/>
                          </a:solidFill>
                          <a:latin typeface="Aktiv Grotesk Medium"/>
                          <a:cs typeface="Aktiv Grotesk Medium"/>
                        </a:rPr>
                        <a:t>2022–2</a:t>
                      </a:r>
                      <a:endParaRPr sz="1100">
                        <a:latin typeface="Aktiv Grotesk Medium"/>
                        <a:cs typeface="Aktiv Grotesk Medium"/>
                      </a:endParaRPr>
                    </a:p>
                  </a:txBody>
                  <a:tcPr marL="0" marR="0" marT="1270" marB="0">
                    <a:lnB w="19050">
                      <a:solidFill>
                        <a:srgbClr val="C2DCDF"/>
                      </a:solidFill>
                      <a:prstDash val="solid"/>
                    </a:lnB>
                  </a:tcPr>
                </a:tc>
                <a:extLst>
                  <a:ext uri="{0D108BD9-81ED-4DB2-BD59-A6C34878D82A}">
                    <a16:rowId xmlns:a16="http://schemas.microsoft.com/office/drawing/2014/main" val="10000"/>
                  </a:ext>
                </a:extLst>
              </a:tr>
              <a:tr h="257810">
                <a:tc>
                  <a:txBody>
                    <a:bodyPr/>
                    <a:lstStyle/>
                    <a:p>
                      <a:pPr marL="59690">
                        <a:lnSpc>
                          <a:spcPct val="100000"/>
                        </a:lnSpc>
                        <a:spcBef>
                          <a:spcPts val="595"/>
                        </a:spcBef>
                      </a:pPr>
                      <a:r>
                        <a:rPr sz="950" b="0" spc="-10" dirty="0">
                          <a:solidFill>
                            <a:srgbClr val="231F20"/>
                          </a:solidFill>
                          <a:latin typeface="Aktiv Grotesk Medium"/>
                          <a:cs typeface="Aktiv Grotesk Medium"/>
                        </a:rPr>
                        <a:t>VERTEBRATES</a:t>
                      </a:r>
                      <a:endParaRPr sz="950">
                        <a:latin typeface="Aktiv Grotesk Medium"/>
                        <a:cs typeface="Aktiv Grotesk Medium"/>
                      </a:endParaRPr>
                    </a:p>
                  </a:txBody>
                  <a:tcPr marL="0" marR="0" marT="75565" marB="0">
                    <a:lnT w="19050">
                      <a:solidFill>
                        <a:srgbClr val="C2DCDF"/>
                      </a:solidFill>
                      <a:prstDash val="solid"/>
                    </a:lnT>
                  </a:tcPr>
                </a:tc>
                <a:tc>
                  <a:txBody>
                    <a:bodyPr/>
                    <a:lstStyle/>
                    <a:p>
                      <a:pPr>
                        <a:lnSpc>
                          <a:spcPct val="100000"/>
                        </a:lnSpc>
                      </a:pPr>
                      <a:endParaRPr sz="1000">
                        <a:latin typeface="Times New Roman"/>
                        <a:cs typeface="Times New Roman"/>
                      </a:endParaRPr>
                    </a:p>
                  </a:txBody>
                  <a:tcPr marL="0" marR="0" marT="0" marB="0">
                    <a:lnT w="19050">
                      <a:solidFill>
                        <a:srgbClr val="C2DCDF"/>
                      </a:solidFill>
                      <a:prstDash val="solid"/>
                    </a:lnT>
                  </a:tcPr>
                </a:tc>
                <a:tc>
                  <a:txBody>
                    <a:bodyPr/>
                    <a:lstStyle/>
                    <a:p>
                      <a:pPr>
                        <a:lnSpc>
                          <a:spcPct val="100000"/>
                        </a:lnSpc>
                      </a:pPr>
                      <a:endParaRPr sz="1000">
                        <a:latin typeface="Times New Roman"/>
                        <a:cs typeface="Times New Roman"/>
                      </a:endParaRPr>
                    </a:p>
                  </a:txBody>
                  <a:tcPr marL="0" marR="0" marT="0" marB="0">
                    <a:lnT w="19050">
                      <a:solidFill>
                        <a:srgbClr val="C2DCDF"/>
                      </a:solidFill>
                      <a:prstDash val="solid"/>
                    </a:lnT>
                  </a:tcPr>
                </a:tc>
                <a:tc>
                  <a:txBody>
                    <a:bodyPr/>
                    <a:lstStyle/>
                    <a:p>
                      <a:pPr>
                        <a:lnSpc>
                          <a:spcPct val="100000"/>
                        </a:lnSpc>
                      </a:pPr>
                      <a:endParaRPr sz="1000">
                        <a:latin typeface="Times New Roman"/>
                        <a:cs typeface="Times New Roman"/>
                      </a:endParaRPr>
                    </a:p>
                  </a:txBody>
                  <a:tcPr marL="0" marR="0" marT="0" marB="0">
                    <a:lnT w="19050">
                      <a:solidFill>
                        <a:srgbClr val="C2DCDF"/>
                      </a:solidFill>
                      <a:prstDash val="solid"/>
                    </a:lnT>
                  </a:tcPr>
                </a:tc>
                <a:tc>
                  <a:txBody>
                    <a:bodyPr/>
                    <a:lstStyle/>
                    <a:p>
                      <a:pPr>
                        <a:lnSpc>
                          <a:spcPct val="100000"/>
                        </a:lnSpc>
                      </a:pPr>
                      <a:endParaRPr sz="1000">
                        <a:latin typeface="Times New Roman"/>
                        <a:cs typeface="Times New Roman"/>
                      </a:endParaRPr>
                    </a:p>
                  </a:txBody>
                  <a:tcPr marL="0" marR="0" marT="0" marB="0">
                    <a:lnT w="19050">
                      <a:solidFill>
                        <a:srgbClr val="C2DCDF"/>
                      </a:solidFill>
                      <a:prstDash val="solid"/>
                    </a:lnT>
                  </a:tcPr>
                </a:tc>
                <a:extLst>
                  <a:ext uri="{0D108BD9-81ED-4DB2-BD59-A6C34878D82A}">
                    <a16:rowId xmlns:a16="http://schemas.microsoft.com/office/drawing/2014/main" val="10001"/>
                  </a:ext>
                </a:extLst>
              </a:tr>
              <a:tr h="219075">
                <a:tc>
                  <a:txBody>
                    <a:bodyPr/>
                    <a:lstStyle/>
                    <a:p>
                      <a:pPr marL="199390">
                        <a:lnSpc>
                          <a:spcPct val="100000"/>
                        </a:lnSpc>
                        <a:spcBef>
                          <a:spcPts val="200"/>
                        </a:spcBef>
                      </a:pPr>
                      <a:r>
                        <a:rPr sz="1050" b="0" spc="-10" dirty="0">
                          <a:solidFill>
                            <a:srgbClr val="231F20"/>
                          </a:solidFill>
                          <a:latin typeface="Aktiv Grotesk Light"/>
                          <a:cs typeface="Aktiv Grotesk Light"/>
                        </a:rPr>
                        <a:t>Mammals</a:t>
                      </a:r>
                      <a:endParaRPr sz="1050">
                        <a:latin typeface="Aktiv Grotesk Light"/>
                        <a:cs typeface="Aktiv Grotesk Light"/>
                      </a:endParaRPr>
                    </a:p>
                  </a:txBody>
                  <a:tcPr marL="0" marR="0" marT="25400" marB="0"/>
                </a:tc>
                <a:tc>
                  <a:txBody>
                    <a:bodyPr/>
                    <a:lstStyle/>
                    <a:p>
                      <a:pPr marR="466090" algn="r">
                        <a:lnSpc>
                          <a:spcPct val="100000"/>
                        </a:lnSpc>
                        <a:spcBef>
                          <a:spcPts val="200"/>
                        </a:spcBef>
                      </a:pPr>
                      <a:r>
                        <a:rPr sz="1050" b="0" spc="-10" dirty="0">
                          <a:solidFill>
                            <a:srgbClr val="231F20"/>
                          </a:solidFill>
                          <a:latin typeface="Aktiv Grotesk Light"/>
                          <a:cs typeface="Aktiv Grotesk Light"/>
                        </a:rPr>
                        <a:t>6,596</a:t>
                      </a:r>
                      <a:endParaRPr sz="1050">
                        <a:latin typeface="Aktiv Grotesk Light"/>
                        <a:cs typeface="Aktiv Grotesk Light"/>
                      </a:endParaRPr>
                    </a:p>
                  </a:txBody>
                  <a:tcPr marL="0" marR="0" marT="25400" marB="0"/>
                </a:tc>
                <a:tc>
                  <a:txBody>
                    <a:bodyPr/>
                    <a:lstStyle/>
                    <a:p>
                      <a:pPr marR="488950" algn="r">
                        <a:lnSpc>
                          <a:spcPct val="100000"/>
                        </a:lnSpc>
                        <a:spcBef>
                          <a:spcPts val="200"/>
                        </a:spcBef>
                      </a:pPr>
                      <a:r>
                        <a:rPr sz="1050" b="0" spc="-10" dirty="0">
                          <a:solidFill>
                            <a:srgbClr val="231F20"/>
                          </a:solidFill>
                          <a:latin typeface="Aktiv Grotesk Light"/>
                          <a:cs typeface="Aktiv Grotesk Light"/>
                        </a:rPr>
                        <a:t>5,973</a:t>
                      </a:r>
                      <a:endParaRPr sz="1050">
                        <a:latin typeface="Aktiv Grotesk Light"/>
                        <a:cs typeface="Aktiv Grotesk Light"/>
                      </a:endParaRPr>
                    </a:p>
                  </a:txBody>
                  <a:tcPr marL="0" marR="0" marT="25400" marB="0"/>
                </a:tc>
                <a:tc>
                  <a:txBody>
                    <a:bodyPr/>
                    <a:lstStyle/>
                    <a:p>
                      <a:pPr marR="858519" algn="r">
                        <a:lnSpc>
                          <a:spcPct val="100000"/>
                        </a:lnSpc>
                        <a:spcBef>
                          <a:spcPts val="200"/>
                        </a:spcBef>
                      </a:pPr>
                      <a:r>
                        <a:rPr sz="1050" b="0" spc="-25" dirty="0">
                          <a:solidFill>
                            <a:srgbClr val="231F20"/>
                          </a:solidFill>
                          <a:latin typeface="Aktiv Grotesk Light"/>
                          <a:cs typeface="Aktiv Grotesk Light"/>
                        </a:rPr>
                        <a:t>91</a:t>
                      </a:r>
                      <a:endParaRPr sz="1050">
                        <a:latin typeface="Aktiv Grotesk Light"/>
                        <a:cs typeface="Aktiv Grotesk Light"/>
                      </a:endParaRPr>
                    </a:p>
                  </a:txBody>
                  <a:tcPr marL="0" marR="0" marT="25400" marB="0"/>
                </a:tc>
                <a:tc>
                  <a:txBody>
                    <a:bodyPr/>
                    <a:lstStyle/>
                    <a:p>
                      <a:pPr marR="673100" algn="r">
                        <a:lnSpc>
                          <a:spcPct val="100000"/>
                        </a:lnSpc>
                        <a:spcBef>
                          <a:spcPts val="200"/>
                        </a:spcBef>
                      </a:pPr>
                      <a:r>
                        <a:rPr sz="1050" b="0" spc="-10" dirty="0">
                          <a:solidFill>
                            <a:srgbClr val="231F20"/>
                          </a:solidFill>
                          <a:latin typeface="Aktiv Grotesk Light"/>
                          <a:cs typeface="Aktiv Grotesk Light"/>
                        </a:rPr>
                        <a:t>1,340</a:t>
                      </a:r>
                      <a:endParaRPr sz="1050">
                        <a:latin typeface="Aktiv Grotesk Light"/>
                        <a:cs typeface="Aktiv Grotesk Light"/>
                      </a:endParaRPr>
                    </a:p>
                  </a:txBody>
                  <a:tcPr marL="0" marR="0" marT="25400" marB="0"/>
                </a:tc>
                <a:extLst>
                  <a:ext uri="{0D108BD9-81ED-4DB2-BD59-A6C34878D82A}">
                    <a16:rowId xmlns:a16="http://schemas.microsoft.com/office/drawing/2014/main" val="10002"/>
                  </a:ext>
                </a:extLst>
              </a:tr>
              <a:tr h="214629">
                <a:tc>
                  <a:txBody>
                    <a:bodyPr/>
                    <a:lstStyle/>
                    <a:p>
                      <a:pPr marL="199390">
                        <a:lnSpc>
                          <a:spcPct val="100000"/>
                        </a:lnSpc>
                        <a:spcBef>
                          <a:spcPts val="170"/>
                        </a:spcBef>
                      </a:pPr>
                      <a:r>
                        <a:rPr sz="1050" b="0" spc="-10" dirty="0">
                          <a:solidFill>
                            <a:srgbClr val="231F20"/>
                          </a:solidFill>
                          <a:latin typeface="Aktiv Grotesk Light"/>
                          <a:cs typeface="Aktiv Grotesk Light"/>
                        </a:rPr>
                        <a:t>Birds</a:t>
                      </a:r>
                      <a:endParaRPr sz="1050">
                        <a:latin typeface="Aktiv Grotesk Light"/>
                        <a:cs typeface="Aktiv Grotesk Light"/>
                      </a:endParaRPr>
                    </a:p>
                  </a:txBody>
                  <a:tcPr marL="0" marR="0" marT="21590" marB="0"/>
                </a:tc>
                <a:tc>
                  <a:txBody>
                    <a:bodyPr/>
                    <a:lstStyle/>
                    <a:p>
                      <a:pPr marR="466090" algn="r">
                        <a:lnSpc>
                          <a:spcPct val="100000"/>
                        </a:lnSpc>
                        <a:spcBef>
                          <a:spcPts val="170"/>
                        </a:spcBef>
                      </a:pPr>
                      <a:r>
                        <a:rPr sz="1050" b="0" spc="-10" dirty="0">
                          <a:solidFill>
                            <a:srgbClr val="231F20"/>
                          </a:solidFill>
                          <a:latin typeface="Aktiv Grotesk Light"/>
                          <a:cs typeface="Aktiv Grotesk Light"/>
                        </a:rPr>
                        <a:t>11,188</a:t>
                      </a:r>
                      <a:endParaRPr sz="1050">
                        <a:latin typeface="Aktiv Grotesk Light"/>
                        <a:cs typeface="Aktiv Grotesk Light"/>
                      </a:endParaRPr>
                    </a:p>
                  </a:txBody>
                  <a:tcPr marL="0" marR="0" marT="21590" marB="0"/>
                </a:tc>
                <a:tc>
                  <a:txBody>
                    <a:bodyPr/>
                    <a:lstStyle/>
                    <a:p>
                      <a:pPr marR="488950" algn="r">
                        <a:lnSpc>
                          <a:spcPct val="100000"/>
                        </a:lnSpc>
                        <a:spcBef>
                          <a:spcPts val="170"/>
                        </a:spcBef>
                      </a:pPr>
                      <a:r>
                        <a:rPr sz="1050" b="0" spc="-10" dirty="0">
                          <a:solidFill>
                            <a:srgbClr val="231F20"/>
                          </a:solidFill>
                          <a:latin typeface="Aktiv Grotesk Light"/>
                          <a:cs typeface="Aktiv Grotesk Light"/>
                        </a:rPr>
                        <a:t>11,188</a:t>
                      </a:r>
                      <a:endParaRPr sz="1050">
                        <a:latin typeface="Aktiv Grotesk Light"/>
                        <a:cs typeface="Aktiv Grotesk Light"/>
                      </a:endParaRPr>
                    </a:p>
                  </a:txBody>
                  <a:tcPr marL="0" marR="0" marT="21590" marB="0"/>
                </a:tc>
                <a:tc>
                  <a:txBody>
                    <a:bodyPr/>
                    <a:lstStyle/>
                    <a:p>
                      <a:pPr marR="858519" algn="r">
                        <a:lnSpc>
                          <a:spcPct val="100000"/>
                        </a:lnSpc>
                        <a:spcBef>
                          <a:spcPts val="170"/>
                        </a:spcBef>
                      </a:pPr>
                      <a:r>
                        <a:rPr sz="1050" b="0" spc="-25" dirty="0">
                          <a:solidFill>
                            <a:srgbClr val="231F20"/>
                          </a:solidFill>
                          <a:latin typeface="Aktiv Grotesk Light"/>
                          <a:cs typeface="Aktiv Grotesk Light"/>
                        </a:rPr>
                        <a:t>100</a:t>
                      </a:r>
                      <a:endParaRPr sz="1050">
                        <a:latin typeface="Aktiv Grotesk Light"/>
                        <a:cs typeface="Aktiv Grotesk Light"/>
                      </a:endParaRPr>
                    </a:p>
                  </a:txBody>
                  <a:tcPr marL="0" marR="0" marT="21590" marB="0"/>
                </a:tc>
                <a:tc>
                  <a:txBody>
                    <a:bodyPr/>
                    <a:lstStyle/>
                    <a:p>
                      <a:pPr marR="673100" algn="r">
                        <a:lnSpc>
                          <a:spcPct val="100000"/>
                        </a:lnSpc>
                        <a:spcBef>
                          <a:spcPts val="170"/>
                        </a:spcBef>
                      </a:pPr>
                      <a:r>
                        <a:rPr sz="1050" b="0" spc="-10" dirty="0">
                          <a:solidFill>
                            <a:srgbClr val="231F20"/>
                          </a:solidFill>
                          <a:latin typeface="Aktiv Grotesk Light"/>
                          <a:cs typeface="Aktiv Grotesk Light"/>
                        </a:rPr>
                        <a:t>1,400</a:t>
                      </a:r>
                      <a:endParaRPr sz="1050">
                        <a:latin typeface="Aktiv Grotesk Light"/>
                        <a:cs typeface="Aktiv Grotesk Light"/>
                      </a:endParaRPr>
                    </a:p>
                  </a:txBody>
                  <a:tcPr marL="0" marR="0" marT="21590" marB="0"/>
                </a:tc>
                <a:extLst>
                  <a:ext uri="{0D108BD9-81ED-4DB2-BD59-A6C34878D82A}">
                    <a16:rowId xmlns:a16="http://schemas.microsoft.com/office/drawing/2014/main" val="10003"/>
                  </a:ext>
                </a:extLst>
              </a:tr>
              <a:tr h="214629">
                <a:tc>
                  <a:txBody>
                    <a:bodyPr/>
                    <a:lstStyle/>
                    <a:p>
                      <a:pPr marL="199390">
                        <a:lnSpc>
                          <a:spcPct val="100000"/>
                        </a:lnSpc>
                        <a:spcBef>
                          <a:spcPts val="170"/>
                        </a:spcBef>
                      </a:pPr>
                      <a:r>
                        <a:rPr sz="1050" b="0" spc="-10" dirty="0">
                          <a:solidFill>
                            <a:srgbClr val="231F20"/>
                          </a:solidFill>
                          <a:latin typeface="Aktiv Grotesk Light"/>
                          <a:cs typeface="Aktiv Grotesk Light"/>
                        </a:rPr>
                        <a:t>Reptiles</a:t>
                      </a:r>
                      <a:endParaRPr sz="1050">
                        <a:latin typeface="Aktiv Grotesk Light"/>
                        <a:cs typeface="Aktiv Grotesk Light"/>
                      </a:endParaRPr>
                    </a:p>
                  </a:txBody>
                  <a:tcPr marL="0" marR="0" marT="21590" marB="0"/>
                </a:tc>
                <a:tc>
                  <a:txBody>
                    <a:bodyPr/>
                    <a:lstStyle/>
                    <a:p>
                      <a:pPr marR="466090" algn="r">
                        <a:lnSpc>
                          <a:spcPct val="100000"/>
                        </a:lnSpc>
                        <a:spcBef>
                          <a:spcPts val="170"/>
                        </a:spcBef>
                      </a:pPr>
                      <a:r>
                        <a:rPr sz="1050" b="0" spc="-10" dirty="0">
                          <a:solidFill>
                            <a:srgbClr val="231F20"/>
                          </a:solidFill>
                          <a:latin typeface="Aktiv Grotesk Light"/>
                          <a:cs typeface="Aktiv Grotesk Light"/>
                        </a:rPr>
                        <a:t>11,733</a:t>
                      </a:r>
                      <a:endParaRPr sz="1050">
                        <a:latin typeface="Aktiv Grotesk Light"/>
                        <a:cs typeface="Aktiv Grotesk Light"/>
                      </a:endParaRPr>
                    </a:p>
                  </a:txBody>
                  <a:tcPr marL="0" marR="0" marT="21590" marB="0"/>
                </a:tc>
                <a:tc>
                  <a:txBody>
                    <a:bodyPr/>
                    <a:lstStyle/>
                    <a:p>
                      <a:pPr marR="488950" algn="r">
                        <a:lnSpc>
                          <a:spcPct val="100000"/>
                        </a:lnSpc>
                        <a:spcBef>
                          <a:spcPts val="170"/>
                        </a:spcBef>
                      </a:pPr>
                      <a:r>
                        <a:rPr sz="1050" b="0" spc="-10" dirty="0">
                          <a:solidFill>
                            <a:srgbClr val="231F20"/>
                          </a:solidFill>
                          <a:latin typeface="Aktiv Grotesk Light"/>
                          <a:cs typeface="Aktiv Grotesk Light"/>
                        </a:rPr>
                        <a:t>10,222</a:t>
                      </a:r>
                      <a:endParaRPr sz="1050">
                        <a:latin typeface="Aktiv Grotesk Light"/>
                        <a:cs typeface="Aktiv Grotesk Light"/>
                      </a:endParaRPr>
                    </a:p>
                  </a:txBody>
                  <a:tcPr marL="0" marR="0" marT="21590" marB="0"/>
                </a:tc>
                <a:tc>
                  <a:txBody>
                    <a:bodyPr/>
                    <a:lstStyle/>
                    <a:p>
                      <a:pPr marR="858519" algn="r">
                        <a:lnSpc>
                          <a:spcPct val="100000"/>
                        </a:lnSpc>
                        <a:spcBef>
                          <a:spcPts val="170"/>
                        </a:spcBef>
                      </a:pPr>
                      <a:r>
                        <a:rPr sz="1050" b="0" spc="-25" dirty="0">
                          <a:solidFill>
                            <a:srgbClr val="231F20"/>
                          </a:solidFill>
                          <a:latin typeface="Aktiv Grotesk Light"/>
                          <a:cs typeface="Aktiv Grotesk Light"/>
                        </a:rPr>
                        <a:t>87</a:t>
                      </a:r>
                      <a:endParaRPr sz="1050">
                        <a:latin typeface="Aktiv Grotesk Light"/>
                        <a:cs typeface="Aktiv Grotesk Light"/>
                      </a:endParaRPr>
                    </a:p>
                  </a:txBody>
                  <a:tcPr marL="0" marR="0" marT="21590" marB="0"/>
                </a:tc>
                <a:tc>
                  <a:txBody>
                    <a:bodyPr/>
                    <a:lstStyle/>
                    <a:p>
                      <a:pPr marR="673100" algn="r">
                        <a:lnSpc>
                          <a:spcPct val="100000"/>
                        </a:lnSpc>
                        <a:spcBef>
                          <a:spcPts val="170"/>
                        </a:spcBef>
                      </a:pPr>
                      <a:r>
                        <a:rPr sz="1050" b="0" spc="-10" dirty="0">
                          <a:solidFill>
                            <a:srgbClr val="231F20"/>
                          </a:solidFill>
                          <a:latin typeface="Aktiv Grotesk Light"/>
                          <a:cs typeface="Aktiv Grotesk Light"/>
                        </a:rPr>
                        <a:t>1,842</a:t>
                      </a:r>
                      <a:endParaRPr sz="1050">
                        <a:latin typeface="Aktiv Grotesk Light"/>
                        <a:cs typeface="Aktiv Grotesk Light"/>
                      </a:endParaRPr>
                    </a:p>
                  </a:txBody>
                  <a:tcPr marL="0" marR="0" marT="21590" marB="0"/>
                </a:tc>
                <a:extLst>
                  <a:ext uri="{0D108BD9-81ED-4DB2-BD59-A6C34878D82A}">
                    <a16:rowId xmlns:a16="http://schemas.microsoft.com/office/drawing/2014/main" val="10004"/>
                  </a:ext>
                </a:extLst>
              </a:tr>
              <a:tr h="214629">
                <a:tc>
                  <a:txBody>
                    <a:bodyPr/>
                    <a:lstStyle/>
                    <a:p>
                      <a:pPr marL="199390">
                        <a:lnSpc>
                          <a:spcPct val="100000"/>
                        </a:lnSpc>
                        <a:spcBef>
                          <a:spcPts val="170"/>
                        </a:spcBef>
                      </a:pPr>
                      <a:r>
                        <a:rPr sz="1050" b="0" spc="-10" dirty="0">
                          <a:solidFill>
                            <a:srgbClr val="231F20"/>
                          </a:solidFill>
                          <a:latin typeface="Aktiv Grotesk Light"/>
                          <a:cs typeface="Aktiv Grotesk Light"/>
                        </a:rPr>
                        <a:t>Amphibians</a:t>
                      </a:r>
                      <a:endParaRPr sz="1050">
                        <a:latin typeface="Aktiv Grotesk Light"/>
                        <a:cs typeface="Aktiv Grotesk Light"/>
                      </a:endParaRPr>
                    </a:p>
                  </a:txBody>
                  <a:tcPr marL="0" marR="0" marT="21590" marB="0"/>
                </a:tc>
                <a:tc>
                  <a:txBody>
                    <a:bodyPr/>
                    <a:lstStyle/>
                    <a:p>
                      <a:pPr marR="466090" algn="r">
                        <a:lnSpc>
                          <a:spcPct val="100000"/>
                        </a:lnSpc>
                        <a:spcBef>
                          <a:spcPts val="170"/>
                        </a:spcBef>
                      </a:pPr>
                      <a:r>
                        <a:rPr sz="1050" b="0" spc="-10" dirty="0">
                          <a:solidFill>
                            <a:srgbClr val="231F20"/>
                          </a:solidFill>
                          <a:latin typeface="Aktiv Grotesk Light"/>
                          <a:cs typeface="Aktiv Grotesk Light"/>
                        </a:rPr>
                        <a:t>8,536</a:t>
                      </a:r>
                      <a:endParaRPr sz="1050">
                        <a:latin typeface="Aktiv Grotesk Light"/>
                        <a:cs typeface="Aktiv Grotesk Light"/>
                      </a:endParaRPr>
                    </a:p>
                  </a:txBody>
                  <a:tcPr marL="0" marR="0" marT="21590" marB="0"/>
                </a:tc>
                <a:tc>
                  <a:txBody>
                    <a:bodyPr/>
                    <a:lstStyle/>
                    <a:p>
                      <a:pPr marR="488950" algn="r">
                        <a:lnSpc>
                          <a:spcPct val="100000"/>
                        </a:lnSpc>
                        <a:spcBef>
                          <a:spcPts val="170"/>
                        </a:spcBef>
                      </a:pPr>
                      <a:r>
                        <a:rPr sz="1050" b="0" spc="-10" dirty="0">
                          <a:solidFill>
                            <a:srgbClr val="231F20"/>
                          </a:solidFill>
                          <a:latin typeface="Aktiv Grotesk Light"/>
                          <a:cs typeface="Aktiv Grotesk Light"/>
                        </a:rPr>
                        <a:t>7,486</a:t>
                      </a:r>
                      <a:endParaRPr sz="1050">
                        <a:latin typeface="Aktiv Grotesk Light"/>
                        <a:cs typeface="Aktiv Grotesk Light"/>
                      </a:endParaRPr>
                    </a:p>
                  </a:txBody>
                  <a:tcPr marL="0" marR="0" marT="21590" marB="0"/>
                </a:tc>
                <a:tc>
                  <a:txBody>
                    <a:bodyPr/>
                    <a:lstStyle/>
                    <a:p>
                      <a:pPr marR="858519" algn="r">
                        <a:lnSpc>
                          <a:spcPct val="100000"/>
                        </a:lnSpc>
                        <a:spcBef>
                          <a:spcPts val="170"/>
                        </a:spcBef>
                      </a:pPr>
                      <a:r>
                        <a:rPr sz="1050" b="0" spc="-25" dirty="0">
                          <a:solidFill>
                            <a:srgbClr val="231F20"/>
                          </a:solidFill>
                          <a:latin typeface="Aktiv Grotesk Light"/>
                          <a:cs typeface="Aktiv Grotesk Light"/>
                        </a:rPr>
                        <a:t>88</a:t>
                      </a:r>
                      <a:endParaRPr sz="1050">
                        <a:latin typeface="Aktiv Grotesk Light"/>
                        <a:cs typeface="Aktiv Grotesk Light"/>
                      </a:endParaRPr>
                    </a:p>
                  </a:txBody>
                  <a:tcPr marL="0" marR="0" marT="21590" marB="0"/>
                </a:tc>
                <a:tc>
                  <a:txBody>
                    <a:bodyPr/>
                    <a:lstStyle/>
                    <a:p>
                      <a:pPr marR="673100" algn="r">
                        <a:lnSpc>
                          <a:spcPct val="100000"/>
                        </a:lnSpc>
                        <a:spcBef>
                          <a:spcPts val="170"/>
                        </a:spcBef>
                      </a:pPr>
                      <a:r>
                        <a:rPr sz="1050" b="0" spc="-10" dirty="0">
                          <a:solidFill>
                            <a:srgbClr val="231F20"/>
                          </a:solidFill>
                          <a:latin typeface="Aktiv Grotesk Light"/>
                          <a:cs typeface="Aktiv Grotesk Light"/>
                        </a:rPr>
                        <a:t>2,606</a:t>
                      </a:r>
                      <a:endParaRPr sz="1050">
                        <a:latin typeface="Aktiv Grotesk Light"/>
                        <a:cs typeface="Aktiv Grotesk Light"/>
                      </a:endParaRPr>
                    </a:p>
                  </a:txBody>
                  <a:tcPr marL="0" marR="0" marT="21590" marB="0"/>
                </a:tc>
                <a:extLst>
                  <a:ext uri="{0D108BD9-81ED-4DB2-BD59-A6C34878D82A}">
                    <a16:rowId xmlns:a16="http://schemas.microsoft.com/office/drawing/2014/main" val="10005"/>
                  </a:ext>
                </a:extLst>
              </a:tr>
              <a:tr h="214629">
                <a:tc>
                  <a:txBody>
                    <a:bodyPr/>
                    <a:lstStyle/>
                    <a:p>
                      <a:pPr marL="199390">
                        <a:lnSpc>
                          <a:spcPct val="100000"/>
                        </a:lnSpc>
                        <a:spcBef>
                          <a:spcPts val="170"/>
                        </a:spcBef>
                      </a:pPr>
                      <a:r>
                        <a:rPr sz="1050" b="0" spc="-10" dirty="0">
                          <a:solidFill>
                            <a:srgbClr val="231F20"/>
                          </a:solidFill>
                          <a:latin typeface="Aktiv Grotesk Light"/>
                          <a:cs typeface="Aktiv Grotesk Light"/>
                        </a:rPr>
                        <a:t>Fishes</a:t>
                      </a:r>
                      <a:endParaRPr sz="1050">
                        <a:latin typeface="Aktiv Grotesk Light"/>
                        <a:cs typeface="Aktiv Grotesk Light"/>
                      </a:endParaRPr>
                    </a:p>
                  </a:txBody>
                  <a:tcPr marL="0" marR="0" marT="21590" marB="0">
                    <a:lnB w="9525">
                      <a:solidFill>
                        <a:srgbClr val="C2DCDF"/>
                      </a:solidFill>
                      <a:prstDash val="solid"/>
                    </a:lnB>
                  </a:tcPr>
                </a:tc>
                <a:tc>
                  <a:txBody>
                    <a:bodyPr/>
                    <a:lstStyle/>
                    <a:p>
                      <a:pPr marR="466090" algn="r">
                        <a:lnSpc>
                          <a:spcPct val="100000"/>
                        </a:lnSpc>
                        <a:spcBef>
                          <a:spcPts val="170"/>
                        </a:spcBef>
                      </a:pPr>
                      <a:r>
                        <a:rPr sz="1050" b="0" spc="-10" dirty="0">
                          <a:solidFill>
                            <a:srgbClr val="231F20"/>
                          </a:solidFill>
                          <a:latin typeface="Aktiv Grotesk Light"/>
                          <a:cs typeface="Aktiv Grotesk Light"/>
                        </a:rPr>
                        <a:t>36,367</a:t>
                      </a:r>
                      <a:endParaRPr sz="1050">
                        <a:latin typeface="Aktiv Grotesk Light"/>
                        <a:cs typeface="Aktiv Grotesk Light"/>
                      </a:endParaRPr>
                    </a:p>
                  </a:txBody>
                  <a:tcPr marL="0" marR="0" marT="21590" marB="0">
                    <a:lnB w="9525">
                      <a:solidFill>
                        <a:srgbClr val="C2DCDF"/>
                      </a:solidFill>
                      <a:prstDash val="solid"/>
                    </a:lnB>
                  </a:tcPr>
                </a:tc>
                <a:tc>
                  <a:txBody>
                    <a:bodyPr/>
                    <a:lstStyle/>
                    <a:p>
                      <a:pPr marR="488950" algn="r">
                        <a:lnSpc>
                          <a:spcPct val="100000"/>
                        </a:lnSpc>
                        <a:spcBef>
                          <a:spcPts val="170"/>
                        </a:spcBef>
                      </a:pPr>
                      <a:r>
                        <a:rPr sz="1050" b="0" spc="-10" dirty="0">
                          <a:solidFill>
                            <a:srgbClr val="231F20"/>
                          </a:solidFill>
                          <a:latin typeface="Aktiv Grotesk Light"/>
                          <a:cs typeface="Aktiv Grotesk Light"/>
                        </a:rPr>
                        <a:t>25,351</a:t>
                      </a:r>
                      <a:endParaRPr sz="1050">
                        <a:latin typeface="Aktiv Grotesk Light"/>
                        <a:cs typeface="Aktiv Grotesk Light"/>
                      </a:endParaRPr>
                    </a:p>
                  </a:txBody>
                  <a:tcPr marL="0" marR="0" marT="21590" marB="0">
                    <a:lnB w="9525">
                      <a:solidFill>
                        <a:srgbClr val="C2DCDF"/>
                      </a:solidFill>
                      <a:prstDash val="solid"/>
                    </a:lnB>
                  </a:tcPr>
                </a:tc>
                <a:tc>
                  <a:txBody>
                    <a:bodyPr/>
                    <a:lstStyle/>
                    <a:p>
                      <a:pPr marR="858519" algn="r">
                        <a:lnSpc>
                          <a:spcPct val="100000"/>
                        </a:lnSpc>
                        <a:spcBef>
                          <a:spcPts val="170"/>
                        </a:spcBef>
                      </a:pPr>
                      <a:r>
                        <a:rPr sz="1050" b="0" spc="-25" dirty="0">
                          <a:solidFill>
                            <a:srgbClr val="231F20"/>
                          </a:solidFill>
                          <a:latin typeface="Aktiv Grotesk Light"/>
                          <a:cs typeface="Aktiv Grotesk Light"/>
                        </a:rPr>
                        <a:t>70</a:t>
                      </a:r>
                      <a:endParaRPr sz="1050">
                        <a:latin typeface="Aktiv Grotesk Light"/>
                        <a:cs typeface="Aktiv Grotesk Light"/>
                      </a:endParaRPr>
                    </a:p>
                  </a:txBody>
                  <a:tcPr marL="0" marR="0" marT="21590" marB="0">
                    <a:lnB w="9525">
                      <a:solidFill>
                        <a:srgbClr val="C2DCDF"/>
                      </a:solidFill>
                      <a:prstDash val="solid"/>
                    </a:lnB>
                  </a:tcPr>
                </a:tc>
                <a:tc>
                  <a:txBody>
                    <a:bodyPr/>
                    <a:lstStyle/>
                    <a:p>
                      <a:pPr marR="673100" algn="r">
                        <a:lnSpc>
                          <a:spcPct val="100000"/>
                        </a:lnSpc>
                        <a:spcBef>
                          <a:spcPts val="170"/>
                        </a:spcBef>
                      </a:pPr>
                      <a:r>
                        <a:rPr sz="1050" b="0" spc="-10" dirty="0">
                          <a:solidFill>
                            <a:srgbClr val="231F20"/>
                          </a:solidFill>
                          <a:latin typeface="Aktiv Grotesk Light"/>
                          <a:cs typeface="Aktiv Grotesk Light"/>
                        </a:rPr>
                        <a:t>3,551</a:t>
                      </a:r>
                      <a:endParaRPr sz="1050">
                        <a:latin typeface="Aktiv Grotesk Light"/>
                        <a:cs typeface="Aktiv Grotesk Light"/>
                      </a:endParaRPr>
                    </a:p>
                  </a:txBody>
                  <a:tcPr marL="0" marR="0" marT="21590" marB="0">
                    <a:lnB w="9525">
                      <a:solidFill>
                        <a:srgbClr val="C2DCDF"/>
                      </a:solidFill>
                      <a:prstDash val="solid"/>
                    </a:lnB>
                  </a:tcPr>
                </a:tc>
                <a:extLst>
                  <a:ext uri="{0D108BD9-81ED-4DB2-BD59-A6C34878D82A}">
                    <a16:rowId xmlns:a16="http://schemas.microsoft.com/office/drawing/2014/main" val="10006"/>
                  </a:ext>
                </a:extLst>
              </a:tr>
              <a:tr h="214629">
                <a:tc>
                  <a:txBody>
                    <a:bodyPr/>
                    <a:lstStyle/>
                    <a:p>
                      <a:pPr marL="199390">
                        <a:lnSpc>
                          <a:spcPct val="100000"/>
                        </a:lnSpc>
                        <a:spcBef>
                          <a:spcPts val="170"/>
                        </a:spcBef>
                      </a:pPr>
                      <a:r>
                        <a:rPr sz="1050" b="0" spc="-10" dirty="0">
                          <a:solidFill>
                            <a:srgbClr val="231F20"/>
                          </a:solidFill>
                          <a:latin typeface="Aktiv Grotesk Medium"/>
                          <a:cs typeface="Aktiv Grotesk Medium"/>
                        </a:rPr>
                        <a:t>Subtotal</a:t>
                      </a:r>
                      <a:endParaRPr sz="1050">
                        <a:latin typeface="Aktiv Grotesk Medium"/>
                        <a:cs typeface="Aktiv Grotesk Medium"/>
                      </a:endParaRPr>
                    </a:p>
                  </a:txBody>
                  <a:tcPr marL="0" marR="0" marT="21590" marB="0">
                    <a:lnT w="9525">
                      <a:solidFill>
                        <a:srgbClr val="C2DCDF"/>
                      </a:solidFill>
                      <a:prstDash val="solid"/>
                    </a:lnT>
                    <a:lnB w="9525">
                      <a:solidFill>
                        <a:srgbClr val="C2DCDF"/>
                      </a:solidFill>
                      <a:prstDash val="solid"/>
                    </a:lnB>
                  </a:tcPr>
                </a:tc>
                <a:tc>
                  <a:txBody>
                    <a:bodyPr/>
                    <a:lstStyle/>
                    <a:p>
                      <a:pPr marR="466090" algn="r">
                        <a:lnSpc>
                          <a:spcPct val="100000"/>
                        </a:lnSpc>
                        <a:spcBef>
                          <a:spcPts val="170"/>
                        </a:spcBef>
                      </a:pPr>
                      <a:r>
                        <a:rPr sz="1050" b="0" spc="-10" dirty="0">
                          <a:solidFill>
                            <a:srgbClr val="231F20"/>
                          </a:solidFill>
                          <a:latin typeface="Aktiv Grotesk Light"/>
                          <a:cs typeface="Aktiv Grotesk Light"/>
                        </a:rPr>
                        <a:t>74,420</a:t>
                      </a:r>
                      <a:endParaRPr sz="1050">
                        <a:latin typeface="Aktiv Grotesk Light"/>
                        <a:cs typeface="Aktiv Grotesk Light"/>
                      </a:endParaRPr>
                    </a:p>
                  </a:txBody>
                  <a:tcPr marL="0" marR="0" marT="21590" marB="0">
                    <a:lnT w="9525">
                      <a:solidFill>
                        <a:srgbClr val="C2DCDF"/>
                      </a:solidFill>
                      <a:prstDash val="solid"/>
                    </a:lnT>
                    <a:lnB w="9525">
                      <a:solidFill>
                        <a:srgbClr val="C2DCDF"/>
                      </a:solidFill>
                      <a:prstDash val="solid"/>
                    </a:lnB>
                  </a:tcPr>
                </a:tc>
                <a:tc>
                  <a:txBody>
                    <a:bodyPr/>
                    <a:lstStyle/>
                    <a:p>
                      <a:pPr marR="488950" algn="r">
                        <a:lnSpc>
                          <a:spcPct val="100000"/>
                        </a:lnSpc>
                        <a:spcBef>
                          <a:spcPts val="170"/>
                        </a:spcBef>
                      </a:pPr>
                      <a:r>
                        <a:rPr sz="1050" b="0" spc="-10" dirty="0">
                          <a:solidFill>
                            <a:srgbClr val="231F20"/>
                          </a:solidFill>
                          <a:latin typeface="Aktiv Grotesk Light"/>
                          <a:cs typeface="Aktiv Grotesk Light"/>
                        </a:rPr>
                        <a:t>60,220</a:t>
                      </a:r>
                      <a:endParaRPr sz="1050">
                        <a:latin typeface="Aktiv Grotesk Light"/>
                        <a:cs typeface="Aktiv Grotesk Light"/>
                      </a:endParaRPr>
                    </a:p>
                  </a:txBody>
                  <a:tcPr marL="0" marR="0" marT="21590" marB="0">
                    <a:lnT w="9525">
                      <a:solidFill>
                        <a:srgbClr val="C2DCDF"/>
                      </a:solidFill>
                      <a:prstDash val="solid"/>
                    </a:lnT>
                    <a:lnB w="9525">
                      <a:solidFill>
                        <a:srgbClr val="C2DCDF"/>
                      </a:solidFill>
                      <a:prstDash val="solid"/>
                    </a:lnB>
                  </a:tcPr>
                </a:tc>
                <a:tc>
                  <a:txBody>
                    <a:bodyPr/>
                    <a:lstStyle/>
                    <a:p>
                      <a:pPr marR="858519" algn="r">
                        <a:lnSpc>
                          <a:spcPct val="100000"/>
                        </a:lnSpc>
                        <a:spcBef>
                          <a:spcPts val="170"/>
                        </a:spcBef>
                      </a:pPr>
                      <a:r>
                        <a:rPr sz="1050" b="0" spc="-25" dirty="0">
                          <a:solidFill>
                            <a:srgbClr val="231F20"/>
                          </a:solidFill>
                          <a:latin typeface="Aktiv Grotesk Light"/>
                          <a:cs typeface="Aktiv Grotesk Light"/>
                        </a:rPr>
                        <a:t>81</a:t>
                      </a:r>
                      <a:endParaRPr sz="1050">
                        <a:latin typeface="Aktiv Grotesk Light"/>
                        <a:cs typeface="Aktiv Grotesk Light"/>
                      </a:endParaRPr>
                    </a:p>
                  </a:txBody>
                  <a:tcPr marL="0" marR="0" marT="21590" marB="0">
                    <a:lnT w="9525">
                      <a:solidFill>
                        <a:srgbClr val="C2DCDF"/>
                      </a:solidFill>
                      <a:prstDash val="solid"/>
                    </a:lnT>
                    <a:lnB w="9525">
                      <a:solidFill>
                        <a:srgbClr val="C2DCDF"/>
                      </a:solidFill>
                      <a:prstDash val="solid"/>
                    </a:lnB>
                  </a:tcPr>
                </a:tc>
                <a:tc>
                  <a:txBody>
                    <a:bodyPr/>
                    <a:lstStyle/>
                    <a:p>
                      <a:pPr marR="673100" algn="r">
                        <a:lnSpc>
                          <a:spcPct val="100000"/>
                        </a:lnSpc>
                        <a:spcBef>
                          <a:spcPts val="170"/>
                        </a:spcBef>
                      </a:pPr>
                      <a:r>
                        <a:rPr sz="1050" b="0" spc="-10" dirty="0">
                          <a:solidFill>
                            <a:srgbClr val="231F20"/>
                          </a:solidFill>
                          <a:latin typeface="Aktiv Grotesk Light"/>
                          <a:cs typeface="Aktiv Grotesk Light"/>
                        </a:rPr>
                        <a:t>10,739</a:t>
                      </a:r>
                      <a:endParaRPr sz="1050">
                        <a:latin typeface="Aktiv Grotesk Light"/>
                        <a:cs typeface="Aktiv Grotesk Light"/>
                      </a:endParaRPr>
                    </a:p>
                  </a:txBody>
                  <a:tcPr marL="0" marR="0" marT="21590" marB="0">
                    <a:lnT w="9525">
                      <a:solidFill>
                        <a:srgbClr val="C2DCDF"/>
                      </a:solidFill>
                      <a:prstDash val="solid"/>
                    </a:lnT>
                    <a:lnB w="9525">
                      <a:solidFill>
                        <a:srgbClr val="C2DCDF"/>
                      </a:solidFill>
                      <a:prstDash val="solid"/>
                    </a:lnB>
                  </a:tcPr>
                </a:tc>
                <a:extLst>
                  <a:ext uri="{0D108BD9-81ED-4DB2-BD59-A6C34878D82A}">
                    <a16:rowId xmlns:a16="http://schemas.microsoft.com/office/drawing/2014/main" val="10007"/>
                  </a:ext>
                </a:extLst>
              </a:tr>
              <a:tr h="210820">
                <a:tc>
                  <a:txBody>
                    <a:bodyPr/>
                    <a:lstStyle/>
                    <a:p>
                      <a:pPr marL="59690">
                        <a:lnSpc>
                          <a:spcPct val="100000"/>
                        </a:lnSpc>
                        <a:spcBef>
                          <a:spcPts val="220"/>
                        </a:spcBef>
                      </a:pPr>
                      <a:r>
                        <a:rPr sz="950" b="0" spc="-10" dirty="0">
                          <a:solidFill>
                            <a:srgbClr val="231F20"/>
                          </a:solidFill>
                          <a:latin typeface="Aktiv Grotesk Medium"/>
                          <a:cs typeface="Aktiv Grotesk Medium"/>
                        </a:rPr>
                        <a:t>INVERTEBRATES</a:t>
                      </a:r>
                      <a:endParaRPr sz="950">
                        <a:latin typeface="Aktiv Grotesk Medium"/>
                        <a:cs typeface="Aktiv Grotesk Medium"/>
                      </a:endParaRPr>
                    </a:p>
                  </a:txBody>
                  <a:tcPr marL="0" marR="0" marT="27940" marB="0">
                    <a:lnT w="9525">
                      <a:solidFill>
                        <a:srgbClr val="C2DCDF"/>
                      </a:solidFill>
                      <a:prstDash val="solid"/>
                    </a:lnT>
                  </a:tcPr>
                </a:tc>
                <a:tc>
                  <a:txBody>
                    <a:bodyPr/>
                    <a:lstStyle/>
                    <a:p>
                      <a:pPr>
                        <a:lnSpc>
                          <a:spcPct val="100000"/>
                        </a:lnSpc>
                      </a:pPr>
                      <a:endParaRPr sz="1000">
                        <a:latin typeface="Times New Roman"/>
                        <a:cs typeface="Times New Roman"/>
                      </a:endParaRPr>
                    </a:p>
                  </a:txBody>
                  <a:tcPr marL="0" marR="0" marT="0" marB="0">
                    <a:lnT w="9525">
                      <a:solidFill>
                        <a:srgbClr val="C2DCDF"/>
                      </a:solidFill>
                      <a:prstDash val="solid"/>
                    </a:lnT>
                  </a:tcPr>
                </a:tc>
                <a:tc>
                  <a:txBody>
                    <a:bodyPr/>
                    <a:lstStyle/>
                    <a:p>
                      <a:pPr>
                        <a:lnSpc>
                          <a:spcPct val="100000"/>
                        </a:lnSpc>
                      </a:pPr>
                      <a:endParaRPr sz="1000">
                        <a:latin typeface="Times New Roman"/>
                        <a:cs typeface="Times New Roman"/>
                      </a:endParaRPr>
                    </a:p>
                  </a:txBody>
                  <a:tcPr marL="0" marR="0" marT="0" marB="0">
                    <a:lnT w="9525">
                      <a:solidFill>
                        <a:srgbClr val="C2DCDF"/>
                      </a:solidFill>
                      <a:prstDash val="solid"/>
                    </a:lnT>
                  </a:tcPr>
                </a:tc>
                <a:tc>
                  <a:txBody>
                    <a:bodyPr/>
                    <a:lstStyle/>
                    <a:p>
                      <a:pPr>
                        <a:lnSpc>
                          <a:spcPct val="100000"/>
                        </a:lnSpc>
                      </a:pPr>
                      <a:endParaRPr sz="1000">
                        <a:latin typeface="Times New Roman"/>
                        <a:cs typeface="Times New Roman"/>
                      </a:endParaRPr>
                    </a:p>
                  </a:txBody>
                  <a:tcPr marL="0" marR="0" marT="0" marB="0">
                    <a:lnT w="9525">
                      <a:solidFill>
                        <a:srgbClr val="C2DCDF"/>
                      </a:solidFill>
                      <a:prstDash val="solid"/>
                    </a:lnT>
                  </a:tcPr>
                </a:tc>
                <a:tc>
                  <a:txBody>
                    <a:bodyPr/>
                    <a:lstStyle/>
                    <a:p>
                      <a:pPr>
                        <a:lnSpc>
                          <a:spcPct val="100000"/>
                        </a:lnSpc>
                      </a:pPr>
                      <a:endParaRPr sz="1000">
                        <a:latin typeface="Times New Roman"/>
                        <a:cs typeface="Times New Roman"/>
                      </a:endParaRPr>
                    </a:p>
                  </a:txBody>
                  <a:tcPr marL="0" marR="0" marT="0" marB="0">
                    <a:lnT w="9525">
                      <a:solidFill>
                        <a:srgbClr val="C2DCDF"/>
                      </a:solidFill>
                      <a:prstDash val="solid"/>
                    </a:lnT>
                  </a:tcPr>
                </a:tc>
                <a:extLst>
                  <a:ext uri="{0D108BD9-81ED-4DB2-BD59-A6C34878D82A}">
                    <a16:rowId xmlns:a16="http://schemas.microsoft.com/office/drawing/2014/main" val="10008"/>
                  </a:ext>
                </a:extLst>
              </a:tr>
              <a:tr h="219075">
                <a:tc>
                  <a:txBody>
                    <a:bodyPr/>
                    <a:lstStyle/>
                    <a:p>
                      <a:pPr marL="199390">
                        <a:lnSpc>
                          <a:spcPct val="100000"/>
                        </a:lnSpc>
                        <a:spcBef>
                          <a:spcPts val="200"/>
                        </a:spcBef>
                      </a:pPr>
                      <a:r>
                        <a:rPr sz="1050" b="0" spc="-10" dirty="0">
                          <a:solidFill>
                            <a:srgbClr val="231F20"/>
                          </a:solidFill>
                          <a:latin typeface="Aktiv Grotesk Light"/>
                          <a:cs typeface="Aktiv Grotesk Light"/>
                        </a:rPr>
                        <a:t>Insects</a:t>
                      </a:r>
                      <a:endParaRPr sz="1050">
                        <a:latin typeface="Aktiv Grotesk Light"/>
                        <a:cs typeface="Aktiv Grotesk Light"/>
                      </a:endParaRPr>
                    </a:p>
                  </a:txBody>
                  <a:tcPr marL="0" marR="0" marT="25400" marB="0"/>
                </a:tc>
                <a:tc>
                  <a:txBody>
                    <a:bodyPr/>
                    <a:lstStyle/>
                    <a:p>
                      <a:pPr marR="466090" algn="r">
                        <a:lnSpc>
                          <a:spcPct val="100000"/>
                        </a:lnSpc>
                        <a:spcBef>
                          <a:spcPts val="200"/>
                        </a:spcBef>
                      </a:pPr>
                      <a:r>
                        <a:rPr sz="1050" b="0" spc="-10" dirty="0">
                          <a:solidFill>
                            <a:srgbClr val="231F20"/>
                          </a:solidFill>
                          <a:latin typeface="Aktiv Grotesk Light"/>
                          <a:cs typeface="Aktiv Grotesk Light"/>
                        </a:rPr>
                        <a:t>1,053,578</a:t>
                      </a:r>
                      <a:endParaRPr sz="1050">
                        <a:latin typeface="Aktiv Grotesk Light"/>
                        <a:cs typeface="Aktiv Grotesk Light"/>
                      </a:endParaRPr>
                    </a:p>
                  </a:txBody>
                  <a:tcPr marL="0" marR="0" marT="25400" marB="0"/>
                </a:tc>
                <a:tc>
                  <a:txBody>
                    <a:bodyPr/>
                    <a:lstStyle/>
                    <a:p>
                      <a:pPr marR="488950" algn="r">
                        <a:lnSpc>
                          <a:spcPct val="100000"/>
                        </a:lnSpc>
                        <a:spcBef>
                          <a:spcPts val="200"/>
                        </a:spcBef>
                      </a:pPr>
                      <a:r>
                        <a:rPr sz="1050" b="0" spc="-10" dirty="0">
                          <a:solidFill>
                            <a:srgbClr val="231F20"/>
                          </a:solidFill>
                          <a:latin typeface="Aktiv Grotesk Light"/>
                          <a:cs typeface="Aktiv Grotesk Light"/>
                        </a:rPr>
                        <a:t>12,441</a:t>
                      </a:r>
                      <a:endParaRPr sz="1050">
                        <a:latin typeface="Aktiv Grotesk Light"/>
                        <a:cs typeface="Aktiv Grotesk Light"/>
                      </a:endParaRPr>
                    </a:p>
                  </a:txBody>
                  <a:tcPr marL="0" marR="0" marT="25400" marB="0"/>
                </a:tc>
                <a:tc>
                  <a:txBody>
                    <a:bodyPr/>
                    <a:lstStyle/>
                    <a:p>
                      <a:pPr marR="864869" algn="r">
                        <a:lnSpc>
                          <a:spcPct val="100000"/>
                        </a:lnSpc>
                        <a:spcBef>
                          <a:spcPts val="200"/>
                        </a:spcBef>
                      </a:pPr>
                      <a:r>
                        <a:rPr sz="1050" b="0" spc="-25" dirty="0">
                          <a:solidFill>
                            <a:srgbClr val="231F20"/>
                          </a:solidFill>
                          <a:latin typeface="Aktiv Grotesk Light"/>
                          <a:cs typeface="Aktiv Grotesk Light"/>
                        </a:rPr>
                        <a:t>1.2</a:t>
                      </a:r>
                      <a:endParaRPr sz="1050">
                        <a:latin typeface="Aktiv Grotesk Light"/>
                        <a:cs typeface="Aktiv Grotesk Light"/>
                      </a:endParaRPr>
                    </a:p>
                  </a:txBody>
                  <a:tcPr marL="0" marR="0" marT="25400" marB="0"/>
                </a:tc>
                <a:tc>
                  <a:txBody>
                    <a:bodyPr/>
                    <a:lstStyle/>
                    <a:p>
                      <a:pPr marR="673100" algn="r">
                        <a:lnSpc>
                          <a:spcPct val="100000"/>
                        </a:lnSpc>
                        <a:spcBef>
                          <a:spcPts val="200"/>
                        </a:spcBef>
                      </a:pPr>
                      <a:r>
                        <a:rPr sz="1050" b="0" spc="-10" dirty="0">
                          <a:solidFill>
                            <a:srgbClr val="231F20"/>
                          </a:solidFill>
                          <a:latin typeface="Aktiv Grotesk Light"/>
                          <a:cs typeface="Aktiv Grotesk Light"/>
                        </a:rPr>
                        <a:t>2,345</a:t>
                      </a:r>
                      <a:endParaRPr sz="1050">
                        <a:latin typeface="Aktiv Grotesk Light"/>
                        <a:cs typeface="Aktiv Grotesk Light"/>
                      </a:endParaRPr>
                    </a:p>
                  </a:txBody>
                  <a:tcPr marL="0" marR="0" marT="25400" marB="0"/>
                </a:tc>
                <a:extLst>
                  <a:ext uri="{0D108BD9-81ED-4DB2-BD59-A6C34878D82A}">
                    <a16:rowId xmlns:a16="http://schemas.microsoft.com/office/drawing/2014/main" val="10009"/>
                  </a:ext>
                </a:extLst>
              </a:tr>
              <a:tr h="214629">
                <a:tc>
                  <a:txBody>
                    <a:bodyPr/>
                    <a:lstStyle/>
                    <a:p>
                      <a:pPr marL="199390">
                        <a:lnSpc>
                          <a:spcPct val="100000"/>
                        </a:lnSpc>
                        <a:spcBef>
                          <a:spcPts val="170"/>
                        </a:spcBef>
                      </a:pPr>
                      <a:r>
                        <a:rPr sz="1050" b="0" spc="-10" dirty="0">
                          <a:solidFill>
                            <a:srgbClr val="231F20"/>
                          </a:solidFill>
                          <a:latin typeface="Aktiv Grotesk Light"/>
                          <a:cs typeface="Aktiv Grotesk Light"/>
                        </a:rPr>
                        <a:t>Mollusks</a:t>
                      </a:r>
                      <a:endParaRPr sz="1050">
                        <a:latin typeface="Aktiv Grotesk Light"/>
                        <a:cs typeface="Aktiv Grotesk Light"/>
                      </a:endParaRPr>
                    </a:p>
                  </a:txBody>
                  <a:tcPr marL="0" marR="0" marT="21590" marB="0"/>
                </a:tc>
                <a:tc>
                  <a:txBody>
                    <a:bodyPr/>
                    <a:lstStyle/>
                    <a:p>
                      <a:pPr marR="466090" algn="r">
                        <a:lnSpc>
                          <a:spcPct val="100000"/>
                        </a:lnSpc>
                        <a:spcBef>
                          <a:spcPts val="170"/>
                        </a:spcBef>
                      </a:pPr>
                      <a:r>
                        <a:rPr sz="1050" b="0" spc="-10" dirty="0">
                          <a:solidFill>
                            <a:srgbClr val="231F20"/>
                          </a:solidFill>
                          <a:latin typeface="Aktiv Grotesk Light"/>
                          <a:cs typeface="Aktiv Grotesk Light"/>
                        </a:rPr>
                        <a:t>113,813</a:t>
                      </a:r>
                      <a:endParaRPr sz="1050">
                        <a:latin typeface="Aktiv Grotesk Light"/>
                        <a:cs typeface="Aktiv Grotesk Light"/>
                      </a:endParaRPr>
                    </a:p>
                  </a:txBody>
                  <a:tcPr marL="0" marR="0" marT="21590" marB="0"/>
                </a:tc>
                <a:tc>
                  <a:txBody>
                    <a:bodyPr/>
                    <a:lstStyle/>
                    <a:p>
                      <a:pPr marR="488950" algn="r">
                        <a:lnSpc>
                          <a:spcPct val="100000"/>
                        </a:lnSpc>
                        <a:spcBef>
                          <a:spcPts val="170"/>
                        </a:spcBef>
                      </a:pPr>
                      <a:r>
                        <a:rPr sz="1050" b="0" spc="-10" dirty="0">
                          <a:solidFill>
                            <a:srgbClr val="231F20"/>
                          </a:solidFill>
                          <a:latin typeface="Aktiv Grotesk Light"/>
                          <a:cs typeface="Aktiv Grotesk Light"/>
                        </a:rPr>
                        <a:t>9,032</a:t>
                      </a:r>
                      <a:endParaRPr sz="1050">
                        <a:latin typeface="Aktiv Grotesk Light"/>
                        <a:cs typeface="Aktiv Grotesk Light"/>
                      </a:endParaRPr>
                    </a:p>
                  </a:txBody>
                  <a:tcPr marL="0" marR="0" marT="21590" marB="0"/>
                </a:tc>
                <a:tc>
                  <a:txBody>
                    <a:bodyPr/>
                    <a:lstStyle/>
                    <a:p>
                      <a:pPr marR="875030" algn="r">
                        <a:lnSpc>
                          <a:spcPct val="100000"/>
                        </a:lnSpc>
                        <a:spcBef>
                          <a:spcPts val="170"/>
                        </a:spcBef>
                      </a:pPr>
                      <a:r>
                        <a:rPr sz="1050" b="0" spc="-50" dirty="0">
                          <a:solidFill>
                            <a:srgbClr val="231F20"/>
                          </a:solidFill>
                          <a:latin typeface="Aktiv Grotesk Light"/>
                          <a:cs typeface="Aktiv Grotesk Light"/>
                        </a:rPr>
                        <a:t>8</a:t>
                      </a:r>
                      <a:endParaRPr sz="1050">
                        <a:latin typeface="Aktiv Grotesk Light"/>
                        <a:cs typeface="Aktiv Grotesk Light"/>
                      </a:endParaRPr>
                    </a:p>
                  </a:txBody>
                  <a:tcPr marL="0" marR="0" marT="21590" marB="0"/>
                </a:tc>
                <a:tc>
                  <a:txBody>
                    <a:bodyPr/>
                    <a:lstStyle/>
                    <a:p>
                      <a:pPr marR="673100" algn="r">
                        <a:lnSpc>
                          <a:spcPct val="100000"/>
                        </a:lnSpc>
                        <a:spcBef>
                          <a:spcPts val="170"/>
                        </a:spcBef>
                      </a:pPr>
                      <a:r>
                        <a:rPr sz="1050" b="0" spc="-10" dirty="0">
                          <a:solidFill>
                            <a:srgbClr val="231F20"/>
                          </a:solidFill>
                          <a:latin typeface="Aktiv Grotesk Light"/>
                          <a:cs typeface="Aktiv Grotesk Light"/>
                        </a:rPr>
                        <a:t>2,399</a:t>
                      </a:r>
                      <a:endParaRPr sz="1050">
                        <a:latin typeface="Aktiv Grotesk Light"/>
                        <a:cs typeface="Aktiv Grotesk Light"/>
                      </a:endParaRPr>
                    </a:p>
                  </a:txBody>
                  <a:tcPr marL="0" marR="0" marT="21590" marB="0"/>
                </a:tc>
                <a:extLst>
                  <a:ext uri="{0D108BD9-81ED-4DB2-BD59-A6C34878D82A}">
                    <a16:rowId xmlns:a16="http://schemas.microsoft.com/office/drawing/2014/main" val="10010"/>
                  </a:ext>
                </a:extLst>
              </a:tr>
              <a:tr h="214629">
                <a:tc>
                  <a:txBody>
                    <a:bodyPr/>
                    <a:lstStyle/>
                    <a:p>
                      <a:pPr marL="199390">
                        <a:lnSpc>
                          <a:spcPct val="100000"/>
                        </a:lnSpc>
                        <a:spcBef>
                          <a:spcPts val="170"/>
                        </a:spcBef>
                      </a:pPr>
                      <a:r>
                        <a:rPr sz="1050" b="0" spc="-10" dirty="0">
                          <a:solidFill>
                            <a:srgbClr val="231F20"/>
                          </a:solidFill>
                          <a:latin typeface="Aktiv Grotesk Light"/>
                          <a:cs typeface="Aktiv Grotesk Light"/>
                        </a:rPr>
                        <a:t>Crustaceans</a:t>
                      </a:r>
                      <a:endParaRPr sz="1050">
                        <a:latin typeface="Aktiv Grotesk Light"/>
                        <a:cs typeface="Aktiv Grotesk Light"/>
                      </a:endParaRPr>
                    </a:p>
                  </a:txBody>
                  <a:tcPr marL="0" marR="0" marT="21590" marB="0"/>
                </a:tc>
                <a:tc>
                  <a:txBody>
                    <a:bodyPr/>
                    <a:lstStyle/>
                    <a:p>
                      <a:pPr marR="466090" algn="r">
                        <a:lnSpc>
                          <a:spcPct val="100000"/>
                        </a:lnSpc>
                        <a:spcBef>
                          <a:spcPts val="170"/>
                        </a:spcBef>
                      </a:pPr>
                      <a:r>
                        <a:rPr sz="1050" b="0" spc="-10" dirty="0">
                          <a:solidFill>
                            <a:srgbClr val="231F20"/>
                          </a:solidFill>
                          <a:latin typeface="Aktiv Grotesk Light"/>
                          <a:cs typeface="Aktiv Grotesk Light"/>
                        </a:rPr>
                        <a:t>80,122</a:t>
                      </a:r>
                      <a:endParaRPr sz="1050">
                        <a:latin typeface="Aktiv Grotesk Light"/>
                        <a:cs typeface="Aktiv Grotesk Light"/>
                      </a:endParaRPr>
                    </a:p>
                  </a:txBody>
                  <a:tcPr marL="0" marR="0" marT="21590" marB="0"/>
                </a:tc>
                <a:tc>
                  <a:txBody>
                    <a:bodyPr/>
                    <a:lstStyle/>
                    <a:p>
                      <a:pPr marR="488950" algn="r">
                        <a:lnSpc>
                          <a:spcPct val="100000"/>
                        </a:lnSpc>
                        <a:spcBef>
                          <a:spcPts val="170"/>
                        </a:spcBef>
                      </a:pPr>
                      <a:r>
                        <a:rPr sz="1050" b="0" spc="-10" dirty="0">
                          <a:solidFill>
                            <a:srgbClr val="231F20"/>
                          </a:solidFill>
                          <a:latin typeface="Aktiv Grotesk Light"/>
                          <a:cs typeface="Aktiv Grotesk Light"/>
                        </a:rPr>
                        <a:t>3,197</a:t>
                      </a:r>
                      <a:endParaRPr sz="1050">
                        <a:latin typeface="Aktiv Grotesk Light"/>
                        <a:cs typeface="Aktiv Grotesk Light"/>
                      </a:endParaRPr>
                    </a:p>
                  </a:txBody>
                  <a:tcPr marL="0" marR="0" marT="21590" marB="0"/>
                </a:tc>
                <a:tc>
                  <a:txBody>
                    <a:bodyPr/>
                    <a:lstStyle/>
                    <a:p>
                      <a:pPr marR="875030" algn="r">
                        <a:lnSpc>
                          <a:spcPct val="100000"/>
                        </a:lnSpc>
                        <a:spcBef>
                          <a:spcPts val="170"/>
                        </a:spcBef>
                      </a:pPr>
                      <a:r>
                        <a:rPr sz="1050" b="0" spc="-50" dirty="0">
                          <a:solidFill>
                            <a:srgbClr val="231F20"/>
                          </a:solidFill>
                          <a:latin typeface="Aktiv Grotesk Light"/>
                          <a:cs typeface="Aktiv Grotesk Light"/>
                        </a:rPr>
                        <a:t>4</a:t>
                      </a:r>
                      <a:endParaRPr sz="1050">
                        <a:latin typeface="Aktiv Grotesk Light"/>
                        <a:cs typeface="Aktiv Grotesk Light"/>
                      </a:endParaRPr>
                    </a:p>
                  </a:txBody>
                  <a:tcPr marL="0" marR="0" marT="21590" marB="0"/>
                </a:tc>
                <a:tc>
                  <a:txBody>
                    <a:bodyPr/>
                    <a:lstStyle/>
                    <a:p>
                      <a:pPr marR="673100" algn="r">
                        <a:lnSpc>
                          <a:spcPct val="100000"/>
                        </a:lnSpc>
                        <a:spcBef>
                          <a:spcPts val="170"/>
                        </a:spcBef>
                      </a:pPr>
                      <a:r>
                        <a:rPr sz="1050" b="0" spc="-25" dirty="0">
                          <a:solidFill>
                            <a:srgbClr val="231F20"/>
                          </a:solidFill>
                          <a:latin typeface="Aktiv Grotesk Light"/>
                          <a:cs typeface="Aktiv Grotesk Light"/>
                        </a:rPr>
                        <a:t>745</a:t>
                      </a:r>
                      <a:endParaRPr sz="1050">
                        <a:latin typeface="Aktiv Grotesk Light"/>
                        <a:cs typeface="Aktiv Grotesk Light"/>
                      </a:endParaRPr>
                    </a:p>
                  </a:txBody>
                  <a:tcPr marL="0" marR="0" marT="21590" marB="0"/>
                </a:tc>
                <a:extLst>
                  <a:ext uri="{0D108BD9-81ED-4DB2-BD59-A6C34878D82A}">
                    <a16:rowId xmlns:a16="http://schemas.microsoft.com/office/drawing/2014/main" val="10011"/>
                  </a:ext>
                </a:extLst>
              </a:tr>
              <a:tr h="214629">
                <a:tc>
                  <a:txBody>
                    <a:bodyPr/>
                    <a:lstStyle/>
                    <a:p>
                      <a:pPr marL="199390">
                        <a:lnSpc>
                          <a:spcPct val="100000"/>
                        </a:lnSpc>
                        <a:spcBef>
                          <a:spcPts val="170"/>
                        </a:spcBef>
                      </a:pPr>
                      <a:r>
                        <a:rPr sz="1050" b="0" spc="-10" dirty="0">
                          <a:solidFill>
                            <a:srgbClr val="231F20"/>
                          </a:solidFill>
                          <a:latin typeface="Aktiv Grotesk Light"/>
                          <a:cs typeface="Aktiv Grotesk Light"/>
                        </a:rPr>
                        <a:t>Corals</a:t>
                      </a:r>
                      <a:endParaRPr sz="1050">
                        <a:latin typeface="Aktiv Grotesk Light"/>
                        <a:cs typeface="Aktiv Grotesk Light"/>
                      </a:endParaRPr>
                    </a:p>
                  </a:txBody>
                  <a:tcPr marL="0" marR="0" marT="21590" marB="0"/>
                </a:tc>
                <a:tc>
                  <a:txBody>
                    <a:bodyPr/>
                    <a:lstStyle/>
                    <a:p>
                      <a:pPr marR="466090" algn="r">
                        <a:lnSpc>
                          <a:spcPct val="100000"/>
                        </a:lnSpc>
                        <a:spcBef>
                          <a:spcPts val="170"/>
                        </a:spcBef>
                      </a:pPr>
                      <a:r>
                        <a:rPr sz="1050" b="0" spc="-10" dirty="0">
                          <a:solidFill>
                            <a:srgbClr val="231F20"/>
                          </a:solidFill>
                          <a:latin typeface="Aktiv Grotesk Light"/>
                          <a:cs typeface="Aktiv Grotesk Light"/>
                        </a:rPr>
                        <a:t>5,574</a:t>
                      </a:r>
                      <a:endParaRPr sz="1050">
                        <a:latin typeface="Aktiv Grotesk Light"/>
                        <a:cs typeface="Aktiv Grotesk Light"/>
                      </a:endParaRPr>
                    </a:p>
                  </a:txBody>
                  <a:tcPr marL="0" marR="0" marT="21590" marB="0"/>
                </a:tc>
                <a:tc>
                  <a:txBody>
                    <a:bodyPr/>
                    <a:lstStyle/>
                    <a:p>
                      <a:pPr marR="488950" algn="r">
                        <a:lnSpc>
                          <a:spcPct val="100000"/>
                        </a:lnSpc>
                        <a:spcBef>
                          <a:spcPts val="170"/>
                        </a:spcBef>
                      </a:pPr>
                      <a:r>
                        <a:rPr sz="1050" b="0" spc="-25" dirty="0">
                          <a:solidFill>
                            <a:srgbClr val="231F20"/>
                          </a:solidFill>
                          <a:latin typeface="Aktiv Grotesk Light"/>
                          <a:cs typeface="Aktiv Grotesk Light"/>
                        </a:rPr>
                        <a:t>831</a:t>
                      </a:r>
                      <a:endParaRPr sz="1050">
                        <a:latin typeface="Aktiv Grotesk Light"/>
                        <a:cs typeface="Aktiv Grotesk Light"/>
                      </a:endParaRPr>
                    </a:p>
                  </a:txBody>
                  <a:tcPr marL="0" marR="0" marT="21590" marB="0"/>
                </a:tc>
                <a:tc>
                  <a:txBody>
                    <a:bodyPr/>
                    <a:lstStyle/>
                    <a:p>
                      <a:pPr marR="858519" algn="r">
                        <a:lnSpc>
                          <a:spcPct val="100000"/>
                        </a:lnSpc>
                        <a:spcBef>
                          <a:spcPts val="170"/>
                        </a:spcBef>
                      </a:pPr>
                      <a:r>
                        <a:rPr sz="1050" b="0" spc="-25" dirty="0">
                          <a:solidFill>
                            <a:srgbClr val="231F20"/>
                          </a:solidFill>
                          <a:latin typeface="Aktiv Grotesk Light"/>
                          <a:cs typeface="Aktiv Grotesk Light"/>
                        </a:rPr>
                        <a:t>15</a:t>
                      </a:r>
                      <a:endParaRPr sz="1050">
                        <a:latin typeface="Aktiv Grotesk Light"/>
                        <a:cs typeface="Aktiv Grotesk Light"/>
                      </a:endParaRPr>
                    </a:p>
                  </a:txBody>
                  <a:tcPr marL="0" marR="0" marT="21590" marB="0"/>
                </a:tc>
                <a:tc>
                  <a:txBody>
                    <a:bodyPr/>
                    <a:lstStyle/>
                    <a:p>
                      <a:pPr marR="673100" algn="r">
                        <a:lnSpc>
                          <a:spcPct val="100000"/>
                        </a:lnSpc>
                        <a:spcBef>
                          <a:spcPts val="170"/>
                        </a:spcBef>
                      </a:pPr>
                      <a:r>
                        <a:rPr sz="1050" b="0" spc="-25" dirty="0">
                          <a:solidFill>
                            <a:srgbClr val="231F20"/>
                          </a:solidFill>
                          <a:latin typeface="Aktiv Grotesk Light"/>
                          <a:cs typeface="Aktiv Grotesk Light"/>
                        </a:rPr>
                        <a:t>253</a:t>
                      </a:r>
                      <a:endParaRPr sz="1050">
                        <a:latin typeface="Aktiv Grotesk Light"/>
                        <a:cs typeface="Aktiv Grotesk Light"/>
                      </a:endParaRPr>
                    </a:p>
                  </a:txBody>
                  <a:tcPr marL="0" marR="0" marT="21590" marB="0"/>
                </a:tc>
                <a:extLst>
                  <a:ext uri="{0D108BD9-81ED-4DB2-BD59-A6C34878D82A}">
                    <a16:rowId xmlns:a16="http://schemas.microsoft.com/office/drawing/2014/main" val="10012"/>
                  </a:ext>
                </a:extLst>
              </a:tr>
              <a:tr h="214629">
                <a:tc>
                  <a:txBody>
                    <a:bodyPr/>
                    <a:lstStyle/>
                    <a:p>
                      <a:pPr marL="199390">
                        <a:lnSpc>
                          <a:spcPct val="100000"/>
                        </a:lnSpc>
                        <a:spcBef>
                          <a:spcPts val="170"/>
                        </a:spcBef>
                      </a:pPr>
                      <a:r>
                        <a:rPr sz="1050" b="0" spc="-10" dirty="0">
                          <a:solidFill>
                            <a:srgbClr val="231F20"/>
                          </a:solidFill>
                          <a:latin typeface="Aktiv Grotesk Light"/>
                          <a:cs typeface="Aktiv Grotesk Light"/>
                        </a:rPr>
                        <a:t>Arachnids</a:t>
                      </a:r>
                      <a:endParaRPr sz="1050">
                        <a:latin typeface="Aktiv Grotesk Light"/>
                        <a:cs typeface="Aktiv Grotesk Light"/>
                      </a:endParaRPr>
                    </a:p>
                  </a:txBody>
                  <a:tcPr marL="0" marR="0" marT="21590" marB="0"/>
                </a:tc>
                <a:tc>
                  <a:txBody>
                    <a:bodyPr/>
                    <a:lstStyle/>
                    <a:p>
                      <a:pPr marR="466090" algn="r">
                        <a:lnSpc>
                          <a:spcPct val="100000"/>
                        </a:lnSpc>
                        <a:spcBef>
                          <a:spcPts val="170"/>
                        </a:spcBef>
                      </a:pPr>
                      <a:r>
                        <a:rPr sz="1050" b="0" spc="-10" dirty="0">
                          <a:solidFill>
                            <a:srgbClr val="231F20"/>
                          </a:solidFill>
                          <a:latin typeface="Aktiv Grotesk Light"/>
                          <a:cs typeface="Aktiv Grotesk Light"/>
                        </a:rPr>
                        <a:t>110,615</a:t>
                      </a:r>
                      <a:endParaRPr sz="1050">
                        <a:latin typeface="Aktiv Grotesk Light"/>
                        <a:cs typeface="Aktiv Grotesk Light"/>
                      </a:endParaRPr>
                    </a:p>
                  </a:txBody>
                  <a:tcPr marL="0" marR="0" marT="21590" marB="0"/>
                </a:tc>
                <a:tc>
                  <a:txBody>
                    <a:bodyPr/>
                    <a:lstStyle/>
                    <a:p>
                      <a:pPr marR="488950" algn="r">
                        <a:lnSpc>
                          <a:spcPct val="100000"/>
                        </a:lnSpc>
                        <a:spcBef>
                          <a:spcPts val="170"/>
                        </a:spcBef>
                      </a:pPr>
                      <a:r>
                        <a:rPr sz="1050" b="0" spc="-25" dirty="0">
                          <a:solidFill>
                            <a:srgbClr val="231F20"/>
                          </a:solidFill>
                          <a:latin typeface="Aktiv Grotesk Light"/>
                          <a:cs typeface="Aktiv Grotesk Light"/>
                        </a:rPr>
                        <a:t>441</a:t>
                      </a:r>
                      <a:endParaRPr sz="1050">
                        <a:latin typeface="Aktiv Grotesk Light"/>
                        <a:cs typeface="Aktiv Grotesk Light"/>
                      </a:endParaRPr>
                    </a:p>
                  </a:txBody>
                  <a:tcPr marL="0" marR="0" marT="21590" marB="0"/>
                </a:tc>
                <a:tc>
                  <a:txBody>
                    <a:bodyPr/>
                    <a:lstStyle/>
                    <a:p>
                      <a:pPr marR="865505" algn="r">
                        <a:lnSpc>
                          <a:spcPct val="100000"/>
                        </a:lnSpc>
                        <a:spcBef>
                          <a:spcPts val="170"/>
                        </a:spcBef>
                      </a:pPr>
                      <a:r>
                        <a:rPr sz="1050" b="0" spc="-20" dirty="0">
                          <a:solidFill>
                            <a:srgbClr val="231F20"/>
                          </a:solidFill>
                          <a:latin typeface="Aktiv Grotesk Light"/>
                          <a:cs typeface="Aktiv Grotesk Light"/>
                        </a:rPr>
                        <a:t>0.40</a:t>
                      </a:r>
                      <a:endParaRPr sz="1050">
                        <a:latin typeface="Aktiv Grotesk Light"/>
                        <a:cs typeface="Aktiv Grotesk Light"/>
                      </a:endParaRPr>
                    </a:p>
                  </a:txBody>
                  <a:tcPr marL="0" marR="0" marT="21590" marB="0"/>
                </a:tc>
                <a:tc>
                  <a:txBody>
                    <a:bodyPr/>
                    <a:lstStyle/>
                    <a:p>
                      <a:pPr marR="673100" algn="r">
                        <a:lnSpc>
                          <a:spcPct val="100000"/>
                        </a:lnSpc>
                        <a:spcBef>
                          <a:spcPts val="170"/>
                        </a:spcBef>
                      </a:pPr>
                      <a:r>
                        <a:rPr sz="1050" b="0" spc="-25" dirty="0">
                          <a:solidFill>
                            <a:srgbClr val="231F20"/>
                          </a:solidFill>
                          <a:latin typeface="Aktiv Grotesk Light"/>
                          <a:cs typeface="Aktiv Grotesk Light"/>
                        </a:rPr>
                        <a:t>251</a:t>
                      </a:r>
                      <a:endParaRPr sz="1050">
                        <a:latin typeface="Aktiv Grotesk Light"/>
                        <a:cs typeface="Aktiv Grotesk Light"/>
                      </a:endParaRPr>
                    </a:p>
                  </a:txBody>
                  <a:tcPr marL="0" marR="0" marT="21590" marB="0"/>
                </a:tc>
                <a:extLst>
                  <a:ext uri="{0D108BD9-81ED-4DB2-BD59-A6C34878D82A}">
                    <a16:rowId xmlns:a16="http://schemas.microsoft.com/office/drawing/2014/main" val="10013"/>
                  </a:ext>
                </a:extLst>
              </a:tr>
              <a:tr h="214629">
                <a:tc>
                  <a:txBody>
                    <a:bodyPr/>
                    <a:lstStyle/>
                    <a:p>
                      <a:pPr marL="199390">
                        <a:lnSpc>
                          <a:spcPct val="100000"/>
                        </a:lnSpc>
                        <a:spcBef>
                          <a:spcPts val="170"/>
                        </a:spcBef>
                      </a:pPr>
                      <a:r>
                        <a:rPr sz="1050" b="0" dirty="0">
                          <a:solidFill>
                            <a:srgbClr val="231F20"/>
                          </a:solidFill>
                          <a:latin typeface="Aktiv Grotesk Light"/>
                          <a:cs typeface="Aktiv Grotesk Light"/>
                        </a:rPr>
                        <a:t>Velvet</a:t>
                      </a:r>
                      <a:r>
                        <a:rPr sz="1050" b="0" spc="15" dirty="0">
                          <a:solidFill>
                            <a:srgbClr val="231F20"/>
                          </a:solidFill>
                          <a:latin typeface="Aktiv Grotesk Light"/>
                          <a:cs typeface="Aktiv Grotesk Light"/>
                        </a:rPr>
                        <a:t> </a:t>
                      </a:r>
                      <a:r>
                        <a:rPr sz="1050" b="0" spc="-10" dirty="0">
                          <a:solidFill>
                            <a:srgbClr val="231F20"/>
                          </a:solidFill>
                          <a:latin typeface="Aktiv Grotesk Light"/>
                          <a:cs typeface="Aktiv Grotesk Light"/>
                        </a:rPr>
                        <a:t>worms</a:t>
                      </a:r>
                      <a:endParaRPr sz="1050">
                        <a:latin typeface="Aktiv Grotesk Light"/>
                        <a:cs typeface="Aktiv Grotesk Light"/>
                      </a:endParaRPr>
                    </a:p>
                  </a:txBody>
                  <a:tcPr marL="0" marR="0" marT="21590" marB="0"/>
                </a:tc>
                <a:tc>
                  <a:txBody>
                    <a:bodyPr/>
                    <a:lstStyle/>
                    <a:p>
                      <a:pPr marR="466090" algn="r">
                        <a:lnSpc>
                          <a:spcPct val="100000"/>
                        </a:lnSpc>
                        <a:spcBef>
                          <a:spcPts val="170"/>
                        </a:spcBef>
                      </a:pPr>
                      <a:r>
                        <a:rPr sz="1050" b="0" spc="-25" dirty="0">
                          <a:solidFill>
                            <a:srgbClr val="231F20"/>
                          </a:solidFill>
                          <a:latin typeface="Aktiv Grotesk Light"/>
                          <a:cs typeface="Aktiv Grotesk Light"/>
                        </a:rPr>
                        <a:t>210</a:t>
                      </a:r>
                      <a:endParaRPr sz="1050">
                        <a:latin typeface="Aktiv Grotesk Light"/>
                        <a:cs typeface="Aktiv Grotesk Light"/>
                      </a:endParaRPr>
                    </a:p>
                  </a:txBody>
                  <a:tcPr marL="0" marR="0" marT="21590" marB="0"/>
                </a:tc>
                <a:tc>
                  <a:txBody>
                    <a:bodyPr/>
                    <a:lstStyle/>
                    <a:p>
                      <a:pPr marR="488950" algn="r">
                        <a:lnSpc>
                          <a:spcPct val="100000"/>
                        </a:lnSpc>
                        <a:spcBef>
                          <a:spcPts val="170"/>
                        </a:spcBef>
                      </a:pPr>
                      <a:r>
                        <a:rPr sz="1050" b="0" spc="-25" dirty="0">
                          <a:solidFill>
                            <a:srgbClr val="231F20"/>
                          </a:solidFill>
                          <a:latin typeface="Aktiv Grotesk Light"/>
                          <a:cs typeface="Aktiv Grotesk Light"/>
                        </a:rPr>
                        <a:t>11</a:t>
                      </a:r>
                      <a:endParaRPr sz="1050">
                        <a:latin typeface="Aktiv Grotesk Light"/>
                        <a:cs typeface="Aktiv Grotesk Light"/>
                      </a:endParaRPr>
                    </a:p>
                  </a:txBody>
                  <a:tcPr marL="0" marR="0" marT="21590" marB="0"/>
                </a:tc>
                <a:tc>
                  <a:txBody>
                    <a:bodyPr/>
                    <a:lstStyle/>
                    <a:p>
                      <a:pPr marR="858519" algn="r">
                        <a:lnSpc>
                          <a:spcPct val="100000"/>
                        </a:lnSpc>
                        <a:spcBef>
                          <a:spcPts val="170"/>
                        </a:spcBef>
                      </a:pPr>
                      <a:r>
                        <a:rPr sz="1050" b="0" spc="-50" dirty="0">
                          <a:solidFill>
                            <a:srgbClr val="231F20"/>
                          </a:solidFill>
                          <a:latin typeface="Aktiv Grotesk Light"/>
                          <a:cs typeface="Aktiv Grotesk Light"/>
                        </a:rPr>
                        <a:t>5</a:t>
                      </a:r>
                      <a:endParaRPr sz="1050">
                        <a:latin typeface="Aktiv Grotesk Light"/>
                        <a:cs typeface="Aktiv Grotesk Light"/>
                      </a:endParaRPr>
                    </a:p>
                  </a:txBody>
                  <a:tcPr marL="0" marR="0" marT="21590" marB="0"/>
                </a:tc>
                <a:tc>
                  <a:txBody>
                    <a:bodyPr/>
                    <a:lstStyle/>
                    <a:p>
                      <a:pPr marR="673100" algn="r">
                        <a:lnSpc>
                          <a:spcPct val="100000"/>
                        </a:lnSpc>
                        <a:spcBef>
                          <a:spcPts val="170"/>
                        </a:spcBef>
                      </a:pPr>
                      <a:r>
                        <a:rPr sz="1050" b="0" spc="-50" dirty="0">
                          <a:solidFill>
                            <a:srgbClr val="231F20"/>
                          </a:solidFill>
                          <a:latin typeface="Aktiv Grotesk Light"/>
                          <a:cs typeface="Aktiv Grotesk Light"/>
                        </a:rPr>
                        <a:t>9</a:t>
                      </a:r>
                      <a:endParaRPr sz="1050">
                        <a:latin typeface="Aktiv Grotesk Light"/>
                        <a:cs typeface="Aktiv Grotesk Light"/>
                      </a:endParaRPr>
                    </a:p>
                  </a:txBody>
                  <a:tcPr marL="0" marR="0" marT="21590" marB="0"/>
                </a:tc>
                <a:extLst>
                  <a:ext uri="{0D108BD9-81ED-4DB2-BD59-A6C34878D82A}">
                    <a16:rowId xmlns:a16="http://schemas.microsoft.com/office/drawing/2014/main" val="10014"/>
                  </a:ext>
                </a:extLst>
              </a:tr>
              <a:tr h="214629">
                <a:tc>
                  <a:txBody>
                    <a:bodyPr/>
                    <a:lstStyle/>
                    <a:p>
                      <a:pPr marL="199390">
                        <a:lnSpc>
                          <a:spcPct val="100000"/>
                        </a:lnSpc>
                        <a:spcBef>
                          <a:spcPts val="170"/>
                        </a:spcBef>
                      </a:pPr>
                      <a:r>
                        <a:rPr sz="1050" b="0" dirty="0">
                          <a:solidFill>
                            <a:srgbClr val="231F20"/>
                          </a:solidFill>
                          <a:latin typeface="Aktiv Grotesk Light"/>
                          <a:cs typeface="Aktiv Grotesk Light"/>
                        </a:rPr>
                        <a:t>Horseshoe</a:t>
                      </a:r>
                      <a:r>
                        <a:rPr sz="1050" b="0" spc="215" dirty="0">
                          <a:solidFill>
                            <a:srgbClr val="231F20"/>
                          </a:solidFill>
                          <a:latin typeface="Aktiv Grotesk Light"/>
                          <a:cs typeface="Aktiv Grotesk Light"/>
                        </a:rPr>
                        <a:t> </a:t>
                      </a:r>
                      <a:r>
                        <a:rPr sz="1050" b="0" spc="-10" dirty="0">
                          <a:solidFill>
                            <a:srgbClr val="231F20"/>
                          </a:solidFill>
                          <a:latin typeface="Aktiv Grotesk Light"/>
                          <a:cs typeface="Aktiv Grotesk Light"/>
                        </a:rPr>
                        <a:t>crabs</a:t>
                      </a:r>
                      <a:endParaRPr sz="1050">
                        <a:latin typeface="Aktiv Grotesk Light"/>
                        <a:cs typeface="Aktiv Grotesk Light"/>
                      </a:endParaRPr>
                    </a:p>
                  </a:txBody>
                  <a:tcPr marL="0" marR="0" marT="21590" marB="0"/>
                </a:tc>
                <a:tc>
                  <a:txBody>
                    <a:bodyPr/>
                    <a:lstStyle/>
                    <a:p>
                      <a:pPr marR="466090" algn="r">
                        <a:lnSpc>
                          <a:spcPct val="100000"/>
                        </a:lnSpc>
                        <a:spcBef>
                          <a:spcPts val="170"/>
                        </a:spcBef>
                      </a:pPr>
                      <a:r>
                        <a:rPr sz="1050" b="0" spc="-50" dirty="0">
                          <a:solidFill>
                            <a:srgbClr val="231F20"/>
                          </a:solidFill>
                          <a:latin typeface="Aktiv Grotesk Light"/>
                          <a:cs typeface="Aktiv Grotesk Light"/>
                        </a:rPr>
                        <a:t>4</a:t>
                      </a:r>
                      <a:endParaRPr sz="1050">
                        <a:latin typeface="Aktiv Grotesk Light"/>
                        <a:cs typeface="Aktiv Grotesk Light"/>
                      </a:endParaRPr>
                    </a:p>
                  </a:txBody>
                  <a:tcPr marL="0" marR="0" marT="21590" marB="0"/>
                </a:tc>
                <a:tc>
                  <a:txBody>
                    <a:bodyPr/>
                    <a:lstStyle/>
                    <a:p>
                      <a:pPr marR="488950" algn="r">
                        <a:lnSpc>
                          <a:spcPct val="100000"/>
                        </a:lnSpc>
                        <a:spcBef>
                          <a:spcPts val="170"/>
                        </a:spcBef>
                      </a:pPr>
                      <a:r>
                        <a:rPr sz="1050" b="0" spc="-50" dirty="0">
                          <a:solidFill>
                            <a:srgbClr val="231F20"/>
                          </a:solidFill>
                          <a:latin typeface="Aktiv Grotesk Light"/>
                          <a:cs typeface="Aktiv Grotesk Light"/>
                        </a:rPr>
                        <a:t>4</a:t>
                      </a:r>
                      <a:endParaRPr sz="1050">
                        <a:latin typeface="Aktiv Grotesk Light"/>
                        <a:cs typeface="Aktiv Grotesk Light"/>
                      </a:endParaRPr>
                    </a:p>
                  </a:txBody>
                  <a:tcPr marL="0" marR="0" marT="21590" marB="0"/>
                </a:tc>
                <a:tc>
                  <a:txBody>
                    <a:bodyPr/>
                    <a:lstStyle/>
                    <a:p>
                      <a:pPr marR="858519" algn="r">
                        <a:lnSpc>
                          <a:spcPct val="100000"/>
                        </a:lnSpc>
                        <a:spcBef>
                          <a:spcPts val="170"/>
                        </a:spcBef>
                      </a:pPr>
                      <a:r>
                        <a:rPr sz="1050" b="0" spc="-25" dirty="0">
                          <a:solidFill>
                            <a:srgbClr val="231F20"/>
                          </a:solidFill>
                          <a:latin typeface="Aktiv Grotesk Light"/>
                          <a:cs typeface="Aktiv Grotesk Light"/>
                        </a:rPr>
                        <a:t>100</a:t>
                      </a:r>
                      <a:endParaRPr sz="1050">
                        <a:latin typeface="Aktiv Grotesk Light"/>
                        <a:cs typeface="Aktiv Grotesk Light"/>
                      </a:endParaRPr>
                    </a:p>
                  </a:txBody>
                  <a:tcPr marL="0" marR="0" marT="21590" marB="0"/>
                </a:tc>
                <a:tc>
                  <a:txBody>
                    <a:bodyPr/>
                    <a:lstStyle/>
                    <a:p>
                      <a:pPr marR="673100" algn="r">
                        <a:lnSpc>
                          <a:spcPct val="100000"/>
                        </a:lnSpc>
                        <a:spcBef>
                          <a:spcPts val="170"/>
                        </a:spcBef>
                      </a:pPr>
                      <a:r>
                        <a:rPr sz="1050" b="0" spc="-50" dirty="0">
                          <a:solidFill>
                            <a:srgbClr val="231F20"/>
                          </a:solidFill>
                          <a:latin typeface="Aktiv Grotesk Light"/>
                          <a:cs typeface="Aktiv Grotesk Light"/>
                        </a:rPr>
                        <a:t>2</a:t>
                      </a:r>
                      <a:endParaRPr sz="1050">
                        <a:latin typeface="Aktiv Grotesk Light"/>
                        <a:cs typeface="Aktiv Grotesk Light"/>
                      </a:endParaRPr>
                    </a:p>
                  </a:txBody>
                  <a:tcPr marL="0" marR="0" marT="21590" marB="0"/>
                </a:tc>
                <a:extLst>
                  <a:ext uri="{0D108BD9-81ED-4DB2-BD59-A6C34878D82A}">
                    <a16:rowId xmlns:a16="http://schemas.microsoft.com/office/drawing/2014/main" val="10015"/>
                  </a:ext>
                </a:extLst>
              </a:tr>
              <a:tr h="214629">
                <a:tc>
                  <a:txBody>
                    <a:bodyPr/>
                    <a:lstStyle/>
                    <a:p>
                      <a:pPr marL="199390">
                        <a:lnSpc>
                          <a:spcPct val="100000"/>
                        </a:lnSpc>
                        <a:spcBef>
                          <a:spcPts val="170"/>
                        </a:spcBef>
                      </a:pPr>
                      <a:r>
                        <a:rPr sz="1050" b="0" spc="-10" dirty="0">
                          <a:solidFill>
                            <a:srgbClr val="231F20"/>
                          </a:solidFill>
                          <a:latin typeface="Aktiv Grotesk Light"/>
                          <a:cs typeface="Aktiv Grotesk Light"/>
                        </a:rPr>
                        <a:t>Others</a:t>
                      </a:r>
                      <a:endParaRPr sz="1050">
                        <a:latin typeface="Aktiv Grotesk Light"/>
                        <a:cs typeface="Aktiv Grotesk Light"/>
                      </a:endParaRPr>
                    </a:p>
                  </a:txBody>
                  <a:tcPr marL="0" marR="0" marT="21590" marB="0">
                    <a:lnB w="9525">
                      <a:solidFill>
                        <a:srgbClr val="C2DCDF"/>
                      </a:solidFill>
                      <a:prstDash val="solid"/>
                    </a:lnB>
                  </a:tcPr>
                </a:tc>
                <a:tc>
                  <a:txBody>
                    <a:bodyPr/>
                    <a:lstStyle/>
                    <a:p>
                      <a:pPr marR="466090" algn="r">
                        <a:lnSpc>
                          <a:spcPct val="100000"/>
                        </a:lnSpc>
                        <a:spcBef>
                          <a:spcPts val="170"/>
                        </a:spcBef>
                      </a:pPr>
                      <a:r>
                        <a:rPr sz="1050" b="0" spc="-10" dirty="0">
                          <a:solidFill>
                            <a:srgbClr val="231F20"/>
                          </a:solidFill>
                          <a:latin typeface="Aktiv Grotesk Light"/>
                          <a:cs typeface="Aktiv Grotesk Light"/>
                        </a:rPr>
                        <a:t>157,543</a:t>
                      </a:r>
                      <a:endParaRPr sz="1050">
                        <a:latin typeface="Aktiv Grotesk Light"/>
                        <a:cs typeface="Aktiv Grotesk Light"/>
                      </a:endParaRPr>
                    </a:p>
                  </a:txBody>
                  <a:tcPr marL="0" marR="0" marT="21590" marB="0">
                    <a:lnB w="9525">
                      <a:solidFill>
                        <a:srgbClr val="C2DCDF"/>
                      </a:solidFill>
                      <a:prstDash val="solid"/>
                    </a:lnB>
                  </a:tcPr>
                </a:tc>
                <a:tc>
                  <a:txBody>
                    <a:bodyPr/>
                    <a:lstStyle/>
                    <a:p>
                      <a:pPr marR="488950" algn="r">
                        <a:lnSpc>
                          <a:spcPct val="100000"/>
                        </a:lnSpc>
                        <a:spcBef>
                          <a:spcPts val="170"/>
                        </a:spcBef>
                      </a:pPr>
                      <a:r>
                        <a:rPr sz="1050" b="0" spc="-25" dirty="0">
                          <a:solidFill>
                            <a:srgbClr val="231F20"/>
                          </a:solidFill>
                          <a:latin typeface="Aktiv Grotesk Light"/>
                          <a:cs typeface="Aktiv Grotesk Light"/>
                        </a:rPr>
                        <a:t>905</a:t>
                      </a:r>
                      <a:endParaRPr sz="1050">
                        <a:latin typeface="Aktiv Grotesk Light"/>
                        <a:cs typeface="Aktiv Grotesk Light"/>
                      </a:endParaRPr>
                    </a:p>
                  </a:txBody>
                  <a:tcPr marL="0" marR="0" marT="21590" marB="0">
                    <a:lnB w="9525">
                      <a:solidFill>
                        <a:srgbClr val="C2DCDF"/>
                      </a:solidFill>
                      <a:prstDash val="solid"/>
                    </a:lnB>
                  </a:tcPr>
                </a:tc>
                <a:tc>
                  <a:txBody>
                    <a:bodyPr/>
                    <a:lstStyle/>
                    <a:p>
                      <a:pPr marR="865505" algn="r">
                        <a:lnSpc>
                          <a:spcPct val="100000"/>
                        </a:lnSpc>
                        <a:spcBef>
                          <a:spcPts val="170"/>
                        </a:spcBef>
                      </a:pPr>
                      <a:r>
                        <a:rPr sz="1050" b="0" spc="-20" dirty="0">
                          <a:solidFill>
                            <a:srgbClr val="231F20"/>
                          </a:solidFill>
                          <a:latin typeface="Aktiv Grotesk Light"/>
                          <a:cs typeface="Aktiv Grotesk Light"/>
                        </a:rPr>
                        <a:t>0.57</a:t>
                      </a:r>
                      <a:endParaRPr sz="1050">
                        <a:latin typeface="Aktiv Grotesk Light"/>
                        <a:cs typeface="Aktiv Grotesk Light"/>
                      </a:endParaRPr>
                    </a:p>
                  </a:txBody>
                  <a:tcPr marL="0" marR="0" marT="21590" marB="0">
                    <a:lnB w="9525">
                      <a:solidFill>
                        <a:srgbClr val="C2DCDF"/>
                      </a:solidFill>
                      <a:prstDash val="solid"/>
                    </a:lnB>
                  </a:tcPr>
                </a:tc>
                <a:tc>
                  <a:txBody>
                    <a:bodyPr/>
                    <a:lstStyle/>
                    <a:p>
                      <a:pPr marR="673100" algn="r">
                        <a:lnSpc>
                          <a:spcPct val="100000"/>
                        </a:lnSpc>
                        <a:spcBef>
                          <a:spcPts val="170"/>
                        </a:spcBef>
                      </a:pPr>
                      <a:r>
                        <a:rPr sz="1050" b="0" spc="-25" dirty="0">
                          <a:solidFill>
                            <a:srgbClr val="231F20"/>
                          </a:solidFill>
                          <a:latin typeface="Aktiv Grotesk Light"/>
                          <a:cs typeface="Aktiv Grotesk Light"/>
                        </a:rPr>
                        <a:t>157</a:t>
                      </a:r>
                      <a:endParaRPr sz="1050">
                        <a:latin typeface="Aktiv Grotesk Light"/>
                        <a:cs typeface="Aktiv Grotesk Light"/>
                      </a:endParaRPr>
                    </a:p>
                  </a:txBody>
                  <a:tcPr marL="0" marR="0" marT="21590" marB="0">
                    <a:lnB w="9525">
                      <a:solidFill>
                        <a:srgbClr val="C2DCDF"/>
                      </a:solidFill>
                      <a:prstDash val="solid"/>
                    </a:lnB>
                  </a:tcPr>
                </a:tc>
                <a:extLst>
                  <a:ext uri="{0D108BD9-81ED-4DB2-BD59-A6C34878D82A}">
                    <a16:rowId xmlns:a16="http://schemas.microsoft.com/office/drawing/2014/main" val="10016"/>
                  </a:ext>
                </a:extLst>
              </a:tr>
              <a:tr h="214629">
                <a:tc>
                  <a:txBody>
                    <a:bodyPr/>
                    <a:lstStyle/>
                    <a:p>
                      <a:pPr marL="199390">
                        <a:lnSpc>
                          <a:spcPct val="100000"/>
                        </a:lnSpc>
                        <a:spcBef>
                          <a:spcPts val="170"/>
                        </a:spcBef>
                      </a:pPr>
                      <a:r>
                        <a:rPr sz="1050" b="0" spc="-10" dirty="0">
                          <a:solidFill>
                            <a:srgbClr val="231F20"/>
                          </a:solidFill>
                          <a:latin typeface="Aktiv Grotesk Medium"/>
                          <a:cs typeface="Aktiv Grotesk Medium"/>
                        </a:rPr>
                        <a:t>Subtotal</a:t>
                      </a:r>
                      <a:endParaRPr sz="1050">
                        <a:latin typeface="Aktiv Grotesk Medium"/>
                        <a:cs typeface="Aktiv Grotesk Medium"/>
                      </a:endParaRPr>
                    </a:p>
                  </a:txBody>
                  <a:tcPr marL="0" marR="0" marT="21590" marB="0">
                    <a:lnT w="9525">
                      <a:solidFill>
                        <a:srgbClr val="C2DCDF"/>
                      </a:solidFill>
                      <a:prstDash val="solid"/>
                    </a:lnT>
                    <a:lnB w="9525">
                      <a:solidFill>
                        <a:srgbClr val="C2DCDF"/>
                      </a:solidFill>
                      <a:prstDash val="solid"/>
                    </a:lnB>
                  </a:tcPr>
                </a:tc>
                <a:tc>
                  <a:txBody>
                    <a:bodyPr/>
                    <a:lstStyle/>
                    <a:p>
                      <a:pPr marR="466090" algn="r">
                        <a:lnSpc>
                          <a:spcPct val="100000"/>
                        </a:lnSpc>
                        <a:spcBef>
                          <a:spcPts val="170"/>
                        </a:spcBef>
                      </a:pPr>
                      <a:r>
                        <a:rPr sz="1050" b="0" spc="-10" dirty="0">
                          <a:solidFill>
                            <a:srgbClr val="231F20"/>
                          </a:solidFill>
                          <a:latin typeface="Aktiv Grotesk Light"/>
                          <a:cs typeface="Aktiv Grotesk Light"/>
                        </a:rPr>
                        <a:t>1,521,459</a:t>
                      </a:r>
                      <a:endParaRPr sz="1050">
                        <a:latin typeface="Aktiv Grotesk Light"/>
                        <a:cs typeface="Aktiv Grotesk Light"/>
                      </a:endParaRPr>
                    </a:p>
                  </a:txBody>
                  <a:tcPr marL="0" marR="0" marT="21590" marB="0">
                    <a:lnT w="9525">
                      <a:solidFill>
                        <a:srgbClr val="C2DCDF"/>
                      </a:solidFill>
                      <a:prstDash val="solid"/>
                    </a:lnT>
                    <a:lnB w="9525">
                      <a:solidFill>
                        <a:srgbClr val="C2DCDF"/>
                      </a:solidFill>
                      <a:prstDash val="solid"/>
                    </a:lnB>
                  </a:tcPr>
                </a:tc>
                <a:tc>
                  <a:txBody>
                    <a:bodyPr/>
                    <a:lstStyle/>
                    <a:p>
                      <a:pPr marR="488950" algn="r">
                        <a:lnSpc>
                          <a:spcPct val="100000"/>
                        </a:lnSpc>
                        <a:spcBef>
                          <a:spcPts val="170"/>
                        </a:spcBef>
                      </a:pPr>
                      <a:r>
                        <a:rPr sz="1050" b="0" spc="-10" dirty="0">
                          <a:solidFill>
                            <a:srgbClr val="231F20"/>
                          </a:solidFill>
                          <a:latin typeface="Aktiv Grotesk Light"/>
                          <a:cs typeface="Aktiv Grotesk Light"/>
                        </a:rPr>
                        <a:t>26,862</a:t>
                      </a:r>
                      <a:endParaRPr sz="1050">
                        <a:latin typeface="Aktiv Grotesk Light"/>
                        <a:cs typeface="Aktiv Grotesk Light"/>
                      </a:endParaRPr>
                    </a:p>
                  </a:txBody>
                  <a:tcPr marL="0" marR="0" marT="21590" marB="0">
                    <a:lnT w="9525">
                      <a:solidFill>
                        <a:srgbClr val="C2DCDF"/>
                      </a:solidFill>
                      <a:prstDash val="solid"/>
                    </a:lnT>
                    <a:lnB w="9525">
                      <a:solidFill>
                        <a:srgbClr val="C2DCDF"/>
                      </a:solidFill>
                      <a:prstDash val="solid"/>
                    </a:lnB>
                  </a:tcPr>
                </a:tc>
                <a:tc>
                  <a:txBody>
                    <a:bodyPr/>
                    <a:lstStyle/>
                    <a:p>
                      <a:pPr marR="858519" algn="r">
                        <a:lnSpc>
                          <a:spcPct val="100000"/>
                        </a:lnSpc>
                        <a:spcBef>
                          <a:spcPts val="170"/>
                        </a:spcBef>
                      </a:pPr>
                      <a:r>
                        <a:rPr sz="1050" b="0" spc="-50" dirty="0">
                          <a:solidFill>
                            <a:srgbClr val="231F20"/>
                          </a:solidFill>
                          <a:latin typeface="Aktiv Grotesk Light"/>
                          <a:cs typeface="Aktiv Grotesk Light"/>
                        </a:rPr>
                        <a:t>2</a:t>
                      </a:r>
                      <a:endParaRPr sz="1050">
                        <a:latin typeface="Aktiv Grotesk Light"/>
                        <a:cs typeface="Aktiv Grotesk Light"/>
                      </a:endParaRPr>
                    </a:p>
                  </a:txBody>
                  <a:tcPr marL="0" marR="0" marT="21590" marB="0">
                    <a:lnT w="9525">
                      <a:solidFill>
                        <a:srgbClr val="C2DCDF"/>
                      </a:solidFill>
                      <a:prstDash val="solid"/>
                    </a:lnT>
                    <a:lnB w="9525">
                      <a:solidFill>
                        <a:srgbClr val="C2DCDF"/>
                      </a:solidFill>
                      <a:prstDash val="solid"/>
                    </a:lnB>
                  </a:tcPr>
                </a:tc>
                <a:tc>
                  <a:txBody>
                    <a:bodyPr/>
                    <a:lstStyle/>
                    <a:p>
                      <a:pPr marR="673100" algn="r">
                        <a:lnSpc>
                          <a:spcPct val="100000"/>
                        </a:lnSpc>
                        <a:spcBef>
                          <a:spcPts val="170"/>
                        </a:spcBef>
                      </a:pPr>
                      <a:r>
                        <a:rPr sz="1050" b="0" spc="-10" dirty="0">
                          <a:solidFill>
                            <a:srgbClr val="231F20"/>
                          </a:solidFill>
                          <a:latin typeface="Aktiv Grotesk Light"/>
                          <a:cs typeface="Aktiv Grotesk Light"/>
                        </a:rPr>
                        <a:t>6,161</a:t>
                      </a:r>
                      <a:endParaRPr sz="1050" dirty="0">
                        <a:latin typeface="Aktiv Grotesk Light"/>
                        <a:cs typeface="Aktiv Grotesk Light"/>
                      </a:endParaRPr>
                    </a:p>
                  </a:txBody>
                  <a:tcPr marL="0" marR="0" marT="21590" marB="0">
                    <a:lnT w="9525">
                      <a:solidFill>
                        <a:srgbClr val="C2DCDF"/>
                      </a:solidFill>
                      <a:prstDash val="solid"/>
                    </a:lnT>
                    <a:lnB w="9525">
                      <a:solidFill>
                        <a:srgbClr val="C2DCDF"/>
                      </a:solidFill>
                      <a:prstDash val="solid"/>
                    </a:lnB>
                  </a:tcPr>
                </a:tc>
                <a:extLst>
                  <a:ext uri="{0D108BD9-81ED-4DB2-BD59-A6C34878D82A}">
                    <a16:rowId xmlns:a16="http://schemas.microsoft.com/office/drawing/2014/main" val="10017"/>
                  </a:ext>
                </a:extLst>
              </a:tr>
            </a:tbl>
          </a:graphicData>
        </a:graphic>
      </p:graphicFrame>
      <p:sp>
        <p:nvSpPr>
          <p:cNvPr id="3" name="Title 2"/>
          <p:cNvSpPr>
            <a:spLocks noGrp="1"/>
          </p:cNvSpPr>
          <p:nvPr>
            <p:ph type="title"/>
          </p:nvPr>
        </p:nvSpPr>
        <p:spPr>
          <a:xfrm>
            <a:off x="0" y="0"/>
            <a:ext cx="12192000" cy="369332"/>
          </a:xfrm>
        </p:spPr>
        <p:txBody>
          <a:bodyPr/>
          <a:lstStyle/>
          <a:p>
            <a:r>
              <a:rPr lang="en-US" b="1" dirty="0"/>
              <a:t>TABLE 8.1 </a:t>
            </a:r>
            <a:r>
              <a:rPr lang="en-US" dirty="0"/>
              <a:t>Numbers of threatened species by major groups of organisms (1996–2022)</a:t>
            </a:r>
            <a:endParaRPr lang="en-IN" dirty="0"/>
          </a:p>
        </p:txBody>
      </p:sp>
    </p:spTree>
    <p:extLst>
      <p:ext uri="{BB962C8B-B14F-4D97-AF65-F5344CB8AC3E}">
        <p14:creationId xmlns:p14="http://schemas.microsoft.com/office/powerpoint/2010/main" val="274446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title="TABLE 8.1 Numbers of threatened species by major groups of organisms (1996–2022)"/>
          <p:cNvGraphicFramePr>
            <a:graphicFrameLocks noGrp="1"/>
          </p:cNvGraphicFramePr>
          <p:nvPr>
            <p:extLst>
              <p:ext uri="{D42A27DB-BD31-4B8C-83A1-F6EECF244321}">
                <p14:modId xmlns:p14="http://schemas.microsoft.com/office/powerpoint/2010/main" val="2583220351"/>
              </p:ext>
            </p:extLst>
          </p:nvPr>
        </p:nvGraphicFramePr>
        <p:xfrm>
          <a:off x="1841499" y="1362443"/>
          <a:ext cx="8449943" cy="3656957"/>
        </p:xfrm>
        <a:graphic>
          <a:graphicData uri="http://schemas.openxmlformats.org/drawingml/2006/table">
            <a:tbl>
              <a:tblPr firstRow="1" bandRow="1">
                <a:tableStyleId>{2D5ABB26-0587-4C30-8999-92F81FD0307C}</a:tableStyleId>
              </a:tblPr>
              <a:tblGrid>
                <a:gridCol w="1689735">
                  <a:extLst>
                    <a:ext uri="{9D8B030D-6E8A-4147-A177-3AD203B41FA5}">
                      <a16:colId xmlns:a16="http://schemas.microsoft.com/office/drawing/2014/main" val="20000"/>
                    </a:ext>
                  </a:extLst>
                </a:gridCol>
                <a:gridCol w="1590039">
                  <a:extLst>
                    <a:ext uri="{9D8B030D-6E8A-4147-A177-3AD203B41FA5}">
                      <a16:colId xmlns:a16="http://schemas.microsoft.com/office/drawing/2014/main" val="20001"/>
                    </a:ext>
                  </a:extLst>
                </a:gridCol>
                <a:gridCol w="1449704">
                  <a:extLst>
                    <a:ext uri="{9D8B030D-6E8A-4147-A177-3AD203B41FA5}">
                      <a16:colId xmlns:a16="http://schemas.microsoft.com/office/drawing/2014/main" val="20002"/>
                    </a:ext>
                  </a:extLst>
                </a:gridCol>
                <a:gridCol w="1830070">
                  <a:extLst>
                    <a:ext uri="{9D8B030D-6E8A-4147-A177-3AD203B41FA5}">
                      <a16:colId xmlns:a16="http://schemas.microsoft.com/office/drawing/2014/main" val="20003"/>
                    </a:ext>
                  </a:extLst>
                </a:gridCol>
                <a:gridCol w="1890395">
                  <a:extLst>
                    <a:ext uri="{9D8B030D-6E8A-4147-A177-3AD203B41FA5}">
                      <a16:colId xmlns:a16="http://schemas.microsoft.com/office/drawing/2014/main" val="20004"/>
                    </a:ext>
                  </a:extLst>
                </a:gridCol>
              </a:tblGrid>
              <a:tr h="587375">
                <a:tc>
                  <a:txBody>
                    <a:bodyPr/>
                    <a:lstStyle/>
                    <a:p>
                      <a:pPr>
                        <a:lnSpc>
                          <a:spcPct val="100000"/>
                        </a:lnSpc>
                      </a:pPr>
                      <a:endParaRPr sz="1100">
                        <a:latin typeface="Times New Roman"/>
                        <a:cs typeface="Times New Roman"/>
                      </a:endParaRPr>
                    </a:p>
                  </a:txBody>
                  <a:tcPr marL="0" marR="0" marT="0" marB="0">
                    <a:lnB w="19050">
                      <a:solidFill>
                        <a:srgbClr val="C2DCDF"/>
                      </a:solidFill>
                      <a:prstDash val="solid"/>
                    </a:lnB>
                  </a:tcPr>
                </a:tc>
                <a:tc>
                  <a:txBody>
                    <a:bodyPr/>
                    <a:lstStyle/>
                    <a:p>
                      <a:pPr>
                        <a:lnSpc>
                          <a:spcPct val="100000"/>
                        </a:lnSpc>
                        <a:spcBef>
                          <a:spcPts val="60"/>
                        </a:spcBef>
                      </a:pPr>
                      <a:endParaRPr sz="1100">
                        <a:latin typeface="Times New Roman"/>
                        <a:cs typeface="Times New Roman"/>
                      </a:endParaRPr>
                    </a:p>
                    <a:p>
                      <a:pPr marL="105410" marR="99695">
                        <a:lnSpc>
                          <a:spcPct val="103800"/>
                        </a:lnSpc>
                      </a:pPr>
                      <a:r>
                        <a:rPr sz="1100" b="0" dirty="0">
                          <a:solidFill>
                            <a:srgbClr val="231F20"/>
                          </a:solidFill>
                          <a:latin typeface="Aktiv Grotesk Medium"/>
                          <a:cs typeface="Aktiv Grotesk Medium"/>
                        </a:rPr>
                        <a:t>Estimated</a:t>
                      </a:r>
                      <a:r>
                        <a:rPr sz="1100" b="0" spc="65" dirty="0">
                          <a:solidFill>
                            <a:srgbClr val="231F20"/>
                          </a:solidFill>
                          <a:latin typeface="Aktiv Grotesk Medium"/>
                          <a:cs typeface="Aktiv Grotesk Medium"/>
                        </a:rPr>
                        <a:t> </a:t>
                      </a:r>
                      <a:r>
                        <a:rPr sz="1100" b="0" dirty="0">
                          <a:solidFill>
                            <a:srgbClr val="231F20"/>
                          </a:solidFill>
                          <a:latin typeface="Aktiv Grotesk Medium"/>
                          <a:cs typeface="Aktiv Grotesk Medium"/>
                        </a:rPr>
                        <a:t>number</a:t>
                      </a:r>
                      <a:r>
                        <a:rPr sz="1100" b="0" spc="70" dirty="0">
                          <a:solidFill>
                            <a:srgbClr val="231F20"/>
                          </a:solidFill>
                          <a:latin typeface="Aktiv Grotesk Medium"/>
                          <a:cs typeface="Aktiv Grotesk Medium"/>
                        </a:rPr>
                        <a:t> </a:t>
                      </a:r>
                      <a:r>
                        <a:rPr sz="1100" b="0" spc="-25" dirty="0">
                          <a:solidFill>
                            <a:srgbClr val="231F20"/>
                          </a:solidFill>
                          <a:latin typeface="Aktiv Grotesk Medium"/>
                          <a:cs typeface="Aktiv Grotesk Medium"/>
                        </a:rPr>
                        <a:t>of </a:t>
                      </a:r>
                      <a:r>
                        <a:rPr sz="1100" b="0" dirty="0">
                          <a:solidFill>
                            <a:srgbClr val="231F20"/>
                          </a:solidFill>
                          <a:latin typeface="Aktiv Grotesk Medium"/>
                          <a:cs typeface="Aktiv Grotesk Medium"/>
                        </a:rPr>
                        <a:t>described</a:t>
                      </a:r>
                      <a:r>
                        <a:rPr sz="1100" b="0" spc="65" dirty="0">
                          <a:solidFill>
                            <a:srgbClr val="231F20"/>
                          </a:solidFill>
                          <a:latin typeface="Aktiv Grotesk Medium"/>
                          <a:cs typeface="Aktiv Grotesk Medium"/>
                        </a:rPr>
                        <a:t> </a:t>
                      </a:r>
                      <a:r>
                        <a:rPr sz="1100" b="0" spc="-10" dirty="0">
                          <a:solidFill>
                            <a:srgbClr val="231F20"/>
                          </a:solidFill>
                          <a:latin typeface="Aktiv Grotesk Medium"/>
                          <a:cs typeface="Aktiv Grotesk Medium"/>
                        </a:rPr>
                        <a:t>species</a:t>
                      </a:r>
                      <a:endParaRPr sz="1100">
                        <a:latin typeface="Aktiv Grotesk Medium"/>
                        <a:cs typeface="Aktiv Grotesk Medium"/>
                      </a:endParaRPr>
                    </a:p>
                  </a:txBody>
                  <a:tcPr marL="0" marR="0" marT="7620" marB="0">
                    <a:lnB w="19050">
                      <a:solidFill>
                        <a:srgbClr val="C2DCDF"/>
                      </a:solidFill>
                      <a:prstDash val="solid"/>
                    </a:lnB>
                  </a:tcPr>
                </a:tc>
                <a:tc>
                  <a:txBody>
                    <a:bodyPr/>
                    <a:lstStyle/>
                    <a:p>
                      <a:pPr>
                        <a:lnSpc>
                          <a:spcPct val="100000"/>
                        </a:lnSpc>
                        <a:spcBef>
                          <a:spcPts val="60"/>
                        </a:spcBef>
                      </a:pPr>
                      <a:endParaRPr sz="1100">
                        <a:latin typeface="Times New Roman"/>
                        <a:cs typeface="Times New Roman"/>
                      </a:endParaRPr>
                    </a:p>
                    <a:p>
                      <a:pPr marL="107314" marR="93980">
                        <a:lnSpc>
                          <a:spcPct val="103800"/>
                        </a:lnSpc>
                      </a:pPr>
                      <a:r>
                        <a:rPr sz="1100" b="0" dirty="0">
                          <a:solidFill>
                            <a:srgbClr val="231F20"/>
                          </a:solidFill>
                          <a:latin typeface="Aktiv Grotesk Medium"/>
                          <a:cs typeface="Aktiv Grotesk Medium"/>
                        </a:rPr>
                        <a:t>Number</a:t>
                      </a:r>
                      <a:r>
                        <a:rPr sz="1100" b="0" spc="30" dirty="0">
                          <a:solidFill>
                            <a:srgbClr val="231F20"/>
                          </a:solidFill>
                          <a:latin typeface="Aktiv Grotesk Medium"/>
                          <a:cs typeface="Aktiv Grotesk Medium"/>
                        </a:rPr>
                        <a:t> </a:t>
                      </a:r>
                      <a:r>
                        <a:rPr sz="1100" b="0" dirty="0">
                          <a:solidFill>
                            <a:srgbClr val="231F20"/>
                          </a:solidFill>
                          <a:latin typeface="Aktiv Grotesk Medium"/>
                          <a:cs typeface="Aktiv Grotesk Medium"/>
                        </a:rPr>
                        <a:t>of</a:t>
                      </a:r>
                      <a:r>
                        <a:rPr sz="1100" b="0" spc="35" dirty="0">
                          <a:solidFill>
                            <a:srgbClr val="231F20"/>
                          </a:solidFill>
                          <a:latin typeface="Aktiv Grotesk Medium"/>
                          <a:cs typeface="Aktiv Grotesk Medium"/>
                        </a:rPr>
                        <a:t> </a:t>
                      </a:r>
                      <a:r>
                        <a:rPr sz="1100" b="0" spc="-10" dirty="0">
                          <a:solidFill>
                            <a:srgbClr val="231F20"/>
                          </a:solidFill>
                          <a:latin typeface="Aktiv Grotesk Medium"/>
                          <a:cs typeface="Aktiv Grotesk Medium"/>
                        </a:rPr>
                        <a:t>species </a:t>
                      </a:r>
                      <a:r>
                        <a:rPr sz="1100" b="0" dirty="0">
                          <a:solidFill>
                            <a:srgbClr val="231F20"/>
                          </a:solidFill>
                          <a:latin typeface="Aktiv Grotesk Medium"/>
                          <a:cs typeface="Aktiv Grotesk Medium"/>
                        </a:rPr>
                        <a:t>evaluated</a:t>
                      </a:r>
                      <a:r>
                        <a:rPr sz="1100" b="0" spc="10" dirty="0">
                          <a:solidFill>
                            <a:srgbClr val="231F20"/>
                          </a:solidFill>
                          <a:latin typeface="Aktiv Grotesk Medium"/>
                          <a:cs typeface="Aktiv Grotesk Medium"/>
                        </a:rPr>
                        <a:t> </a:t>
                      </a:r>
                      <a:r>
                        <a:rPr sz="1100" b="0" dirty="0">
                          <a:solidFill>
                            <a:srgbClr val="231F20"/>
                          </a:solidFill>
                          <a:latin typeface="Aktiv Grotesk Medium"/>
                          <a:cs typeface="Aktiv Grotesk Medium"/>
                        </a:rPr>
                        <a:t>by</a:t>
                      </a:r>
                      <a:r>
                        <a:rPr sz="1100" b="0" spc="15" dirty="0">
                          <a:solidFill>
                            <a:srgbClr val="231F20"/>
                          </a:solidFill>
                          <a:latin typeface="Aktiv Grotesk Medium"/>
                          <a:cs typeface="Aktiv Grotesk Medium"/>
                        </a:rPr>
                        <a:t> </a:t>
                      </a:r>
                      <a:r>
                        <a:rPr sz="1100" b="0" spc="-20" dirty="0">
                          <a:solidFill>
                            <a:srgbClr val="231F20"/>
                          </a:solidFill>
                          <a:latin typeface="Aktiv Grotesk Medium"/>
                          <a:cs typeface="Aktiv Grotesk Medium"/>
                        </a:rPr>
                        <a:t>IUCN</a:t>
                      </a:r>
                      <a:endParaRPr sz="1100">
                        <a:latin typeface="Aktiv Grotesk Medium"/>
                        <a:cs typeface="Aktiv Grotesk Medium"/>
                      </a:endParaRPr>
                    </a:p>
                  </a:txBody>
                  <a:tcPr marL="0" marR="0" marT="7620" marB="0">
                    <a:lnB w="19050">
                      <a:solidFill>
                        <a:srgbClr val="C2DCDF"/>
                      </a:solidFill>
                      <a:prstDash val="solid"/>
                    </a:lnB>
                  </a:tcPr>
                </a:tc>
                <a:tc>
                  <a:txBody>
                    <a:bodyPr/>
                    <a:lstStyle/>
                    <a:p>
                      <a:pPr>
                        <a:lnSpc>
                          <a:spcPct val="100000"/>
                        </a:lnSpc>
                        <a:spcBef>
                          <a:spcPts val="60"/>
                        </a:spcBef>
                      </a:pPr>
                      <a:endParaRPr sz="1100">
                        <a:latin typeface="Times New Roman"/>
                        <a:cs typeface="Times New Roman"/>
                      </a:endParaRPr>
                    </a:p>
                    <a:p>
                      <a:pPr marL="101600" marR="90805">
                        <a:lnSpc>
                          <a:spcPct val="103800"/>
                        </a:lnSpc>
                      </a:pPr>
                      <a:r>
                        <a:rPr sz="1100" b="0" dirty="0">
                          <a:solidFill>
                            <a:srgbClr val="231F20"/>
                          </a:solidFill>
                          <a:latin typeface="Aktiv Grotesk Medium"/>
                          <a:cs typeface="Aktiv Grotesk Medium"/>
                        </a:rPr>
                        <a:t>Percentage</a:t>
                      </a:r>
                      <a:r>
                        <a:rPr sz="1100" b="0" spc="25" dirty="0">
                          <a:solidFill>
                            <a:srgbClr val="231F20"/>
                          </a:solidFill>
                          <a:latin typeface="Aktiv Grotesk Medium"/>
                          <a:cs typeface="Aktiv Grotesk Medium"/>
                        </a:rPr>
                        <a:t> </a:t>
                      </a:r>
                      <a:r>
                        <a:rPr sz="1100" b="0" dirty="0">
                          <a:solidFill>
                            <a:srgbClr val="231F20"/>
                          </a:solidFill>
                          <a:latin typeface="Aktiv Grotesk Medium"/>
                          <a:cs typeface="Aktiv Grotesk Medium"/>
                        </a:rPr>
                        <a:t>of</a:t>
                      </a:r>
                      <a:r>
                        <a:rPr sz="1100" b="0" spc="25" dirty="0">
                          <a:solidFill>
                            <a:srgbClr val="231F20"/>
                          </a:solidFill>
                          <a:latin typeface="Aktiv Grotesk Medium"/>
                          <a:cs typeface="Aktiv Grotesk Medium"/>
                        </a:rPr>
                        <a:t> </a:t>
                      </a:r>
                      <a:r>
                        <a:rPr sz="1100" b="0" spc="-10" dirty="0">
                          <a:solidFill>
                            <a:srgbClr val="231F20"/>
                          </a:solidFill>
                          <a:latin typeface="Aktiv Grotesk Medium"/>
                          <a:cs typeface="Aktiv Grotesk Medium"/>
                        </a:rPr>
                        <a:t>described </a:t>
                      </a:r>
                      <a:r>
                        <a:rPr sz="1100" b="0" dirty="0">
                          <a:solidFill>
                            <a:srgbClr val="231F20"/>
                          </a:solidFill>
                          <a:latin typeface="Aktiv Grotesk Medium"/>
                          <a:cs typeface="Aktiv Grotesk Medium"/>
                        </a:rPr>
                        <a:t>species</a:t>
                      </a:r>
                      <a:r>
                        <a:rPr sz="1100" b="0" spc="45" dirty="0">
                          <a:solidFill>
                            <a:srgbClr val="231F20"/>
                          </a:solidFill>
                          <a:latin typeface="Aktiv Grotesk Medium"/>
                          <a:cs typeface="Aktiv Grotesk Medium"/>
                        </a:rPr>
                        <a:t> </a:t>
                      </a:r>
                      <a:r>
                        <a:rPr sz="1100" b="0" spc="-10" dirty="0">
                          <a:solidFill>
                            <a:srgbClr val="231F20"/>
                          </a:solidFill>
                          <a:latin typeface="Aktiv Grotesk Medium"/>
                          <a:cs typeface="Aktiv Grotesk Medium"/>
                        </a:rPr>
                        <a:t>assessed</a:t>
                      </a:r>
                      <a:endParaRPr sz="1100">
                        <a:latin typeface="Aktiv Grotesk Medium"/>
                        <a:cs typeface="Aktiv Grotesk Medium"/>
                      </a:endParaRPr>
                    </a:p>
                  </a:txBody>
                  <a:tcPr marL="0" marR="0" marT="7620" marB="0">
                    <a:lnB w="19050">
                      <a:solidFill>
                        <a:srgbClr val="C2DCDF"/>
                      </a:solidFill>
                      <a:prstDash val="solid"/>
                    </a:lnB>
                  </a:tcPr>
                </a:tc>
                <a:tc>
                  <a:txBody>
                    <a:bodyPr/>
                    <a:lstStyle/>
                    <a:p>
                      <a:pPr marL="98425" marR="217170">
                        <a:lnSpc>
                          <a:spcPts val="1370"/>
                        </a:lnSpc>
                        <a:spcBef>
                          <a:spcPts val="10"/>
                        </a:spcBef>
                      </a:pPr>
                      <a:r>
                        <a:rPr sz="1100" b="0" dirty="0">
                          <a:solidFill>
                            <a:srgbClr val="231F20"/>
                          </a:solidFill>
                          <a:latin typeface="Aktiv Grotesk Medium"/>
                          <a:cs typeface="Aktiv Grotesk Medium"/>
                        </a:rPr>
                        <a:t>Number</a:t>
                      </a:r>
                      <a:r>
                        <a:rPr sz="1100" b="0" spc="30" dirty="0">
                          <a:solidFill>
                            <a:srgbClr val="231F20"/>
                          </a:solidFill>
                          <a:latin typeface="Aktiv Grotesk Medium"/>
                          <a:cs typeface="Aktiv Grotesk Medium"/>
                        </a:rPr>
                        <a:t> </a:t>
                      </a:r>
                      <a:r>
                        <a:rPr sz="1100" b="0" dirty="0">
                          <a:solidFill>
                            <a:srgbClr val="231F20"/>
                          </a:solidFill>
                          <a:latin typeface="Aktiv Grotesk Medium"/>
                          <a:cs typeface="Aktiv Grotesk Medium"/>
                        </a:rPr>
                        <a:t>of</a:t>
                      </a:r>
                      <a:r>
                        <a:rPr sz="1100" b="0" spc="35" dirty="0">
                          <a:solidFill>
                            <a:srgbClr val="231F20"/>
                          </a:solidFill>
                          <a:latin typeface="Aktiv Grotesk Medium"/>
                          <a:cs typeface="Aktiv Grotesk Medium"/>
                        </a:rPr>
                        <a:t> </a:t>
                      </a:r>
                      <a:r>
                        <a:rPr sz="1100" b="0" spc="-10" dirty="0">
                          <a:solidFill>
                            <a:srgbClr val="231F20"/>
                          </a:solidFill>
                          <a:latin typeface="Aktiv Grotesk Medium"/>
                          <a:cs typeface="Aktiv Grotesk Medium"/>
                        </a:rPr>
                        <a:t>threatened </a:t>
                      </a:r>
                      <a:r>
                        <a:rPr sz="1100" b="0" dirty="0">
                          <a:solidFill>
                            <a:srgbClr val="231F20"/>
                          </a:solidFill>
                          <a:latin typeface="Aktiv Grotesk Medium"/>
                          <a:cs typeface="Aktiv Grotesk Medium"/>
                        </a:rPr>
                        <a:t>species</a:t>
                      </a:r>
                      <a:r>
                        <a:rPr sz="1100" b="0" spc="15" dirty="0">
                          <a:solidFill>
                            <a:srgbClr val="231F20"/>
                          </a:solidFill>
                          <a:latin typeface="Aktiv Grotesk Medium"/>
                          <a:cs typeface="Aktiv Grotesk Medium"/>
                        </a:rPr>
                        <a:t> </a:t>
                      </a:r>
                      <a:r>
                        <a:rPr sz="1100" b="0" dirty="0">
                          <a:solidFill>
                            <a:srgbClr val="231F20"/>
                          </a:solidFill>
                          <a:latin typeface="Aktiv Grotesk Medium"/>
                          <a:cs typeface="Aktiv Grotesk Medium"/>
                        </a:rPr>
                        <a:t>on</a:t>
                      </a:r>
                      <a:r>
                        <a:rPr sz="1100" b="0" spc="20" dirty="0">
                          <a:solidFill>
                            <a:srgbClr val="231F20"/>
                          </a:solidFill>
                          <a:latin typeface="Aktiv Grotesk Medium"/>
                          <a:cs typeface="Aktiv Grotesk Medium"/>
                        </a:rPr>
                        <a:t> </a:t>
                      </a:r>
                      <a:r>
                        <a:rPr sz="1100" b="0" dirty="0">
                          <a:solidFill>
                            <a:srgbClr val="231F20"/>
                          </a:solidFill>
                          <a:latin typeface="Aktiv Grotesk Medium"/>
                          <a:cs typeface="Aktiv Grotesk Medium"/>
                        </a:rPr>
                        <a:t>2022</a:t>
                      </a:r>
                      <a:r>
                        <a:rPr sz="1100" b="0" spc="15" dirty="0">
                          <a:solidFill>
                            <a:srgbClr val="231F20"/>
                          </a:solidFill>
                          <a:latin typeface="Aktiv Grotesk Medium"/>
                          <a:cs typeface="Aktiv Grotesk Medium"/>
                        </a:rPr>
                        <a:t> </a:t>
                      </a:r>
                      <a:r>
                        <a:rPr sz="1100" b="0" spc="-20" dirty="0">
                          <a:solidFill>
                            <a:srgbClr val="231F20"/>
                          </a:solidFill>
                          <a:latin typeface="Aktiv Grotesk Medium"/>
                          <a:cs typeface="Aktiv Grotesk Medium"/>
                        </a:rPr>
                        <a:t>IUCN </a:t>
                      </a:r>
                      <a:r>
                        <a:rPr sz="1100" b="0" dirty="0">
                          <a:solidFill>
                            <a:srgbClr val="231F20"/>
                          </a:solidFill>
                          <a:latin typeface="Aktiv Grotesk Medium"/>
                          <a:cs typeface="Aktiv Grotesk Medium"/>
                        </a:rPr>
                        <a:t>Red</a:t>
                      </a:r>
                      <a:r>
                        <a:rPr sz="1100" b="0" spc="30" dirty="0">
                          <a:solidFill>
                            <a:srgbClr val="231F20"/>
                          </a:solidFill>
                          <a:latin typeface="Aktiv Grotesk Medium"/>
                          <a:cs typeface="Aktiv Grotesk Medium"/>
                        </a:rPr>
                        <a:t> </a:t>
                      </a:r>
                      <a:r>
                        <a:rPr sz="1100" b="0" dirty="0">
                          <a:solidFill>
                            <a:srgbClr val="231F20"/>
                          </a:solidFill>
                          <a:latin typeface="Aktiv Grotesk Medium"/>
                          <a:cs typeface="Aktiv Grotesk Medium"/>
                        </a:rPr>
                        <a:t>List</a:t>
                      </a:r>
                      <a:r>
                        <a:rPr sz="1100" b="0" spc="35" dirty="0">
                          <a:solidFill>
                            <a:srgbClr val="231F20"/>
                          </a:solidFill>
                          <a:latin typeface="Aktiv Grotesk Medium"/>
                          <a:cs typeface="Aktiv Grotesk Medium"/>
                        </a:rPr>
                        <a:t> </a:t>
                      </a:r>
                      <a:r>
                        <a:rPr sz="1100" b="0" dirty="0">
                          <a:solidFill>
                            <a:srgbClr val="231F20"/>
                          </a:solidFill>
                          <a:latin typeface="Aktiv Grotesk Medium"/>
                          <a:cs typeface="Aktiv Grotesk Medium"/>
                        </a:rPr>
                        <a:t>version</a:t>
                      </a:r>
                      <a:r>
                        <a:rPr sz="1100" b="0" spc="30" dirty="0">
                          <a:solidFill>
                            <a:srgbClr val="231F20"/>
                          </a:solidFill>
                          <a:latin typeface="Aktiv Grotesk Medium"/>
                          <a:cs typeface="Aktiv Grotesk Medium"/>
                        </a:rPr>
                        <a:t> </a:t>
                      </a:r>
                      <a:r>
                        <a:rPr sz="1100" b="0" spc="-10" dirty="0">
                          <a:solidFill>
                            <a:srgbClr val="231F20"/>
                          </a:solidFill>
                          <a:latin typeface="Aktiv Grotesk Medium"/>
                          <a:cs typeface="Aktiv Grotesk Medium"/>
                        </a:rPr>
                        <a:t>2022–2</a:t>
                      </a:r>
                      <a:endParaRPr sz="1100">
                        <a:latin typeface="Aktiv Grotesk Medium"/>
                        <a:cs typeface="Aktiv Grotesk Medium"/>
                      </a:endParaRPr>
                    </a:p>
                  </a:txBody>
                  <a:tcPr marL="0" marR="0" marT="1270" marB="0">
                    <a:lnB w="19050">
                      <a:solidFill>
                        <a:srgbClr val="C2DCDF"/>
                      </a:solidFill>
                      <a:prstDash val="solid"/>
                    </a:lnB>
                  </a:tcPr>
                </a:tc>
                <a:extLst>
                  <a:ext uri="{0D108BD9-81ED-4DB2-BD59-A6C34878D82A}">
                    <a16:rowId xmlns:a16="http://schemas.microsoft.com/office/drawing/2014/main" val="10000"/>
                  </a:ext>
                </a:extLst>
              </a:tr>
              <a:tr h="214629">
                <a:tc>
                  <a:txBody>
                    <a:bodyPr/>
                    <a:lstStyle/>
                    <a:p>
                      <a:pPr marL="59690">
                        <a:lnSpc>
                          <a:spcPct val="100000"/>
                        </a:lnSpc>
                        <a:spcBef>
                          <a:spcPts val="254"/>
                        </a:spcBef>
                      </a:pPr>
                      <a:r>
                        <a:rPr sz="950" b="0" spc="40" dirty="0">
                          <a:solidFill>
                            <a:srgbClr val="231F20"/>
                          </a:solidFill>
                          <a:latin typeface="Aktiv Grotesk Medium"/>
                          <a:cs typeface="Aktiv Grotesk Medium"/>
                        </a:rPr>
                        <a:t>PLANTS</a:t>
                      </a:r>
                      <a:endParaRPr sz="950">
                        <a:latin typeface="Aktiv Grotesk Medium"/>
                        <a:cs typeface="Aktiv Grotesk Medium"/>
                      </a:endParaRPr>
                    </a:p>
                  </a:txBody>
                  <a:tcPr marL="0" marR="0" marT="32384" marB="0">
                    <a:lnT w="19050">
                      <a:solidFill>
                        <a:srgbClr val="C2DCDF"/>
                      </a:solidFill>
                      <a:prstDash val="solid"/>
                    </a:lnT>
                  </a:tcPr>
                </a:tc>
                <a:tc>
                  <a:txBody>
                    <a:bodyPr/>
                    <a:lstStyle/>
                    <a:p>
                      <a:pPr>
                        <a:lnSpc>
                          <a:spcPct val="100000"/>
                        </a:lnSpc>
                      </a:pPr>
                      <a:endParaRPr sz="1100">
                        <a:latin typeface="Times New Roman"/>
                        <a:cs typeface="Times New Roman"/>
                      </a:endParaRPr>
                    </a:p>
                  </a:txBody>
                  <a:tcPr marL="0" marR="0" marT="0" marB="0">
                    <a:lnT w="19050">
                      <a:solidFill>
                        <a:srgbClr val="C2DCDF"/>
                      </a:solidFill>
                      <a:prstDash val="solid"/>
                    </a:lnT>
                  </a:tcPr>
                </a:tc>
                <a:tc>
                  <a:txBody>
                    <a:bodyPr/>
                    <a:lstStyle/>
                    <a:p>
                      <a:pPr>
                        <a:lnSpc>
                          <a:spcPct val="100000"/>
                        </a:lnSpc>
                      </a:pPr>
                      <a:endParaRPr sz="1100">
                        <a:latin typeface="Times New Roman"/>
                        <a:cs typeface="Times New Roman"/>
                      </a:endParaRPr>
                    </a:p>
                  </a:txBody>
                  <a:tcPr marL="0" marR="0" marT="0" marB="0">
                    <a:lnT w="19050">
                      <a:solidFill>
                        <a:srgbClr val="C2DCDF"/>
                      </a:solidFill>
                      <a:prstDash val="solid"/>
                    </a:lnT>
                  </a:tcPr>
                </a:tc>
                <a:tc>
                  <a:txBody>
                    <a:bodyPr/>
                    <a:lstStyle/>
                    <a:p>
                      <a:pPr>
                        <a:lnSpc>
                          <a:spcPct val="100000"/>
                        </a:lnSpc>
                      </a:pPr>
                      <a:endParaRPr sz="1100">
                        <a:latin typeface="Times New Roman"/>
                        <a:cs typeface="Times New Roman"/>
                      </a:endParaRPr>
                    </a:p>
                  </a:txBody>
                  <a:tcPr marL="0" marR="0" marT="0" marB="0">
                    <a:lnT w="19050">
                      <a:solidFill>
                        <a:srgbClr val="C2DCDF"/>
                      </a:solidFill>
                      <a:prstDash val="solid"/>
                    </a:lnT>
                  </a:tcPr>
                </a:tc>
                <a:tc>
                  <a:txBody>
                    <a:bodyPr/>
                    <a:lstStyle/>
                    <a:p>
                      <a:pPr>
                        <a:lnSpc>
                          <a:spcPct val="100000"/>
                        </a:lnSpc>
                      </a:pPr>
                      <a:endParaRPr sz="1100">
                        <a:latin typeface="Times New Roman"/>
                        <a:cs typeface="Times New Roman"/>
                      </a:endParaRPr>
                    </a:p>
                  </a:txBody>
                  <a:tcPr marL="0" marR="0" marT="0" marB="0">
                    <a:lnT w="19050">
                      <a:solidFill>
                        <a:srgbClr val="C2DCDF"/>
                      </a:solidFill>
                      <a:prstDash val="solid"/>
                    </a:lnT>
                  </a:tcPr>
                </a:tc>
                <a:extLst>
                  <a:ext uri="{0D108BD9-81ED-4DB2-BD59-A6C34878D82A}">
                    <a16:rowId xmlns:a16="http://schemas.microsoft.com/office/drawing/2014/main" val="10001"/>
                  </a:ext>
                </a:extLst>
              </a:tr>
              <a:tr h="219075">
                <a:tc>
                  <a:txBody>
                    <a:bodyPr/>
                    <a:lstStyle/>
                    <a:p>
                      <a:pPr marL="199390">
                        <a:lnSpc>
                          <a:spcPct val="100000"/>
                        </a:lnSpc>
                        <a:spcBef>
                          <a:spcPts val="200"/>
                        </a:spcBef>
                      </a:pPr>
                      <a:r>
                        <a:rPr sz="1050" b="0" spc="-10" dirty="0">
                          <a:solidFill>
                            <a:srgbClr val="231F20"/>
                          </a:solidFill>
                          <a:latin typeface="Aktiv Grotesk Light"/>
                          <a:cs typeface="Aktiv Grotesk Light"/>
                        </a:rPr>
                        <a:t>Mosses</a:t>
                      </a:r>
                      <a:endParaRPr sz="1050">
                        <a:latin typeface="Aktiv Grotesk Light"/>
                        <a:cs typeface="Aktiv Grotesk Light"/>
                      </a:endParaRPr>
                    </a:p>
                  </a:txBody>
                  <a:tcPr marL="0" marR="0" marT="25400" marB="0"/>
                </a:tc>
                <a:tc>
                  <a:txBody>
                    <a:bodyPr/>
                    <a:lstStyle/>
                    <a:p>
                      <a:pPr marR="466090" algn="r">
                        <a:lnSpc>
                          <a:spcPct val="100000"/>
                        </a:lnSpc>
                        <a:spcBef>
                          <a:spcPts val="200"/>
                        </a:spcBef>
                      </a:pPr>
                      <a:r>
                        <a:rPr sz="1050" b="0" spc="-10" dirty="0">
                          <a:solidFill>
                            <a:srgbClr val="231F20"/>
                          </a:solidFill>
                          <a:latin typeface="Aktiv Grotesk Light"/>
                          <a:cs typeface="Aktiv Grotesk Light"/>
                        </a:rPr>
                        <a:t>21,925</a:t>
                      </a:r>
                      <a:endParaRPr sz="1050">
                        <a:latin typeface="Aktiv Grotesk Light"/>
                        <a:cs typeface="Aktiv Grotesk Light"/>
                      </a:endParaRPr>
                    </a:p>
                  </a:txBody>
                  <a:tcPr marL="0" marR="0" marT="25400" marB="0"/>
                </a:tc>
                <a:tc>
                  <a:txBody>
                    <a:bodyPr/>
                    <a:lstStyle/>
                    <a:p>
                      <a:pPr marR="488950" algn="r">
                        <a:lnSpc>
                          <a:spcPct val="100000"/>
                        </a:lnSpc>
                        <a:spcBef>
                          <a:spcPts val="200"/>
                        </a:spcBef>
                      </a:pPr>
                      <a:r>
                        <a:rPr sz="1050" b="0" spc="-25" dirty="0">
                          <a:solidFill>
                            <a:srgbClr val="231F20"/>
                          </a:solidFill>
                          <a:latin typeface="Aktiv Grotesk Light"/>
                          <a:cs typeface="Aktiv Grotesk Light"/>
                        </a:rPr>
                        <a:t>329</a:t>
                      </a:r>
                      <a:endParaRPr sz="1050">
                        <a:latin typeface="Aktiv Grotesk Light"/>
                        <a:cs typeface="Aktiv Grotesk Light"/>
                      </a:endParaRPr>
                    </a:p>
                  </a:txBody>
                  <a:tcPr marL="0" marR="0" marT="25400" marB="0"/>
                </a:tc>
                <a:tc>
                  <a:txBody>
                    <a:bodyPr/>
                    <a:lstStyle/>
                    <a:p>
                      <a:pPr marR="864869" algn="r">
                        <a:lnSpc>
                          <a:spcPct val="100000"/>
                        </a:lnSpc>
                        <a:spcBef>
                          <a:spcPts val="200"/>
                        </a:spcBef>
                      </a:pPr>
                      <a:r>
                        <a:rPr sz="1050" b="0" spc="-25" dirty="0">
                          <a:solidFill>
                            <a:srgbClr val="231F20"/>
                          </a:solidFill>
                          <a:latin typeface="Aktiv Grotesk Light"/>
                          <a:cs typeface="Aktiv Grotesk Light"/>
                        </a:rPr>
                        <a:t>1.5</a:t>
                      </a:r>
                      <a:endParaRPr sz="1050">
                        <a:latin typeface="Aktiv Grotesk Light"/>
                        <a:cs typeface="Aktiv Grotesk Light"/>
                      </a:endParaRPr>
                    </a:p>
                  </a:txBody>
                  <a:tcPr marL="0" marR="0" marT="25400" marB="0"/>
                </a:tc>
                <a:tc>
                  <a:txBody>
                    <a:bodyPr/>
                    <a:lstStyle/>
                    <a:p>
                      <a:pPr marR="673100" algn="r">
                        <a:lnSpc>
                          <a:spcPct val="100000"/>
                        </a:lnSpc>
                        <a:spcBef>
                          <a:spcPts val="200"/>
                        </a:spcBef>
                      </a:pPr>
                      <a:r>
                        <a:rPr sz="1050" b="0" spc="-25" dirty="0">
                          <a:solidFill>
                            <a:srgbClr val="231F20"/>
                          </a:solidFill>
                          <a:latin typeface="Aktiv Grotesk Light"/>
                          <a:cs typeface="Aktiv Grotesk Light"/>
                        </a:rPr>
                        <a:t>181</a:t>
                      </a:r>
                      <a:endParaRPr sz="1050">
                        <a:latin typeface="Aktiv Grotesk Light"/>
                        <a:cs typeface="Aktiv Grotesk Light"/>
                      </a:endParaRPr>
                    </a:p>
                  </a:txBody>
                  <a:tcPr marL="0" marR="0" marT="25400" marB="0"/>
                </a:tc>
                <a:extLst>
                  <a:ext uri="{0D108BD9-81ED-4DB2-BD59-A6C34878D82A}">
                    <a16:rowId xmlns:a16="http://schemas.microsoft.com/office/drawing/2014/main" val="10002"/>
                  </a:ext>
                </a:extLst>
              </a:tr>
              <a:tr h="214629">
                <a:tc>
                  <a:txBody>
                    <a:bodyPr/>
                    <a:lstStyle/>
                    <a:p>
                      <a:pPr marL="199390">
                        <a:lnSpc>
                          <a:spcPct val="100000"/>
                        </a:lnSpc>
                        <a:spcBef>
                          <a:spcPts val="170"/>
                        </a:spcBef>
                      </a:pPr>
                      <a:r>
                        <a:rPr sz="1050" b="0" dirty="0">
                          <a:solidFill>
                            <a:srgbClr val="231F20"/>
                          </a:solidFill>
                          <a:latin typeface="Aktiv Grotesk Light"/>
                          <a:cs typeface="Aktiv Grotesk Light"/>
                        </a:rPr>
                        <a:t>Ferns</a:t>
                      </a:r>
                      <a:r>
                        <a:rPr sz="1050" b="0" spc="95" dirty="0">
                          <a:solidFill>
                            <a:srgbClr val="231F20"/>
                          </a:solidFill>
                          <a:latin typeface="Aktiv Grotesk Light"/>
                          <a:cs typeface="Aktiv Grotesk Light"/>
                        </a:rPr>
                        <a:t> </a:t>
                      </a:r>
                      <a:r>
                        <a:rPr sz="1050" b="0" dirty="0">
                          <a:solidFill>
                            <a:srgbClr val="231F20"/>
                          </a:solidFill>
                          <a:latin typeface="Aktiv Grotesk Light"/>
                          <a:cs typeface="Aktiv Grotesk Light"/>
                        </a:rPr>
                        <a:t>and</a:t>
                      </a:r>
                      <a:r>
                        <a:rPr sz="1050" b="0" spc="100" dirty="0">
                          <a:solidFill>
                            <a:srgbClr val="231F20"/>
                          </a:solidFill>
                          <a:latin typeface="Aktiv Grotesk Light"/>
                          <a:cs typeface="Aktiv Grotesk Light"/>
                        </a:rPr>
                        <a:t> </a:t>
                      </a:r>
                      <a:r>
                        <a:rPr sz="1050" b="0" spc="-10" dirty="0">
                          <a:solidFill>
                            <a:srgbClr val="231F20"/>
                          </a:solidFill>
                          <a:latin typeface="Aktiv Grotesk Light"/>
                          <a:cs typeface="Aktiv Grotesk Light"/>
                        </a:rPr>
                        <a:t>allies</a:t>
                      </a:r>
                      <a:endParaRPr sz="1050">
                        <a:latin typeface="Aktiv Grotesk Light"/>
                        <a:cs typeface="Aktiv Grotesk Light"/>
                      </a:endParaRPr>
                    </a:p>
                  </a:txBody>
                  <a:tcPr marL="0" marR="0" marT="21590" marB="0"/>
                </a:tc>
                <a:tc>
                  <a:txBody>
                    <a:bodyPr/>
                    <a:lstStyle/>
                    <a:p>
                      <a:pPr marR="466090" algn="r">
                        <a:lnSpc>
                          <a:spcPct val="100000"/>
                        </a:lnSpc>
                        <a:spcBef>
                          <a:spcPts val="170"/>
                        </a:spcBef>
                      </a:pPr>
                      <a:r>
                        <a:rPr sz="1050" b="0" spc="-10" dirty="0">
                          <a:solidFill>
                            <a:srgbClr val="231F20"/>
                          </a:solidFill>
                          <a:latin typeface="Aktiv Grotesk Light"/>
                          <a:cs typeface="Aktiv Grotesk Light"/>
                        </a:rPr>
                        <a:t>11,800</a:t>
                      </a:r>
                      <a:endParaRPr sz="1050">
                        <a:latin typeface="Aktiv Grotesk Light"/>
                        <a:cs typeface="Aktiv Grotesk Light"/>
                      </a:endParaRPr>
                    </a:p>
                  </a:txBody>
                  <a:tcPr marL="0" marR="0" marT="21590" marB="0"/>
                </a:tc>
                <a:tc>
                  <a:txBody>
                    <a:bodyPr/>
                    <a:lstStyle/>
                    <a:p>
                      <a:pPr marR="488950" algn="r">
                        <a:lnSpc>
                          <a:spcPct val="100000"/>
                        </a:lnSpc>
                        <a:spcBef>
                          <a:spcPts val="170"/>
                        </a:spcBef>
                      </a:pPr>
                      <a:r>
                        <a:rPr sz="1050" b="0" spc="-25" dirty="0">
                          <a:solidFill>
                            <a:srgbClr val="231F20"/>
                          </a:solidFill>
                          <a:latin typeface="Aktiv Grotesk Light"/>
                          <a:cs typeface="Aktiv Grotesk Light"/>
                        </a:rPr>
                        <a:t>747</a:t>
                      </a:r>
                      <a:endParaRPr sz="1050">
                        <a:latin typeface="Aktiv Grotesk Light"/>
                        <a:cs typeface="Aktiv Grotesk Light"/>
                      </a:endParaRPr>
                    </a:p>
                  </a:txBody>
                  <a:tcPr marL="0" marR="0" marT="21590" marB="0"/>
                </a:tc>
                <a:tc>
                  <a:txBody>
                    <a:bodyPr/>
                    <a:lstStyle/>
                    <a:p>
                      <a:pPr marR="858519" algn="r">
                        <a:lnSpc>
                          <a:spcPct val="100000"/>
                        </a:lnSpc>
                        <a:spcBef>
                          <a:spcPts val="170"/>
                        </a:spcBef>
                      </a:pPr>
                      <a:r>
                        <a:rPr sz="1050" b="0" spc="-50" dirty="0">
                          <a:solidFill>
                            <a:srgbClr val="231F20"/>
                          </a:solidFill>
                          <a:latin typeface="Aktiv Grotesk Light"/>
                          <a:cs typeface="Aktiv Grotesk Light"/>
                        </a:rPr>
                        <a:t>6</a:t>
                      </a:r>
                      <a:endParaRPr sz="1050">
                        <a:latin typeface="Aktiv Grotesk Light"/>
                        <a:cs typeface="Aktiv Grotesk Light"/>
                      </a:endParaRPr>
                    </a:p>
                  </a:txBody>
                  <a:tcPr marL="0" marR="0" marT="21590" marB="0"/>
                </a:tc>
                <a:tc>
                  <a:txBody>
                    <a:bodyPr/>
                    <a:lstStyle/>
                    <a:p>
                      <a:pPr marR="673100" algn="r">
                        <a:lnSpc>
                          <a:spcPct val="100000"/>
                        </a:lnSpc>
                        <a:spcBef>
                          <a:spcPts val="170"/>
                        </a:spcBef>
                      </a:pPr>
                      <a:r>
                        <a:rPr sz="1050" b="0" spc="-25" dirty="0">
                          <a:solidFill>
                            <a:srgbClr val="231F20"/>
                          </a:solidFill>
                          <a:latin typeface="Aktiv Grotesk Light"/>
                          <a:cs typeface="Aktiv Grotesk Light"/>
                        </a:rPr>
                        <a:t>288</a:t>
                      </a:r>
                      <a:endParaRPr sz="1050">
                        <a:latin typeface="Aktiv Grotesk Light"/>
                        <a:cs typeface="Aktiv Grotesk Light"/>
                      </a:endParaRPr>
                    </a:p>
                  </a:txBody>
                  <a:tcPr marL="0" marR="0" marT="21590" marB="0"/>
                </a:tc>
                <a:extLst>
                  <a:ext uri="{0D108BD9-81ED-4DB2-BD59-A6C34878D82A}">
                    <a16:rowId xmlns:a16="http://schemas.microsoft.com/office/drawing/2014/main" val="10003"/>
                  </a:ext>
                </a:extLst>
              </a:tr>
              <a:tr h="229235">
                <a:tc>
                  <a:txBody>
                    <a:bodyPr/>
                    <a:lstStyle/>
                    <a:p>
                      <a:pPr marL="199390">
                        <a:lnSpc>
                          <a:spcPct val="100000"/>
                        </a:lnSpc>
                        <a:spcBef>
                          <a:spcPts val="170"/>
                        </a:spcBef>
                      </a:pPr>
                      <a:r>
                        <a:rPr sz="1050" b="0" spc="-10" dirty="0">
                          <a:solidFill>
                            <a:srgbClr val="231F20"/>
                          </a:solidFill>
                          <a:latin typeface="Aktiv Grotesk Light"/>
                          <a:cs typeface="Aktiv Grotesk Light"/>
                        </a:rPr>
                        <a:t>Gymnosperms</a:t>
                      </a:r>
                      <a:endParaRPr sz="1050">
                        <a:latin typeface="Aktiv Grotesk Light"/>
                        <a:cs typeface="Aktiv Grotesk Light"/>
                      </a:endParaRPr>
                    </a:p>
                  </a:txBody>
                  <a:tcPr marL="0" marR="0" marT="21590" marB="0"/>
                </a:tc>
                <a:tc>
                  <a:txBody>
                    <a:bodyPr/>
                    <a:lstStyle/>
                    <a:p>
                      <a:pPr marR="466090" algn="r">
                        <a:lnSpc>
                          <a:spcPct val="100000"/>
                        </a:lnSpc>
                        <a:spcBef>
                          <a:spcPts val="170"/>
                        </a:spcBef>
                      </a:pPr>
                      <a:r>
                        <a:rPr sz="1050" b="0" spc="-10" dirty="0">
                          <a:solidFill>
                            <a:srgbClr val="231F20"/>
                          </a:solidFill>
                          <a:latin typeface="Aktiv Grotesk Light"/>
                          <a:cs typeface="Aktiv Grotesk Light"/>
                        </a:rPr>
                        <a:t>1,113</a:t>
                      </a:r>
                      <a:endParaRPr sz="1050">
                        <a:latin typeface="Aktiv Grotesk Light"/>
                        <a:cs typeface="Aktiv Grotesk Light"/>
                      </a:endParaRPr>
                    </a:p>
                  </a:txBody>
                  <a:tcPr marL="0" marR="0" marT="21590" marB="0"/>
                </a:tc>
                <a:tc>
                  <a:txBody>
                    <a:bodyPr/>
                    <a:lstStyle/>
                    <a:p>
                      <a:pPr marR="488950" algn="r">
                        <a:lnSpc>
                          <a:spcPct val="100000"/>
                        </a:lnSpc>
                        <a:spcBef>
                          <a:spcPts val="170"/>
                        </a:spcBef>
                      </a:pPr>
                      <a:r>
                        <a:rPr sz="1050" b="0" spc="-10" dirty="0">
                          <a:solidFill>
                            <a:srgbClr val="231F20"/>
                          </a:solidFill>
                          <a:latin typeface="Aktiv Grotesk Light"/>
                          <a:cs typeface="Aktiv Grotesk Light"/>
                        </a:rPr>
                        <a:t>1,046</a:t>
                      </a:r>
                      <a:endParaRPr sz="1050">
                        <a:latin typeface="Aktiv Grotesk Light"/>
                        <a:cs typeface="Aktiv Grotesk Light"/>
                      </a:endParaRPr>
                    </a:p>
                  </a:txBody>
                  <a:tcPr marL="0" marR="0" marT="21590" marB="0"/>
                </a:tc>
                <a:tc>
                  <a:txBody>
                    <a:bodyPr/>
                    <a:lstStyle/>
                    <a:p>
                      <a:pPr marR="858519" algn="r">
                        <a:lnSpc>
                          <a:spcPct val="100000"/>
                        </a:lnSpc>
                        <a:spcBef>
                          <a:spcPts val="170"/>
                        </a:spcBef>
                      </a:pPr>
                      <a:r>
                        <a:rPr sz="1050" b="0" spc="-25" dirty="0">
                          <a:solidFill>
                            <a:srgbClr val="231F20"/>
                          </a:solidFill>
                          <a:latin typeface="Aktiv Grotesk Light"/>
                          <a:cs typeface="Aktiv Grotesk Light"/>
                        </a:rPr>
                        <a:t>94</a:t>
                      </a:r>
                      <a:endParaRPr sz="1050">
                        <a:latin typeface="Aktiv Grotesk Light"/>
                        <a:cs typeface="Aktiv Grotesk Light"/>
                      </a:endParaRPr>
                    </a:p>
                  </a:txBody>
                  <a:tcPr marL="0" marR="0" marT="21590" marB="0"/>
                </a:tc>
                <a:tc>
                  <a:txBody>
                    <a:bodyPr/>
                    <a:lstStyle/>
                    <a:p>
                      <a:pPr marR="673100" algn="r">
                        <a:lnSpc>
                          <a:spcPct val="100000"/>
                        </a:lnSpc>
                        <a:spcBef>
                          <a:spcPts val="170"/>
                        </a:spcBef>
                      </a:pPr>
                      <a:r>
                        <a:rPr sz="1050" b="0" spc="-25" dirty="0">
                          <a:solidFill>
                            <a:srgbClr val="231F20"/>
                          </a:solidFill>
                          <a:latin typeface="Aktiv Grotesk Light"/>
                          <a:cs typeface="Aktiv Grotesk Light"/>
                        </a:rPr>
                        <a:t>436</a:t>
                      </a:r>
                      <a:endParaRPr sz="1050">
                        <a:latin typeface="Aktiv Grotesk Light"/>
                        <a:cs typeface="Aktiv Grotesk Light"/>
                      </a:endParaRPr>
                    </a:p>
                  </a:txBody>
                  <a:tcPr marL="0" marR="0" marT="21590" marB="0"/>
                </a:tc>
                <a:extLst>
                  <a:ext uri="{0D108BD9-81ED-4DB2-BD59-A6C34878D82A}">
                    <a16:rowId xmlns:a16="http://schemas.microsoft.com/office/drawing/2014/main" val="10004"/>
                  </a:ext>
                </a:extLst>
              </a:tr>
              <a:tr h="229235">
                <a:tc>
                  <a:txBody>
                    <a:bodyPr/>
                    <a:lstStyle/>
                    <a:p>
                      <a:pPr marL="199390">
                        <a:lnSpc>
                          <a:spcPct val="100000"/>
                        </a:lnSpc>
                        <a:spcBef>
                          <a:spcPts val="280"/>
                        </a:spcBef>
                      </a:pPr>
                      <a:r>
                        <a:rPr sz="1050" b="0" dirty="0">
                          <a:solidFill>
                            <a:srgbClr val="231F20"/>
                          </a:solidFill>
                          <a:latin typeface="Aktiv Grotesk Light"/>
                          <a:cs typeface="Aktiv Grotesk Light"/>
                        </a:rPr>
                        <a:t>Flowering</a:t>
                      </a:r>
                      <a:r>
                        <a:rPr sz="1050" b="0" spc="170" dirty="0">
                          <a:solidFill>
                            <a:srgbClr val="231F20"/>
                          </a:solidFill>
                          <a:latin typeface="Aktiv Grotesk Light"/>
                          <a:cs typeface="Aktiv Grotesk Light"/>
                        </a:rPr>
                        <a:t> </a:t>
                      </a:r>
                      <a:r>
                        <a:rPr sz="1050" b="0" spc="-10" dirty="0">
                          <a:solidFill>
                            <a:srgbClr val="231F20"/>
                          </a:solidFill>
                          <a:latin typeface="Aktiv Grotesk Light"/>
                          <a:cs typeface="Aktiv Grotesk Light"/>
                        </a:rPr>
                        <a:t>plants</a:t>
                      </a:r>
                      <a:endParaRPr sz="1050">
                        <a:latin typeface="Aktiv Grotesk Light"/>
                        <a:cs typeface="Aktiv Grotesk Light"/>
                      </a:endParaRPr>
                    </a:p>
                  </a:txBody>
                  <a:tcPr marL="0" marR="0" marT="35560" marB="0"/>
                </a:tc>
                <a:tc>
                  <a:txBody>
                    <a:bodyPr/>
                    <a:lstStyle/>
                    <a:p>
                      <a:pPr marR="466090" algn="r">
                        <a:lnSpc>
                          <a:spcPct val="100000"/>
                        </a:lnSpc>
                        <a:spcBef>
                          <a:spcPts val="280"/>
                        </a:spcBef>
                      </a:pPr>
                      <a:r>
                        <a:rPr sz="1050" b="0" spc="-10" dirty="0">
                          <a:solidFill>
                            <a:srgbClr val="231F20"/>
                          </a:solidFill>
                          <a:latin typeface="Aktiv Grotesk Light"/>
                          <a:cs typeface="Aktiv Grotesk Light"/>
                        </a:rPr>
                        <a:t>369,000</a:t>
                      </a:r>
                      <a:endParaRPr sz="1050">
                        <a:latin typeface="Aktiv Grotesk Light"/>
                        <a:cs typeface="Aktiv Grotesk Light"/>
                      </a:endParaRPr>
                    </a:p>
                  </a:txBody>
                  <a:tcPr marL="0" marR="0" marT="35560" marB="0"/>
                </a:tc>
                <a:tc>
                  <a:txBody>
                    <a:bodyPr/>
                    <a:lstStyle/>
                    <a:p>
                      <a:pPr marR="488950" algn="r">
                        <a:lnSpc>
                          <a:spcPct val="100000"/>
                        </a:lnSpc>
                        <a:spcBef>
                          <a:spcPts val="280"/>
                        </a:spcBef>
                      </a:pPr>
                      <a:r>
                        <a:rPr sz="1050" b="0" spc="-10" dirty="0">
                          <a:solidFill>
                            <a:srgbClr val="231F20"/>
                          </a:solidFill>
                          <a:latin typeface="Aktiv Grotesk Light"/>
                          <a:cs typeface="Aktiv Grotesk Light"/>
                        </a:rPr>
                        <a:t>60,470</a:t>
                      </a:r>
                      <a:endParaRPr sz="1050">
                        <a:latin typeface="Aktiv Grotesk Light"/>
                        <a:cs typeface="Aktiv Grotesk Light"/>
                      </a:endParaRPr>
                    </a:p>
                  </a:txBody>
                  <a:tcPr marL="0" marR="0" marT="35560" marB="0"/>
                </a:tc>
                <a:tc>
                  <a:txBody>
                    <a:bodyPr/>
                    <a:lstStyle/>
                    <a:p>
                      <a:pPr marR="858519" algn="r">
                        <a:lnSpc>
                          <a:spcPct val="100000"/>
                        </a:lnSpc>
                        <a:spcBef>
                          <a:spcPts val="280"/>
                        </a:spcBef>
                      </a:pPr>
                      <a:r>
                        <a:rPr sz="1050" b="0" spc="-25" dirty="0">
                          <a:solidFill>
                            <a:srgbClr val="231F20"/>
                          </a:solidFill>
                          <a:latin typeface="Aktiv Grotesk Light"/>
                          <a:cs typeface="Aktiv Grotesk Light"/>
                        </a:rPr>
                        <a:t>16</a:t>
                      </a:r>
                      <a:endParaRPr sz="1050">
                        <a:latin typeface="Aktiv Grotesk Light"/>
                        <a:cs typeface="Aktiv Grotesk Light"/>
                      </a:endParaRPr>
                    </a:p>
                  </a:txBody>
                  <a:tcPr marL="0" marR="0" marT="35560" marB="0"/>
                </a:tc>
                <a:tc>
                  <a:txBody>
                    <a:bodyPr/>
                    <a:lstStyle/>
                    <a:p>
                      <a:pPr marR="673100" algn="r">
                        <a:lnSpc>
                          <a:spcPct val="100000"/>
                        </a:lnSpc>
                        <a:spcBef>
                          <a:spcPts val="280"/>
                        </a:spcBef>
                      </a:pPr>
                      <a:r>
                        <a:rPr sz="1050" b="0" spc="-10" dirty="0">
                          <a:solidFill>
                            <a:srgbClr val="231F20"/>
                          </a:solidFill>
                          <a:latin typeface="Aktiv Grotesk Light"/>
                          <a:cs typeface="Aktiv Grotesk Light"/>
                        </a:rPr>
                        <a:t>24,000</a:t>
                      </a:r>
                      <a:endParaRPr sz="1050">
                        <a:latin typeface="Aktiv Grotesk Light"/>
                        <a:cs typeface="Aktiv Grotesk Light"/>
                      </a:endParaRPr>
                    </a:p>
                  </a:txBody>
                  <a:tcPr marL="0" marR="0" marT="35560" marB="0"/>
                </a:tc>
                <a:extLst>
                  <a:ext uri="{0D108BD9-81ED-4DB2-BD59-A6C34878D82A}">
                    <a16:rowId xmlns:a16="http://schemas.microsoft.com/office/drawing/2014/main" val="10005"/>
                  </a:ext>
                </a:extLst>
              </a:tr>
              <a:tr h="214629">
                <a:tc>
                  <a:txBody>
                    <a:bodyPr/>
                    <a:lstStyle/>
                    <a:p>
                      <a:pPr marL="199390">
                        <a:lnSpc>
                          <a:spcPct val="100000"/>
                        </a:lnSpc>
                        <a:spcBef>
                          <a:spcPts val="170"/>
                        </a:spcBef>
                      </a:pPr>
                      <a:r>
                        <a:rPr sz="1050" b="0" dirty="0">
                          <a:solidFill>
                            <a:srgbClr val="231F20"/>
                          </a:solidFill>
                          <a:latin typeface="Aktiv Grotesk Light"/>
                          <a:cs typeface="Aktiv Grotesk Light"/>
                        </a:rPr>
                        <a:t>Green</a:t>
                      </a:r>
                      <a:r>
                        <a:rPr sz="1050" b="0" spc="85" dirty="0">
                          <a:solidFill>
                            <a:srgbClr val="231F20"/>
                          </a:solidFill>
                          <a:latin typeface="Aktiv Grotesk Light"/>
                          <a:cs typeface="Aktiv Grotesk Light"/>
                        </a:rPr>
                        <a:t> </a:t>
                      </a:r>
                      <a:r>
                        <a:rPr sz="1050" b="0" spc="-10" dirty="0">
                          <a:solidFill>
                            <a:srgbClr val="231F20"/>
                          </a:solidFill>
                          <a:latin typeface="Aktiv Grotesk Light"/>
                          <a:cs typeface="Aktiv Grotesk Light"/>
                        </a:rPr>
                        <a:t>algae</a:t>
                      </a:r>
                      <a:endParaRPr sz="1050">
                        <a:latin typeface="Aktiv Grotesk Light"/>
                        <a:cs typeface="Aktiv Grotesk Light"/>
                      </a:endParaRPr>
                    </a:p>
                  </a:txBody>
                  <a:tcPr marL="0" marR="0" marT="21590" marB="0"/>
                </a:tc>
                <a:tc>
                  <a:txBody>
                    <a:bodyPr/>
                    <a:lstStyle/>
                    <a:p>
                      <a:pPr marR="466090" algn="r">
                        <a:lnSpc>
                          <a:spcPct val="100000"/>
                        </a:lnSpc>
                        <a:spcBef>
                          <a:spcPts val="170"/>
                        </a:spcBef>
                      </a:pPr>
                      <a:r>
                        <a:rPr sz="1050" b="0" spc="-10" dirty="0">
                          <a:solidFill>
                            <a:srgbClr val="231F20"/>
                          </a:solidFill>
                          <a:latin typeface="Aktiv Grotesk Light"/>
                          <a:cs typeface="Aktiv Grotesk Light"/>
                        </a:rPr>
                        <a:t>12,929</a:t>
                      </a:r>
                      <a:endParaRPr sz="1050">
                        <a:latin typeface="Aktiv Grotesk Light"/>
                        <a:cs typeface="Aktiv Grotesk Light"/>
                      </a:endParaRPr>
                    </a:p>
                  </a:txBody>
                  <a:tcPr marL="0" marR="0" marT="21590" marB="0"/>
                </a:tc>
                <a:tc>
                  <a:txBody>
                    <a:bodyPr/>
                    <a:lstStyle/>
                    <a:p>
                      <a:pPr marR="488950" algn="r">
                        <a:lnSpc>
                          <a:spcPct val="100000"/>
                        </a:lnSpc>
                        <a:spcBef>
                          <a:spcPts val="170"/>
                        </a:spcBef>
                      </a:pPr>
                      <a:r>
                        <a:rPr sz="1050" b="0" spc="-25" dirty="0">
                          <a:solidFill>
                            <a:srgbClr val="231F20"/>
                          </a:solidFill>
                          <a:latin typeface="Aktiv Grotesk Light"/>
                          <a:cs typeface="Aktiv Grotesk Light"/>
                        </a:rPr>
                        <a:t>16</a:t>
                      </a:r>
                      <a:endParaRPr sz="1050">
                        <a:latin typeface="Aktiv Grotesk Light"/>
                        <a:cs typeface="Aktiv Grotesk Light"/>
                      </a:endParaRPr>
                    </a:p>
                  </a:txBody>
                  <a:tcPr marL="0" marR="0" marT="21590" marB="0"/>
                </a:tc>
                <a:tc>
                  <a:txBody>
                    <a:bodyPr/>
                    <a:lstStyle/>
                    <a:p>
                      <a:pPr marR="864869" algn="r">
                        <a:lnSpc>
                          <a:spcPct val="100000"/>
                        </a:lnSpc>
                        <a:spcBef>
                          <a:spcPts val="170"/>
                        </a:spcBef>
                      </a:pPr>
                      <a:r>
                        <a:rPr sz="1050" b="0" spc="-25" dirty="0">
                          <a:solidFill>
                            <a:srgbClr val="231F20"/>
                          </a:solidFill>
                          <a:latin typeface="Aktiv Grotesk Light"/>
                          <a:cs typeface="Aktiv Grotesk Light"/>
                        </a:rPr>
                        <a:t>0.1</a:t>
                      </a:r>
                      <a:endParaRPr sz="1050">
                        <a:latin typeface="Aktiv Grotesk Light"/>
                        <a:cs typeface="Aktiv Grotesk Light"/>
                      </a:endParaRPr>
                    </a:p>
                  </a:txBody>
                  <a:tcPr marL="0" marR="0" marT="21590" marB="0"/>
                </a:tc>
                <a:tc>
                  <a:txBody>
                    <a:bodyPr/>
                    <a:lstStyle/>
                    <a:p>
                      <a:pPr marR="673100" algn="r">
                        <a:lnSpc>
                          <a:spcPct val="100000"/>
                        </a:lnSpc>
                        <a:spcBef>
                          <a:spcPts val="170"/>
                        </a:spcBef>
                      </a:pPr>
                      <a:r>
                        <a:rPr sz="1050" b="0" spc="-50" dirty="0">
                          <a:solidFill>
                            <a:srgbClr val="231F20"/>
                          </a:solidFill>
                          <a:latin typeface="Aktiv Grotesk Light"/>
                          <a:cs typeface="Aktiv Grotesk Light"/>
                        </a:rPr>
                        <a:t>0</a:t>
                      </a:r>
                      <a:endParaRPr sz="1050">
                        <a:latin typeface="Aktiv Grotesk Light"/>
                        <a:cs typeface="Aktiv Grotesk Light"/>
                      </a:endParaRPr>
                    </a:p>
                  </a:txBody>
                  <a:tcPr marL="0" marR="0" marT="21590" marB="0"/>
                </a:tc>
                <a:extLst>
                  <a:ext uri="{0D108BD9-81ED-4DB2-BD59-A6C34878D82A}">
                    <a16:rowId xmlns:a16="http://schemas.microsoft.com/office/drawing/2014/main" val="10006"/>
                  </a:ext>
                </a:extLst>
              </a:tr>
              <a:tr h="214629">
                <a:tc>
                  <a:txBody>
                    <a:bodyPr/>
                    <a:lstStyle/>
                    <a:p>
                      <a:pPr marL="199390">
                        <a:lnSpc>
                          <a:spcPct val="100000"/>
                        </a:lnSpc>
                        <a:spcBef>
                          <a:spcPts val="170"/>
                        </a:spcBef>
                      </a:pPr>
                      <a:r>
                        <a:rPr sz="1050" b="0" dirty="0">
                          <a:solidFill>
                            <a:srgbClr val="231F20"/>
                          </a:solidFill>
                          <a:latin typeface="Aktiv Grotesk Light"/>
                          <a:cs typeface="Aktiv Grotesk Light"/>
                        </a:rPr>
                        <a:t>Red</a:t>
                      </a:r>
                      <a:r>
                        <a:rPr sz="1050" b="0" spc="55" dirty="0">
                          <a:solidFill>
                            <a:srgbClr val="231F20"/>
                          </a:solidFill>
                          <a:latin typeface="Aktiv Grotesk Light"/>
                          <a:cs typeface="Aktiv Grotesk Light"/>
                        </a:rPr>
                        <a:t> </a:t>
                      </a:r>
                      <a:r>
                        <a:rPr sz="1050" b="0" spc="-10" dirty="0">
                          <a:solidFill>
                            <a:srgbClr val="231F20"/>
                          </a:solidFill>
                          <a:latin typeface="Aktiv Grotesk Light"/>
                          <a:cs typeface="Aktiv Grotesk Light"/>
                        </a:rPr>
                        <a:t>algae</a:t>
                      </a:r>
                      <a:endParaRPr sz="1050">
                        <a:latin typeface="Aktiv Grotesk Light"/>
                        <a:cs typeface="Aktiv Grotesk Light"/>
                      </a:endParaRPr>
                    </a:p>
                  </a:txBody>
                  <a:tcPr marL="0" marR="0" marT="21590" marB="0">
                    <a:lnB w="9525">
                      <a:solidFill>
                        <a:srgbClr val="C2DCDF"/>
                      </a:solidFill>
                      <a:prstDash val="solid"/>
                    </a:lnB>
                  </a:tcPr>
                </a:tc>
                <a:tc>
                  <a:txBody>
                    <a:bodyPr/>
                    <a:lstStyle/>
                    <a:p>
                      <a:pPr marR="466090" algn="r">
                        <a:lnSpc>
                          <a:spcPct val="100000"/>
                        </a:lnSpc>
                        <a:spcBef>
                          <a:spcPts val="170"/>
                        </a:spcBef>
                      </a:pPr>
                      <a:r>
                        <a:rPr sz="1050" b="0" spc="-10" dirty="0">
                          <a:solidFill>
                            <a:srgbClr val="231F20"/>
                          </a:solidFill>
                          <a:latin typeface="Aktiv Grotesk Light"/>
                          <a:cs typeface="Aktiv Grotesk Light"/>
                        </a:rPr>
                        <a:t>7,568</a:t>
                      </a:r>
                      <a:endParaRPr sz="1050">
                        <a:latin typeface="Aktiv Grotesk Light"/>
                        <a:cs typeface="Aktiv Grotesk Light"/>
                      </a:endParaRPr>
                    </a:p>
                  </a:txBody>
                  <a:tcPr marL="0" marR="0" marT="21590" marB="0">
                    <a:lnB w="9525">
                      <a:solidFill>
                        <a:srgbClr val="C2DCDF"/>
                      </a:solidFill>
                      <a:prstDash val="solid"/>
                    </a:lnB>
                  </a:tcPr>
                </a:tc>
                <a:tc>
                  <a:txBody>
                    <a:bodyPr/>
                    <a:lstStyle/>
                    <a:p>
                      <a:pPr marR="488950" algn="r">
                        <a:lnSpc>
                          <a:spcPct val="100000"/>
                        </a:lnSpc>
                        <a:spcBef>
                          <a:spcPts val="170"/>
                        </a:spcBef>
                      </a:pPr>
                      <a:r>
                        <a:rPr sz="1050" b="0" spc="-25" dirty="0">
                          <a:solidFill>
                            <a:srgbClr val="231F20"/>
                          </a:solidFill>
                          <a:latin typeface="Aktiv Grotesk Light"/>
                          <a:cs typeface="Aktiv Grotesk Light"/>
                        </a:rPr>
                        <a:t>58</a:t>
                      </a:r>
                      <a:endParaRPr sz="1050">
                        <a:latin typeface="Aktiv Grotesk Light"/>
                        <a:cs typeface="Aktiv Grotesk Light"/>
                      </a:endParaRPr>
                    </a:p>
                  </a:txBody>
                  <a:tcPr marL="0" marR="0" marT="21590" marB="0">
                    <a:lnB w="9525">
                      <a:solidFill>
                        <a:srgbClr val="C2DCDF"/>
                      </a:solidFill>
                      <a:prstDash val="solid"/>
                    </a:lnB>
                  </a:tcPr>
                </a:tc>
                <a:tc>
                  <a:txBody>
                    <a:bodyPr/>
                    <a:lstStyle/>
                    <a:p>
                      <a:pPr marR="864869" algn="r">
                        <a:lnSpc>
                          <a:spcPct val="100000"/>
                        </a:lnSpc>
                        <a:spcBef>
                          <a:spcPts val="170"/>
                        </a:spcBef>
                      </a:pPr>
                      <a:r>
                        <a:rPr sz="1050" b="0" spc="-25" dirty="0">
                          <a:solidFill>
                            <a:srgbClr val="231F20"/>
                          </a:solidFill>
                          <a:latin typeface="Aktiv Grotesk Light"/>
                          <a:cs typeface="Aktiv Grotesk Light"/>
                        </a:rPr>
                        <a:t>0.8</a:t>
                      </a:r>
                      <a:endParaRPr sz="1050">
                        <a:latin typeface="Aktiv Grotesk Light"/>
                        <a:cs typeface="Aktiv Grotesk Light"/>
                      </a:endParaRPr>
                    </a:p>
                  </a:txBody>
                  <a:tcPr marL="0" marR="0" marT="21590" marB="0">
                    <a:lnB w="9525">
                      <a:solidFill>
                        <a:srgbClr val="C2DCDF"/>
                      </a:solidFill>
                      <a:prstDash val="solid"/>
                    </a:lnB>
                  </a:tcPr>
                </a:tc>
                <a:tc>
                  <a:txBody>
                    <a:bodyPr/>
                    <a:lstStyle/>
                    <a:p>
                      <a:pPr marR="673100" algn="r">
                        <a:lnSpc>
                          <a:spcPct val="100000"/>
                        </a:lnSpc>
                        <a:spcBef>
                          <a:spcPts val="170"/>
                        </a:spcBef>
                      </a:pPr>
                      <a:r>
                        <a:rPr sz="1050" b="0" spc="-50" dirty="0">
                          <a:solidFill>
                            <a:srgbClr val="231F20"/>
                          </a:solidFill>
                          <a:latin typeface="Aktiv Grotesk Light"/>
                          <a:cs typeface="Aktiv Grotesk Light"/>
                        </a:rPr>
                        <a:t>9</a:t>
                      </a:r>
                      <a:endParaRPr sz="1050">
                        <a:latin typeface="Aktiv Grotesk Light"/>
                        <a:cs typeface="Aktiv Grotesk Light"/>
                      </a:endParaRPr>
                    </a:p>
                  </a:txBody>
                  <a:tcPr marL="0" marR="0" marT="21590" marB="0">
                    <a:lnB w="9525">
                      <a:solidFill>
                        <a:srgbClr val="C2DCDF"/>
                      </a:solidFill>
                      <a:prstDash val="solid"/>
                    </a:lnB>
                  </a:tcPr>
                </a:tc>
                <a:extLst>
                  <a:ext uri="{0D108BD9-81ED-4DB2-BD59-A6C34878D82A}">
                    <a16:rowId xmlns:a16="http://schemas.microsoft.com/office/drawing/2014/main" val="10007"/>
                  </a:ext>
                </a:extLst>
              </a:tr>
              <a:tr h="214629">
                <a:tc>
                  <a:txBody>
                    <a:bodyPr/>
                    <a:lstStyle/>
                    <a:p>
                      <a:pPr marL="199390">
                        <a:lnSpc>
                          <a:spcPct val="100000"/>
                        </a:lnSpc>
                        <a:spcBef>
                          <a:spcPts val="170"/>
                        </a:spcBef>
                      </a:pPr>
                      <a:r>
                        <a:rPr sz="1050" b="0" spc="-10" dirty="0">
                          <a:solidFill>
                            <a:srgbClr val="231F20"/>
                          </a:solidFill>
                          <a:latin typeface="Aktiv Grotesk Medium"/>
                          <a:cs typeface="Aktiv Grotesk Medium"/>
                        </a:rPr>
                        <a:t>Subtotal</a:t>
                      </a:r>
                      <a:endParaRPr sz="1050">
                        <a:latin typeface="Aktiv Grotesk Medium"/>
                        <a:cs typeface="Aktiv Grotesk Medium"/>
                      </a:endParaRPr>
                    </a:p>
                  </a:txBody>
                  <a:tcPr marL="0" marR="0" marT="21590" marB="0">
                    <a:lnT w="9525">
                      <a:solidFill>
                        <a:srgbClr val="C2DCDF"/>
                      </a:solidFill>
                      <a:prstDash val="solid"/>
                    </a:lnT>
                    <a:lnB w="9525">
                      <a:solidFill>
                        <a:srgbClr val="C2DCDF"/>
                      </a:solidFill>
                      <a:prstDash val="solid"/>
                    </a:lnB>
                  </a:tcPr>
                </a:tc>
                <a:tc>
                  <a:txBody>
                    <a:bodyPr/>
                    <a:lstStyle/>
                    <a:p>
                      <a:pPr marR="466090" algn="r">
                        <a:lnSpc>
                          <a:spcPct val="100000"/>
                        </a:lnSpc>
                        <a:spcBef>
                          <a:spcPts val="170"/>
                        </a:spcBef>
                      </a:pPr>
                      <a:r>
                        <a:rPr sz="1050" b="0" spc="-10" dirty="0">
                          <a:solidFill>
                            <a:srgbClr val="231F20"/>
                          </a:solidFill>
                          <a:latin typeface="Aktiv Grotesk Light"/>
                          <a:cs typeface="Aktiv Grotesk Light"/>
                        </a:rPr>
                        <a:t>424,335</a:t>
                      </a:r>
                      <a:endParaRPr sz="1050">
                        <a:latin typeface="Aktiv Grotesk Light"/>
                        <a:cs typeface="Aktiv Grotesk Light"/>
                      </a:endParaRPr>
                    </a:p>
                  </a:txBody>
                  <a:tcPr marL="0" marR="0" marT="21590" marB="0">
                    <a:lnT w="9525">
                      <a:solidFill>
                        <a:srgbClr val="C2DCDF"/>
                      </a:solidFill>
                      <a:prstDash val="solid"/>
                    </a:lnT>
                    <a:lnB w="9525">
                      <a:solidFill>
                        <a:srgbClr val="C2DCDF"/>
                      </a:solidFill>
                      <a:prstDash val="solid"/>
                    </a:lnB>
                  </a:tcPr>
                </a:tc>
                <a:tc>
                  <a:txBody>
                    <a:bodyPr/>
                    <a:lstStyle/>
                    <a:p>
                      <a:pPr marR="488950" algn="r">
                        <a:lnSpc>
                          <a:spcPct val="100000"/>
                        </a:lnSpc>
                        <a:spcBef>
                          <a:spcPts val="170"/>
                        </a:spcBef>
                      </a:pPr>
                      <a:r>
                        <a:rPr sz="1050" b="0" spc="-10" dirty="0">
                          <a:solidFill>
                            <a:srgbClr val="231F20"/>
                          </a:solidFill>
                          <a:latin typeface="Aktiv Grotesk Light"/>
                          <a:cs typeface="Aktiv Grotesk Light"/>
                        </a:rPr>
                        <a:t>62,666</a:t>
                      </a:r>
                      <a:endParaRPr sz="1050">
                        <a:latin typeface="Aktiv Grotesk Light"/>
                        <a:cs typeface="Aktiv Grotesk Light"/>
                      </a:endParaRPr>
                    </a:p>
                  </a:txBody>
                  <a:tcPr marL="0" marR="0" marT="21590" marB="0">
                    <a:lnT w="9525">
                      <a:solidFill>
                        <a:srgbClr val="C2DCDF"/>
                      </a:solidFill>
                      <a:prstDash val="solid"/>
                    </a:lnT>
                    <a:lnB w="9525">
                      <a:solidFill>
                        <a:srgbClr val="C2DCDF"/>
                      </a:solidFill>
                      <a:prstDash val="solid"/>
                    </a:lnB>
                  </a:tcPr>
                </a:tc>
                <a:tc>
                  <a:txBody>
                    <a:bodyPr/>
                    <a:lstStyle/>
                    <a:p>
                      <a:pPr marR="858519" algn="r">
                        <a:lnSpc>
                          <a:spcPct val="100000"/>
                        </a:lnSpc>
                        <a:spcBef>
                          <a:spcPts val="170"/>
                        </a:spcBef>
                      </a:pPr>
                      <a:r>
                        <a:rPr sz="1050" b="0" spc="-25" dirty="0">
                          <a:solidFill>
                            <a:srgbClr val="231F20"/>
                          </a:solidFill>
                          <a:latin typeface="Aktiv Grotesk Light"/>
                          <a:cs typeface="Aktiv Grotesk Light"/>
                        </a:rPr>
                        <a:t>15</a:t>
                      </a:r>
                      <a:endParaRPr sz="1050">
                        <a:latin typeface="Aktiv Grotesk Light"/>
                        <a:cs typeface="Aktiv Grotesk Light"/>
                      </a:endParaRPr>
                    </a:p>
                  </a:txBody>
                  <a:tcPr marL="0" marR="0" marT="21590" marB="0">
                    <a:lnT w="9525">
                      <a:solidFill>
                        <a:srgbClr val="C2DCDF"/>
                      </a:solidFill>
                      <a:prstDash val="solid"/>
                    </a:lnT>
                    <a:lnB w="9525">
                      <a:solidFill>
                        <a:srgbClr val="C2DCDF"/>
                      </a:solidFill>
                      <a:prstDash val="solid"/>
                    </a:lnB>
                  </a:tcPr>
                </a:tc>
                <a:tc>
                  <a:txBody>
                    <a:bodyPr/>
                    <a:lstStyle/>
                    <a:p>
                      <a:pPr marR="673100" algn="r">
                        <a:lnSpc>
                          <a:spcPct val="100000"/>
                        </a:lnSpc>
                        <a:spcBef>
                          <a:spcPts val="170"/>
                        </a:spcBef>
                      </a:pPr>
                      <a:r>
                        <a:rPr sz="1050" b="0" spc="-10" dirty="0">
                          <a:solidFill>
                            <a:srgbClr val="231F20"/>
                          </a:solidFill>
                          <a:latin typeface="Aktiv Grotesk Light"/>
                          <a:cs typeface="Aktiv Grotesk Light"/>
                        </a:rPr>
                        <a:t>24,914</a:t>
                      </a:r>
                      <a:endParaRPr sz="1050">
                        <a:latin typeface="Aktiv Grotesk Light"/>
                        <a:cs typeface="Aktiv Grotesk Light"/>
                      </a:endParaRPr>
                    </a:p>
                  </a:txBody>
                  <a:tcPr marL="0" marR="0" marT="21590" marB="0">
                    <a:lnT w="9525">
                      <a:solidFill>
                        <a:srgbClr val="C2DCDF"/>
                      </a:solidFill>
                      <a:prstDash val="solid"/>
                    </a:lnT>
                    <a:lnB w="9525">
                      <a:solidFill>
                        <a:srgbClr val="C2DCDF"/>
                      </a:solidFill>
                      <a:prstDash val="solid"/>
                    </a:lnB>
                  </a:tcPr>
                </a:tc>
                <a:extLst>
                  <a:ext uri="{0D108BD9-81ED-4DB2-BD59-A6C34878D82A}">
                    <a16:rowId xmlns:a16="http://schemas.microsoft.com/office/drawing/2014/main" val="10008"/>
                  </a:ext>
                </a:extLst>
              </a:tr>
              <a:tr h="210820">
                <a:tc>
                  <a:txBody>
                    <a:bodyPr/>
                    <a:lstStyle/>
                    <a:p>
                      <a:pPr marL="59690">
                        <a:lnSpc>
                          <a:spcPct val="100000"/>
                        </a:lnSpc>
                        <a:spcBef>
                          <a:spcPts val="220"/>
                        </a:spcBef>
                      </a:pPr>
                      <a:r>
                        <a:rPr sz="950" b="0" dirty="0">
                          <a:solidFill>
                            <a:srgbClr val="231F20"/>
                          </a:solidFill>
                          <a:latin typeface="Aktiv Grotesk Medium"/>
                          <a:cs typeface="Aktiv Grotesk Medium"/>
                        </a:rPr>
                        <a:t>FUNGI</a:t>
                      </a:r>
                      <a:r>
                        <a:rPr sz="950" b="0" spc="130" dirty="0">
                          <a:solidFill>
                            <a:srgbClr val="231F20"/>
                          </a:solidFill>
                          <a:latin typeface="Aktiv Grotesk Medium"/>
                          <a:cs typeface="Aktiv Grotesk Medium"/>
                        </a:rPr>
                        <a:t> </a:t>
                      </a:r>
                      <a:r>
                        <a:rPr sz="950" b="0" spc="50" dirty="0">
                          <a:solidFill>
                            <a:srgbClr val="231F20"/>
                          </a:solidFill>
                          <a:latin typeface="Aktiv Grotesk Medium"/>
                          <a:cs typeface="Aktiv Grotesk Medium"/>
                        </a:rPr>
                        <a:t>AND</a:t>
                      </a:r>
                      <a:r>
                        <a:rPr sz="950" b="0" spc="135" dirty="0">
                          <a:solidFill>
                            <a:srgbClr val="231F20"/>
                          </a:solidFill>
                          <a:latin typeface="Aktiv Grotesk Medium"/>
                          <a:cs typeface="Aktiv Grotesk Medium"/>
                        </a:rPr>
                        <a:t> </a:t>
                      </a:r>
                      <a:r>
                        <a:rPr sz="950" b="0" spc="-10" dirty="0">
                          <a:solidFill>
                            <a:srgbClr val="231F20"/>
                          </a:solidFill>
                          <a:latin typeface="Aktiv Grotesk Medium"/>
                          <a:cs typeface="Aktiv Grotesk Medium"/>
                        </a:rPr>
                        <a:t>PROTISTS</a:t>
                      </a:r>
                      <a:endParaRPr sz="950">
                        <a:latin typeface="Aktiv Grotesk Medium"/>
                        <a:cs typeface="Aktiv Grotesk Medium"/>
                      </a:endParaRPr>
                    </a:p>
                  </a:txBody>
                  <a:tcPr marL="0" marR="0" marT="27940" marB="0">
                    <a:lnT w="9525">
                      <a:solidFill>
                        <a:srgbClr val="C2DCDF"/>
                      </a:solidFill>
                      <a:prstDash val="solid"/>
                    </a:lnT>
                  </a:tcPr>
                </a:tc>
                <a:tc>
                  <a:txBody>
                    <a:bodyPr/>
                    <a:lstStyle/>
                    <a:p>
                      <a:pPr>
                        <a:lnSpc>
                          <a:spcPct val="100000"/>
                        </a:lnSpc>
                      </a:pPr>
                      <a:endParaRPr sz="1100">
                        <a:latin typeface="Times New Roman"/>
                        <a:cs typeface="Times New Roman"/>
                      </a:endParaRPr>
                    </a:p>
                  </a:txBody>
                  <a:tcPr marL="0" marR="0" marT="0" marB="0">
                    <a:lnT w="9525">
                      <a:solidFill>
                        <a:srgbClr val="C2DCDF"/>
                      </a:solidFill>
                      <a:prstDash val="solid"/>
                    </a:lnT>
                  </a:tcPr>
                </a:tc>
                <a:tc>
                  <a:txBody>
                    <a:bodyPr/>
                    <a:lstStyle/>
                    <a:p>
                      <a:pPr>
                        <a:lnSpc>
                          <a:spcPct val="100000"/>
                        </a:lnSpc>
                      </a:pPr>
                      <a:endParaRPr sz="1100">
                        <a:latin typeface="Times New Roman"/>
                        <a:cs typeface="Times New Roman"/>
                      </a:endParaRPr>
                    </a:p>
                  </a:txBody>
                  <a:tcPr marL="0" marR="0" marT="0" marB="0">
                    <a:lnT w="9525">
                      <a:solidFill>
                        <a:srgbClr val="C2DCDF"/>
                      </a:solidFill>
                      <a:prstDash val="solid"/>
                    </a:lnT>
                  </a:tcPr>
                </a:tc>
                <a:tc>
                  <a:txBody>
                    <a:bodyPr/>
                    <a:lstStyle/>
                    <a:p>
                      <a:pPr>
                        <a:lnSpc>
                          <a:spcPct val="100000"/>
                        </a:lnSpc>
                      </a:pPr>
                      <a:endParaRPr sz="1100">
                        <a:latin typeface="Times New Roman"/>
                        <a:cs typeface="Times New Roman"/>
                      </a:endParaRPr>
                    </a:p>
                  </a:txBody>
                  <a:tcPr marL="0" marR="0" marT="0" marB="0">
                    <a:lnT w="9525">
                      <a:solidFill>
                        <a:srgbClr val="C2DCDF"/>
                      </a:solidFill>
                      <a:prstDash val="solid"/>
                    </a:lnT>
                  </a:tcPr>
                </a:tc>
                <a:tc>
                  <a:txBody>
                    <a:bodyPr/>
                    <a:lstStyle/>
                    <a:p>
                      <a:pPr>
                        <a:lnSpc>
                          <a:spcPct val="100000"/>
                        </a:lnSpc>
                      </a:pPr>
                      <a:endParaRPr sz="1100">
                        <a:latin typeface="Times New Roman"/>
                        <a:cs typeface="Times New Roman"/>
                      </a:endParaRPr>
                    </a:p>
                  </a:txBody>
                  <a:tcPr marL="0" marR="0" marT="0" marB="0">
                    <a:lnT w="9525">
                      <a:solidFill>
                        <a:srgbClr val="C2DCDF"/>
                      </a:solidFill>
                      <a:prstDash val="solid"/>
                    </a:lnT>
                  </a:tcPr>
                </a:tc>
                <a:extLst>
                  <a:ext uri="{0D108BD9-81ED-4DB2-BD59-A6C34878D82A}">
                    <a16:rowId xmlns:a16="http://schemas.microsoft.com/office/drawing/2014/main" val="10009"/>
                  </a:ext>
                </a:extLst>
              </a:tr>
              <a:tr h="219075">
                <a:tc>
                  <a:txBody>
                    <a:bodyPr/>
                    <a:lstStyle/>
                    <a:p>
                      <a:pPr marL="199390">
                        <a:lnSpc>
                          <a:spcPct val="100000"/>
                        </a:lnSpc>
                        <a:spcBef>
                          <a:spcPts val="200"/>
                        </a:spcBef>
                      </a:pPr>
                      <a:r>
                        <a:rPr sz="1050" b="0" spc="-10" dirty="0">
                          <a:solidFill>
                            <a:srgbClr val="231F20"/>
                          </a:solidFill>
                          <a:latin typeface="Aktiv Grotesk Light"/>
                          <a:cs typeface="Aktiv Grotesk Light"/>
                        </a:rPr>
                        <a:t>Lichens</a:t>
                      </a:r>
                      <a:endParaRPr sz="1050">
                        <a:latin typeface="Aktiv Grotesk Light"/>
                        <a:cs typeface="Aktiv Grotesk Light"/>
                      </a:endParaRPr>
                    </a:p>
                  </a:txBody>
                  <a:tcPr marL="0" marR="0" marT="25400" marB="0"/>
                </a:tc>
                <a:tc>
                  <a:txBody>
                    <a:bodyPr/>
                    <a:lstStyle/>
                    <a:p>
                      <a:pPr marR="466090" algn="r">
                        <a:lnSpc>
                          <a:spcPct val="100000"/>
                        </a:lnSpc>
                        <a:spcBef>
                          <a:spcPts val="200"/>
                        </a:spcBef>
                      </a:pPr>
                      <a:r>
                        <a:rPr sz="1050" b="0" spc="-10" dirty="0">
                          <a:solidFill>
                            <a:srgbClr val="231F20"/>
                          </a:solidFill>
                          <a:latin typeface="Aktiv Grotesk Light"/>
                          <a:cs typeface="Aktiv Grotesk Light"/>
                        </a:rPr>
                        <a:t>17,000</a:t>
                      </a:r>
                      <a:endParaRPr sz="1050">
                        <a:latin typeface="Aktiv Grotesk Light"/>
                        <a:cs typeface="Aktiv Grotesk Light"/>
                      </a:endParaRPr>
                    </a:p>
                  </a:txBody>
                  <a:tcPr marL="0" marR="0" marT="25400" marB="0"/>
                </a:tc>
                <a:tc>
                  <a:txBody>
                    <a:bodyPr/>
                    <a:lstStyle/>
                    <a:p>
                      <a:pPr marR="488950" algn="r">
                        <a:lnSpc>
                          <a:spcPct val="100000"/>
                        </a:lnSpc>
                        <a:spcBef>
                          <a:spcPts val="200"/>
                        </a:spcBef>
                      </a:pPr>
                      <a:r>
                        <a:rPr sz="1050" b="0" spc="-25" dirty="0">
                          <a:solidFill>
                            <a:srgbClr val="231F20"/>
                          </a:solidFill>
                          <a:latin typeface="Aktiv Grotesk Light"/>
                          <a:cs typeface="Aktiv Grotesk Light"/>
                        </a:rPr>
                        <a:t>86</a:t>
                      </a:r>
                      <a:endParaRPr sz="1050">
                        <a:latin typeface="Aktiv Grotesk Light"/>
                        <a:cs typeface="Aktiv Grotesk Light"/>
                      </a:endParaRPr>
                    </a:p>
                  </a:txBody>
                  <a:tcPr marL="0" marR="0" marT="25400" marB="0"/>
                </a:tc>
                <a:tc>
                  <a:txBody>
                    <a:bodyPr/>
                    <a:lstStyle/>
                    <a:p>
                      <a:pPr marR="864869" algn="r">
                        <a:lnSpc>
                          <a:spcPct val="100000"/>
                        </a:lnSpc>
                        <a:spcBef>
                          <a:spcPts val="200"/>
                        </a:spcBef>
                      </a:pPr>
                      <a:r>
                        <a:rPr sz="1050" b="0" spc="-25" dirty="0">
                          <a:solidFill>
                            <a:srgbClr val="231F20"/>
                          </a:solidFill>
                          <a:latin typeface="Aktiv Grotesk Light"/>
                          <a:cs typeface="Aktiv Grotesk Light"/>
                        </a:rPr>
                        <a:t>0.5</a:t>
                      </a:r>
                      <a:endParaRPr sz="1050">
                        <a:latin typeface="Aktiv Grotesk Light"/>
                        <a:cs typeface="Aktiv Grotesk Light"/>
                      </a:endParaRPr>
                    </a:p>
                  </a:txBody>
                  <a:tcPr marL="0" marR="0" marT="25400" marB="0"/>
                </a:tc>
                <a:tc>
                  <a:txBody>
                    <a:bodyPr/>
                    <a:lstStyle/>
                    <a:p>
                      <a:pPr marR="673100" algn="r">
                        <a:lnSpc>
                          <a:spcPct val="100000"/>
                        </a:lnSpc>
                        <a:spcBef>
                          <a:spcPts val="200"/>
                        </a:spcBef>
                      </a:pPr>
                      <a:r>
                        <a:rPr sz="1050" b="0" spc="-25" dirty="0">
                          <a:solidFill>
                            <a:srgbClr val="231F20"/>
                          </a:solidFill>
                          <a:latin typeface="Aktiv Grotesk Light"/>
                          <a:cs typeface="Aktiv Grotesk Light"/>
                        </a:rPr>
                        <a:t>62</a:t>
                      </a:r>
                      <a:endParaRPr sz="1050">
                        <a:latin typeface="Aktiv Grotesk Light"/>
                        <a:cs typeface="Aktiv Grotesk Light"/>
                      </a:endParaRPr>
                    </a:p>
                  </a:txBody>
                  <a:tcPr marL="0" marR="0" marT="25400" marB="0"/>
                </a:tc>
                <a:extLst>
                  <a:ext uri="{0D108BD9-81ED-4DB2-BD59-A6C34878D82A}">
                    <a16:rowId xmlns:a16="http://schemas.microsoft.com/office/drawing/2014/main" val="10010"/>
                  </a:ext>
                </a:extLst>
              </a:tr>
              <a:tr h="214629">
                <a:tc>
                  <a:txBody>
                    <a:bodyPr/>
                    <a:lstStyle/>
                    <a:p>
                      <a:pPr marL="199390">
                        <a:lnSpc>
                          <a:spcPct val="100000"/>
                        </a:lnSpc>
                        <a:spcBef>
                          <a:spcPts val="170"/>
                        </a:spcBef>
                      </a:pPr>
                      <a:r>
                        <a:rPr sz="1050" b="0" spc="-10" dirty="0">
                          <a:solidFill>
                            <a:srgbClr val="231F20"/>
                          </a:solidFill>
                          <a:latin typeface="Aktiv Grotesk Light"/>
                          <a:cs typeface="Aktiv Grotesk Light"/>
                        </a:rPr>
                        <a:t>Mushrooms</a:t>
                      </a:r>
                      <a:endParaRPr sz="1050">
                        <a:latin typeface="Aktiv Grotesk Light"/>
                        <a:cs typeface="Aktiv Grotesk Light"/>
                      </a:endParaRPr>
                    </a:p>
                  </a:txBody>
                  <a:tcPr marL="0" marR="0" marT="21590" marB="0"/>
                </a:tc>
                <a:tc>
                  <a:txBody>
                    <a:bodyPr/>
                    <a:lstStyle/>
                    <a:p>
                      <a:pPr marR="466090" algn="r">
                        <a:lnSpc>
                          <a:spcPct val="100000"/>
                        </a:lnSpc>
                        <a:spcBef>
                          <a:spcPts val="170"/>
                        </a:spcBef>
                      </a:pPr>
                      <a:r>
                        <a:rPr sz="1050" b="0" spc="-10" dirty="0">
                          <a:solidFill>
                            <a:srgbClr val="231F20"/>
                          </a:solidFill>
                          <a:latin typeface="Aktiv Grotesk Light"/>
                          <a:cs typeface="Aktiv Grotesk Light"/>
                        </a:rPr>
                        <a:t>120,000</a:t>
                      </a:r>
                      <a:endParaRPr sz="1050">
                        <a:latin typeface="Aktiv Grotesk Light"/>
                        <a:cs typeface="Aktiv Grotesk Light"/>
                      </a:endParaRPr>
                    </a:p>
                  </a:txBody>
                  <a:tcPr marL="0" marR="0" marT="21590" marB="0"/>
                </a:tc>
                <a:tc>
                  <a:txBody>
                    <a:bodyPr/>
                    <a:lstStyle/>
                    <a:p>
                      <a:pPr marR="488950" algn="r">
                        <a:lnSpc>
                          <a:spcPct val="100000"/>
                        </a:lnSpc>
                        <a:spcBef>
                          <a:spcPts val="170"/>
                        </a:spcBef>
                      </a:pPr>
                      <a:r>
                        <a:rPr sz="1050" b="0" spc="-25" dirty="0">
                          <a:solidFill>
                            <a:srgbClr val="231F20"/>
                          </a:solidFill>
                          <a:latin typeface="Aktiv Grotesk Light"/>
                          <a:cs typeface="Aktiv Grotesk Light"/>
                        </a:rPr>
                        <a:t>539</a:t>
                      </a:r>
                      <a:endParaRPr sz="1050">
                        <a:latin typeface="Aktiv Grotesk Light"/>
                        <a:cs typeface="Aktiv Grotesk Light"/>
                      </a:endParaRPr>
                    </a:p>
                  </a:txBody>
                  <a:tcPr marL="0" marR="0" marT="21590" marB="0"/>
                </a:tc>
                <a:tc>
                  <a:txBody>
                    <a:bodyPr/>
                    <a:lstStyle/>
                    <a:p>
                      <a:pPr marR="864869" algn="r">
                        <a:lnSpc>
                          <a:spcPct val="100000"/>
                        </a:lnSpc>
                        <a:spcBef>
                          <a:spcPts val="170"/>
                        </a:spcBef>
                      </a:pPr>
                      <a:r>
                        <a:rPr sz="1050" b="0" spc="-25" dirty="0">
                          <a:solidFill>
                            <a:srgbClr val="231F20"/>
                          </a:solidFill>
                          <a:latin typeface="Aktiv Grotesk Light"/>
                          <a:cs typeface="Aktiv Grotesk Light"/>
                        </a:rPr>
                        <a:t>0.4</a:t>
                      </a:r>
                      <a:endParaRPr sz="1050">
                        <a:latin typeface="Aktiv Grotesk Light"/>
                        <a:cs typeface="Aktiv Grotesk Light"/>
                      </a:endParaRPr>
                    </a:p>
                  </a:txBody>
                  <a:tcPr marL="0" marR="0" marT="21590" marB="0"/>
                </a:tc>
                <a:tc>
                  <a:txBody>
                    <a:bodyPr/>
                    <a:lstStyle/>
                    <a:p>
                      <a:pPr marR="673100" algn="r">
                        <a:lnSpc>
                          <a:spcPct val="100000"/>
                        </a:lnSpc>
                        <a:spcBef>
                          <a:spcPts val="170"/>
                        </a:spcBef>
                      </a:pPr>
                      <a:r>
                        <a:rPr sz="1050" b="0" spc="-25" dirty="0">
                          <a:solidFill>
                            <a:srgbClr val="231F20"/>
                          </a:solidFill>
                          <a:latin typeface="Aktiv Grotesk Light"/>
                          <a:cs typeface="Aktiv Grotesk Light"/>
                        </a:rPr>
                        <a:t>226</a:t>
                      </a:r>
                      <a:endParaRPr sz="1050">
                        <a:latin typeface="Aktiv Grotesk Light"/>
                        <a:cs typeface="Aktiv Grotesk Light"/>
                      </a:endParaRPr>
                    </a:p>
                  </a:txBody>
                  <a:tcPr marL="0" marR="0" marT="21590" marB="0"/>
                </a:tc>
                <a:extLst>
                  <a:ext uri="{0D108BD9-81ED-4DB2-BD59-A6C34878D82A}">
                    <a16:rowId xmlns:a16="http://schemas.microsoft.com/office/drawing/2014/main" val="10011"/>
                  </a:ext>
                </a:extLst>
              </a:tr>
              <a:tr h="214629">
                <a:tc>
                  <a:txBody>
                    <a:bodyPr/>
                    <a:lstStyle/>
                    <a:p>
                      <a:pPr marL="199390">
                        <a:lnSpc>
                          <a:spcPct val="100000"/>
                        </a:lnSpc>
                        <a:spcBef>
                          <a:spcPts val="170"/>
                        </a:spcBef>
                      </a:pPr>
                      <a:r>
                        <a:rPr sz="1050" b="0" dirty="0">
                          <a:solidFill>
                            <a:srgbClr val="231F20"/>
                          </a:solidFill>
                          <a:latin typeface="Aktiv Grotesk Light"/>
                          <a:cs typeface="Aktiv Grotesk Light"/>
                        </a:rPr>
                        <a:t>Brown</a:t>
                      </a:r>
                      <a:r>
                        <a:rPr sz="1050" b="0" spc="100" dirty="0">
                          <a:solidFill>
                            <a:srgbClr val="231F20"/>
                          </a:solidFill>
                          <a:latin typeface="Aktiv Grotesk Light"/>
                          <a:cs typeface="Aktiv Grotesk Light"/>
                        </a:rPr>
                        <a:t> </a:t>
                      </a:r>
                      <a:r>
                        <a:rPr sz="1050" b="0" spc="-10" dirty="0">
                          <a:solidFill>
                            <a:srgbClr val="231F20"/>
                          </a:solidFill>
                          <a:latin typeface="Aktiv Grotesk Light"/>
                          <a:cs typeface="Aktiv Grotesk Light"/>
                        </a:rPr>
                        <a:t>algae</a:t>
                      </a:r>
                      <a:endParaRPr sz="1050">
                        <a:latin typeface="Aktiv Grotesk Light"/>
                        <a:cs typeface="Aktiv Grotesk Light"/>
                      </a:endParaRPr>
                    </a:p>
                  </a:txBody>
                  <a:tcPr marL="0" marR="0" marT="21590" marB="0">
                    <a:lnB w="9525">
                      <a:solidFill>
                        <a:srgbClr val="C2DCDF"/>
                      </a:solidFill>
                      <a:prstDash val="solid"/>
                    </a:lnB>
                  </a:tcPr>
                </a:tc>
                <a:tc>
                  <a:txBody>
                    <a:bodyPr/>
                    <a:lstStyle/>
                    <a:p>
                      <a:pPr marR="466090" algn="r">
                        <a:lnSpc>
                          <a:spcPct val="100000"/>
                        </a:lnSpc>
                        <a:spcBef>
                          <a:spcPts val="170"/>
                        </a:spcBef>
                      </a:pPr>
                      <a:r>
                        <a:rPr sz="1050" b="0" spc="-10" dirty="0">
                          <a:solidFill>
                            <a:srgbClr val="231F20"/>
                          </a:solidFill>
                          <a:latin typeface="Aktiv Grotesk Light"/>
                          <a:cs typeface="Aktiv Grotesk Light"/>
                        </a:rPr>
                        <a:t>4,541</a:t>
                      </a:r>
                      <a:endParaRPr sz="1050">
                        <a:latin typeface="Aktiv Grotesk Light"/>
                        <a:cs typeface="Aktiv Grotesk Light"/>
                      </a:endParaRPr>
                    </a:p>
                  </a:txBody>
                  <a:tcPr marL="0" marR="0" marT="21590" marB="0">
                    <a:lnB w="9525">
                      <a:solidFill>
                        <a:srgbClr val="C2DCDF"/>
                      </a:solidFill>
                      <a:prstDash val="solid"/>
                    </a:lnB>
                  </a:tcPr>
                </a:tc>
                <a:tc>
                  <a:txBody>
                    <a:bodyPr/>
                    <a:lstStyle/>
                    <a:p>
                      <a:pPr marR="488950" algn="r">
                        <a:lnSpc>
                          <a:spcPct val="100000"/>
                        </a:lnSpc>
                        <a:spcBef>
                          <a:spcPts val="170"/>
                        </a:spcBef>
                      </a:pPr>
                      <a:r>
                        <a:rPr sz="1050" b="0" spc="-25" dirty="0">
                          <a:solidFill>
                            <a:srgbClr val="231F20"/>
                          </a:solidFill>
                          <a:latin typeface="Aktiv Grotesk Light"/>
                          <a:cs typeface="Aktiv Grotesk Light"/>
                        </a:rPr>
                        <a:t>15</a:t>
                      </a:r>
                      <a:endParaRPr sz="1050">
                        <a:latin typeface="Aktiv Grotesk Light"/>
                        <a:cs typeface="Aktiv Grotesk Light"/>
                      </a:endParaRPr>
                    </a:p>
                  </a:txBody>
                  <a:tcPr marL="0" marR="0" marT="21590" marB="0">
                    <a:lnB w="9525">
                      <a:solidFill>
                        <a:srgbClr val="C2DCDF"/>
                      </a:solidFill>
                      <a:prstDash val="solid"/>
                    </a:lnB>
                  </a:tcPr>
                </a:tc>
                <a:tc>
                  <a:txBody>
                    <a:bodyPr/>
                    <a:lstStyle/>
                    <a:p>
                      <a:pPr marR="864869" algn="r">
                        <a:lnSpc>
                          <a:spcPct val="100000"/>
                        </a:lnSpc>
                        <a:spcBef>
                          <a:spcPts val="170"/>
                        </a:spcBef>
                      </a:pPr>
                      <a:r>
                        <a:rPr sz="1050" b="0" spc="-25" dirty="0">
                          <a:solidFill>
                            <a:srgbClr val="231F20"/>
                          </a:solidFill>
                          <a:latin typeface="Aktiv Grotesk Light"/>
                          <a:cs typeface="Aktiv Grotesk Light"/>
                        </a:rPr>
                        <a:t>0.3</a:t>
                      </a:r>
                      <a:endParaRPr sz="1050">
                        <a:latin typeface="Aktiv Grotesk Light"/>
                        <a:cs typeface="Aktiv Grotesk Light"/>
                      </a:endParaRPr>
                    </a:p>
                  </a:txBody>
                  <a:tcPr marL="0" marR="0" marT="21590" marB="0">
                    <a:lnB w="9525">
                      <a:solidFill>
                        <a:srgbClr val="C2DCDF"/>
                      </a:solidFill>
                      <a:prstDash val="solid"/>
                    </a:lnB>
                  </a:tcPr>
                </a:tc>
                <a:tc>
                  <a:txBody>
                    <a:bodyPr/>
                    <a:lstStyle/>
                    <a:p>
                      <a:pPr marR="673100" algn="r">
                        <a:lnSpc>
                          <a:spcPct val="100000"/>
                        </a:lnSpc>
                        <a:spcBef>
                          <a:spcPts val="170"/>
                        </a:spcBef>
                      </a:pPr>
                      <a:r>
                        <a:rPr sz="1050" b="0" spc="-50" dirty="0">
                          <a:solidFill>
                            <a:srgbClr val="231F20"/>
                          </a:solidFill>
                          <a:latin typeface="Aktiv Grotesk Light"/>
                          <a:cs typeface="Aktiv Grotesk Light"/>
                        </a:rPr>
                        <a:t>6</a:t>
                      </a:r>
                      <a:endParaRPr sz="1050">
                        <a:latin typeface="Aktiv Grotesk Light"/>
                        <a:cs typeface="Aktiv Grotesk Light"/>
                      </a:endParaRPr>
                    </a:p>
                  </a:txBody>
                  <a:tcPr marL="0" marR="0" marT="21590" marB="0">
                    <a:lnB w="9525">
                      <a:solidFill>
                        <a:srgbClr val="C2DCDF"/>
                      </a:solidFill>
                      <a:prstDash val="solid"/>
                    </a:lnB>
                  </a:tcPr>
                </a:tc>
                <a:extLst>
                  <a:ext uri="{0D108BD9-81ED-4DB2-BD59-A6C34878D82A}">
                    <a16:rowId xmlns:a16="http://schemas.microsoft.com/office/drawing/2014/main" val="10012"/>
                  </a:ext>
                </a:extLst>
              </a:tr>
              <a:tr h="214629">
                <a:tc>
                  <a:txBody>
                    <a:bodyPr/>
                    <a:lstStyle/>
                    <a:p>
                      <a:pPr marL="199390">
                        <a:lnSpc>
                          <a:spcPct val="100000"/>
                        </a:lnSpc>
                        <a:spcBef>
                          <a:spcPts val="170"/>
                        </a:spcBef>
                      </a:pPr>
                      <a:r>
                        <a:rPr sz="1050" b="0" spc="-10" dirty="0">
                          <a:solidFill>
                            <a:srgbClr val="231F20"/>
                          </a:solidFill>
                          <a:latin typeface="Aktiv Grotesk Medium"/>
                          <a:cs typeface="Aktiv Grotesk Medium"/>
                        </a:rPr>
                        <a:t>Subtotal</a:t>
                      </a:r>
                      <a:endParaRPr sz="1050">
                        <a:latin typeface="Aktiv Grotesk Medium"/>
                        <a:cs typeface="Aktiv Grotesk Medium"/>
                      </a:endParaRPr>
                    </a:p>
                  </a:txBody>
                  <a:tcPr marL="0" marR="0" marT="21590" marB="0">
                    <a:lnT w="9525">
                      <a:solidFill>
                        <a:srgbClr val="C2DCDF"/>
                      </a:solidFill>
                      <a:prstDash val="solid"/>
                    </a:lnT>
                    <a:lnB w="9525">
                      <a:solidFill>
                        <a:srgbClr val="C2DCDF"/>
                      </a:solidFill>
                      <a:prstDash val="solid"/>
                    </a:lnB>
                  </a:tcPr>
                </a:tc>
                <a:tc>
                  <a:txBody>
                    <a:bodyPr/>
                    <a:lstStyle/>
                    <a:p>
                      <a:pPr marR="466090" algn="r">
                        <a:lnSpc>
                          <a:spcPct val="100000"/>
                        </a:lnSpc>
                        <a:spcBef>
                          <a:spcPts val="170"/>
                        </a:spcBef>
                      </a:pPr>
                      <a:r>
                        <a:rPr sz="1050" b="0" spc="-10" dirty="0">
                          <a:solidFill>
                            <a:srgbClr val="231F20"/>
                          </a:solidFill>
                          <a:latin typeface="Aktiv Grotesk Light"/>
                          <a:cs typeface="Aktiv Grotesk Light"/>
                        </a:rPr>
                        <a:t>141,541</a:t>
                      </a:r>
                      <a:endParaRPr sz="1050">
                        <a:latin typeface="Aktiv Grotesk Light"/>
                        <a:cs typeface="Aktiv Grotesk Light"/>
                      </a:endParaRPr>
                    </a:p>
                  </a:txBody>
                  <a:tcPr marL="0" marR="0" marT="21590" marB="0">
                    <a:lnT w="9525">
                      <a:solidFill>
                        <a:srgbClr val="C2DCDF"/>
                      </a:solidFill>
                      <a:prstDash val="solid"/>
                    </a:lnT>
                    <a:lnB w="9525">
                      <a:solidFill>
                        <a:srgbClr val="C2DCDF"/>
                      </a:solidFill>
                      <a:prstDash val="solid"/>
                    </a:lnB>
                  </a:tcPr>
                </a:tc>
                <a:tc>
                  <a:txBody>
                    <a:bodyPr/>
                    <a:lstStyle/>
                    <a:p>
                      <a:pPr marR="488950" algn="r">
                        <a:lnSpc>
                          <a:spcPct val="100000"/>
                        </a:lnSpc>
                        <a:spcBef>
                          <a:spcPts val="170"/>
                        </a:spcBef>
                      </a:pPr>
                      <a:r>
                        <a:rPr sz="1050" b="0" spc="-25" dirty="0">
                          <a:solidFill>
                            <a:srgbClr val="231F20"/>
                          </a:solidFill>
                          <a:latin typeface="Aktiv Grotesk Light"/>
                          <a:cs typeface="Aktiv Grotesk Light"/>
                        </a:rPr>
                        <a:t>640</a:t>
                      </a:r>
                      <a:endParaRPr sz="1050">
                        <a:latin typeface="Aktiv Grotesk Light"/>
                        <a:cs typeface="Aktiv Grotesk Light"/>
                      </a:endParaRPr>
                    </a:p>
                  </a:txBody>
                  <a:tcPr marL="0" marR="0" marT="21590" marB="0">
                    <a:lnT w="9525">
                      <a:solidFill>
                        <a:srgbClr val="C2DCDF"/>
                      </a:solidFill>
                      <a:prstDash val="solid"/>
                    </a:lnT>
                    <a:lnB w="9525">
                      <a:solidFill>
                        <a:srgbClr val="C2DCDF"/>
                      </a:solidFill>
                      <a:prstDash val="solid"/>
                    </a:lnB>
                  </a:tcPr>
                </a:tc>
                <a:tc>
                  <a:txBody>
                    <a:bodyPr/>
                    <a:lstStyle/>
                    <a:p>
                      <a:pPr marR="864869" algn="r">
                        <a:lnSpc>
                          <a:spcPct val="100000"/>
                        </a:lnSpc>
                        <a:spcBef>
                          <a:spcPts val="170"/>
                        </a:spcBef>
                      </a:pPr>
                      <a:r>
                        <a:rPr sz="1050" b="0" spc="-25" dirty="0">
                          <a:solidFill>
                            <a:srgbClr val="231F20"/>
                          </a:solidFill>
                          <a:latin typeface="Aktiv Grotesk Light"/>
                          <a:cs typeface="Aktiv Grotesk Light"/>
                        </a:rPr>
                        <a:t>0.5</a:t>
                      </a:r>
                      <a:endParaRPr sz="1050">
                        <a:latin typeface="Aktiv Grotesk Light"/>
                        <a:cs typeface="Aktiv Grotesk Light"/>
                      </a:endParaRPr>
                    </a:p>
                  </a:txBody>
                  <a:tcPr marL="0" marR="0" marT="21590" marB="0">
                    <a:lnT w="9525">
                      <a:solidFill>
                        <a:srgbClr val="C2DCDF"/>
                      </a:solidFill>
                      <a:prstDash val="solid"/>
                    </a:lnT>
                    <a:lnB w="9525">
                      <a:solidFill>
                        <a:srgbClr val="C2DCDF"/>
                      </a:solidFill>
                      <a:prstDash val="solid"/>
                    </a:lnB>
                  </a:tcPr>
                </a:tc>
                <a:tc>
                  <a:txBody>
                    <a:bodyPr/>
                    <a:lstStyle/>
                    <a:p>
                      <a:pPr marR="673100" algn="r">
                        <a:lnSpc>
                          <a:spcPct val="100000"/>
                        </a:lnSpc>
                        <a:spcBef>
                          <a:spcPts val="170"/>
                        </a:spcBef>
                      </a:pPr>
                      <a:r>
                        <a:rPr sz="1050" b="0" spc="-25" dirty="0">
                          <a:solidFill>
                            <a:srgbClr val="231F20"/>
                          </a:solidFill>
                          <a:latin typeface="Aktiv Grotesk Light"/>
                          <a:cs typeface="Aktiv Grotesk Light"/>
                        </a:rPr>
                        <a:t>294</a:t>
                      </a:r>
                      <a:endParaRPr sz="1050">
                        <a:latin typeface="Aktiv Grotesk Light"/>
                        <a:cs typeface="Aktiv Grotesk Light"/>
                      </a:endParaRPr>
                    </a:p>
                  </a:txBody>
                  <a:tcPr marL="0" marR="0" marT="21590" marB="0">
                    <a:lnT w="9525">
                      <a:solidFill>
                        <a:srgbClr val="C2DCDF"/>
                      </a:solidFill>
                      <a:prstDash val="solid"/>
                    </a:lnT>
                    <a:lnB w="9525">
                      <a:solidFill>
                        <a:srgbClr val="C2DCDF"/>
                      </a:solidFill>
                      <a:prstDash val="solid"/>
                    </a:lnB>
                  </a:tcPr>
                </a:tc>
                <a:extLst>
                  <a:ext uri="{0D108BD9-81ED-4DB2-BD59-A6C34878D82A}">
                    <a16:rowId xmlns:a16="http://schemas.microsoft.com/office/drawing/2014/main" val="10013"/>
                  </a:ext>
                </a:extLst>
              </a:tr>
              <a:tr h="245110">
                <a:tc>
                  <a:txBody>
                    <a:bodyPr/>
                    <a:lstStyle/>
                    <a:p>
                      <a:pPr marL="59690">
                        <a:lnSpc>
                          <a:spcPct val="100000"/>
                        </a:lnSpc>
                        <a:spcBef>
                          <a:spcPts val="220"/>
                        </a:spcBef>
                      </a:pPr>
                      <a:r>
                        <a:rPr sz="950" b="0" spc="-10" dirty="0">
                          <a:solidFill>
                            <a:srgbClr val="231F20"/>
                          </a:solidFill>
                          <a:latin typeface="Aktiv Grotesk Medium"/>
                          <a:cs typeface="Aktiv Grotesk Medium"/>
                        </a:rPr>
                        <a:t>TOTAL</a:t>
                      </a:r>
                      <a:endParaRPr sz="950">
                        <a:latin typeface="Aktiv Grotesk Medium"/>
                        <a:cs typeface="Aktiv Grotesk Medium"/>
                      </a:endParaRPr>
                    </a:p>
                  </a:txBody>
                  <a:tcPr marL="0" marR="0" marT="27940" marB="0">
                    <a:lnT w="9525">
                      <a:solidFill>
                        <a:srgbClr val="C2DCDF"/>
                      </a:solidFill>
                      <a:prstDash val="solid"/>
                    </a:lnT>
                    <a:lnB w="9525">
                      <a:solidFill>
                        <a:srgbClr val="C2DCDF"/>
                      </a:solidFill>
                      <a:prstDash val="solid"/>
                    </a:lnB>
                  </a:tcPr>
                </a:tc>
                <a:tc>
                  <a:txBody>
                    <a:bodyPr/>
                    <a:lstStyle/>
                    <a:p>
                      <a:pPr marR="466090" algn="r">
                        <a:lnSpc>
                          <a:spcPct val="100000"/>
                        </a:lnSpc>
                        <a:spcBef>
                          <a:spcPts val="170"/>
                        </a:spcBef>
                      </a:pPr>
                      <a:r>
                        <a:rPr sz="1050" b="0" spc="-10" dirty="0">
                          <a:solidFill>
                            <a:srgbClr val="231F20"/>
                          </a:solidFill>
                          <a:latin typeface="Aktiv Grotesk Light"/>
                          <a:cs typeface="Aktiv Grotesk Light"/>
                        </a:rPr>
                        <a:t>2,161,755</a:t>
                      </a:r>
                      <a:endParaRPr sz="1050">
                        <a:latin typeface="Aktiv Grotesk Light"/>
                        <a:cs typeface="Aktiv Grotesk Light"/>
                      </a:endParaRPr>
                    </a:p>
                  </a:txBody>
                  <a:tcPr marL="0" marR="0" marT="21590" marB="0">
                    <a:lnT w="9525">
                      <a:solidFill>
                        <a:srgbClr val="C2DCDF"/>
                      </a:solidFill>
                      <a:prstDash val="solid"/>
                    </a:lnT>
                    <a:lnB w="9525">
                      <a:solidFill>
                        <a:srgbClr val="C2DCDF"/>
                      </a:solidFill>
                      <a:prstDash val="solid"/>
                    </a:lnB>
                  </a:tcPr>
                </a:tc>
                <a:tc>
                  <a:txBody>
                    <a:bodyPr/>
                    <a:lstStyle/>
                    <a:p>
                      <a:pPr marR="488950" algn="r">
                        <a:lnSpc>
                          <a:spcPct val="100000"/>
                        </a:lnSpc>
                        <a:spcBef>
                          <a:spcPts val="170"/>
                        </a:spcBef>
                      </a:pPr>
                      <a:r>
                        <a:rPr sz="1050" b="0" spc="-10" dirty="0">
                          <a:solidFill>
                            <a:srgbClr val="231F20"/>
                          </a:solidFill>
                          <a:latin typeface="Aktiv Grotesk Light"/>
                          <a:cs typeface="Aktiv Grotesk Light"/>
                        </a:rPr>
                        <a:t>150,388</a:t>
                      </a:r>
                      <a:endParaRPr sz="1050">
                        <a:latin typeface="Aktiv Grotesk Light"/>
                        <a:cs typeface="Aktiv Grotesk Light"/>
                      </a:endParaRPr>
                    </a:p>
                  </a:txBody>
                  <a:tcPr marL="0" marR="0" marT="21590" marB="0">
                    <a:lnT w="9525">
                      <a:solidFill>
                        <a:srgbClr val="C2DCDF"/>
                      </a:solidFill>
                      <a:prstDash val="solid"/>
                    </a:lnT>
                    <a:lnB w="9525">
                      <a:solidFill>
                        <a:srgbClr val="C2DCDF"/>
                      </a:solidFill>
                      <a:prstDash val="solid"/>
                    </a:lnB>
                  </a:tcPr>
                </a:tc>
                <a:tc>
                  <a:txBody>
                    <a:bodyPr/>
                    <a:lstStyle/>
                    <a:p>
                      <a:pPr marR="858519" algn="r">
                        <a:lnSpc>
                          <a:spcPct val="100000"/>
                        </a:lnSpc>
                        <a:spcBef>
                          <a:spcPts val="170"/>
                        </a:spcBef>
                      </a:pPr>
                      <a:r>
                        <a:rPr sz="1050" b="0" spc="-50" dirty="0">
                          <a:solidFill>
                            <a:srgbClr val="231F20"/>
                          </a:solidFill>
                          <a:latin typeface="Aktiv Grotesk Light"/>
                          <a:cs typeface="Aktiv Grotesk Light"/>
                        </a:rPr>
                        <a:t>7</a:t>
                      </a:r>
                      <a:endParaRPr sz="1050">
                        <a:latin typeface="Aktiv Grotesk Light"/>
                        <a:cs typeface="Aktiv Grotesk Light"/>
                      </a:endParaRPr>
                    </a:p>
                  </a:txBody>
                  <a:tcPr marL="0" marR="0" marT="21590" marB="0">
                    <a:lnT w="9525">
                      <a:solidFill>
                        <a:srgbClr val="C2DCDF"/>
                      </a:solidFill>
                      <a:prstDash val="solid"/>
                    </a:lnT>
                    <a:lnB w="9525">
                      <a:solidFill>
                        <a:srgbClr val="C2DCDF"/>
                      </a:solidFill>
                      <a:prstDash val="solid"/>
                    </a:lnB>
                  </a:tcPr>
                </a:tc>
                <a:tc>
                  <a:txBody>
                    <a:bodyPr/>
                    <a:lstStyle/>
                    <a:p>
                      <a:pPr marR="673100" algn="r">
                        <a:lnSpc>
                          <a:spcPct val="100000"/>
                        </a:lnSpc>
                        <a:spcBef>
                          <a:spcPts val="170"/>
                        </a:spcBef>
                      </a:pPr>
                      <a:r>
                        <a:rPr sz="1050" b="0" spc="-10" dirty="0">
                          <a:solidFill>
                            <a:srgbClr val="231F20"/>
                          </a:solidFill>
                          <a:latin typeface="Aktiv Grotesk Light"/>
                          <a:cs typeface="Aktiv Grotesk Light"/>
                        </a:rPr>
                        <a:t>42,108</a:t>
                      </a:r>
                      <a:endParaRPr sz="1050">
                        <a:latin typeface="Aktiv Grotesk Light"/>
                        <a:cs typeface="Aktiv Grotesk Light"/>
                      </a:endParaRPr>
                    </a:p>
                  </a:txBody>
                  <a:tcPr marL="0" marR="0" marT="21590" marB="0">
                    <a:lnT w="9525">
                      <a:solidFill>
                        <a:srgbClr val="C2DCDF"/>
                      </a:solidFill>
                      <a:prstDash val="solid"/>
                    </a:lnT>
                    <a:lnB w="9525">
                      <a:solidFill>
                        <a:srgbClr val="C2DCDF"/>
                      </a:solidFill>
                      <a:prstDash val="solid"/>
                    </a:lnB>
                  </a:tcPr>
                </a:tc>
                <a:extLst>
                  <a:ext uri="{0D108BD9-81ED-4DB2-BD59-A6C34878D82A}">
                    <a16:rowId xmlns:a16="http://schemas.microsoft.com/office/drawing/2014/main" val="10014"/>
                  </a:ext>
                </a:extLst>
              </a:tr>
            </a:tbl>
          </a:graphicData>
        </a:graphic>
      </p:graphicFrame>
      <p:sp>
        <p:nvSpPr>
          <p:cNvPr id="3" name="object 3" title="TABLE 8.1 Numbers of threatened species by major groups of organisms (1996–2022)"/>
          <p:cNvSpPr txBox="1"/>
          <p:nvPr/>
        </p:nvSpPr>
        <p:spPr>
          <a:xfrm>
            <a:off x="1828800" y="5105400"/>
            <a:ext cx="8375015" cy="762000"/>
          </a:xfrm>
          <a:prstGeom prst="rect">
            <a:avLst/>
          </a:prstGeom>
        </p:spPr>
        <p:txBody>
          <a:bodyPr vert="horz" wrap="square" lIns="0" tIns="12065" rIns="0" bIns="0" rtlCol="0">
            <a:spAutoFit/>
          </a:bodyPr>
          <a:lstStyle/>
          <a:p>
            <a:pPr marL="12700" marR="191135">
              <a:lnSpc>
                <a:spcPct val="109800"/>
              </a:lnSpc>
              <a:spcBef>
                <a:spcPts val="95"/>
              </a:spcBef>
            </a:pPr>
            <a:r>
              <a:rPr sz="1100" b="0" i="1" spc="60" dirty="0">
                <a:solidFill>
                  <a:srgbClr val="231F20"/>
                </a:solidFill>
                <a:latin typeface="Aktiv Grotesk Light"/>
                <a:cs typeface="Aktiv Grotesk Light"/>
              </a:rPr>
              <a:t>Source</a:t>
            </a:r>
            <a:r>
              <a:rPr sz="1100" b="0" spc="60" dirty="0">
                <a:solidFill>
                  <a:srgbClr val="231F20"/>
                </a:solidFill>
                <a:latin typeface="Aktiv Grotesk Light"/>
                <a:cs typeface="Aktiv Grotesk Light"/>
              </a:rPr>
              <a:t>:</a:t>
            </a:r>
            <a:r>
              <a:rPr sz="1100" b="0" spc="40" dirty="0">
                <a:solidFill>
                  <a:srgbClr val="231F20"/>
                </a:solidFill>
                <a:latin typeface="Aktiv Grotesk Light"/>
                <a:cs typeface="Aktiv Grotesk Light"/>
              </a:rPr>
              <a:t> </a:t>
            </a:r>
            <a:r>
              <a:rPr sz="1100" b="0" spc="70" dirty="0">
                <a:solidFill>
                  <a:srgbClr val="231F20"/>
                </a:solidFill>
                <a:latin typeface="Aktiv Grotesk Light"/>
                <a:cs typeface="Aktiv Grotesk Light"/>
              </a:rPr>
              <a:t>Data</a:t>
            </a:r>
            <a:r>
              <a:rPr sz="1100" b="0" spc="40" dirty="0">
                <a:solidFill>
                  <a:srgbClr val="231F20"/>
                </a:solidFill>
                <a:latin typeface="Aktiv Grotesk Light"/>
                <a:cs typeface="Aktiv Grotesk Light"/>
              </a:rPr>
              <a:t> </a:t>
            </a:r>
            <a:r>
              <a:rPr sz="1100" b="0" spc="65" dirty="0">
                <a:solidFill>
                  <a:srgbClr val="231F20"/>
                </a:solidFill>
                <a:latin typeface="Aktiv Grotesk Light"/>
                <a:cs typeface="Aktiv Grotesk Light"/>
              </a:rPr>
              <a:t>from</a:t>
            </a:r>
            <a:r>
              <a:rPr sz="1100" b="0" spc="40" dirty="0">
                <a:solidFill>
                  <a:srgbClr val="231F20"/>
                </a:solidFill>
                <a:latin typeface="Aktiv Grotesk Light"/>
                <a:cs typeface="Aktiv Grotesk Light"/>
              </a:rPr>
              <a:t> </a:t>
            </a:r>
            <a:r>
              <a:rPr sz="1100" b="0" spc="65" dirty="0">
                <a:solidFill>
                  <a:srgbClr val="231F20"/>
                </a:solidFill>
                <a:latin typeface="Aktiv Grotesk Light"/>
                <a:cs typeface="Aktiv Grotesk Light"/>
              </a:rPr>
              <a:t>IUCN.</a:t>
            </a:r>
            <a:r>
              <a:rPr sz="1100" b="0" spc="45" dirty="0">
                <a:solidFill>
                  <a:srgbClr val="231F20"/>
                </a:solidFill>
                <a:latin typeface="Aktiv Grotesk Light"/>
                <a:cs typeface="Aktiv Grotesk Light"/>
              </a:rPr>
              <a:t> </a:t>
            </a:r>
            <a:r>
              <a:rPr sz="1100" b="0" spc="70" dirty="0">
                <a:solidFill>
                  <a:srgbClr val="231F20"/>
                </a:solidFill>
                <a:latin typeface="Aktiv Grotesk Light"/>
                <a:cs typeface="Aktiv Grotesk Light"/>
              </a:rPr>
              <a:t>2022.</a:t>
            </a:r>
            <a:r>
              <a:rPr sz="1100" b="0" spc="40" dirty="0">
                <a:solidFill>
                  <a:srgbClr val="231F20"/>
                </a:solidFill>
                <a:latin typeface="Aktiv Grotesk Light"/>
                <a:cs typeface="Aktiv Grotesk Light"/>
              </a:rPr>
              <a:t> </a:t>
            </a:r>
            <a:r>
              <a:rPr sz="1100" b="0" i="1" spc="75" dirty="0">
                <a:solidFill>
                  <a:srgbClr val="231F20"/>
                </a:solidFill>
                <a:latin typeface="Aktiv Grotesk Light"/>
                <a:cs typeface="Aktiv Grotesk Light"/>
              </a:rPr>
              <a:t>The</a:t>
            </a:r>
            <a:r>
              <a:rPr sz="1100" b="0" i="1" spc="40" dirty="0">
                <a:solidFill>
                  <a:srgbClr val="231F20"/>
                </a:solidFill>
                <a:latin typeface="Aktiv Grotesk Light"/>
                <a:cs typeface="Aktiv Grotesk Light"/>
              </a:rPr>
              <a:t> </a:t>
            </a:r>
            <a:r>
              <a:rPr sz="1100" b="0" i="1" spc="75" dirty="0">
                <a:solidFill>
                  <a:srgbClr val="231F20"/>
                </a:solidFill>
                <a:latin typeface="Aktiv Grotesk Light"/>
                <a:cs typeface="Aktiv Grotesk Light"/>
              </a:rPr>
              <a:t>IUCN</a:t>
            </a:r>
            <a:r>
              <a:rPr sz="1100" b="0" i="1" spc="45" dirty="0">
                <a:solidFill>
                  <a:srgbClr val="231F20"/>
                </a:solidFill>
                <a:latin typeface="Aktiv Grotesk Light"/>
                <a:cs typeface="Aktiv Grotesk Light"/>
              </a:rPr>
              <a:t> </a:t>
            </a:r>
            <a:r>
              <a:rPr sz="1100" b="0" i="1" spc="65" dirty="0">
                <a:solidFill>
                  <a:srgbClr val="231F20"/>
                </a:solidFill>
                <a:latin typeface="Aktiv Grotesk Light"/>
                <a:cs typeface="Aktiv Grotesk Light"/>
              </a:rPr>
              <a:t>Red</a:t>
            </a:r>
            <a:r>
              <a:rPr sz="1100" b="0" i="1" spc="40" dirty="0">
                <a:solidFill>
                  <a:srgbClr val="231F20"/>
                </a:solidFill>
                <a:latin typeface="Aktiv Grotesk Light"/>
                <a:cs typeface="Aktiv Grotesk Light"/>
              </a:rPr>
              <a:t> </a:t>
            </a:r>
            <a:r>
              <a:rPr sz="1100" b="0" i="1" spc="50" dirty="0">
                <a:solidFill>
                  <a:srgbClr val="231F20"/>
                </a:solidFill>
                <a:latin typeface="Aktiv Grotesk Light"/>
                <a:cs typeface="Aktiv Grotesk Light"/>
              </a:rPr>
              <a:t>List</a:t>
            </a:r>
            <a:r>
              <a:rPr sz="1100" b="0" i="1" spc="40" dirty="0">
                <a:solidFill>
                  <a:srgbClr val="231F20"/>
                </a:solidFill>
                <a:latin typeface="Aktiv Grotesk Light"/>
                <a:cs typeface="Aktiv Grotesk Light"/>
              </a:rPr>
              <a:t> </a:t>
            </a:r>
            <a:r>
              <a:rPr sz="1100" b="0" i="1" spc="60" dirty="0">
                <a:solidFill>
                  <a:srgbClr val="231F20"/>
                </a:solidFill>
                <a:latin typeface="Aktiv Grotesk Light"/>
                <a:cs typeface="Aktiv Grotesk Light"/>
              </a:rPr>
              <a:t>of</a:t>
            </a:r>
            <a:r>
              <a:rPr sz="1100" b="0" i="1" spc="45" dirty="0">
                <a:solidFill>
                  <a:srgbClr val="231F20"/>
                </a:solidFill>
                <a:latin typeface="Aktiv Grotesk Light"/>
                <a:cs typeface="Aktiv Grotesk Light"/>
              </a:rPr>
              <a:t> </a:t>
            </a:r>
            <a:r>
              <a:rPr sz="1100" b="0" i="1" spc="65" dirty="0">
                <a:solidFill>
                  <a:srgbClr val="231F20"/>
                </a:solidFill>
                <a:latin typeface="Aktiv Grotesk Light"/>
                <a:cs typeface="Aktiv Grotesk Light"/>
              </a:rPr>
              <a:t>Threatened</a:t>
            </a:r>
            <a:r>
              <a:rPr sz="1100" b="0" i="1" spc="40" dirty="0">
                <a:solidFill>
                  <a:srgbClr val="231F20"/>
                </a:solidFill>
                <a:latin typeface="Aktiv Grotesk Light"/>
                <a:cs typeface="Aktiv Grotesk Light"/>
              </a:rPr>
              <a:t> </a:t>
            </a:r>
            <a:r>
              <a:rPr sz="1100" b="0" i="1" spc="60" dirty="0">
                <a:solidFill>
                  <a:srgbClr val="231F20"/>
                </a:solidFill>
                <a:latin typeface="Aktiv Grotesk Light"/>
                <a:cs typeface="Aktiv Grotesk Light"/>
              </a:rPr>
              <a:t>Species</a:t>
            </a:r>
            <a:r>
              <a:rPr sz="1100" b="0" spc="60" dirty="0">
                <a:solidFill>
                  <a:srgbClr val="231F20"/>
                </a:solidFill>
                <a:latin typeface="Aktiv Grotesk Light"/>
                <a:cs typeface="Aktiv Grotesk Light"/>
              </a:rPr>
              <a:t>.</a:t>
            </a:r>
            <a:r>
              <a:rPr sz="1100" b="0" spc="40" dirty="0">
                <a:solidFill>
                  <a:srgbClr val="231F20"/>
                </a:solidFill>
                <a:latin typeface="Aktiv Grotesk Light"/>
                <a:cs typeface="Aktiv Grotesk Light"/>
              </a:rPr>
              <a:t> </a:t>
            </a:r>
            <a:r>
              <a:rPr sz="1100" b="0" spc="50" dirty="0">
                <a:solidFill>
                  <a:srgbClr val="231F20"/>
                </a:solidFill>
                <a:latin typeface="Aktiv Grotesk Light"/>
                <a:cs typeface="Aktiv Grotesk Light"/>
              </a:rPr>
              <a:t>Version</a:t>
            </a:r>
            <a:r>
              <a:rPr sz="1100" b="0" spc="45" dirty="0">
                <a:solidFill>
                  <a:srgbClr val="231F20"/>
                </a:solidFill>
                <a:latin typeface="Aktiv Grotesk Light"/>
                <a:cs typeface="Aktiv Grotesk Light"/>
              </a:rPr>
              <a:t> </a:t>
            </a:r>
            <a:r>
              <a:rPr sz="1100" b="0" spc="75" dirty="0">
                <a:solidFill>
                  <a:srgbClr val="231F20"/>
                </a:solidFill>
                <a:latin typeface="Aktiv Grotesk Light"/>
                <a:cs typeface="Aktiv Grotesk Light"/>
              </a:rPr>
              <a:t>2022-</a:t>
            </a:r>
            <a:r>
              <a:rPr sz="1100" b="0" spc="55" dirty="0">
                <a:solidFill>
                  <a:srgbClr val="231F20"/>
                </a:solidFill>
                <a:latin typeface="Aktiv Grotesk Light"/>
                <a:cs typeface="Aktiv Grotesk Light"/>
              </a:rPr>
              <a:t>2,</a:t>
            </a:r>
            <a:r>
              <a:rPr sz="1100" b="0" spc="40" dirty="0">
                <a:solidFill>
                  <a:srgbClr val="231F20"/>
                </a:solidFill>
                <a:latin typeface="Aktiv Grotesk Light"/>
                <a:cs typeface="Aktiv Grotesk Light"/>
              </a:rPr>
              <a:t> </a:t>
            </a:r>
            <a:r>
              <a:rPr sz="1100" b="0" spc="75" dirty="0">
                <a:solidFill>
                  <a:srgbClr val="231F20"/>
                </a:solidFill>
                <a:latin typeface="Aktiv Grotesk Light"/>
                <a:cs typeface="Aktiv Grotesk Light"/>
              </a:rPr>
              <a:t>updated</a:t>
            </a:r>
            <a:r>
              <a:rPr sz="1100" b="0" spc="40" dirty="0">
                <a:solidFill>
                  <a:srgbClr val="231F20"/>
                </a:solidFill>
                <a:latin typeface="Aktiv Grotesk Light"/>
                <a:cs typeface="Aktiv Grotesk Light"/>
              </a:rPr>
              <a:t> </a:t>
            </a:r>
            <a:r>
              <a:rPr sz="1100" b="0" spc="70" dirty="0">
                <a:solidFill>
                  <a:srgbClr val="231F20"/>
                </a:solidFill>
                <a:latin typeface="Aktiv Grotesk Light"/>
                <a:cs typeface="Aktiv Grotesk Light"/>
              </a:rPr>
              <a:t>as</a:t>
            </a:r>
            <a:r>
              <a:rPr sz="1100" b="0" spc="40" dirty="0">
                <a:solidFill>
                  <a:srgbClr val="231F20"/>
                </a:solidFill>
                <a:latin typeface="Aktiv Grotesk Light"/>
                <a:cs typeface="Aktiv Grotesk Light"/>
              </a:rPr>
              <a:t> </a:t>
            </a:r>
            <a:r>
              <a:rPr sz="1100" b="0" spc="60" dirty="0">
                <a:solidFill>
                  <a:srgbClr val="231F20"/>
                </a:solidFill>
                <a:latin typeface="Aktiv Grotesk Light"/>
                <a:cs typeface="Aktiv Grotesk Light"/>
              </a:rPr>
              <a:t>of</a:t>
            </a:r>
            <a:r>
              <a:rPr sz="1100" b="0" spc="45" dirty="0">
                <a:solidFill>
                  <a:srgbClr val="231F20"/>
                </a:solidFill>
                <a:latin typeface="Aktiv Grotesk Light"/>
                <a:cs typeface="Aktiv Grotesk Light"/>
              </a:rPr>
              <a:t> </a:t>
            </a:r>
            <a:r>
              <a:rPr sz="1100" b="0" spc="75" dirty="0">
                <a:solidFill>
                  <a:srgbClr val="231F20"/>
                </a:solidFill>
                <a:latin typeface="Aktiv Grotesk Light"/>
                <a:cs typeface="Aktiv Grotesk Light"/>
              </a:rPr>
              <a:t>December</a:t>
            </a:r>
            <a:r>
              <a:rPr sz="1100" b="0" spc="40" dirty="0">
                <a:solidFill>
                  <a:srgbClr val="231F20"/>
                </a:solidFill>
                <a:latin typeface="Aktiv Grotesk Light"/>
                <a:cs typeface="Aktiv Grotesk Light"/>
              </a:rPr>
              <a:t> </a:t>
            </a:r>
            <a:r>
              <a:rPr sz="1100" b="0" spc="-25" dirty="0">
                <a:solidFill>
                  <a:srgbClr val="231F20"/>
                </a:solidFill>
                <a:latin typeface="Aktiv Grotesk Light"/>
                <a:cs typeface="Aktiv Grotesk Light"/>
              </a:rPr>
              <a:t>9, </a:t>
            </a:r>
            <a:r>
              <a:rPr sz="1100" b="0" spc="70" dirty="0">
                <a:solidFill>
                  <a:srgbClr val="231F20"/>
                </a:solidFill>
                <a:latin typeface="Aktiv Grotesk Light"/>
                <a:cs typeface="Aktiv Grotesk Light"/>
              </a:rPr>
              <a:t>2022,</a:t>
            </a:r>
            <a:r>
              <a:rPr sz="1100" b="0" spc="35" dirty="0">
                <a:solidFill>
                  <a:srgbClr val="231F20"/>
                </a:solidFill>
                <a:latin typeface="Aktiv Grotesk Light"/>
                <a:cs typeface="Aktiv Grotesk Light"/>
              </a:rPr>
              <a:t> </a:t>
            </a:r>
            <a:r>
              <a:rPr sz="1100" b="0" spc="60" dirty="0">
                <a:solidFill>
                  <a:srgbClr val="231F20"/>
                </a:solidFill>
                <a:latin typeface="Aktiv Grotesk Light"/>
                <a:cs typeface="Aktiv Grotesk Light"/>
              </a:rPr>
              <a:t>at</a:t>
            </a:r>
            <a:r>
              <a:rPr sz="1100" b="0" spc="40" dirty="0">
                <a:solidFill>
                  <a:srgbClr val="231F20"/>
                </a:solidFill>
                <a:latin typeface="Aktiv Grotesk Light"/>
                <a:cs typeface="Aktiv Grotesk Light"/>
              </a:rPr>
              <a:t> </a:t>
            </a:r>
            <a:r>
              <a:rPr sz="1100" b="0" spc="40" dirty="0">
                <a:solidFill>
                  <a:srgbClr val="231F20"/>
                </a:solidFill>
                <a:latin typeface="Aktiv Grotesk Light"/>
                <a:cs typeface="Aktiv Grotesk Light"/>
                <a:hlinkClick r:id="rId3"/>
              </a:rPr>
              <a:t>www.iucnredlist.org.</a:t>
            </a:r>
            <a:endParaRPr sz="1100">
              <a:latin typeface="Aktiv Grotesk Light"/>
              <a:cs typeface="Aktiv Grotesk Light"/>
            </a:endParaRPr>
          </a:p>
          <a:p>
            <a:pPr marL="12700" marR="5080">
              <a:lnSpc>
                <a:spcPct val="109800"/>
              </a:lnSpc>
            </a:pPr>
            <a:r>
              <a:rPr sz="1100" b="0" i="1" spc="60" dirty="0">
                <a:solidFill>
                  <a:srgbClr val="231F20"/>
                </a:solidFill>
                <a:latin typeface="Aktiv Grotesk Light"/>
                <a:cs typeface="Aktiv Grotesk Light"/>
              </a:rPr>
              <a:t>Note</a:t>
            </a:r>
            <a:r>
              <a:rPr sz="1100" b="0" spc="60" dirty="0">
                <a:solidFill>
                  <a:srgbClr val="231F20"/>
                </a:solidFill>
                <a:latin typeface="Aktiv Grotesk Light"/>
                <a:cs typeface="Aktiv Grotesk Light"/>
              </a:rPr>
              <a:t>:</a:t>
            </a:r>
            <a:r>
              <a:rPr sz="1100" b="0" spc="50" dirty="0">
                <a:solidFill>
                  <a:srgbClr val="231F20"/>
                </a:solidFill>
                <a:latin typeface="Aktiv Grotesk Light"/>
                <a:cs typeface="Aktiv Grotesk Light"/>
              </a:rPr>
              <a:t> </a:t>
            </a:r>
            <a:r>
              <a:rPr sz="1100" b="0" spc="75" dirty="0">
                <a:solidFill>
                  <a:srgbClr val="231F20"/>
                </a:solidFill>
                <a:latin typeface="Aktiv Grotesk Light"/>
                <a:cs typeface="Aktiv Grotesk Light"/>
              </a:rPr>
              <a:t>The</a:t>
            </a:r>
            <a:r>
              <a:rPr sz="1100" b="0" spc="55" dirty="0">
                <a:solidFill>
                  <a:srgbClr val="231F20"/>
                </a:solidFill>
                <a:latin typeface="Aktiv Grotesk Light"/>
                <a:cs typeface="Aktiv Grotesk Light"/>
              </a:rPr>
              <a:t> </a:t>
            </a:r>
            <a:r>
              <a:rPr sz="1100" b="0" spc="65" dirty="0">
                <a:solidFill>
                  <a:srgbClr val="231F20"/>
                </a:solidFill>
                <a:latin typeface="Aktiv Grotesk Light"/>
                <a:cs typeface="Aktiv Grotesk Light"/>
              </a:rPr>
              <a:t>data</a:t>
            </a:r>
            <a:r>
              <a:rPr sz="1100" b="0" spc="55" dirty="0">
                <a:solidFill>
                  <a:srgbClr val="231F20"/>
                </a:solidFill>
                <a:latin typeface="Aktiv Grotesk Light"/>
                <a:cs typeface="Aktiv Grotesk Light"/>
              </a:rPr>
              <a:t> </a:t>
            </a:r>
            <a:r>
              <a:rPr sz="1100" b="0" spc="50" dirty="0">
                <a:solidFill>
                  <a:srgbClr val="231F20"/>
                </a:solidFill>
                <a:latin typeface="Aktiv Grotesk Light"/>
                <a:cs typeface="Aktiv Grotesk Light"/>
              </a:rPr>
              <a:t>available</a:t>
            </a:r>
            <a:r>
              <a:rPr sz="1100" b="0" spc="55" dirty="0">
                <a:solidFill>
                  <a:srgbClr val="231F20"/>
                </a:solidFill>
                <a:latin typeface="Aktiv Grotesk Light"/>
                <a:cs typeface="Aktiv Grotesk Light"/>
              </a:rPr>
              <a:t> </a:t>
            </a:r>
            <a:r>
              <a:rPr sz="1100" b="0" spc="50" dirty="0">
                <a:solidFill>
                  <a:srgbClr val="231F20"/>
                </a:solidFill>
                <a:latin typeface="Aktiv Grotesk Light"/>
                <a:cs typeface="Aktiv Grotesk Light"/>
              </a:rPr>
              <a:t>via</a:t>
            </a:r>
            <a:r>
              <a:rPr sz="1100" b="0" spc="55" dirty="0">
                <a:solidFill>
                  <a:srgbClr val="231F20"/>
                </a:solidFill>
                <a:latin typeface="Aktiv Grotesk Light"/>
                <a:cs typeface="Aktiv Grotesk Light"/>
              </a:rPr>
              <a:t> </a:t>
            </a:r>
            <a:r>
              <a:rPr sz="1100" b="0" spc="50" dirty="0">
                <a:solidFill>
                  <a:srgbClr val="231F20"/>
                </a:solidFill>
                <a:latin typeface="Aktiv Grotesk Light"/>
                <a:cs typeface="Aktiv Grotesk Light"/>
              </a:rPr>
              <a:t>this</a:t>
            </a:r>
            <a:r>
              <a:rPr sz="1100" b="0" spc="55" dirty="0">
                <a:solidFill>
                  <a:srgbClr val="231F20"/>
                </a:solidFill>
                <a:latin typeface="Aktiv Grotesk Light"/>
                <a:cs typeface="Aktiv Grotesk Light"/>
              </a:rPr>
              <a:t> </a:t>
            </a:r>
            <a:r>
              <a:rPr sz="1100" b="0" dirty="0">
                <a:solidFill>
                  <a:srgbClr val="231F20"/>
                </a:solidFill>
                <a:latin typeface="Aktiv Grotesk Light"/>
                <a:cs typeface="Aktiv Grotesk Light"/>
              </a:rPr>
              <a:t>link</a:t>
            </a:r>
            <a:r>
              <a:rPr sz="1100" b="0" spc="55" dirty="0">
                <a:solidFill>
                  <a:srgbClr val="231F20"/>
                </a:solidFill>
                <a:latin typeface="Aktiv Grotesk Light"/>
                <a:cs typeface="Aktiv Grotesk Light"/>
              </a:rPr>
              <a:t> </a:t>
            </a:r>
            <a:r>
              <a:rPr sz="1100" b="0" spc="75" dirty="0">
                <a:solidFill>
                  <a:srgbClr val="231F20"/>
                </a:solidFill>
                <a:latin typeface="Aktiv Grotesk Light"/>
                <a:cs typeface="Aktiv Grotesk Light"/>
              </a:rPr>
              <a:t>change</a:t>
            </a:r>
            <a:r>
              <a:rPr sz="1100" b="0" spc="55" dirty="0">
                <a:solidFill>
                  <a:srgbClr val="231F20"/>
                </a:solidFill>
                <a:latin typeface="Aktiv Grotesk Light"/>
                <a:cs typeface="Aktiv Grotesk Light"/>
              </a:rPr>
              <a:t> </a:t>
            </a:r>
            <a:r>
              <a:rPr sz="1100" b="0" spc="70" dirty="0">
                <a:solidFill>
                  <a:srgbClr val="231F20"/>
                </a:solidFill>
                <a:latin typeface="Aktiv Grotesk Light"/>
                <a:cs typeface="Aktiv Grotesk Light"/>
              </a:rPr>
              <a:t>as</a:t>
            </a:r>
            <a:r>
              <a:rPr sz="1100" b="0" spc="55" dirty="0">
                <a:solidFill>
                  <a:srgbClr val="231F20"/>
                </a:solidFill>
                <a:latin typeface="Aktiv Grotesk Light"/>
                <a:cs typeface="Aktiv Grotesk Light"/>
              </a:rPr>
              <a:t> </a:t>
            </a:r>
            <a:r>
              <a:rPr sz="1100" b="0" spc="80" dirty="0">
                <a:solidFill>
                  <a:srgbClr val="231F20"/>
                </a:solidFill>
                <a:latin typeface="Aktiv Grotesk Light"/>
                <a:cs typeface="Aktiv Grotesk Light"/>
              </a:rPr>
              <a:t>new</a:t>
            </a:r>
            <a:r>
              <a:rPr sz="1100" b="0" spc="55" dirty="0">
                <a:solidFill>
                  <a:srgbClr val="231F20"/>
                </a:solidFill>
                <a:latin typeface="Aktiv Grotesk Light"/>
                <a:cs typeface="Aktiv Grotesk Light"/>
              </a:rPr>
              <a:t> </a:t>
            </a:r>
            <a:r>
              <a:rPr sz="1100" b="0" spc="70" dirty="0">
                <a:solidFill>
                  <a:srgbClr val="231F20"/>
                </a:solidFill>
                <a:latin typeface="Aktiv Grotesk Light"/>
                <a:cs typeface="Aktiv Grotesk Light"/>
              </a:rPr>
              <a:t>updates</a:t>
            </a:r>
            <a:r>
              <a:rPr sz="1100" b="0" spc="55" dirty="0">
                <a:solidFill>
                  <a:srgbClr val="231F20"/>
                </a:solidFill>
                <a:latin typeface="Aktiv Grotesk Light"/>
                <a:cs typeface="Aktiv Grotesk Light"/>
              </a:rPr>
              <a:t> </a:t>
            </a:r>
            <a:r>
              <a:rPr sz="1100" b="0" spc="50" dirty="0">
                <a:solidFill>
                  <a:srgbClr val="231F20"/>
                </a:solidFill>
                <a:latin typeface="Aktiv Grotesk Light"/>
                <a:cs typeface="Aktiv Grotesk Light"/>
              </a:rPr>
              <a:t>are</a:t>
            </a:r>
            <a:r>
              <a:rPr sz="1100" b="0" spc="55" dirty="0">
                <a:solidFill>
                  <a:srgbClr val="231F20"/>
                </a:solidFill>
                <a:latin typeface="Aktiv Grotesk Light"/>
                <a:cs typeface="Aktiv Grotesk Light"/>
              </a:rPr>
              <a:t> issued. </a:t>
            </a:r>
            <a:r>
              <a:rPr sz="1100" b="0" spc="65" dirty="0">
                <a:solidFill>
                  <a:srgbClr val="231F20"/>
                </a:solidFill>
                <a:latin typeface="Aktiv Grotesk Light"/>
                <a:cs typeface="Aktiv Grotesk Light"/>
              </a:rPr>
              <a:t>IUCN,</a:t>
            </a:r>
            <a:r>
              <a:rPr sz="1100" b="0" spc="55" dirty="0">
                <a:solidFill>
                  <a:srgbClr val="231F20"/>
                </a:solidFill>
                <a:latin typeface="Aktiv Grotesk Light"/>
                <a:cs typeface="Aktiv Grotesk Light"/>
              </a:rPr>
              <a:t> International </a:t>
            </a:r>
            <a:r>
              <a:rPr sz="1100" b="0" spc="65" dirty="0">
                <a:solidFill>
                  <a:srgbClr val="231F20"/>
                </a:solidFill>
                <a:latin typeface="Aktiv Grotesk Light"/>
                <a:cs typeface="Aktiv Grotesk Light"/>
              </a:rPr>
              <a:t>Union</a:t>
            </a:r>
            <a:r>
              <a:rPr sz="1100" b="0" spc="50" dirty="0">
                <a:solidFill>
                  <a:srgbClr val="231F20"/>
                </a:solidFill>
                <a:latin typeface="Aktiv Grotesk Light"/>
                <a:cs typeface="Aktiv Grotesk Light"/>
              </a:rPr>
              <a:t> </a:t>
            </a:r>
            <a:r>
              <a:rPr sz="1100" b="0" spc="55" dirty="0">
                <a:solidFill>
                  <a:srgbClr val="231F20"/>
                </a:solidFill>
                <a:latin typeface="Aktiv Grotesk Light"/>
                <a:cs typeface="Aktiv Grotesk Light"/>
              </a:rPr>
              <a:t>for </a:t>
            </a:r>
            <a:r>
              <a:rPr sz="1100" b="0" spc="65" dirty="0">
                <a:solidFill>
                  <a:srgbClr val="231F20"/>
                </a:solidFill>
                <a:latin typeface="Aktiv Grotesk Light"/>
                <a:cs typeface="Aktiv Grotesk Light"/>
              </a:rPr>
              <a:t>Conservation</a:t>
            </a:r>
            <a:r>
              <a:rPr sz="1100" b="0" spc="55" dirty="0">
                <a:solidFill>
                  <a:srgbClr val="231F20"/>
                </a:solidFill>
                <a:latin typeface="Aktiv Grotesk Light"/>
                <a:cs typeface="Aktiv Grotesk Light"/>
              </a:rPr>
              <a:t> </a:t>
            </a:r>
            <a:r>
              <a:rPr sz="1100" b="0" spc="60" dirty="0">
                <a:solidFill>
                  <a:srgbClr val="231F20"/>
                </a:solidFill>
                <a:latin typeface="Aktiv Grotesk Light"/>
                <a:cs typeface="Aktiv Grotesk Light"/>
              </a:rPr>
              <a:t>of</a:t>
            </a:r>
            <a:r>
              <a:rPr sz="1100" b="0" spc="55" dirty="0">
                <a:solidFill>
                  <a:srgbClr val="231F20"/>
                </a:solidFill>
                <a:latin typeface="Aktiv Grotesk Light"/>
                <a:cs typeface="Aktiv Grotesk Light"/>
              </a:rPr>
              <a:t> </a:t>
            </a:r>
            <a:r>
              <a:rPr sz="1100" b="0" spc="25" dirty="0">
                <a:solidFill>
                  <a:srgbClr val="231F20"/>
                </a:solidFill>
                <a:latin typeface="Aktiv Grotesk Light"/>
                <a:cs typeface="Aktiv Grotesk Light"/>
              </a:rPr>
              <a:t>Na- </a:t>
            </a:r>
            <a:r>
              <a:rPr sz="1100" b="0" spc="-10" dirty="0">
                <a:solidFill>
                  <a:srgbClr val="231F20"/>
                </a:solidFill>
                <a:latin typeface="Aktiv Grotesk Light"/>
                <a:cs typeface="Aktiv Grotesk Light"/>
              </a:rPr>
              <a:t>ture.</a:t>
            </a:r>
            <a:endParaRPr sz="1100">
              <a:latin typeface="Aktiv Grotesk Light"/>
              <a:cs typeface="Aktiv Grotesk Light"/>
            </a:endParaRPr>
          </a:p>
        </p:txBody>
      </p:sp>
      <p:sp>
        <p:nvSpPr>
          <p:cNvPr id="4" name="Title 3"/>
          <p:cNvSpPr>
            <a:spLocks noGrp="1"/>
          </p:cNvSpPr>
          <p:nvPr>
            <p:ph type="title"/>
          </p:nvPr>
        </p:nvSpPr>
        <p:spPr/>
        <p:txBody>
          <a:bodyPr/>
          <a:lstStyle/>
          <a:p>
            <a:r>
              <a:rPr lang="en-US" b="1" dirty="0"/>
              <a:t>TABLE 8.1 </a:t>
            </a:r>
            <a:r>
              <a:rPr lang="en-US" dirty="0" smtClean="0"/>
              <a:t>(Continued)</a:t>
            </a:r>
            <a:endParaRPr lang="en-IN" dirty="0"/>
          </a:p>
        </p:txBody>
      </p:sp>
    </p:spTree>
    <p:extLst>
      <p:ext uri="{BB962C8B-B14F-4D97-AF65-F5344CB8AC3E}">
        <p14:creationId xmlns:p14="http://schemas.microsoft.com/office/powerpoint/2010/main" val="3001456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369332"/>
          </a:xfrm>
        </p:spPr>
        <p:txBody>
          <a:bodyPr/>
          <a:lstStyle/>
          <a:p>
            <a:r>
              <a:rPr lang="en-US" b="1" dirty="0"/>
              <a:t>Figure 8.3 </a:t>
            </a:r>
            <a:r>
              <a:rPr lang="en-US" dirty="0"/>
              <a:t>The global distribution of species threatened with extinction. </a:t>
            </a:r>
          </a:p>
        </p:txBody>
      </p:sp>
      <p:pic>
        <p:nvPicPr>
          <p:cNvPr id="2" name="Picture 1" descr="A map, A, shows the ratio of threatened species, and a horizontal bar graph, B, shows the number of threatened species in select countries. A. The map shows that the wolf is threatened in North America, the spotted leopard in Brazil, the rhinoceros in Africa, the whale in the South Atlantic Ocean, the tiger in India, the elephant in China, and the koala in Australia. The ratio among vertebrates, invertebrates, and plants in select countries, in decreasing order of magnitude, are as follows. North America and Australia: Invertebrates, vertebrates, plants. Mexico, India, and Malaysia: Vertebrates, plants, invertebrates. Ecuador, Brazil, Madagascar, and China: Plants, vertebrates, invertebrates. B. The graph shows the number of threatened species in 20 countries with the greatest number of threatened species. All data are approximate. Thailand: 800, Sri Lanka: 800, Spain: 900, South Africa: 900, Vietnam: 950, Peru: 1000, Cameroon: 1300, India: 1400, China: 1500, Tanzania: 1600, Phillippines: 1650, Colombia: 1700, Australia: 1900, United States: 2000, Malaysia: 2100, Brazil: 2200, Indonesia: 2250, Mexico: 2500, Ecuador: 2600, and Madagascar: 3600.  &#10;" title="Figure 8.3 The global distribution of species threatened with extinction.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9239" y="530312"/>
            <a:ext cx="6313522" cy="5916126"/>
          </a:xfrm>
          <a:prstGeom prst="rect">
            <a:avLst/>
          </a:prstGeom>
        </p:spPr>
      </p:pic>
    </p:spTree>
    <p:extLst>
      <p:ext uri="{BB962C8B-B14F-4D97-AF65-F5344CB8AC3E}">
        <p14:creationId xmlns:p14="http://schemas.microsoft.com/office/powerpoint/2010/main" val="503407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title="TABLE 8.2 Estimates of modern extinction rates (in extinctions per million species years) vary depending on the time frame used and the number of species included in the calculation"/>
          <p:cNvGraphicFramePr>
            <a:graphicFrameLocks noGrp="1"/>
          </p:cNvGraphicFramePr>
          <p:nvPr>
            <p:extLst>
              <p:ext uri="{D42A27DB-BD31-4B8C-83A1-F6EECF244321}">
                <p14:modId xmlns:p14="http://schemas.microsoft.com/office/powerpoint/2010/main" val="1158952351"/>
              </p:ext>
            </p:extLst>
          </p:nvPr>
        </p:nvGraphicFramePr>
        <p:xfrm>
          <a:off x="3116580" y="2746564"/>
          <a:ext cx="6027420" cy="972820"/>
        </p:xfrm>
        <a:graphic>
          <a:graphicData uri="http://schemas.openxmlformats.org/drawingml/2006/table">
            <a:tbl>
              <a:tblPr firstRow="1" bandRow="1">
                <a:tableStyleId>{2D5ABB26-0587-4C30-8999-92F81FD0307C}</a:tableStyleId>
              </a:tblPr>
              <a:tblGrid>
                <a:gridCol w="1033780">
                  <a:extLst>
                    <a:ext uri="{9D8B030D-6E8A-4147-A177-3AD203B41FA5}">
                      <a16:colId xmlns:a16="http://schemas.microsoft.com/office/drawing/2014/main" val="20000"/>
                    </a:ext>
                  </a:extLst>
                </a:gridCol>
                <a:gridCol w="1233170">
                  <a:extLst>
                    <a:ext uri="{9D8B030D-6E8A-4147-A177-3AD203B41FA5}">
                      <a16:colId xmlns:a16="http://schemas.microsoft.com/office/drawing/2014/main" val="20001"/>
                    </a:ext>
                  </a:extLst>
                </a:gridCol>
                <a:gridCol w="1842135">
                  <a:extLst>
                    <a:ext uri="{9D8B030D-6E8A-4147-A177-3AD203B41FA5}">
                      <a16:colId xmlns:a16="http://schemas.microsoft.com/office/drawing/2014/main" val="20002"/>
                    </a:ext>
                  </a:extLst>
                </a:gridCol>
                <a:gridCol w="1918335">
                  <a:extLst>
                    <a:ext uri="{9D8B030D-6E8A-4147-A177-3AD203B41FA5}">
                      <a16:colId xmlns:a16="http://schemas.microsoft.com/office/drawing/2014/main" val="20003"/>
                    </a:ext>
                  </a:extLst>
                </a:gridCol>
              </a:tblGrid>
              <a:tr h="233045">
                <a:tc>
                  <a:txBody>
                    <a:bodyPr/>
                    <a:lstStyle/>
                    <a:p>
                      <a:pPr marL="64769">
                        <a:lnSpc>
                          <a:spcPts val="1435"/>
                        </a:lnSpc>
                      </a:pPr>
                      <a:r>
                        <a:rPr sz="1200" b="0" dirty="0">
                          <a:solidFill>
                            <a:srgbClr val="231F20"/>
                          </a:solidFill>
                          <a:latin typeface="Aktiv Grotesk Medium"/>
                          <a:cs typeface="Aktiv Grotesk Medium"/>
                        </a:rPr>
                        <a:t>Time </a:t>
                      </a:r>
                      <a:r>
                        <a:rPr sz="1200" b="0" spc="-10" dirty="0">
                          <a:solidFill>
                            <a:srgbClr val="231F20"/>
                          </a:solidFill>
                          <a:latin typeface="Aktiv Grotesk Medium"/>
                          <a:cs typeface="Aktiv Grotesk Medium"/>
                        </a:rPr>
                        <a:t>frame</a:t>
                      </a:r>
                      <a:endParaRPr sz="1200">
                        <a:latin typeface="Aktiv Grotesk Medium"/>
                        <a:cs typeface="Aktiv Grotesk Medium"/>
                      </a:endParaRPr>
                    </a:p>
                  </a:txBody>
                  <a:tcPr marL="0" marR="0" marT="0" marB="0">
                    <a:lnB w="19050">
                      <a:solidFill>
                        <a:srgbClr val="C2DCDF"/>
                      </a:solidFill>
                      <a:prstDash val="solid"/>
                    </a:lnB>
                  </a:tcPr>
                </a:tc>
                <a:tc>
                  <a:txBody>
                    <a:bodyPr/>
                    <a:lstStyle/>
                    <a:p>
                      <a:pPr marR="4445" algn="ctr">
                        <a:lnSpc>
                          <a:spcPts val="1435"/>
                        </a:lnSpc>
                      </a:pPr>
                      <a:r>
                        <a:rPr sz="1200" b="0" dirty="0">
                          <a:solidFill>
                            <a:srgbClr val="231F20"/>
                          </a:solidFill>
                          <a:latin typeface="Aktiv Grotesk Medium"/>
                          <a:cs typeface="Aktiv Grotesk Medium"/>
                        </a:rPr>
                        <a:t>Extinct</a:t>
                      </a:r>
                      <a:r>
                        <a:rPr sz="1200" b="0" spc="45" dirty="0">
                          <a:solidFill>
                            <a:srgbClr val="231F20"/>
                          </a:solidFill>
                          <a:latin typeface="Aktiv Grotesk Medium"/>
                          <a:cs typeface="Aktiv Grotesk Medium"/>
                        </a:rPr>
                        <a:t> </a:t>
                      </a:r>
                      <a:r>
                        <a:rPr sz="1200" b="0" spc="-10" dirty="0">
                          <a:solidFill>
                            <a:srgbClr val="231F20"/>
                          </a:solidFill>
                          <a:latin typeface="Aktiv Grotesk Medium"/>
                          <a:cs typeface="Aktiv Grotesk Medium"/>
                        </a:rPr>
                        <a:t>(902)</a:t>
                      </a:r>
                      <a:endParaRPr sz="1200">
                        <a:latin typeface="Aktiv Grotesk Medium"/>
                        <a:cs typeface="Aktiv Grotesk Medium"/>
                      </a:endParaRPr>
                    </a:p>
                  </a:txBody>
                  <a:tcPr marL="0" marR="0" marT="0" marB="0">
                    <a:lnB w="19050">
                      <a:solidFill>
                        <a:srgbClr val="C2DCDF"/>
                      </a:solidFill>
                      <a:prstDash val="solid"/>
                    </a:lnB>
                  </a:tcPr>
                </a:tc>
                <a:tc>
                  <a:txBody>
                    <a:bodyPr/>
                    <a:lstStyle/>
                    <a:p>
                      <a:pPr marR="24765" algn="ctr">
                        <a:lnSpc>
                          <a:spcPts val="1435"/>
                        </a:lnSpc>
                      </a:pPr>
                      <a:r>
                        <a:rPr sz="1200" b="0" dirty="0">
                          <a:solidFill>
                            <a:srgbClr val="231F20"/>
                          </a:solidFill>
                          <a:latin typeface="Aktiv Grotesk Medium"/>
                          <a:cs typeface="Aktiv Grotesk Medium"/>
                        </a:rPr>
                        <a:t>+Extinct</a:t>
                      </a:r>
                      <a:r>
                        <a:rPr sz="1200" b="0" spc="5" dirty="0">
                          <a:solidFill>
                            <a:srgbClr val="231F20"/>
                          </a:solidFill>
                          <a:latin typeface="Aktiv Grotesk Medium"/>
                          <a:cs typeface="Aktiv Grotesk Medium"/>
                        </a:rPr>
                        <a:t> </a:t>
                      </a:r>
                      <a:r>
                        <a:rPr sz="1200" b="0" dirty="0">
                          <a:solidFill>
                            <a:srgbClr val="231F20"/>
                          </a:solidFill>
                          <a:latin typeface="Aktiv Grotesk Medium"/>
                          <a:cs typeface="Aktiv Grotesk Medium"/>
                        </a:rPr>
                        <a:t>in</a:t>
                      </a:r>
                      <a:r>
                        <a:rPr sz="1200" b="0" spc="10" dirty="0">
                          <a:solidFill>
                            <a:srgbClr val="231F20"/>
                          </a:solidFill>
                          <a:latin typeface="Aktiv Grotesk Medium"/>
                          <a:cs typeface="Aktiv Grotesk Medium"/>
                        </a:rPr>
                        <a:t> </a:t>
                      </a:r>
                      <a:r>
                        <a:rPr sz="1200" b="0" dirty="0">
                          <a:solidFill>
                            <a:srgbClr val="231F20"/>
                          </a:solidFill>
                          <a:latin typeface="Aktiv Grotesk Medium"/>
                          <a:cs typeface="Aktiv Grotesk Medium"/>
                        </a:rPr>
                        <a:t>wild</a:t>
                      </a:r>
                      <a:r>
                        <a:rPr sz="1200" b="0" spc="10" dirty="0">
                          <a:solidFill>
                            <a:srgbClr val="231F20"/>
                          </a:solidFill>
                          <a:latin typeface="Aktiv Grotesk Medium"/>
                          <a:cs typeface="Aktiv Grotesk Medium"/>
                        </a:rPr>
                        <a:t> </a:t>
                      </a:r>
                      <a:r>
                        <a:rPr sz="1200" b="0" spc="-20" dirty="0">
                          <a:solidFill>
                            <a:srgbClr val="231F20"/>
                          </a:solidFill>
                          <a:latin typeface="Aktiv Grotesk Medium"/>
                          <a:cs typeface="Aktiv Grotesk Medium"/>
                        </a:rPr>
                        <a:t>(986)</a:t>
                      </a:r>
                      <a:endParaRPr sz="1200">
                        <a:latin typeface="Aktiv Grotesk Medium"/>
                        <a:cs typeface="Aktiv Grotesk Medium"/>
                      </a:endParaRPr>
                    </a:p>
                  </a:txBody>
                  <a:tcPr marL="0" marR="0" marT="0" marB="0">
                    <a:lnB w="19050">
                      <a:solidFill>
                        <a:srgbClr val="C2DCDF"/>
                      </a:solidFill>
                      <a:prstDash val="solid"/>
                    </a:lnB>
                  </a:tcPr>
                </a:tc>
                <a:tc>
                  <a:txBody>
                    <a:bodyPr/>
                    <a:lstStyle/>
                    <a:p>
                      <a:pPr marL="3175" algn="ctr">
                        <a:lnSpc>
                          <a:spcPts val="1435"/>
                        </a:lnSpc>
                      </a:pPr>
                      <a:r>
                        <a:rPr sz="1200" b="0" spc="-10" dirty="0">
                          <a:solidFill>
                            <a:srgbClr val="231F20"/>
                          </a:solidFill>
                          <a:latin typeface="Aktiv Grotesk Medium"/>
                          <a:cs typeface="Aktiv Grotesk Medium"/>
                        </a:rPr>
                        <a:t>+Threatened</a:t>
                      </a:r>
                      <a:r>
                        <a:rPr sz="1200" b="0" spc="-40" dirty="0">
                          <a:solidFill>
                            <a:srgbClr val="231F20"/>
                          </a:solidFill>
                          <a:latin typeface="Aktiv Grotesk Medium"/>
                          <a:cs typeface="Aktiv Grotesk Medium"/>
                        </a:rPr>
                        <a:t> </a:t>
                      </a:r>
                      <a:r>
                        <a:rPr sz="1200" b="0" spc="-10" dirty="0">
                          <a:solidFill>
                            <a:srgbClr val="231F20"/>
                          </a:solidFill>
                          <a:latin typeface="Aktiv Grotesk Medium"/>
                          <a:cs typeface="Aktiv Grotesk Medium"/>
                        </a:rPr>
                        <a:t>(43,094)</a:t>
                      </a:r>
                      <a:endParaRPr sz="1200">
                        <a:latin typeface="Aktiv Grotesk Medium"/>
                        <a:cs typeface="Aktiv Grotesk Medium"/>
                      </a:endParaRPr>
                    </a:p>
                  </a:txBody>
                  <a:tcPr marL="0" marR="0" marT="0" marB="0">
                    <a:lnB w="19050">
                      <a:solidFill>
                        <a:srgbClr val="C2DCDF"/>
                      </a:solidFill>
                      <a:prstDash val="solid"/>
                    </a:lnB>
                  </a:tcPr>
                </a:tc>
                <a:extLst>
                  <a:ext uri="{0D108BD9-81ED-4DB2-BD59-A6C34878D82A}">
                    <a16:rowId xmlns:a16="http://schemas.microsoft.com/office/drawing/2014/main" val="10000"/>
                  </a:ext>
                </a:extLst>
              </a:tr>
              <a:tr h="241935">
                <a:tc>
                  <a:txBody>
                    <a:bodyPr/>
                    <a:lstStyle/>
                    <a:p>
                      <a:pPr marL="64769">
                        <a:lnSpc>
                          <a:spcPct val="100000"/>
                        </a:lnSpc>
                        <a:spcBef>
                          <a:spcPts val="290"/>
                        </a:spcBef>
                      </a:pPr>
                      <a:r>
                        <a:rPr sz="1100" b="0" spc="50" dirty="0">
                          <a:solidFill>
                            <a:srgbClr val="231F20"/>
                          </a:solidFill>
                          <a:latin typeface="Aktiv Grotesk Light"/>
                          <a:cs typeface="Aktiv Grotesk Light"/>
                        </a:rPr>
                        <a:t>100</a:t>
                      </a:r>
                      <a:r>
                        <a:rPr sz="1100" b="0" spc="20" dirty="0">
                          <a:solidFill>
                            <a:srgbClr val="231F20"/>
                          </a:solidFill>
                          <a:latin typeface="Aktiv Grotesk Light"/>
                          <a:cs typeface="Aktiv Grotesk Light"/>
                        </a:rPr>
                        <a:t> </a:t>
                      </a:r>
                      <a:r>
                        <a:rPr sz="1100" b="0" spc="-20" dirty="0">
                          <a:solidFill>
                            <a:srgbClr val="231F20"/>
                          </a:solidFill>
                          <a:latin typeface="Aktiv Grotesk Light"/>
                          <a:cs typeface="Aktiv Grotesk Light"/>
                        </a:rPr>
                        <a:t>years</a:t>
                      </a:r>
                      <a:endParaRPr sz="1100">
                        <a:latin typeface="Aktiv Grotesk Light"/>
                        <a:cs typeface="Aktiv Grotesk Light"/>
                      </a:endParaRPr>
                    </a:p>
                  </a:txBody>
                  <a:tcPr marL="0" marR="0" marT="36830" marB="0">
                    <a:lnT w="19050">
                      <a:solidFill>
                        <a:srgbClr val="C2DCDF"/>
                      </a:solidFill>
                      <a:prstDash val="solid"/>
                    </a:lnT>
                  </a:tcPr>
                </a:tc>
                <a:tc>
                  <a:txBody>
                    <a:bodyPr/>
                    <a:lstStyle/>
                    <a:p>
                      <a:pPr marL="318770">
                        <a:lnSpc>
                          <a:spcPct val="100000"/>
                        </a:lnSpc>
                        <a:spcBef>
                          <a:spcPts val="290"/>
                        </a:spcBef>
                      </a:pPr>
                      <a:r>
                        <a:rPr sz="1100" b="0" dirty="0">
                          <a:solidFill>
                            <a:srgbClr val="231F20"/>
                          </a:solidFill>
                          <a:latin typeface="Aktiv Grotesk Light"/>
                          <a:cs typeface="Aktiv Grotesk Light"/>
                        </a:rPr>
                        <a:t>4.2</a:t>
                      </a:r>
                      <a:r>
                        <a:rPr sz="1100" b="0" spc="135" dirty="0">
                          <a:solidFill>
                            <a:srgbClr val="231F20"/>
                          </a:solidFill>
                          <a:latin typeface="Aktiv Grotesk Light"/>
                          <a:cs typeface="Aktiv Grotesk Light"/>
                        </a:rPr>
                        <a:t> </a:t>
                      </a:r>
                      <a:r>
                        <a:rPr sz="1100" b="0" spc="-10" dirty="0">
                          <a:solidFill>
                            <a:srgbClr val="231F20"/>
                          </a:solidFill>
                          <a:latin typeface="Aktiv Grotesk Light"/>
                          <a:cs typeface="Aktiv Grotesk Light"/>
                        </a:rPr>
                        <a:t>(42×)</a:t>
                      </a:r>
                      <a:endParaRPr sz="1100">
                        <a:latin typeface="Aktiv Grotesk Light"/>
                        <a:cs typeface="Aktiv Grotesk Light"/>
                      </a:endParaRPr>
                    </a:p>
                  </a:txBody>
                  <a:tcPr marL="0" marR="0" marT="36830" marB="0">
                    <a:lnT w="19050">
                      <a:solidFill>
                        <a:srgbClr val="C2DCDF"/>
                      </a:solidFill>
                      <a:prstDash val="solid"/>
                    </a:lnT>
                  </a:tcPr>
                </a:tc>
                <a:tc>
                  <a:txBody>
                    <a:bodyPr/>
                    <a:lstStyle/>
                    <a:p>
                      <a:pPr marL="613410">
                        <a:lnSpc>
                          <a:spcPct val="100000"/>
                        </a:lnSpc>
                        <a:spcBef>
                          <a:spcPts val="290"/>
                        </a:spcBef>
                      </a:pPr>
                      <a:r>
                        <a:rPr sz="1100" b="0" dirty="0">
                          <a:solidFill>
                            <a:srgbClr val="231F20"/>
                          </a:solidFill>
                          <a:latin typeface="Aktiv Grotesk Light"/>
                          <a:cs typeface="Aktiv Grotesk Light"/>
                        </a:rPr>
                        <a:t>4.6</a:t>
                      </a:r>
                      <a:r>
                        <a:rPr sz="1100" b="0" spc="135" dirty="0">
                          <a:solidFill>
                            <a:srgbClr val="231F20"/>
                          </a:solidFill>
                          <a:latin typeface="Aktiv Grotesk Light"/>
                          <a:cs typeface="Aktiv Grotesk Light"/>
                        </a:rPr>
                        <a:t> </a:t>
                      </a:r>
                      <a:r>
                        <a:rPr sz="1100" b="0" spc="-10" dirty="0">
                          <a:solidFill>
                            <a:srgbClr val="231F20"/>
                          </a:solidFill>
                          <a:latin typeface="Aktiv Grotesk Light"/>
                          <a:cs typeface="Aktiv Grotesk Light"/>
                        </a:rPr>
                        <a:t>(46×)</a:t>
                      </a:r>
                      <a:endParaRPr sz="1100">
                        <a:latin typeface="Aktiv Grotesk Light"/>
                        <a:cs typeface="Aktiv Grotesk Light"/>
                      </a:endParaRPr>
                    </a:p>
                  </a:txBody>
                  <a:tcPr marL="0" marR="0" marT="36830" marB="0">
                    <a:lnT w="19050">
                      <a:solidFill>
                        <a:srgbClr val="C2DCDF"/>
                      </a:solidFill>
                      <a:prstDash val="solid"/>
                    </a:lnT>
                  </a:tcPr>
                </a:tc>
                <a:tc>
                  <a:txBody>
                    <a:bodyPr/>
                    <a:lstStyle/>
                    <a:p>
                      <a:pPr marL="476250">
                        <a:lnSpc>
                          <a:spcPct val="100000"/>
                        </a:lnSpc>
                        <a:spcBef>
                          <a:spcPts val="290"/>
                        </a:spcBef>
                      </a:pPr>
                      <a:r>
                        <a:rPr sz="1100" b="0" dirty="0">
                          <a:solidFill>
                            <a:srgbClr val="231F20"/>
                          </a:solidFill>
                          <a:latin typeface="Aktiv Grotesk Light"/>
                          <a:cs typeface="Aktiv Grotesk Light"/>
                        </a:rPr>
                        <a:t>199.3</a:t>
                      </a:r>
                      <a:r>
                        <a:rPr sz="1100" b="0" spc="240" dirty="0">
                          <a:solidFill>
                            <a:srgbClr val="231F20"/>
                          </a:solidFill>
                          <a:latin typeface="Aktiv Grotesk Light"/>
                          <a:cs typeface="Aktiv Grotesk Light"/>
                        </a:rPr>
                        <a:t> </a:t>
                      </a:r>
                      <a:r>
                        <a:rPr sz="1100" b="0" spc="-10" dirty="0">
                          <a:solidFill>
                            <a:srgbClr val="231F20"/>
                          </a:solidFill>
                          <a:latin typeface="Aktiv Grotesk Light"/>
                          <a:cs typeface="Aktiv Grotesk Light"/>
                        </a:rPr>
                        <a:t>(1,993×)</a:t>
                      </a:r>
                      <a:endParaRPr sz="1100">
                        <a:latin typeface="Aktiv Grotesk Light"/>
                        <a:cs typeface="Aktiv Grotesk Light"/>
                      </a:endParaRPr>
                    </a:p>
                  </a:txBody>
                  <a:tcPr marL="0" marR="0" marT="36830" marB="0">
                    <a:lnT w="19050">
                      <a:solidFill>
                        <a:srgbClr val="C2DCDF"/>
                      </a:solidFill>
                      <a:prstDash val="solid"/>
                    </a:lnT>
                  </a:tcPr>
                </a:tc>
                <a:extLst>
                  <a:ext uri="{0D108BD9-81ED-4DB2-BD59-A6C34878D82A}">
                    <a16:rowId xmlns:a16="http://schemas.microsoft.com/office/drawing/2014/main" val="10001"/>
                  </a:ext>
                </a:extLst>
              </a:tr>
              <a:tr h="232410">
                <a:tc>
                  <a:txBody>
                    <a:bodyPr/>
                    <a:lstStyle/>
                    <a:p>
                      <a:pPr marL="64769">
                        <a:lnSpc>
                          <a:spcPct val="100000"/>
                        </a:lnSpc>
                        <a:spcBef>
                          <a:spcPts val="220"/>
                        </a:spcBef>
                      </a:pPr>
                      <a:r>
                        <a:rPr sz="1100" b="0" spc="50" dirty="0">
                          <a:solidFill>
                            <a:srgbClr val="231F20"/>
                          </a:solidFill>
                          <a:latin typeface="Aktiv Grotesk Light"/>
                          <a:cs typeface="Aktiv Grotesk Light"/>
                        </a:rPr>
                        <a:t>200</a:t>
                      </a:r>
                      <a:r>
                        <a:rPr sz="1100" b="0" spc="20" dirty="0">
                          <a:solidFill>
                            <a:srgbClr val="231F20"/>
                          </a:solidFill>
                          <a:latin typeface="Aktiv Grotesk Light"/>
                          <a:cs typeface="Aktiv Grotesk Light"/>
                        </a:rPr>
                        <a:t> </a:t>
                      </a:r>
                      <a:r>
                        <a:rPr sz="1100" b="0" spc="-20" dirty="0">
                          <a:solidFill>
                            <a:srgbClr val="231F20"/>
                          </a:solidFill>
                          <a:latin typeface="Aktiv Grotesk Light"/>
                          <a:cs typeface="Aktiv Grotesk Light"/>
                        </a:rPr>
                        <a:t>years</a:t>
                      </a:r>
                      <a:endParaRPr sz="1100">
                        <a:latin typeface="Aktiv Grotesk Light"/>
                        <a:cs typeface="Aktiv Grotesk Light"/>
                      </a:endParaRPr>
                    </a:p>
                  </a:txBody>
                  <a:tcPr marL="0" marR="0" marT="27940" marB="0"/>
                </a:tc>
                <a:tc>
                  <a:txBody>
                    <a:bodyPr/>
                    <a:lstStyle/>
                    <a:p>
                      <a:pPr marL="318770">
                        <a:lnSpc>
                          <a:spcPct val="100000"/>
                        </a:lnSpc>
                        <a:spcBef>
                          <a:spcPts val="220"/>
                        </a:spcBef>
                      </a:pPr>
                      <a:r>
                        <a:rPr sz="1100" b="0" dirty="0">
                          <a:solidFill>
                            <a:srgbClr val="231F20"/>
                          </a:solidFill>
                          <a:latin typeface="Aktiv Grotesk Light"/>
                          <a:cs typeface="Aktiv Grotesk Light"/>
                        </a:rPr>
                        <a:t>2.1</a:t>
                      </a:r>
                      <a:r>
                        <a:rPr sz="1100" b="0" spc="135" dirty="0">
                          <a:solidFill>
                            <a:srgbClr val="231F20"/>
                          </a:solidFill>
                          <a:latin typeface="Aktiv Grotesk Light"/>
                          <a:cs typeface="Aktiv Grotesk Light"/>
                        </a:rPr>
                        <a:t> </a:t>
                      </a:r>
                      <a:r>
                        <a:rPr sz="1100" b="0" spc="-10" dirty="0">
                          <a:solidFill>
                            <a:srgbClr val="231F20"/>
                          </a:solidFill>
                          <a:latin typeface="Aktiv Grotesk Light"/>
                          <a:cs typeface="Aktiv Grotesk Light"/>
                        </a:rPr>
                        <a:t>(21×)</a:t>
                      </a:r>
                      <a:endParaRPr sz="1100">
                        <a:latin typeface="Aktiv Grotesk Light"/>
                        <a:cs typeface="Aktiv Grotesk Light"/>
                      </a:endParaRPr>
                    </a:p>
                  </a:txBody>
                  <a:tcPr marL="0" marR="0" marT="27940" marB="0"/>
                </a:tc>
                <a:tc>
                  <a:txBody>
                    <a:bodyPr/>
                    <a:lstStyle/>
                    <a:p>
                      <a:pPr marL="613410">
                        <a:lnSpc>
                          <a:spcPct val="100000"/>
                        </a:lnSpc>
                        <a:spcBef>
                          <a:spcPts val="220"/>
                        </a:spcBef>
                      </a:pPr>
                      <a:r>
                        <a:rPr sz="1100" b="0" dirty="0">
                          <a:solidFill>
                            <a:srgbClr val="231F20"/>
                          </a:solidFill>
                          <a:latin typeface="Aktiv Grotesk Light"/>
                          <a:cs typeface="Aktiv Grotesk Light"/>
                        </a:rPr>
                        <a:t>2.3</a:t>
                      </a:r>
                      <a:r>
                        <a:rPr sz="1100" b="0" spc="135" dirty="0">
                          <a:solidFill>
                            <a:srgbClr val="231F20"/>
                          </a:solidFill>
                          <a:latin typeface="Aktiv Grotesk Light"/>
                          <a:cs typeface="Aktiv Grotesk Light"/>
                        </a:rPr>
                        <a:t> </a:t>
                      </a:r>
                      <a:r>
                        <a:rPr sz="1100" b="0" spc="-10" dirty="0">
                          <a:solidFill>
                            <a:srgbClr val="231F20"/>
                          </a:solidFill>
                          <a:latin typeface="Aktiv Grotesk Light"/>
                          <a:cs typeface="Aktiv Grotesk Light"/>
                        </a:rPr>
                        <a:t>(23×)</a:t>
                      </a:r>
                      <a:endParaRPr sz="1100">
                        <a:latin typeface="Aktiv Grotesk Light"/>
                        <a:cs typeface="Aktiv Grotesk Light"/>
                      </a:endParaRPr>
                    </a:p>
                  </a:txBody>
                  <a:tcPr marL="0" marR="0" marT="27940" marB="0"/>
                </a:tc>
                <a:tc>
                  <a:txBody>
                    <a:bodyPr/>
                    <a:lstStyle/>
                    <a:p>
                      <a:pPr marL="580390">
                        <a:lnSpc>
                          <a:spcPct val="100000"/>
                        </a:lnSpc>
                        <a:spcBef>
                          <a:spcPts val="220"/>
                        </a:spcBef>
                      </a:pPr>
                      <a:r>
                        <a:rPr sz="1100" b="0" dirty="0">
                          <a:solidFill>
                            <a:srgbClr val="231F20"/>
                          </a:solidFill>
                          <a:latin typeface="Aktiv Grotesk Light"/>
                          <a:cs typeface="Aktiv Grotesk Light"/>
                        </a:rPr>
                        <a:t>99.7</a:t>
                      </a:r>
                      <a:r>
                        <a:rPr sz="1100" b="0" spc="185" dirty="0">
                          <a:solidFill>
                            <a:srgbClr val="231F20"/>
                          </a:solidFill>
                          <a:latin typeface="Aktiv Grotesk Light"/>
                          <a:cs typeface="Aktiv Grotesk Light"/>
                        </a:rPr>
                        <a:t> </a:t>
                      </a:r>
                      <a:r>
                        <a:rPr sz="1100" b="0" spc="-10" dirty="0">
                          <a:solidFill>
                            <a:srgbClr val="231F20"/>
                          </a:solidFill>
                          <a:latin typeface="Aktiv Grotesk Light"/>
                          <a:cs typeface="Aktiv Grotesk Light"/>
                        </a:rPr>
                        <a:t>(997×)</a:t>
                      </a:r>
                      <a:endParaRPr sz="1100">
                        <a:latin typeface="Aktiv Grotesk Light"/>
                        <a:cs typeface="Aktiv Grotesk Light"/>
                      </a:endParaRPr>
                    </a:p>
                  </a:txBody>
                  <a:tcPr marL="0" marR="0" marT="27940" marB="0"/>
                </a:tc>
                <a:extLst>
                  <a:ext uri="{0D108BD9-81ED-4DB2-BD59-A6C34878D82A}">
                    <a16:rowId xmlns:a16="http://schemas.microsoft.com/office/drawing/2014/main" val="10002"/>
                  </a:ext>
                </a:extLst>
              </a:tr>
              <a:tr h="265430">
                <a:tc>
                  <a:txBody>
                    <a:bodyPr/>
                    <a:lstStyle/>
                    <a:p>
                      <a:pPr marL="64769">
                        <a:lnSpc>
                          <a:spcPct val="100000"/>
                        </a:lnSpc>
                        <a:spcBef>
                          <a:spcPts val="220"/>
                        </a:spcBef>
                      </a:pPr>
                      <a:r>
                        <a:rPr sz="1100" b="0" spc="50" dirty="0">
                          <a:solidFill>
                            <a:srgbClr val="231F20"/>
                          </a:solidFill>
                          <a:latin typeface="Aktiv Grotesk Light"/>
                          <a:cs typeface="Aktiv Grotesk Light"/>
                        </a:rPr>
                        <a:t>500</a:t>
                      </a:r>
                      <a:r>
                        <a:rPr sz="1100" b="0" spc="20" dirty="0">
                          <a:solidFill>
                            <a:srgbClr val="231F20"/>
                          </a:solidFill>
                          <a:latin typeface="Aktiv Grotesk Light"/>
                          <a:cs typeface="Aktiv Grotesk Light"/>
                        </a:rPr>
                        <a:t> </a:t>
                      </a:r>
                      <a:r>
                        <a:rPr sz="1100" b="0" spc="-20" dirty="0">
                          <a:solidFill>
                            <a:srgbClr val="231F20"/>
                          </a:solidFill>
                          <a:latin typeface="Aktiv Grotesk Light"/>
                          <a:cs typeface="Aktiv Grotesk Light"/>
                        </a:rPr>
                        <a:t>years</a:t>
                      </a:r>
                      <a:endParaRPr sz="1100">
                        <a:latin typeface="Aktiv Grotesk Light"/>
                        <a:cs typeface="Aktiv Grotesk Light"/>
                      </a:endParaRPr>
                    </a:p>
                  </a:txBody>
                  <a:tcPr marL="0" marR="0" marT="27940" marB="0">
                    <a:lnB w="19050">
                      <a:solidFill>
                        <a:srgbClr val="C2DCDF"/>
                      </a:solidFill>
                      <a:prstDash val="solid"/>
                    </a:lnB>
                  </a:tcPr>
                </a:tc>
                <a:tc>
                  <a:txBody>
                    <a:bodyPr/>
                    <a:lstStyle/>
                    <a:p>
                      <a:pPr marL="363855">
                        <a:lnSpc>
                          <a:spcPct val="100000"/>
                        </a:lnSpc>
                        <a:spcBef>
                          <a:spcPts val="220"/>
                        </a:spcBef>
                      </a:pPr>
                      <a:r>
                        <a:rPr sz="1100" b="0" dirty="0">
                          <a:solidFill>
                            <a:srgbClr val="231F20"/>
                          </a:solidFill>
                          <a:latin typeface="Aktiv Grotesk Light"/>
                          <a:cs typeface="Aktiv Grotesk Light"/>
                        </a:rPr>
                        <a:t>0.8</a:t>
                      </a:r>
                      <a:r>
                        <a:rPr sz="1100" b="0" spc="135" dirty="0">
                          <a:solidFill>
                            <a:srgbClr val="231F20"/>
                          </a:solidFill>
                          <a:latin typeface="Aktiv Grotesk Light"/>
                          <a:cs typeface="Aktiv Grotesk Light"/>
                        </a:rPr>
                        <a:t> </a:t>
                      </a:r>
                      <a:r>
                        <a:rPr sz="1100" b="0" spc="-20" dirty="0">
                          <a:solidFill>
                            <a:srgbClr val="231F20"/>
                          </a:solidFill>
                          <a:latin typeface="Aktiv Grotesk Light"/>
                          <a:cs typeface="Aktiv Grotesk Light"/>
                        </a:rPr>
                        <a:t>(8×)</a:t>
                      </a:r>
                      <a:endParaRPr sz="1100">
                        <a:latin typeface="Aktiv Grotesk Light"/>
                        <a:cs typeface="Aktiv Grotesk Light"/>
                      </a:endParaRPr>
                    </a:p>
                  </a:txBody>
                  <a:tcPr marL="0" marR="0" marT="27940" marB="0">
                    <a:lnB w="19050">
                      <a:solidFill>
                        <a:srgbClr val="C2DCDF"/>
                      </a:solidFill>
                      <a:prstDash val="solid"/>
                    </a:lnB>
                  </a:tcPr>
                </a:tc>
                <a:tc>
                  <a:txBody>
                    <a:bodyPr/>
                    <a:lstStyle/>
                    <a:p>
                      <a:pPr marL="657860">
                        <a:lnSpc>
                          <a:spcPct val="100000"/>
                        </a:lnSpc>
                        <a:spcBef>
                          <a:spcPts val="220"/>
                        </a:spcBef>
                      </a:pPr>
                      <a:r>
                        <a:rPr sz="1100" b="0" dirty="0">
                          <a:solidFill>
                            <a:srgbClr val="231F20"/>
                          </a:solidFill>
                          <a:latin typeface="Aktiv Grotesk Light"/>
                          <a:cs typeface="Aktiv Grotesk Light"/>
                        </a:rPr>
                        <a:t>0.9</a:t>
                      </a:r>
                      <a:r>
                        <a:rPr sz="1100" b="0" spc="135" dirty="0">
                          <a:solidFill>
                            <a:srgbClr val="231F20"/>
                          </a:solidFill>
                          <a:latin typeface="Aktiv Grotesk Light"/>
                          <a:cs typeface="Aktiv Grotesk Light"/>
                        </a:rPr>
                        <a:t> </a:t>
                      </a:r>
                      <a:r>
                        <a:rPr sz="1100" b="0" spc="-20" dirty="0">
                          <a:solidFill>
                            <a:srgbClr val="231F20"/>
                          </a:solidFill>
                          <a:latin typeface="Aktiv Grotesk Light"/>
                          <a:cs typeface="Aktiv Grotesk Light"/>
                        </a:rPr>
                        <a:t>(9×)</a:t>
                      </a:r>
                      <a:endParaRPr sz="1100">
                        <a:latin typeface="Aktiv Grotesk Light"/>
                        <a:cs typeface="Aktiv Grotesk Light"/>
                      </a:endParaRPr>
                    </a:p>
                  </a:txBody>
                  <a:tcPr marL="0" marR="0" marT="27940" marB="0">
                    <a:lnB w="19050">
                      <a:solidFill>
                        <a:srgbClr val="C2DCDF"/>
                      </a:solidFill>
                      <a:prstDash val="solid"/>
                    </a:lnB>
                  </a:tcPr>
                </a:tc>
                <a:tc>
                  <a:txBody>
                    <a:bodyPr/>
                    <a:lstStyle/>
                    <a:p>
                      <a:pPr marL="580390">
                        <a:lnSpc>
                          <a:spcPct val="100000"/>
                        </a:lnSpc>
                        <a:spcBef>
                          <a:spcPts val="220"/>
                        </a:spcBef>
                      </a:pPr>
                      <a:r>
                        <a:rPr sz="1100" b="0" dirty="0">
                          <a:solidFill>
                            <a:srgbClr val="231F20"/>
                          </a:solidFill>
                          <a:latin typeface="Aktiv Grotesk Light"/>
                          <a:cs typeface="Aktiv Grotesk Light"/>
                        </a:rPr>
                        <a:t>39.9</a:t>
                      </a:r>
                      <a:r>
                        <a:rPr sz="1100" b="0" spc="185" dirty="0">
                          <a:solidFill>
                            <a:srgbClr val="231F20"/>
                          </a:solidFill>
                          <a:latin typeface="Aktiv Grotesk Light"/>
                          <a:cs typeface="Aktiv Grotesk Light"/>
                        </a:rPr>
                        <a:t> </a:t>
                      </a:r>
                      <a:r>
                        <a:rPr sz="1100" b="0" spc="-10" dirty="0">
                          <a:solidFill>
                            <a:srgbClr val="231F20"/>
                          </a:solidFill>
                          <a:latin typeface="Aktiv Grotesk Light"/>
                          <a:cs typeface="Aktiv Grotesk Light"/>
                        </a:rPr>
                        <a:t>(399×)</a:t>
                      </a:r>
                      <a:endParaRPr sz="1100">
                        <a:latin typeface="Aktiv Grotesk Light"/>
                        <a:cs typeface="Aktiv Grotesk Light"/>
                      </a:endParaRPr>
                    </a:p>
                  </a:txBody>
                  <a:tcPr marL="0" marR="0" marT="27940" marB="0">
                    <a:lnB w="19050">
                      <a:solidFill>
                        <a:srgbClr val="C2DCDF"/>
                      </a:solidFill>
                      <a:prstDash val="solid"/>
                    </a:lnB>
                  </a:tcPr>
                </a:tc>
                <a:extLst>
                  <a:ext uri="{0D108BD9-81ED-4DB2-BD59-A6C34878D82A}">
                    <a16:rowId xmlns:a16="http://schemas.microsoft.com/office/drawing/2014/main" val="10003"/>
                  </a:ext>
                </a:extLst>
              </a:tr>
            </a:tbl>
          </a:graphicData>
        </a:graphic>
      </p:graphicFrame>
      <p:sp>
        <p:nvSpPr>
          <p:cNvPr id="3" name="object 3" title="TABLE 8.2 Estimates of modern extinction rates (in extinctions per million species years) vary depending on the time frame used and the number of species included in the calculation"/>
          <p:cNvSpPr txBox="1"/>
          <p:nvPr/>
        </p:nvSpPr>
        <p:spPr>
          <a:xfrm>
            <a:off x="3103878" y="3787012"/>
            <a:ext cx="5777865" cy="348615"/>
          </a:xfrm>
          <a:prstGeom prst="rect">
            <a:avLst/>
          </a:prstGeom>
        </p:spPr>
        <p:txBody>
          <a:bodyPr vert="horz" wrap="square" lIns="0" tIns="11430" rIns="0" bIns="0" rtlCol="0">
            <a:spAutoFit/>
          </a:bodyPr>
          <a:lstStyle/>
          <a:p>
            <a:pPr marL="12700" marR="5080">
              <a:lnSpc>
                <a:spcPct val="111500"/>
              </a:lnSpc>
              <a:spcBef>
                <a:spcPts val="90"/>
              </a:spcBef>
            </a:pPr>
            <a:r>
              <a:rPr sz="950" b="0" i="1" spc="65" dirty="0">
                <a:solidFill>
                  <a:srgbClr val="231F20"/>
                </a:solidFill>
                <a:latin typeface="Aktiv Grotesk Light"/>
                <a:cs typeface="Aktiv Grotesk Light"/>
              </a:rPr>
              <a:t>Note</a:t>
            </a:r>
            <a:r>
              <a:rPr sz="950" b="0" spc="65" dirty="0">
                <a:solidFill>
                  <a:srgbClr val="231F20"/>
                </a:solidFill>
                <a:latin typeface="Aktiv Grotesk Light"/>
                <a:cs typeface="Aktiv Grotesk Light"/>
              </a:rPr>
              <a:t>:</a:t>
            </a:r>
            <a:r>
              <a:rPr sz="950" b="0" spc="40" dirty="0">
                <a:solidFill>
                  <a:srgbClr val="231F20"/>
                </a:solidFill>
                <a:latin typeface="Aktiv Grotesk Light"/>
                <a:cs typeface="Aktiv Grotesk Light"/>
              </a:rPr>
              <a:t> </a:t>
            </a:r>
            <a:r>
              <a:rPr sz="950" b="0" spc="75" dirty="0">
                <a:solidFill>
                  <a:srgbClr val="231F20"/>
                </a:solidFill>
                <a:latin typeface="Aktiv Grotesk Light"/>
                <a:cs typeface="Aktiv Grotesk Light"/>
              </a:rPr>
              <a:t>Numbers</a:t>
            </a:r>
            <a:r>
              <a:rPr sz="950" b="0" spc="40" dirty="0">
                <a:solidFill>
                  <a:srgbClr val="231F20"/>
                </a:solidFill>
                <a:latin typeface="Aktiv Grotesk Light"/>
                <a:cs typeface="Aktiv Grotesk Light"/>
              </a:rPr>
              <a:t> </a:t>
            </a:r>
            <a:r>
              <a:rPr sz="950" b="0" spc="50" dirty="0">
                <a:solidFill>
                  <a:srgbClr val="231F20"/>
                </a:solidFill>
                <a:latin typeface="Aktiv Grotesk Light"/>
                <a:cs typeface="Aktiv Grotesk Light"/>
              </a:rPr>
              <a:t>in</a:t>
            </a:r>
            <a:r>
              <a:rPr sz="950" b="0" spc="40" dirty="0">
                <a:solidFill>
                  <a:srgbClr val="231F20"/>
                </a:solidFill>
                <a:latin typeface="Aktiv Grotesk Light"/>
                <a:cs typeface="Aktiv Grotesk Light"/>
              </a:rPr>
              <a:t> </a:t>
            </a:r>
            <a:r>
              <a:rPr sz="950" b="0" spc="65" dirty="0">
                <a:solidFill>
                  <a:srgbClr val="231F20"/>
                </a:solidFill>
                <a:latin typeface="Aktiv Grotesk Light"/>
                <a:cs typeface="Aktiv Grotesk Light"/>
              </a:rPr>
              <a:t>parentheses</a:t>
            </a:r>
            <a:r>
              <a:rPr sz="950" b="0" spc="45" dirty="0">
                <a:solidFill>
                  <a:srgbClr val="231F20"/>
                </a:solidFill>
                <a:latin typeface="Aktiv Grotesk Light"/>
                <a:cs typeface="Aktiv Grotesk Light"/>
              </a:rPr>
              <a:t> </a:t>
            </a:r>
            <a:r>
              <a:rPr sz="950" b="0" spc="60" dirty="0">
                <a:solidFill>
                  <a:srgbClr val="231F20"/>
                </a:solidFill>
                <a:latin typeface="Aktiv Grotesk Light"/>
                <a:cs typeface="Aktiv Grotesk Light"/>
              </a:rPr>
              <a:t>given</a:t>
            </a:r>
            <a:r>
              <a:rPr sz="950" b="0" spc="40" dirty="0">
                <a:solidFill>
                  <a:srgbClr val="231F20"/>
                </a:solidFill>
                <a:latin typeface="Aktiv Grotesk Light"/>
                <a:cs typeface="Aktiv Grotesk Light"/>
              </a:rPr>
              <a:t> </a:t>
            </a:r>
            <a:r>
              <a:rPr sz="950" b="0" spc="65" dirty="0">
                <a:solidFill>
                  <a:srgbClr val="231F20"/>
                </a:solidFill>
                <a:latin typeface="Aktiv Grotesk Light"/>
                <a:cs typeface="Aktiv Grotesk Light"/>
              </a:rPr>
              <a:t>the</a:t>
            </a:r>
            <a:r>
              <a:rPr sz="950" b="0" spc="40" dirty="0">
                <a:solidFill>
                  <a:srgbClr val="231F20"/>
                </a:solidFill>
                <a:latin typeface="Aktiv Grotesk Light"/>
                <a:cs typeface="Aktiv Grotesk Light"/>
              </a:rPr>
              <a:t> </a:t>
            </a:r>
            <a:r>
              <a:rPr sz="950" b="0" spc="75" dirty="0">
                <a:solidFill>
                  <a:srgbClr val="231F20"/>
                </a:solidFill>
                <a:latin typeface="Aktiv Grotesk Light"/>
                <a:cs typeface="Aktiv Grotesk Light"/>
              </a:rPr>
              <a:t>number</a:t>
            </a:r>
            <a:r>
              <a:rPr sz="950" b="0" spc="40" dirty="0">
                <a:solidFill>
                  <a:srgbClr val="231F20"/>
                </a:solidFill>
                <a:latin typeface="Aktiv Grotesk Light"/>
                <a:cs typeface="Aktiv Grotesk Light"/>
              </a:rPr>
              <a:t> </a:t>
            </a:r>
            <a:r>
              <a:rPr sz="950" b="0" spc="60" dirty="0">
                <a:solidFill>
                  <a:srgbClr val="231F20"/>
                </a:solidFill>
                <a:latin typeface="Aktiv Grotesk Light"/>
                <a:cs typeface="Aktiv Grotesk Light"/>
              </a:rPr>
              <a:t>of</a:t>
            </a:r>
            <a:r>
              <a:rPr sz="950" b="0" spc="45" dirty="0">
                <a:solidFill>
                  <a:srgbClr val="231F20"/>
                </a:solidFill>
                <a:latin typeface="Aktiv Grotesk Light"/>
                <a:cs typeface="Aktiv Grotesk Light"/>
              </a:rPr>
              <a:t> </a:t>
            </a:r>
            <a:r>
              <a:rPr sz="950" b="0" spc="65" dirty="0">
                <a:solidFill>
                  <a:srgbClr val="231F20"/>
                </a:solidFill>
                <a:latin typeface="Aktiv Grotesk Light"/>
                <a:cs typeface="Aktiv Grotesk Light"/>
              </a:rPr>
              <a:t>times</a:t>
            </a:r>
            <a:r>
              <a:rPr sz="950" b="0" spc="40" dirty="0">
                <a:solidFill>
                  <a:srgbClr val="231F20"/>
                </a:solidFill>
                <a:latin typeface="Aktiv Grotesk Light"/>
                <a:cs typeface="Aktiv Grotesk Light"/>
              </a:rPr>
              <a:t> </a:t>
            </a:r>
            <a:r>
              <a:rPr sz="950" b="0" spc="65" dirty="0">
                <a:solidFill>
                  <a:srgbClr val="231F20"/>
                </a:solidFill>
                <a:latin typeface="Aktiv Grotesk Light"/>
                <a:cs typeface="Aktiv Grotesk Light"/>
              </a:rPr>
              <a:t>than</a:t>
            </a:r>
            <a:r>
              <a:rPr sz="950" b="0" spc="40" dirty="0">
                <a:solidFill>
                  <a:srgbClr val="231F20"/>
                </a:solidFill>
                <a:latin typeface="Aktiv Grotesk Light"/>
                <a:cs typeface="Aktiv Grotesk Light"/>
              </a:rPr>
              <a:t> </a:t>
            </a:r>
            <a:r>
              <a:rPr sz="950" b="0" spc="65" dirty="0">
                <a:solidFill>
                  <a:srgbClr val="231F20"/>
                </a:solidFill>
                <a:latin typeface="Aktiv Grotesk Light"/>
                <a:cs typeface="Aktiv Grotesk Light"/>
              </a:rPr>
              <a:t>background</a:t>
            </a:r>
            <a:r>
              <a:rPr sz="950" b="0" spc="40" dirty="0">
                <a:solidFill>
                  <a:srgbClr val="231F20"/>
                </a:solidFill>
                <a:latin typeface="Aktiv Grotesk Light"/>
                <a:cs typeface="Aktiv Grotesk Light"/>
              </a:rPr>
              <a:t> </a:t>
            </a:r>
            <a:r>
              <a:rPr sz="950" b="0" spc="55" dirty="0">
                <a:solidFill>
                  <a:srgbClr val="231F20"/>
                </a:solidFill>
                <a:latin typeface="Aktiv Grotesk Light"/>
                <a:cs typeface="Aktiv Grotesk Light"/>
              </a:rPr>
              <a:t>rate</a:t>
            </a:r>
            <a:r>
              <a:rPr sz="950" b="0" spc="45" dirty="0">
                <a:solidFill>
                  <a:srgbClr val="231F20"/>
                </a:solidFill>
                <a:latin typeface="Aktiv Grotesk Light"/>
                <a:cs typeface="Aktiv Grotesk Light"/>
              </a:rPr>
              <a:t> </a:t>
            </a:r>
            <a:r>
              <a:rPr sz="950" b="0" spc="60" dirty="0">
                <a:solidFill>
                  <a:srgbClr val="231F20"/>
                </a:solidFill>
                <a:latin typeface="Aktiv Grotesk Light"/>
                <a:cs typeface="Aktiv Grotesk Light"/>
              </a:rPr>
              <a:t>of</a:t>
            </a:r>
            <a:r>
              <a:rPr sz="950" b="0" spc="40" dirty="0">
                <a:solidFill>
                  <a:srgbClr val="231F20"/>
                </a:solidFill>
                <a:latin typeface="Aktiv Grotesk Light"/>
                <a:cs typeface="Aktiv Grotesk Light"/>
              </a:rPr>
              <a:t> </a:t>
            </a:r>
            <a:r>
              <a:rPr sz="950" b="0" spc="60" dirty="0">
                <a:solidFill>
                  <a:srgbClr val="231F20"/>
                </a:solidFill>
                <a:latin typeface="Aktiv Grotesk Light"/>
                <a:cs typeface="Aktiv Grotesk Light"/>
              </a:rPr>
              <a:t>extinction</a:t>
            </a:r>
            <a:r>
              <a:rPr sz="950" b="0" spc="40" dirty="0">
                <a:solidFill>
                  <a:srgbClr val="231F20"/>
                </a:solidFill>
                <a:latin typeface="Aktiv Grotesk Light"/>
                <a:cs typeface="Aktiv Grotesk Light"/>
              </a:rPr>
              <a:t> </a:t>
            </a:r>
            <a:r>
              <a:rPr sz="950" b="0" spc="25" dirty="0">
                <a:solidFill>
                  <a:srgbClr val="231F20"/>
                </a:solidFill>
                <a:latin typeface="Aktiv Grotesk Light"/>
                <a:cs typeface="Aktiv Grotesk Light"/>
              </a:rPr>
              <a:t>in </a:t>
            </a:r>
            <a:r>
              <a:rPr sz="950" b="0" spc="55" dirty="0">
                <a:solidFill>
                  <a:srgbClr val="231F20"/>
                </a:solidFill>
                <a:latin typeface="Aktiv Grotesk Light"/>
                <a:cs typeface="Aktiv Grotesk Light"/>
              </a:rPr>
              <a:t>fossil</a:t>
            </a:r>
            <a:r>
              <a:rPr sz="950" b="0" spc="30" dirty="0">
                <a:solidFill>
                  <a:srgbClr val="231F20"/>
                </a:solidFill>
                <a:latin typeface="Aktiv Grotesk Light"/>
                <a:cs typeface="Aktiv Grotesk Light"/>
              </a:rPr>
              <a:t> </a:t>
            </a:r>
            <a:r>
              <a:rPr sz="950" b="0" spc="40" dirty="0">
                <a:solidFill>
                  <a:srgbClr val="231F20"/>
                </a:solidFill>
                <a:latin typeface="Aktiv Grotesk Light"/>
                <a:cs typeface="Aktiv Grotesk Light"/>
              </a:rPr>
              <a:t>record.</a:t>
            </a:r>
            <a:endParaRPr sz="950">
              <a:latin typeface="Aktiv Grotesk Light"/>
              <a:cs typeface="Aktiv Grotesk Light"/>
            </a:endParaRPr>
          </a:p>
        </p:txBody>
      </p:sp>
      <p:sp>
        <p:nvSpPr>
          <p:cNvPr id="4" name="Title 3"/>
          <p:cNvSpPr>
            <a:spLocks noGrp="1"/>
          </p:cNvSpPr>
          <p:nvPr>
            <p:ph type="title"/>
          </p:nvPr>
        </p:nvSpPr>
        <p:spPr>
          <a:xfrm>
            <a:off x="0" y="0"/>
            <a:ext cx="12192000" cy="646331"/>
          </a:xfrm>
        </p:spPr>
        <p:txBody>
          <a:bodyPr/>
          <a:lstStyle/>
          <a:p>
            <a:r>
              <a:rPr lang="en-IN" b="1" dirty="0"/>
              <a:t>TABLE 8.2</a:t>
            </a:r>
            <a:r>
              <a:rPr lang="en-IN" dirty="0"/>
              <a:t> </a:t>
            </a:r>
            <a:r>
              <a:rPr lang="en-US" dirty="0"/>
              <a:t>Estimates of modern extinction rates (in extinctions per million species years) vary depending on the time frame used and the number of species included in the </a:t>
            </a:r>
            <a:r>
              <a:rPr lang="en-IN" dirty="0"/>
              <a:t>calculation</a:t>
            </a:r>
          </a:p>
        </p:txBody>
      </p:sp>
    </p:spTree>
    <p:extLst>
      <p:ext uri="{BB962C8B-B14F-4D97-AF65-F5344CB8AC3E}">
        <p14:creationId xmlns:p14="http://schemas.microsoft.com/office/powerpoint/2010/main" val="2823832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8.4 </a:t>
            </a:r>
            <a:r>
              <a:rPr lang="en-US" dirty="0"/>
              <a:t>A summary of studies (</a:t>
            </a:r>
            <a:r>
              <a:rPr lang="en-US" i="1" dirty="0"/>
              <a:t>y </a:t>
            </a:r>
            <a:r>
              <a:rPr lang="en-US" dirty="0"/>
              <a:t>axis) that have published estimates of modern extinction rates (</a:t>
            </a:r>
            <a:r>
              <a:rPr lang="en-US" i="1" dirty="0"/>
              <a:t>x </a:t>
            </a:r>
            <a:r>
              <a:rPr lang="en-US" dirty="0"/>
              <a:t>axis) for various groups of organisms. </a:t>
            </a:r>
          </a:p>
        </p:txBody>
      </p:sp>
      <p:pic>
        <p:nvPicPr>
          <p:cNvPr id="2" name="Picture 1" descr="A graph shows the extinction rate of different species, and as predicted by different studies. The horizontal axis is labeled extinction rate, and ranges from 0.1 to 100,000. The vertical axis lists different studies. All data are approximate. The extinction rate is E over MSY. The region between E over MSY equals 0.1 and E equals MSY equals 1.0 is labeled background in fossil record. Data from the graph, presented in the format, species: past extinction rate, presented extinction rate, are as follows. Birds: 100, 1,000. Mammals: 95, 1,500. Reptiles: 30, 800. Anurans: 65, 200. Freshwater clams: 200, 1,000. The present extinction rate predicted by different studies are as follows. Tropical plants, Raven, 1987: 9,000. Plant species, Myers, 1988: 8,500. Forest species, Reid and Miller, 1989: 3,000 to 8,000. All species, Reid, 1992: 1,000 to 8,000. All species, Myers, 1979: 7,000. All species, Lovejoy, 1980: 9,900 to 10,000. All species, Raven, 1988: 10,000. All species, Wilson, 1988 and 1989: 3,500 to 5,000. All species, Simon, 1994: 0.1. &#10;" title="Figure 8.4 A summary of studies (y axis) that have published estimates of modern extinction rates (x axis) for various groups of organisms.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2707" y="795661"/>
            <a:ext cx="7166587" cy="5527932"/>
          </a:xfrm>
          <a:prstGeom prst="rect">
            <a:avLst/>
          </a:prstGeom>
        </p:spPr>
      </p:pic>
    </p:spTree>
    <p:extLst>
      <p:ext uri="{BB962C8B-B14F-4D97-AF65-F5344CB8AC3E}">
        <p14:creationId xmlns:p14="http://schemas.microsoft.com/office/powerpoint/2010/main" val="543355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11</a:t>
            </a:r>
            <a:endParaRPr lang="en-IN" dirty="0"/>
          </a:p>
        </p:txBody>
      </p:sp>
      <p:pic>
        <p:nvPicPr>
          <p:cNvPr id="2" name="Picture 1" descr="An image shows silhouettes of different animal species in a forest. The image is surrounded by scientists’ opinions in different publications. Independent: Oceans on brink of catastrophe. Marine life facing mass extinction within one human generation Michael McCarthy, June 20, 2011. National Geographic: Will humans survive the sixth great extinction? Nadia Drake, June 23, 2015. CNN: Sixth mass extinction: The era of ‘biological annihilation.’ John D. Sutter, July 11, 2017. USA Today: Biological annihilation. Earth’s sixth mass extinction is underway. Doyle Rice, July 10, 2017. Discover Magazine: Species Census. Yes, the sixth Mass Extinction Is Happening Now. Andrew Moseman, March 2, 2011. The Washington Post: Earth is on brink of a sixth mass extinction scientists say. Sarah Kaplan, June 22, 2015.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9255" y="1170666"/>
            <a:ext cx="10193490" cy="4516668"/>
          </a:xfrm>
          <a:prstGeom prst="rect">
            <a:avLst/>
          </a:prstGeom>
        </p:spPr>
      </p:pic>
    </p:spTree>
    <p:extLst>
      <p:ext uri="{BB962C8B-B14F-4D97-AF65-F5344CB8AC3E}">
        <p14:creationId xmlns:p14="http://schemas.microsoft.com/office/powerpoint/2010/main" val="26326843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12</a:t>
            </a:r>
            <a:endParaRPr lang="en-IN" dirty="0"/>
          </a:p>
        </p:txBody>
      </p:sp>
      <p:pic>
        <p:nvPicPr>
          <p:cNvPr id="2" name="Picture 1" descr="An illustration shows the extinction magnitude as a percentage of species. Approximate data from the illustration, presented in the format, species: Magnitude of extinctions that have occurred over the past 500 years, currently threatened species to those that are already known to be extinct, are as follows. Mammalia: 1, 22. Aves: 1, 14. Reptilia: 1 asterisk, 29 asterisk. Amphibia: 1, 31. A black arrow points from 31 to a question mark at 45. Actinopterygii: 1 asterisk, 28 asterisk. Scleractinia: 0, 27. Gastropoda: 13 asterisk, 56 asterisk. An arrow points from 13 to a question mark at 1. Another arrow points from 56 to a question mark at 35. Bivalvia: 10 asterisk, 47 asterisk. A question mark is at 1, and an arrow points from 47 to an arrow at 25. Cycadopsida: 1, 64. Coniferopsida: 0, 29. Chondrichthyes: 0, 17. Decapoda: 0, 19. The extinction magnitude of big five mass were between 75 and 100.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5666" y="914338"/>
            <a:ext cx="6180669" cy="5029325"/>
          </a:xfrm>
          <a:prstGeom prst="rect">
            <a:avLst/>
          </a:prstGeom>
        </p:spPr>
      </p:pic>
    </p:spTree>
    <p:extLst>
      <p:ext uri="{BB962C8B-B14F-4D97-AF65-F5344CB8AC3E}">
        <p14:creationId xmlns:p14="http://schemas.microsoft.com/office/powerpoint/2010/main" val="477046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8.5 </a:t>
            </a:r>
            <a:r>
              <a:rPr lang="en-US" dirty="0"/>
              <a:t>Drivers of biodiversity loss. The ultimate causes of biodiversity loss are given by the </a:t>
            </a:r>
            <a:r>
              <a:rPr lang="en-US" i="1" dirty="0"/>
              <a:t>IPAT </a:t>
            </a:r>
            <a:r>
              <a:rPr lang="en-US" dirty="0"/>
              <a:t>equation, which shows how human impacts on the environment are proportional to human population growth, </a:t>
            </a:r>
          </a:p>
        </p:txBody>
      </p:sp>
      <p:pic>
        <p:nvPicPr>
          <p:cNvPr id="2" name="Picture 1" descr="An illustration, accompanied by photos show the drivers of biodiversity loss. Impact equals population P times affluence A times technology T. Activities, such as agriculture, fisheries, industry, urbanization and sprawl, international trade, and recreation are drivers of biodiversity loss. Environmental change, such as habitat loss in chapter 9, overexploitation in chapter 10, invasive species in chapter 11, and climate change in chapter 12 contribute to biodiversity loss. Accompanying photos show hammerhead sharks, pines, tortoise, red panda, butterfly, and penguin. &#10;" title="Figure 8.5 Drivers of biodiversity loss. The ultimate causes of biodiversity loss are given by the IPAT equation, which shows how human impacts on the environment are proportional to human population growth, as well as increases in affluence and improvements in technology that underlie resource consumption.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0010" y="962762"/>
            <a:ext cx="6711981" cy="5477483"/>
          </a:xfrm>
          <a:prstGeom prst="rect">
            <a:avLst/>
          </a:prstGeom>
        </p:spPr>
      </p:pic>
    </p:spTree>
    <p:extLst>
      <p:ext uri="{BB962C8B-B14F-4D97-AF65-F5344CB8AC3E}">
        <p14:creationId xmlns:p14="http://schemas.microsoft.com/office/powerpoint/2010/main" val="3859101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8.6 </a:t>
            </a:r>
            <a:r>
              <a:rPr lang="en-US" dirty="0"/>
              <a:t>(A) The Living Planet Index (LPI), represented on the </a:t>
            </a:r>
            <a:r>
              <a:rPr lang="en-US" i="1" dirty="0"/>
              <a:t>y </a:t>
            </a:r>
            <a:r>
              <a:rPr lang="en-US" dirty="0"/>
              <a:t>axis, is an indicator of the state of global biodiversity, based on trends in more than 32,000 populations of 5,230 terrestrial, freshwater, and marine species. </a:t>
            </a:r>
          </a:p>
        </p:txBody>
      </p:sp>
      <p:pic>
        <p:nvPicPr>
          <p:cNvPr id="2" name="Picture 1" descr="Two graphs, A and B, show the living planet index and the causes of population decline. In Graph A, the horizontal axis is labelled year and ranges from 1970 to 2018. The vertical axis is labelled Decline of Wildlife Populations (relative, with 1970). The three lines Upper estimate, Central estimate, and Lower estimate from 100 per cent in 1970 to 40 per cent, 35 per cent, and 30 per cent, respectiely. In graph B, the horizontal axis is labeled percent population loss by threat, and ranges from 0 to 100 in increments of 25. Approximate data from the graph, presented in the format, species: habitat degradation, exploitation, invasive species and disease, pollution, climate change, are as follows. Birds: 49, 18, 11, 10, 12. Mammals: 45, 37, 10, 3, 5. Fishes: 29, 54, 5, 4, 8. Reptiles and amphibians: 48, 23, 11, 11, 7. &#10;" title="Figure 8.6 (A) The Living Planet Index (LPI), represented on the y axis, is an indicator of the state of global biodiversity, based on trends in more than 32,000 populations of 5,230 terrestrial, freshwater, and marine species.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1463" y="760836"/>
            <a:ext cx="5209074" cy="5755589"/>
          </a:xfrm>
          <a:prstGeom prst="rect">
            <a:avLst/>
          </a:prstGeom>
        </p:spPr>
      </p:pic>
    </p:spTree>
    <p:extLst>
      <p:ext uri="{BB962C8B-B14F-4D97-AF65-F5344CB8AC3E}">
        <p14:creationId xmlns:p14="http://schemas.microsoft.com/office/powerpoint/2010/main" val="6822853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923330"/>
          </a:xfrm>
        </p:spPr>
        <p:txBody>
          <a:bodyPr/>
          <a:lstStyle/>
          <a:p>
            <a:r>
              <a:rPr lang="en-US" b="1" dirty="0"/>
              <a:t>Figure 8.7 </a:t>
            </a:r>
            <a:r>
              <a:rPr lang="en-US" dirty="0"/>
              <a:t>Corals are a good example of how multiple stressors can interact to cause population declines. As they respond to increasing water temperatures, many types of coral become physiologically stressed, which can subsequently make them more susceptible to disease due to viral, bacterial, and fungal pathogens. </a:t>
            </a:r>
          </a:p>
        </p:txBody>
      </p:sp>
      <p:pic>
        <p:nvPicPr>
          <p:cNvPr id="2" name="Picture 1" descr="Three photos, A through C, show the pathogens affecting corals. In photo A, a band of coral has black pigmentation, and the area enclosed by it suffers from tissue loss. In photo B, a portion of coral has white pigmentation. In photo C, a white patch is on a flat coral surface.&#10;" title="Figure 8.7 Corals are a good example of how multiple stressors can interact to cause population declines. As they respond to increasing water temperatures, many types of coral become physiologically stressed, which can subsequently make them more susceptible to disease due to viral, bacterial, and fungal pathogens.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3263" y="1794391"/>
            <a:ext cx="10885474" cy="3269219"/>
          </a:xfrm>
          <a:prstGeom prst="rect">
            <a:avLst/>
          </a:prstGeom>
        </p:spPr>
      </p:pic>
    </p:spTree>
    <p:extLst>
      <p:ext uri="{BB962C8B-B14F-4D97-AF65-F5344CB8AC3E}">
        <p14:creationId xmlns:p14="http://schemas.microsoft.com/office/powerpoint/2010/main" val="40372372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8.8 </a:t>
            </a:r>
            <a:r>
              <a:rPr lang="en-US" dirty="0"/>
              <a:t>A hypothetical species–area relationship relating the species richness (</a:t>
            </a:r>
            <a:r>
              <a:rPr lang="en-US" i="1" dirty="0"/>
              <a:t>S</a:t>
            </a:r>
            <a:r>
              <a:rPr lang="en-US" dirty="0"/>
              <a:t>) of freshwater fish (</a:t>
            </a:r>
            <a:r>
              <a:rPr lang="en-US" i="1" dirty="0"/>
              <a:t>y </a:t>
            </a:r>
            <a:r>
              <a:rPr lang="en-US" dirty="0"/>
              <a:t>axis) to the surface area (</a:t>
            </a:r>
            <a:r>
              <a:rPr lang="en-US" i="1" dirty="0"/>
              <a:t>A</a:t>
            </a:r>
            <a:r>
              <a:rPr lang="en-US" dirty="0"/>
              <a:t>, in hectares) of lakes (</a:t>
            </a:r>
            <a:r>
              <a:rPr lang="en-US" i="1" dirty="0"/>
              <a:t>x </a:t>
            </a:r>
            <a:r>
              <a:rPr lang="en-US" dirty="0"/>
              <a:t>axis). </a:t>
            </a:r>
          </a:p>
        </p:txBody>
      </p:sp>
      <p:pic>
        <p:nvPicPr>
          <p:cNvPr id="2" name="Picture 1" descr="Two scatterplots, A and B, show the relationship between species richness and habitat area. All data are approximate. In graph A, the horizontal axis is labeled habitat area A, ranging from 1 to 11 in increments of 2, and the vertical axis is labeled species richness S, ranging from 1 to 7 in increments of 2. The best fit curve increases through (1, 3), (6, 5), and (10, 6). S equals 3.13 times A to the power of 0.28. In graph B, the horizontal axis is labeled habitat area A, ranging from 0.00 to 1.00 in increments of 0.25, and the vertical axis is labeled species richness S, ranging from 0.00 to 1.00 in increments of 0.25. The best fit line slopes upward through (0.00, 0.55) and (1.00, 0.75). log of S equals log of 3.13 plus 0.28 times log of S. There are three types of fishes along the axis.&#10;" title="Figure 8.8 A hypothetical species–area relationship relating the species richness (S) of freshwater fish (y axis) to the surface area (A, in hectares) of lakes (x axis).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818" y="1470471"/>
            <a:ext cx="10888364" cy="3917059"/>
          </a:xfrm>
          <a:prstGeom prst="rect">
            <a:avLst/>
          </a:prstGeom>
        </p:spPr>
      </p:pic>
    </p:spTree>
    <p:extLst>
      <p:ext uri="{BB962C8B-B14F-4D97-AF65-F5344CB8AC3E}">
        <p14:creationId xmlns:p14="http://schemas.microsoft.com/office/powerpoint/2010/main" val="28725902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8.9 </a:t>
            </a:r>
            <a:r>
              <a:rPr lang="en-US" dirty="0"/>
              <a:t>St. Helena ebony (</a:t>
            </a:r>
            <a:r>
              <a:rPr lang="en-US" i="1" dirty="0" err="1"/>
              <a:t>Trochetiopsis</a:t>
            </a:r>
            <a:r>
              <a:rPr lang="en-US" i="1" dirty="0"/>
              <a:t> </a:t>
            </a:r>
            <a:r>
              <a:rPr lang="en-US" i="1" dirty="0" err="1"/>
              <a:t>ebenus</a:t>
            </a:r>
            <a:r>
              <a:rPr lang="en-US" dirty="0"/>
              <a:t>) is endemic to the island of St. Helena in the southern Atlantic Ocean. The wild population has been reduced to just two individuals on the side of a cliff. Given such low </a:t>
            </a:r>
            <a:r>
              <a:rPr lang="en-US" dirty="0" smtClean="0"/>
              <a:t>numbers,</a:t>
            </a:r>
            <a:endParaRPr lang="en-IN" dirty="0"/>
          </a:p>
        </p:txBody>
      </p:sp>
      <p:pic>
        <p:nvPicPr>
          <p:cNvPr id="2" name="Picture 1" descr="A photo shows the flower of Saint Helen ebony. &#10;" title="Figure 8.9 St. Helena ebony (Trochetiopsis ebenus) is endemic to the island of St. Helena in the southern Atlantic Ocean. The wild population has been reduced to just two individuals on the side of a cliff. Given such low numbers, the species will almost certainly go extinct in the wil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7149" y="926255"/>
            <a:ext cx="7377703" cy="5005491"/>
          </a:xfrm>
          <a:prstGeom prst="rect">
            <a:avLst/>
          </a:prstGeom>
        </p:spPr>
      </p:pic>
    </p:spTree>
    <p:extLst>
      <p:ext uri="{BB962C8B-B14F-4D97-AF65-F5344CB8AC3E}">
        <p14:creationId xmlns:p14="http://schemas.microsoft.com/office/powerpoint/2010/main" val="9140248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369332"/>
          </a:xfrm>
        </p:spPr>
        <p:txBody>
          <a:bodyPr/>
          <a:lstStyle/>
          <a:p>
            <a:r>
              <a:rPr lang="en-US" b="1" dirty="0"/>
              <a:t>Figure 8.10 </a:t>
            </a:r>
            <a:r>
              <a:rPr lang="en-US" dirty="0"/>
              <a:t>Empirically documented changes in local biodiversity. </a:t>
            </a:r>
          </a:p>
        </p:txBody>
      </p:sp>
      <p:pic>
        <p:nvPicPr>
          <p:cNvPr id="2" name="Picture 1" descr="Two graphs, A and B, show the richness difference for different land-use intensity, and the type of biodiversity over time. All data are approximate. Graph A is accompanied by a map. The map that land-use is high in the US, Central America, scattered regions in South America, Europe, parts of western and eastern Africa, southern, southeastern, and eastern Asia, and eastern Australia. The error graph lists different habitat types along the horizontal axis, and richness difference in percent along the vertical axis, ranging from negative 80 to 40 in increments of 20. The richness difference based on the land-use intensity in different habitat types are as follows. Primary: The richness difference is 0 for minimal use, 0 for light use, ranging from negative 5 to 10, and 5 for intense use, ranging from negative 7 to 20. MSV: The richness difference is 0 for minimal use, ranging from negative 10 to 15, and 15 for light and intense use, ranging from negative 1 to 40. ISV: The richness difference is negative 10 for both minimal, and light and intense uses, and ranges from negative 20 to 0. YSV: The richness difference is negative 15 for minimal use, ranging from negative 25 to negative 5, and negative 20 for light and intense use, ranging from negative 35 to negative 8. Plantation: The richness difference is negative 20 for minimal use, ranging from negative 30 to negative 10, negative 30 for light use, ranging from negative 38 to negative 15, and negative 40 for intense use, ranging from negative 52 to negative 25. Cropland: The richness difference is negative 30 for minimal use, ranging from negative 38 to negative 18, negative 40 for light use, ranging from negative 50 to negative 30, and negative 40 for intense use, ranging from negative 50 to negative 28. Pasture: The richness difference is negative 22 for minimal use, ranging from negative 35 to negative 8, negative 30 for light use, ranging from negative 40 to negative 30, and negative 40 for intense use, ranging from negative 50 to negative 22. Urban: The richness difference is negative 4 for minimal use, ranging from negative 22 to negative 15, negative 38 for light use, ranging from negative 50 to negative 20, and negative 50 for intense use, ranging from negative 62 to negative 37. In graph B, the horizontal axis is labeled year, ranging from 1900 to 2000 in increments of 100, and the vertical axis is labeled log of S, ranging from 0 to 8 in increments of 2. The common trend is a horizontal line at log of S equals 4.5. The plots and lines for global, polar, polar or temperate, temperate, temperate or tropical, and tropical are concentrated under the common trend and in years greater than 1960. &#10;" title="Figure 8.10 Empirically documented changes in local biodiversity.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1100" y="461943"/>
            <a:ext cx="2789798" cy="6076615"/>
          </a:xfrm>
          <a:prstGeom prst="rect">
            <a:avLst/>
          </a:prstGeom>
        </p:spPr>
      </p:pic>
    </p:spTree>
    <p:extLst>
      <p:ext uri="{BB962C8B-B14F-4D97-AF65-F5344CB8AC3E}">
        <p14:creationId xmlns:p14="http://schemas.microsoft.com/office/powerpoint/2010/main" val="667072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369332"/>
          </a:xfrm>
        </p:spPr>
        <p:txBody>
          <a:bodyPr/>
          <a:lstStyle/>
          <a:p>
            <a:r>
              <a:rPr lang="en-US" b="1" dirty="0"/>
              <a:t>Figure 8.11 </a:t>
            </a:r>
            <a:r>
              <a:rPr lang="en-US" dirty="0"/>
              <a:t>Natural or </a:t>
            </a:r>
            <a:r>
              <a:rPr lang="en-US" dirty="0" err="1"/>
              <a:t>seminatural</a:t>
            </a:r>
            <a:r>
              <a:rPr lang="en-US" dirty="0"/>
              <a:t> landscapes </a:t>
            </a:r>
          </a:p>
        </p:txBody>
      </p:sp>
      <p:pic>
        <p:nvPicPr>
          <p:cNvPr id="2" name="Picture 1" descr="Two photos, A and B, show change in the structure of a region over time. Photo A shows that at time 1, the natural habitat of the region consists of a dense cluster of trees. Photo B shows that at time 2, the natural habitat is converted into a spatial mosaic with three regions. Region 1 is dry, region 2 consists of a dense cluster of trees like in natural habitat, and region 3 between the other two regions consists of an abandoned farmland. &#10;" title="Figure 8.11 Natural or seminatural landscapes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0746" y="1488593"/>
            <a:ext cx="10350508" cy="3880814"/>
          </a:xfrm>
          <a:prstGeom prst="rect">
            <a:avLst/>
          </a:prstGeom>
        </p:spPr>
      </p:pic>
    </p:spTree>
    <p:extLst>
      <p:ext uri="{BB962C8B-B14F-4D97-AF65-F5344CB8AC3E}">
        <p14:creationId xmlns:p14="http://schemas.microsoft.com/office/powerpoint/2010/main" val="8989048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369332"/>
          </a:xfrm>
        </p:spPr>
        <p:txBody>
          <a:bodyPr/>
          <a:lstStyle/>
          <a:p>
            <a:r>
              <a:rPr lang="en-US" b="1" dirty="0"/>
              <a:t>Figure 8.12 </a:t>
            </a:r>
            <a:r>
              <a:rPr lang="en-US" dirty="0"/>
              <a:t>Regional observation and monitoring networks like the U.S. </a:t>
            </a:r>
          </a:p>
        </p:txBody>
      </p:sp>
      <p:pic>
        <p:nvPicPr>
          <p:cNvPr id="2" name="Picture 1" descr="A photo shows some regional observation and monitoring networks, such as airborne platform, relocatable tower, advanced tower, mobile platform, basic tower, and aquatic array. &#10;" title="Figure 8.12 Regional observation and monitoring networks like the U.S.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0795" y="762004"/>
            <a:ext cx="7110410" cy="5333993"/>
          </a:xfrm>
          <a:prstGeom prst="rect">
            <a:avLst/>
          </a:prstGeom>
        </p:spPr>
      </p:pic>
    </p:spTree>
    <p:extLst>
      <p:ext uri="{BB962C8B-B14F-4D97-AF65-F5344CB8AC3E}">
        <p14:creationId xmlns:p14="http://schemas.microsoft.com/office/powerpoint/2010/main" val="41142046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21</a:t>
            </a:r>
            <a:endParaRPr lang="en-IN" dirty="0"/>
          </a:p>
        </p:txBody>
      </p:sp>
      <p:pic>
        <p:nvPicPr>
          <p:cNvPr id="2" name="Picture 1" descr="A photo shows a person taking a photograph of a plant. An inset image shows the iNaturalist app opened in a phone. An accompanying illustration shows the three steps in using the app. 1. Record your observations. 2. Share with fellow naturalists. 3. Discuss your findings.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98946" y="982927"/>
            <a:ext cx="5594108" cy="4892146"/>
          </a:xfrm>
          <a:prstGeom prst="rect">
            <a:avLst/>
          </a:prstGeom>
        </p:spPr>
      </p:pic>
    </p:spTree>
    <p:extLst>
      <p:ext uri="{BB962C8B-B14F-4D97-AF65-F5344CB8AC3E}">
        <p14:creationId xmlns:p14="http://schemas.microsoft.com/office/powerpoint/2010/main" val="398637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22</a:t>
            </a:r>
            <a:endParaRPr lang="en-IN" dirty="0"/>
          </a:p>
        </p:txBody>
      </p:sp>
      <p:pic>
        <p:nvPicPr>
          <p:cNvPr id="2" name="Picture 1" descr="A photo shows a researcher rubbing a cotton swab on an Australian frog’s body. The frog is yellow with black spots.&#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6562" y="1107121"/>
            <a:ext cx="6198876" cy="4643758"/>
          </a:xfrm>
          <a:prstGeom prst="rect">
            <a:avLst/>
          </a:prstGeom>
        </p:spPr>
      </p:pic>
    </p:spTree>
    <p:extLst>
      <p:ext uri="{BB962C8B-B14F-4D97-AF65-F5344CB8AC3E}">
        <p14:creationId xmlns:p14="http://schemas.microsoft.com/office/powerpoint/2010/main" val="26205067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8.13 </a:t>
            </a:r>
            <a:r>
              <a:rPr lang="en-US" dirty="0"/>
              <a:t>The Iberian lynx (</a:t>
            </a:r>
            <a:r>
              <a:rPr lang="en-US" i="1" dirty="0"/>
              <a:t>Lynx </a:t>
            </a:r>
            <a:r>
              <a:rPr lang="en-US" i="1" dirty="0" err="1"/>
              <a:t>pardinus</a:t>
            </a:r>
            <a:r>
              <a:rPr lang="en-US" dirty="0"/>
              <a:t>) occupies a highly restricted geographic range, with only two breeding populations in Spain. As a result, the species is the world’s most endangered felid.</a:t>
            </a:r>
            <a:endParaRPr lang="en-IN" dirty="0"/>
          </a:p>
        </p:txBody>
      </p:sp>
      <p:pic>
        <p:nvPicPr>
          <p:cNvPr id="2" name="Picture 1" descr="A photo of the Iberian lynx. &#10;" title="Figure 8.13 The Iberian lynx (Lynx pardinus) occupies a highly restricted geographic range, with only two breeding populations in Spain. As a result, the species is the world’s most endangered feli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8217" y="833289"/>
            <a:ext cx="8315566" cy="5571430"/>
          </a:xfrm>
          <a:prstGeom prst="rect">
            <a:avLst/>
          </a:prstGeom>
        </p:spPr>
      </p:pic>
    </p:spTree>
    <p:extLst>
      <p:ext uri="{BB962C8B-B14F-4D97-AF65-F5344CB8AC3E}">
        <p14:creationId xmlns:p14="http://schemas.microsoft.com/office/powerpoint/2010/main" val="20017119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8.14 </a:t>
            </a:r>
            <a:r>
              <a:rPr lang="en-US" dirty="0"/>
              <a:t>The world’s largest species at risk. Scientists examined the conservation status of 105 of the world’s largest land animals and found that 60% are threatened </a:t>
            </a:r>
            <a:r>
              <a:rPr lang="en-IN" dirty="0"/>
              <a:t>with extinction. </a:t>
            </a:r>
            <a:endParaRPr lang="en-US" dirty="0"/>
          </a:p>
        </p:txBody>
      </p:sp>
      <p:pic>
        <p:nvPicPr>
          <p:cNvPr id="2" name="Picture 1" descr="Three world maps show the number of megafauna species, number of declining megafauna species, and number of threatened megafauna species. The first map shows the number of megafauna species, and is accompanied with images of the brown or grizzly bear and the gray wolf. 17 to 23: Southeastern Africa. 12 to 16: Southern Africa and southeastern Asia. 7 to 11: Southern and central Asia, and western US. 4 to 6: Northern North America, central and eastern South America, and northern and eastern Asia. 1 to 3: Central and southern North America, Central America, northern and southern South America, northern Africa, and Australia. The second map shows the number of declining megafauna species. 12 to 15 and 9 to 11: A band across central Africa, and southeastern Africa and Asia. 6 to 8: Southern Africa, and southern Asia. 3 to 5: Northern South America, and eastern and central Asia. 1 to 2: Western and central North America, southern South America, northern Africa, eastern Asia, and Australia. The third map shows the number of threatened megafauna species, and is accompanied with an image of the Asian elephant. 10 to 14: Southeastern Asia. 7 to 9: Southeastern Africa. 5 to 6 and 3 to 4: Southeastern Africa, and southern and eastern Asia. 1 to 2: Northern South America, southern Africa, eastern and central Asia, and Australia. &#10;" title="Figure 8.14 The world’s largest species at risk. Scientists examined the conservation status of 105 of the world’s largest land animals and found that 60% are threatened with extinction.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9375" y="719573"/>
            <a:ext cx="3773251" cy="5854861"/>
          </a:xfrm>
          <a:prstGeom prst="rect">
            <a:avLst/>
          </a:prstGeom>
        </p:spPr>
      </p:pic>
    </p:spTree>
    <p:extLst>
      <p:ext uri="{BB962C8B-B14F-4D97-AF65-F5344CB8AC3E}">
        <p14:creationId xmlns:p14="http://schemas.microsoft.com/office/powerpoint/2010/main" val="1228332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IN" b="1" dirty="0"/>
              <a:t>Figure 8.15 </a:t>
            </a:r>
            <a:r>
              <a:rPr lang="en-IN" dirty="0"/>
              <a:t>Simulations of a simple population model illustrate the </a:t>
            </a:r>
            <a:r>
              <a:rPr lang="en-US" dirty="0"/>
              <a:t>impacts of </a:t>
            </a:r>
            <a:r>
              <a:rPr lang="en-US" dirty="0" err="1"/>
              <a:t>stochasticity</a:t>
            </a:r>
            <a:r>
              <a:rPr lang="en-US" dirty="0"/>
              <a:t> on population growth. With no variation in birth (</a:t>
            </a:r>
            <a:r>
              <a:rPr lang="en-US" i="1" dirty="0"/>
              <a:t>b</a:t>
            </a:r>
            <a:r>
              <a:rPr lang="en-US" dirty="0"/>
              <a:t>) or death (</a:t>
            </a:r>
            <a:r>
              <a:rPr lang="en-US" i="1" dirty="0"/>
              <a:t>d</a:t>
            </a:r>
            <a:r>
              <a:rPr lang="en-US" dirty="0"/>
              <a:t>) rates, populations grow deterministically (B, dashed purple line). </a:t>
            </a:r>
          </a:p>
        </p:txBody>
      </p:sp>
      <p:pic>
        <p:nvPicPr>
          <p:cNvPr id="2" name="Picture 1" descr="Two graphs show a distribution curve and the change in population size over time. In the first graph, the horizontal axis is labeled value of b or d, and lists 0, 1, and 2. The distribution curve peaks at 1. The peak is labeled N subscript t plus 1 equals b minus d of N subscript t plus N subscript t. The curve is labeled mu equals 1.0, and sigma equals 0.3. In the second graph, the horizontal axis is labeled time t, and ranges from 0 to 10 in increments of 2. The vertical axis is labeled population size N, and ranges from 0 to 1000. Five lines in this graph show an increasing. The sixth line is plotted through (1, 1), (3, 6), and (7, 0). &#10;" title="Figure 8.15 Simulations of a simple population model illustrate the impacts of stochasticity on population growth. With no variation in birth (b) or death (d) rates, populations grow deterministically (B, dashed purple line).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2893" y="770775"/>
            <a:ext cx="3866214" cy="5720212"/>
          </a:xfrm>
          <a:prstGeom prst="rect">
            <a:avLst/>
          </a:prstGeom>
        </p:spPr>
      </p:pic>
    </p:spTree>
    <p:extLst>
      <p:ext uri="{BB962C8B-B14F-4D97-AF65-F5344CB8AC3E}">
        <p14:creationId xmlns:p14="http://schemas.microsoft.com/office/powerpoint/2010/main" val="3667547806"/>
      </p:ext>
    </p:extLst>
  </p:cSld>
  <p:clrMapOvr>
    <a:masterClrMapping/>
  </p:clrMapOvr>
</p:sld>
</file>

<file path=ppt/theme/theme1.xml><?xml version="1.0" encoding="utf-8"?>
<a:theme xmlns:a="http://schemas.openxmlformats.org/drawingml/2006/main" name="Text Content Templat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xford Template 2020-05-05" id="{B78F6A64-C076-4E15-90E5-9A59F0E29698}" vid="{18DFF3BF-7F46-4B14-BD35-A03A29764567}"/>
    </a:ext>
  </a:extLst>
</a:theme>
</file>

<file path=ppt/theme/theme2.xml><?xml version="1.0" encoding="utf-8"?>
<a:theme xmlns:a="http://schemas.openxmlformats.org/drawingml/2006/main" name="Figure-Only Templat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xford Template 2020-05-05" id="{B78F6A64-C076-4E15-90E5-9A59F0E29698}" vid="{18DFF3BF-7F46-4B14-BD35-A03A2976456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CanthisbeconvertedbyStraive xmlns="37b7e42e-eaac-4c0c-b7ab-65d932e301c3">No</CanthisbeconvertedbyStraive>
    <Date xmlns="37b7e42e-eaac-4c0c-b7ab-65d932e301c3" xsi:nil="true"/>
    <TaxCatchAll xmlns="7c20e60f-09c9-4b20-a5fa-550b7d980542" xsi:nil="true"/>
    <_ip_UnifiedCompliancePolicyProperties xmlns="http://schemas.microsoft.com/sharepoint/v3" xsi:nil="true"/>
    <LearnosityQuestionTypeCategory xmlns="37b7e42e-eaac-4c0c-b7ab-65d932e301c3" xsi:nil="true"/>
    <ForpracticeorgradableforLMS_x003f_ xmlns="37b7e42e-eaac-4c0c-b7ab-65d932e301c3" xsi:nil="true"/>
    <lcf76f155ced4ddcb4097134ff3c332f xmlns="37b7e42e-eaac-4c0c-b7ab-65d932e301c3">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8900F5E31C89A48940A57403082843D" ma:contentTypeVersion="21" ma:contentTypeDescription="Create a new document." ma:contentTypeScope="" ma:versionID="e01f1bea4eea15a4ab808c7b93f055c4">
  <xsd:schema xmlns:xsd="http://www.w3.org/2001/XMLSchema" xmlns:xs="http://www.w3.org/2001/XMLSchema" xmlns:p="http://schemas.microsoft.com/office/2006/metadata/properties" xmlns:ns1="http://schemas.microsoft.com/sharepoint/v3" xmlns:ns2="37b7e42e-eaac-4c0c-b7ab-65d932e301c3" xmlns:ns3="7c20e60f-09c9-4b20-a5fa-550b7d980542" targetNamespace="http://schemas.microsoft.com/office/2006/metadata/properties" ma:root="true" ma:fieldsID="28466d567d11318e3f496e19d5c5c29c" ns1:_="" ns2:_="" ns3:_="">
    <xsd:import namespace="http://schemas.microsoft.com/sharepoint/v3"/>
    <xsd:import namespace="37b7e42e-eaac-4c0c-b7ab-65d932e301c3"/>
    <xsd:import namespace="7c20e60f-09c9-4b20-a5fa-550b7d98054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ForpracticeorgradableforLMS_x003f_" minOccurs="0"/>
                <xsd:element ref="ns2:MediaServiceObjectDetectorVersions" minOccurs="0"/>
                <xsd:element ref="ns2:MediaServiceLocation" minOccurs="0"/>
                <xsd:element ref="ns1:_ip_UnifiedCompliancePolicyProperties" minOccurs="0"/>
                <xsd:element ref="ns1:_ip_UnifiedCompliancePolicyUIAction" minOccurs="0"/>
                <xsd:element ref="ns2:CanthisbeconvertedbyStraive" minOccurs="0"/>
                <xsd:element ref="ns2:Date" minOccurs="0"/>
                <xsd:element ref="ns2:MediaServiceSearchProperties" minOccurs="0"/>
                <xsd:element ref="ns2:LearnosityQuestionType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7b7e42e-eaac-4c0c-b7ab-65d932e301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ff217fd5-6bb5-4de3-bf71-ef5eb62cb525"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ForpracticeorgradableforLMS_x003f_" ma:index="20" nillable="true" ma:displayName="For practice or gradable for LMS?" ma:format="Dropdown" ma:internalName="ForpracticeorgradableforLMS_x003f_">
      <xsd:simpleType>
        <xsd:restriction base="dms:Choice">
          <xsd:enumeration value="For Practice"/>
          <xsd:enumeration value="For Grading"/>
          <xsd:enumeration value="For Practice OR Grading"/>
        </xsd:restrictio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CanthisbeconvertedbyStraive" ma:index="25" nillable="true" ma:displayName="Can be converted by Straive" ma:default="No" ma:format="Dropdown" ma:internalName="CanthisbeconvertedbyStraive">
      <xsd:simpleType>
        <xsd:restriction base="dms:Choice">
          <xsd:enumeration value="Yes"/>
          <xsd:enumeration value="No"/>
        </xsd:restriction>
      </xsd:simpleType>
    </xsd:element>
    <xsd:element name="Date" ma:index="26" nillable="true" ma:displayName="Date" ma:format="DateOnly" ma:internalName="Date">
      <xsd:simpleType>
        <xsd:restriction base="dms:DateTime"/>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LearnosityQuestionTypeCategory" ma:index="28" nillable="true" ma:displayName="Learnosity Question Type Category" ma:description="Category/Grouping as per Learnosity documentation here: https://authorguide.learnosity.com/hc/en-us/categories/360000074917-Question-Types" ma:format="Dropdown" ma:internalName="LearnosityQuestionTypeCategory">
      <xsd:complexType>
        <xsd:complexContent>
          <xsd:extension base="dms:MultiChoice">
            <xsd:sequence>
              <xsd:element name="Value" maxOccurs="unbounded" minOccurs="0" nillable="true">
                <xsd:simpleType>
                  <xsd:restriction base="dms:Choice">
                    <xsd:enumeration value="Multiple choice"/>
                    <xsd:enumeration value="Fill in the blanks"/>
                    <xsd:enumeration value="Classify, match &amp; order"/>
                    <xsd:enumeration value="Written &amp; recorded"/>
                    <xsd:enumeration value="Math"/>
                    <xsd:enumeration value="N/A"/>
                    <xsd:enumeration value="Other"/>
                    <xsd:enumeration value="Highlight"/>
                  </xsd:restriction>
                </xsd:simple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7c20e60f-09c9-4b20-a5fa-550b7d98054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6927d970-8a6b-4b37-beb7-fd1884633f11}" ma:internalName="TaxCatchAll" ma:showField="CatchAllData" ma:web="7c20e60f-09c9-4b20-a5fa-550b7d98054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856919D-3723-464B-9967-427A087CBD61}">
  <ds:schemaRefs>
    <ds:schemaRef ds:uri="http://purl.org/dc/elements/1.1/"/>
    <ds:schemaRef ds:uri="http://schemas.microsoft.com/office/2006/metadata/properties"/>
    <ds:schemaRef ds:uri="fd39d560-5c7d-4158-98a0-f420f8fdebce"/>
    <ds:schemaRef ds:uri="http://www.w3.org/XML/1998/namespace"/>
    <ds:schemaRef ds:uri="http://purl.org/dc/terms/"/>
    <ds:schemaRef ds:uri="http://schemas.microsoft.com/office/2006/documentManagement/types"/>
    <ds:schemaRef ds:uri="a6c716b4-9090-4de7-aadc-2aa5f812ad24"/>
    <ds:schemaRef ds:uri="http://schemas.microsoft.com/office/infopath/2007/PartnerControls"/>
    <ds:schemaRef ds:uri="http://schemas.openxmlformats.org/package/2006/metadata/core-properties"/>
    <ds:schemaRef ds:uri="http://purl.org/dc/dcmitype/"/>
  </ds:schemaRefs>
</ds:datastoreItem>
</file>

<file path=customXml/itemProps2.xml><?xml version="1.0" encoding="utf-8"?>
<ds:datastoreItem xmlns:ds="http://schemas.openxmlformats.org/officeDocument/2006/customXml" ds:itemID="{ABAD031C-564B-41B7-BFA7-96F4A7076300}"/>
</file>

<file path=customXml/itemProps3.xml><?xml version="1.0" encoding="utf-8"?>
<ds:datastoreItem xmlns:ds="http://schemas.openxmlformats.org/officeDocument/2006/customXml" ds:itemID="{6B57C1AB-C2BF-4446-AECB-681D5785527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Oxford Template 2020-05-05</Template>
  <TotalTime>708</TotalTime>
  <Words>2438</Words>
  <Application>Microsoft Office PowerPoint</Application>
  <PresentationFormat>Widescreen</PresentationFormat>
  <Paragraphs>246</Paragraphs>
  <Slides>25</Slides>
  <Notes>25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25</vt:i4>
      </vt:variant>
    </vt:vector>
  </HeadingPairs>
  <TitlesOfParts>
    <vt:vector size="33" baseType="lpstr">
      <vt:lpstr>MS PGothic</vt:lpstr>
      <vt:lpstr>Aktiv Grotesk Light</vt:lpstr>
      <vt:lpstr>Aktiv Grotesk Medium</vt:lpstr>
      <vt:lpstr>Arial</vt:lpstr>
      <vt:lpstr>Calibri</vt:lpstr>
      <vt:lpstr>Times New Roman</vt:lpstr>
      <vt:lpstr>Text Content Templates</vt:lpstr>
      <vt:lpstr>Figure-Only Templates</vt:lpstr>
      <vt:lpstr>CONSERVATION BIOLOGY</vt:lpstr>
      <vt:lpstr>2</vt:lpstr>
      <vt:lpstr>3</vt:lpstr>
      <vt:lpstr>Figure 8.1 A summary of species that comprise the 2022 IUCN Red List of threatened species. </vt:lpstr>
      <vt:lpstr>Figure 8.2 The cumulative percentage of vertebrate species that have been declared Extinct or Extinct in the Wild over the past 500 years.</vt:lpstr>
      <vt:lpstr>TABLE 8.1 Numbers of threatened species by major groups of organisms (1996–2022)</vt:lpstr>
      <vt:lpstr>TABLE 8.1 (Continued)</vt:lpstr>
      <vt:lpstr>Figure 8.3 The global distribution of species threatened with extinction. </vt:lpstr>
      <vt:lpstr>TABLE 8.2 Estimates of modern extinction rates (in extinctions per million species years) vary depending on the time frame used and the number of species included in the calculation</vt:lpstr>
      <vt:lpstr>Figure 8.4 A summary of studies (y axis) that have published estimates of modern extinction rates (x axis) for various groups of organisms. </vt:lpstr>
      <vt:lpstr>11</vt:lpstr>
      <vt:lpstr>12</vt:lpstr>
      <vt:lpstr>Figure 8.5 Drivers of biodiversity loss. The ultimate causes of biodiversity loss are given by the IPAT equation, which shows how human impacts on the environment are proportional to human population growth, </vt:lpstr>
      <vt:lpstr>Figure 8.6 (A) The Living Planet Index (LPI), represented on the y axis, is an indicator of the state of global biodiversity, based on trends in more than 32,000 populations of 5,230 terrestrial, freshwater, and marine species. </vt:lpstr>
      <vt:lpstr>Figure 8.7 Corals are a good example of how multiple stressors can interact to cause population declines. As they respond to increasing water temperatures, many types of coral become physiologically stressed, which can subsequently make them more susceptible to disease due to viral, bacterial, and fungal pathogens. </vt:lpstr>
      <vt:lpstr>Figure 8.8 A hypothetical species–area relationship relating the species richness (S) of freshwater fish (y axis) to the surface area (A, in hectares) of lakes (x axis). </vt:lpstr>
      <vt:lpstr>Figure 8.9 St. Helena ebony (Trochetiopsis ebenus) is endemic to the island of St. Helena in the southern Atlantic Ocean. The wild population has been reduced to just two individuals on the side of a cliff. Given such low numbers,</vt:lpstr>
      <vt:lpstr>Figure 8.10 Empirically documented changes in local biodiversity. </vt:lpstr>
      <vt:lpstr>Figure 8.11 Natural or seminatural landscapes </vt:lpstr>
      <vt:lpstr>Figure 8.12 Regional observation and monitoring networks like the U.S. </vt:lpstr>
      <vt:lpstr>21</vt:lpstr>
      <vt:lpstr>22</vt:lpstr>
      <vt:lpstr>Figure 8.13 The Iberian lynx (Lynx pardinus) occupies a highly restricted geographic range, with only two breeding populations in Spain. As a result, the species is the world’s most endangered felid.</vt:lpstr>
      <vt:lpstr>Figure 8.14 The world’s largest species at risk. Scientists examined the conservation status of 105 of the world’s largest land animals and found that 60% are threatened with extinction. </vt:lpstr>
      <vt:lpstr>Figure 8.15 Simulations of a simple population model illustrate the impacts of stochasticity on population growth. With no variation in birth (b) or death (d) rates, populations grow deterministically (B, dashed purple line).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Interplay</dc:title>
  <dc:creator>Oxford University Press</dc:creator>
  <cp:lastModifiedBy>MaleappaneSahayaraj Candidassane</cp:lastModifiedBy>
  <cp:revision>121</cp:revision>
  <dcterms:created xsi:type="dcterms:W3CDTF">2021-01-21T20:31:29Z</dcterms:created>
  <dcterms:modified xsi:type="dcterms:W3CDTF">2024-11-22T03:37:05Z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f61502-7731-4690-a118-333634878cc9_Enabled">
    <vt:lpwstr>true</vt:lpwstr>
  </property>
  <property fmtid="{D5CDD505-2E9C-101B-9397-08002B2CF9AE}" pid="3" name="MSIP_Label_89f61502-7731-4690-a118-333634878cc9_SetDate">
    <vt:lpwstr>2020-04-27T21:10:48Z</vt:lpwstr>
  </property>
  <property fmtid="{D5CDD505-2E9C-101B-9397-08002B2CF9AE}" pid="4" name="MSIP_Label_89f61502-7731-4690-a118-333634878cc9_Method">
    <vt:lpwstr>Standard</vt:lpwstr>
  </property>
  <property fmtid="{D5CDD505-2E9C-101B-9397-08002B2CF9AE}" pid="5" name="MSIP_Label_89f61502-7731-4690-a118-333634878cc9_Name">
    <vt:lpwstr>Internal</vt:lpwstr>
  </property>
  <property fmtid="{D5CDD505-2E9C-101B-9397-08002B2CF9AE}" pid="6" name="MSIP_Label_89f61502-7731-4690-a118-333634878cc9_SiteId">
    <vt:lpwstr>91761b62-4c45-43f5-9f0e-be8ad9b551ff</vt:lpwstr>
  </property>
  <property fmtid="{D5CDD505-2E9C-101B-9397-08002B2CF9AE}" pid="7" name="MSIP_Label_89f61502-7731-4690-a118-333634878cc9_ActionId">
    <vt:lpwstr>69912cf1-8f32-4f1f-9ade-00009ae8a75a</vt:lpwstr>
  </property>
  <property fmtid="{D5CDD505-2E9C-101B-9397-08002B2CF9AE}" pid="8" name="MSIP_Label_89f61502-7731-4690-a118-333634878cc9_ContentBits">
    <vt:lpwstr>0</vt:lpwstr>
  </property>
  <property fmtid="{D5CDD505-2E9C-101B-9397-08002B2CF9AE}" pid="9" name="ContentTypeId">
    <vt:lpwstr>0x010100E8900F5E31C89A48940A57403082843D</vt:lpwstr>
  </property>
</Properties>
</file>