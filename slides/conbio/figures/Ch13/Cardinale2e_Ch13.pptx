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 id="2147483675" r:id="rId5"/>
  </p:sldMasterIdLst>
  <p:notesMasterIdLst>
    <p:notesMasterId r:id="rId32"/>
  </p:notesMasterIdLst>
  <p:handoutMasterIdLst>
    <p:handoutMasterId r:id="rId33"/>
  </p:handoutMasterIdLst>
  <p:sldIdLst>
    <p:sldId id="301" r:id="rId6"/>
    <p:sldId id="304" r:id="rId7"/>
    <p:sldId id="307" r:id="rId8"/>
    <p:sldId id="308" r:id="rId9"/>
    <p:sldId id="311" r:id="rId10"/>
    <p:sldId id="312" r:id="rId11"/>
    <p:sldId id="313" r:id="rId12"/>
    <p:sldId id="314" r:id="rId13"/>
    <p:sldId id="315" r:id="rId14"/>
    <p:sldId id="316" r:id="rId15"/>
    <p:sldId id="317" r:id="rId16"/>
    <p:sldId id="309" r:id="rId17"/>
    <p:sldId id="318" r:id="rId18"/>
    <p:sldId id="310" r:id="rId19"/>
    <p:sldId id="319" r:id="rId20"/>
    <p:sldId id="320" r:id="rId21"/>
    <p:sldId id="321" r:id="rId22"/>
    <p:sldId id="322" r:id="rId23"/>
    <p:sldId id="323" r:id="rId24"/>
    <p:sldId id="324" r:id="rId25"/>
    <p:sldId id="325" r:id="rId26"/>
    <p:sldId id="326" r:id="rId27"/>
    <p:sldId id="327" r:id="rId28"/>
    <p:sldId id="305" r:id="rId29"/>
    <p:sldId id="306" r:id="rId30"/>
    <p:sldId id="328" r:id="rId31"/>
  </p:sldIdLst>
  <p:sldSz cx="12192000" cy="6858000"/>
  <p:notesSz cx="6858000" cy="9144000"/>
  <p:defaultTex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guide id="3" orient="horz" pos="41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1A47"/>
    <a:srgbClr val="014478"/>
    <a:srgbClr val="001B47"/>
    <a:srgbClr val="1F497D"/>
    <a:srgbClr val="00214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74" autoAdjust="0"/>
    <p:restoredTop sz="82303" autoAdjust="0"/>
  </p:normalViewPr>
  <p:slideViewPr>
    <p:cSldViewPr snapToGrid="0" snapToObjects="1" showGuides="1">
      <p:cViewPr varScale="1">
        <p:scale>
          <a:sx n="80" d="100"/>
          <a:sy n="80" d="100"/>
        </p:scale>
        <p:origin x="108" y="246"/>
      </p:cViewPr>
      <p:guideLst>
        <p:guide orient="horz" pos="2160"/>
        <p:guide pos="3840"/>
        <p:guide orient="horz" pos="415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snapToObjects="1" showGuides="1">
      <p:cViewPr varScale="1">
        <p:scale>
          <a:sx n="85" d="100"/>
          <a:sy n="85" d="100"/>
        </p:scale>
        <p:origin x="3132"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presProps" Target="pres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33484EFE-59B9-4DD1-9E31-555AF443E27A}" type="datetimeFigureOut">
              <a:rPr lang="en-US"/>
              <a:pPr>
                <a:defRPr/>
              </a:pPr>
              <a:t>11/22/2024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defRPr>
            </a:lvl1pPr>
          </a:lstStyle>
          <a:p>
            <a:pPr>
              <a:defRPr/>
            </a:pPr>
            <a:fld id="{9F0E10CF-C023-475F-8DBA-2466A9B4A087}" type="slidenum">
              <a:rPr lang="en-US"/>
              <a:pPr>
                <a:defRPr/>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0FC2DBE2-B7F6-4C15-91C1-319B21052016}" type="datetimeFigureOut">
              <a:rPr lang="en-US"/>
              <a:pPr>
                <a:defRPr/>
              </a:pPr>
              <a:t>11/22/2024</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defRPr>
            </a:lvl1pPr>
          </a:lstStyle>
          <a:p>
            <a:pPr>
              <a:defRPr/>
            </a:pPr>
            <a:fld id="{F6F973A6-1012-42FB-8183-4D3C37B2EBC3}"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IN" altLang="en-US" smtClean="0"/>
          </a:p>
        </p:txBody>
      </p:sp>
      <p:sp>
        <p:nvSpPr>
          <p:cNvPr id="4" name="Slide Number Placeholder 3"/>
          <p:cNvSpPr>
            <a:spLocks noGrp="1"/>
          </p:cNvSpPr>
          <p:nvPr>
            <p:ph type="sldNum" sz="quarter" idx="5"/>
          </p:nvPr>
        </p:nvSpPr>
        <p:spPr/>
        <p:txBody>
          <a:bodyPr/>
          <a:lstStyle/>
          <a:p>
            <a:pPr>
              <a:defRPr/>
            </a:pPr>
            <a:fld id="{9612BA8A-E8E9-4511-909B-839A2B6A42FB}" type="slidenum">
              <a:rPr lang="en-US" smtClean="0"/>
              <a:pPr>
                <a:defRPr/>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The Ethiopian wolf (</a:t>
            </a:r>
            <a:r>
              <a:rPr lang="en-US" sz="1200" b="0" i="1" u="none" strike="noStrike" kern="1200" baseline="0" dirty="0" err="1" smtClean="0">
                <a:solidFill>
                  <a:schemeClr val="tx1"/>
                </a:solidFill>
                <a:latin typeface="+mn-lt"/>
                <a:ea typeface="+mn-ea"/>
                <a:cs typeface="+mn-cs"/>
              </a:rPr>
              <a:t>Canis</a:t>
            </a:r>
            <a:r>
              <a:rPr lang="en-US" sz="1200" b="0" i="1" u="none" strike="noStrike" kern="1200" baseline="0" dirty="0" smtClean="0">
                <a:solidFill>
                  <a:schemeClr val="tx1"/>
                </a:solidFill>
                <a:latin typeface="+mn-lt"/>
                <a:ea typeface="+mn-ea"/>
                <a:cs typeface="+mn-cs"/>
              </a:rPr>
              <a:t> </a:t>
            </a:r>
            <a:r>
              <a:rPr lang="en-US" sz="1200" b="0" i="1" u="none" strike="noStrike" kern="1200" baseline="0" dirty="0" err="1" smtClean="0">
                <a:solidFill>
                  <a:schemeClr val="tx1"/>
                </a:solidFill>
                <a:latin typeface="+mn-lt"/>
                <a:ea typeface="+mn-ea"/>
                <a:cs typeface="+mn-cs"/>
              </a:rPr>
              <a:t>simensis</a:t>
            </a:r>
            <a:r>
              <a:rPr lang="en-US" sz="1200" b="0" i="0" u="none" strike="noStrike" kern="1200" baseline="0" dirty="0" smtClean="0">
                <a:solidFill>
                  <a:schemeClr val="tx1"/>
                </a:solidFill>
                <a:latin typeface="+mn-lt"/>
                <a:ea typeface="+mn-ea"/>
                <a:cs typeface="+mn-cs"/>
              </a:rPr>
              <a:t>) is one of the rarest canids in the world and is confined to seven isolated mountain ranges in the Ethiopian highlands. It is listed as Endangered on the International Union for Conservation of Nature’s Red List of Threatened Species, with a global population of fewer than 500 individuals.</a:t>
            </a:r>
            <a:endParaRPr lang="en-IN" dirty="0"/>
          </a:p>
        </p:txBody>
      </p:sp>
      <p:sp>
        <p:nvSpPr>
          <p:cNvPr id="4" name="Slide Number Placeholder 3"/>
          <p:cNvSpPr>
            <a:spLocks noGrp="1"/>
          </p:cNvSpPr>
          <p:nvPr>
            <p:ph type="sldNum" sz="quarter" idx="10"/>
          </p:nvPr>
        </p:nvSpPr>
        <p:spPr/>
        <p:txBody>
          <a:bodyPr/>
          <a:lstStyle/>
          <a:p>
            <a:pPr>
              <a:defRPr/>
            </a:pPr>
            <a:fld id="{F6F973A6-1012-42FB-8183-4D3C37B2EBC3}" type="slidenum">
              <a:rPr lang="en-US" smtClean="0"/>
              <a:pPr>
                <a:defRPr/>
              </a:pPr>
              <a:t>2</a:t>
            </a:fld>
            <a:endParaRPr lang="en-US"/>
          </a:p>
        </p:txBody>
      </p:sp>
    </p:spTree>
    <p:extLst>
      <p:ext uri="{BB962C8B-B14F-4D97-AF65-F5344CB8AC3E}">
        <p14:creationId xmlns:p14="http://schemas.microsoft.com/office/powerpoint/2010/main" val="39127347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The island fox (</a:t>
            </a:r>
            <a:r>
              <a:rPr lang="en-US" sz="1200" b="0" i="1" u="none" strike="noStrike" kern="1200" baseline="0" dirty="0" err="1" smtClean="0">
                <a:solidFill>
                  <a:schemeClr val="tx1"/>
                </a:solidFill>
                <a:latin typeface="+mn-lt"/>
                <a:ea typeface="+mn-ea"/>
                <a:cs typeface="+mn-cs"/>
              </a:rPr>
              <a:t>Urocyon</a:t>
            </a:r>
            <a:r>
              <a:rPr lang="en-US" sz="1200" b="0" i="1" u="none" strike="noStrike" kern="1200" baseline="0" dirty="0" smtClean="0">
                <a:solidFill>
                  <a:schemeClr val="tx1"/>
                </a:solidFill>
                <a:latin typeface="+mn-lt"/>
                <a:ea typeface="+mn-ea"/>
                <a:cs typeface="+mn-cs"/>
              </a:rPr>
              <a:t> </a:t>
            </a:r>
            <a:r>
              <a:rPr lang="en-US" sz="1200" b="0" i="1" u="none" strike="noStrike" kern="1200" baseline="0" dirty="0" err="1" smtClean="0">
                <a:solidFill>
                  <a:schemeClr val="tx1"/>
                </a:solidFill>
                <a:latin typeface="+mn-lt"/>
                <a:ea typeface="+mn-ea"/>
                <a:cs typeface="+mn-cs"/>
              </a:rPr>
              <a:t>littoralis</a:t>
            </a:r>
            <a:r>
              <a:rPr lang="en-US" sz="1200" b="0" i="0" u="none" strike="noStrike" kern="1200" baseline="0" dirty="0" smtClean="0">
                <a:solidFill>
                  <a:schemeClr val="tx1"/>
                </a:solidFill>
                <a:latin typeface="+mn-lt"/>
                <a:ea typeface="+mn-ea"/>
                <a:cs typeface="+mn-cs"/>
              </a:rPr>
              <a:t>) is a small canid endemic to the Channel Islands of Southern California. Island foxes occur on six of the eight Channel Islands, including San Miguel, Santa Rosa, and Santa Cruz in the north and Santa Catalina, San Nicolas, and San Clemente in the south.</a:t>
            </a:r>
            <a:endParaRPr lang="en-IN" dirty="0"/>
          </a:p>
        </p:txBody>
      </p:sp>
      <p:sp>
        <p:nvSpPr>
          <p:cNvPr id="4" name="Slide Number Placeholder 3"/>
          <p:cNvSpPr>
            <a:spLocks noGrp="1"/>
          </p:cNvSpPr>
          <p:nvPr>
            <p:ph type="sldNum" sz="quarter" idx="10"/>
          </p:nvPr>
        </p:nvSpPr>
        <p:spPr/>
        <p:txBody>
          <a:bodyPr/>
          <a:lstStyle/>
          <a:p>
            <a:pPr>
              <a:defRPr/>
            </a:pPr>
            <a:fld id="{F6F973A6-1012-42FB-8183-4D3C37B2EBC3}" type="slidenum">
              <a:rPr lang="en-US" smtClean="0"/>
              <a:pPr>
                <a:defRPr/>
              </a:pPr>
              <a:t>3</a:t>
            </a:fld>
            <a:endParaRPr lang="en-US"/>
          </a:p>
        </p:txBody>
      </p:sp>
    </p:spTree>
    <p:extLst>
      <p:ext uri="{BB962C8B-B14F-4D97-AF65-F5344CB8AC3E}">
        <p14:creationId xmlns:p14="http://schemas.microsoft.com/office/powerpoint/2010/main" val="25600106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Population estimates of island foxes on four of California’s Channel Islands. Each island has a unique subspecies, all four of which were listed as endangered under the U.S. Endangered Species Act in 2004 because of sharp population declines, mainly from golden eagle predation and disease. (Courtesy of Friends of the Island Fox [www.islandfox.org] from data presented at the June 16–17, 2015, Island Fox Conservation </a:t>
            </a:r>
            <a:r>
              <a:rPr lang="en-IN" sz="1200" b="0" i="0" u="none" strike="noStrike" kern="1200" baseline="0" dirty="0" smtClean="0">
                <a:solidFill>
                  <a:schemeClr val="tx1"/>
                </a:solidFill>
                <a:latin typeface="+mn-lt"/>
                <a:ea typeface="+mn-ea"/>
                <a:cs typeface="+mn-cs"/>
              </a:rPr>
              <a:t>Working Group.)</a:t>
            </a:r>
            <a:endParaRPr lang="en-IN" dirty="0"/>
          </a:p>
        </p:txBody>
      </p:sp>
      <p:sp>
        <p:nvSpPr>
          <p:cNvPr id="4" name="Slide Number Placeholder 3"/>
          <p:cNvSpPr>
            <a:spLocks noGrp="1"/>
          </p:cNvSpPr>
          <p:nvPr>
            <p:ph type="sldNum" sz="quarter" idx="10"/>
          </p:nvPr>
        </p:nvSpPr>
        <p:spPr/>
        <p:txBody>
          <a:bodyPr/>
          <a:lstStyle/>
          <a:p>
            <a:pPr>
              <a:defRPr/>
            </a:pPr>
            <a:fld id="{F6F973A6-1012-42FB-8183-4D3C37B2EBC3}" type="slidenum">
              <a:rPr lang="en-US" smtClean="0"/>
              <a:pPr>
                <a:defRPr/>
              </a:pPr>
              <a:t>4</a:t>
            </a:fld>
            <a:endParaRPr lang="en-US"/>
          </a:p>
        </p:txBody>
      </p:sp>
    </p:spTree>
    <p:extLst>
      <p:ext uri="{BB962C8B-B14F-4D97-AF65-F5344CB8AC3E}">
        <p14:creationId xmlns:p14="http://schemas.microsoft.com/office/powerpoint/2010/main" val="12619508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Figure 13.1 </a:t>
            </a:r>
            <a:r>
              <a:rPr lang="en-US" sz="1200" b="0" i="0" u="none" strike="noStrike" kern="1200" baseline="0" dirty="0" smtClean="0">
                <a:solidFill>
                  <a:schemeClr val="tx1"/>
                </a:solidFill>
                <a:latin typeface="+mn-lt"/>
                <a:ea typeface="+mn-ea"/>
                <a:cs typeface="+mn-cs"/>
              </a:rPr>
              <a:t>Population changes in Spanish imperial </a:t>
            </a:r>
            <a:r>
              <a:rPr lang="en-IN" sz="1200" b="0" i="0" u="none" strike="noStrike" kern="1200" baseline="0" dirty="0" smtClean="0">
                <a:solidFill>
                  <a:schemeClr val="tx1"/>
                </a:solidFill>
                <a:latin typeface="+mn-lt"/>
                <a:ea typeface="+mn-ea"/>
                <a:cs typeface="+mn-cs"/>
              </a:rPr>
              <a:t>eagles (</a:t>
            </a:r>
            <a:r>
              <a:rPr lang="en-IN" sz="1200" b="0" i="1" u="none" strike="noStrike" kern="1200" baseline="0" dirty="0" smtClean="0">
                <a:solidFill>
                  <a:schemeClr val="tx1"/>
                </a:solidFill>
                <a:latin typeface="+mn-lt"/>
                <a:ea typeface="+mn-ea"/>
                <a:cs typeface="+mn-cs"/>
              </a:rPr>
              <a:t>Aquila </a:t>
            </a:r>
            <a:r>
              <a:rPr lang="en-IN" sz="1200" b="0" i="1" u="none" strike="noStrike" kern="1200" baseline="0" dirty="0" err="1" smtClean="0">
                <a:solidFill>
                  <a:schemeClr val="tx1"/>
                </a:solidFill>
                <a:latin typeface="+mn-lt"/>
                <a:ea typeface="+mn-ea"/>
                <a:cs typeface="+mn-cs"/>
              </a:rPr>
              <a:t>adalberti</a:t>
            </a:r>
            <a:r>
              <a:rPr lang="en-IN" sz="1200" b="0" i="0" u="none" strike="noStrike" kern="1200" baseline="0" dirty="0" smtClean="0">
                <a:solidFill>
                  <a:schemeClr val="tx1"/>
                </a:solidFill>
                <a:latin typeface="+mn-lt"/>
                <a:ea typeface="+mn-ea"/>
                <a:cs typeface="+mn-cs"/>
              </a:rPr>
              <a:t>). Small population size </a:t>
            </a:r>
            <a:r>
              <a:rPr lang="en-US" sz="1200" b="0" i="0" u="none" strike="noStrike" kern="1200" baseline="0" dirty="0" smtClean="0">
                <a:solidFill>
                  <a:schemeClr val="tx1"/>
                </a:solidFill>
                <a:latin typeface="+mn-lt"/>
                <a:ea typeface="+mn-ea"/>
                <a:cs typeface="+mn-cs"/>
              </a:rPr>
              <a:t>resulted in changes in the sex ratio of eagles in the population partly due to demographic </a:t>
            </a:r>
            <a:r>
              <a:rPr lang="en-US" sz="1200" b="0" i="0" u="none" strike="noStrike" kern="1200" baseline="0" dirty="0" err="1" smtClean="0">
                <a:solidFill>
                  <a:schemeClr val="tx1"/>
                </a:solidFill>
                <a:latin typeface="+mn-lt"/>
                <a:ea typeface="+mn-ea"/>
                <a:cs typeface="+mn-cs"/>
              </a:rPr>
              <a:t>stochasticity</a:t>
            </a:r>
            <a:r>
              <a:rPr lang="en-US" sz="1200" b="0" i="0" u="none" strike="noStrike" kern="1200" baseline="0" dirty="0" smtClean="0">
                <a:solidFill>
                  <a:schemeClr val="tx1"/>
                </a:solidFill>
                <a:latin typeface="+mn-lt"/>
                <a:ea typeface="+mn-ea"/>
                <a:cs typeface="+mn-cs"/>
              </a:rPr>
              <a:t>. The population initially declined because of food scarcity, as mature birds left the population to find food elsewhere. Subsequent </a:t>
            </a:r>
            <a:r>
              <a:rPr lang="en-US" sz="1200" b="0" i="0" u="none" strike="noStrike" kern="1200" baseline="0" dirty="0" err="1" smtClean="0">
                <a:solidFill>
                  <a:schemeClr val="tx1"/>
                </a:solidFill>
                <a:latin typeface="+mn-lt"/>
                <a:ea typeface="+mn-ea"/>
                <a:cs typeface="+mn-cs"/>
              </a:rPr>
              <a:t>matings</a:t>
            </a:r>
            <a:r>
              <a:rPr lang="en-US" sz="1200" b="0" i="0" u="none" strike="noStrike" kern="1200" baseline="0" dirty="0" smtClean="0">
                <a:solidFill>
                  <a:schemeClr val="tx1"/>
                </a:solidFill>
                <a:latin typeface="+mn-lt"/>
                <a:ea typeface="+mn-ea"/>
                <a:cs typeface="+mn-cs"/>
              </a:rPr>
              <a:t> with immature males resulted in mainly male offspring, causing a change in sex ratio and population declines. Supplemental feeding led to mature males remaining at the site to breed and a return to the </a:t>
            </a:r>
            <a:r>
              <a:rPr lang="en-IN" sz="1200" b="0" i="0" u="none" strike="noStrike" kern="1200" baseline="0" dirty="0" smtClean="0">
                <a:solidFill>
                  <a:schemeClr val="tx1"/>
                </a:solidFill>
                <a:latin typeface="+mn-lt"/>
                <a:ea typeface="+mn-ea"/>
                <a:cs typeface="+mn-cs"/>
              </a:rPr>
              <a:t>original sex ratio</a:t>
            </a:r>
            <a:endParaRPr lang="en-IN" dirty="0"/>
          </a:p>
        </p:txBody>
      </p:sp>
      <p:sp>
        <p:nvSpPr>
          <p:cNvPr id="4" name="Slide Number Placeholder 3"/>
          <p:cNvSpPr>
            <a:spLocks noGrp="1"/>
          </p:cNvSpPr>
          <p:nvPr>
            <p:ph type="sldNum" sz="quarter" idx="10"/>
          </p:nvPr>
        </p:nvSpPr>
        <p:spPr/>
        <p:txBody>
          <a:bodyPr/>
          <a:lstStyle/>
          <a:p>
            <a:pPr>
              <a:defRPr/>
            </a:pPr>
            <a:fld id="{F6F973A6-1012-42FB-8183-4D3C37B2EBC3}" type="slidenum">
              <a:rPr lang="en-US" smtClean="0"/>
              <a:pPr>
                <a:defRPr/>
              </a:pPr>
              <a:t>5</a:t>
            </a:fld>
            <a:endParaRPr lang="en-US"/>
          </a:p>
        </p:txBody>
      </p:sp>
    </p:spTree>
    <p:extLst>
      <p:ext uri="{BB962C8B-B14F-4D97-AF65-F5344CB8AC3E}">
        <p14:creationId xmlns:p14="http://schemas.microsoft.com/office/powerpoint/2010/main" val="30161266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Figure 13.2 </a:t>
            </a:r>
            <a:r>
              <a:rPr lang="en-US" sz="1200" b="0" i="0" u="none" strike="noStrike" kern="1200" baseline="0" dirty="0" smtClean="0">
                <a:solidFill>
                  <a:schemeClr val="tx1"/>
                </a:solidFill>
                <a:latin typeface="+mn-lt"/>
                <a:ea typeface="+mn-ea"/>
                <a:cs typeface="+mn-cs"/>
              </a:rPr>
              <a:t>Population size and number of newborn </a:t>
            </a:r>
            <a:r>
              <a:rPr lang="en-US" sz="1200" b="0" i="0" u="none" strike="noStrike" kern="1200" baseline="0" dirty="0" err="1" smtClean="0">
                <a:solidFill>
                  <a:schemeClr val="tx1"/>
                </a:solidFill>
                <a:latin typeface="+mn-lt"/>
                <a:ea typeface="+mn-ea"/>
                <a:cs typeface="+mn-cs"/>
              </a:rPr>
              <a:t>Przewalski’s</a:t>
            </a:r>
            <a:r>
              <a:rPr lang="en-US" sz="1200" b="0" i="0" u="none" strike="noStrike" kern="1200" baseline="0" dirty="0" smtClean="0">
                <a:solidFill>
                  <a:schemeClr val="tx1"/>
                </a:solidFill>
                <a:latin typeface="+mn-lt"/>
                <a:ea typeface="+mn-ea"/>
                <a:cs typeface="+mn-cs"/>
              </a:rPr>
              <a:t> horse (</a:t>
            </a:r>
            <a:r>
              <a:rPr lang="en-US" sz="1200" b="0" i="1" u="none" strike="noStrike" kern="1200" baseline="0" dirty="0" err="1" smtClean="0">
                <a:solidFill>
                  <a:schemeClr val="tx1"/>
                </a:solidFill>
                <a:latin typeface="+mn-lt"/>
                <a:ea typeface="+mn-ea"/>
                <a:cs typeface="+mn-cs"/>
              </a:rPr>
              <a:t>Equus</a:t>
            </a:r>
            <a:r>
              <a:rPr lang="en-US" sz="1200" b="0" i="1" u="none" strike="noStrike" kern="1200" baseline="0" dirty="0" smtClean="0">
                <a:solidFill>
                  <a:schemeClr val="tx1"/>
                </a:solidFill>
                <a:latin typeface="+mn-lt"/>
                <a:ea typeface="+mn-ea"/>
                <a:cs typeface="+mn-cs"/>
              </a:rPr>
              <a:t> </a:t>
            </a:r>
            <a:r>
              <a:rPr lang="en-US" sz="1200" b="0" i="1" u="none" strike="noStrike" kern="1200" baseline="0" dirty="0" err="1" smtClean="0">
                <a:solidFill>
                  <a:schemeClr val="tx1"/>
                </a:solidFill>
                <a:latin typeface="+mn-lt"/>
                <a:ea typeface="+mn-ea"/>
                <a:cs typeface="+mn-cs"/>
              </a:rPr>
              <a:t>ferus</a:t>
            </a:r>
            <a:r>
              <a:rPr lang="en-US" sz="1200" b="0" i="1" u="none" strike="noStrike" kern="1200" baseline="0" dirty="0" smtClean="0">
                <a:solidFill>
                  <a:schemeClr val="tx1"/>
                </a:solidFill>
                <a:latin typeface="+mn-lt"/>
                <a:ea typeface="+mn-ea"/>
                <a:cs typeface="+mn-cs"/>
              </a:rPr>
              <a:t> </a:t>
            </a:r>
            <a:r>
              <a:rPr lang="en-US" sz="1200" b="0" i="1" u="none" strike="noStrike" kern="1200" baseline="0" dirty="0" err="1" smtClean="0">
                <a:solidFill>
                  <a:schemeClr val="tx1"/>
                </a:solidFill>
                <a:latin typeface="+mn-lt"/>
                <a:ea typeface="+mn-ea"/>
                <a:cs typeface="+mn-cs"/>
              </a:rPr>
              <a:t>przewalskii</a:t>
            </a:r>
            <a:r>
              <a:rPr lang="en-US" sz="1200" b="0" i="0" u="none" strike="noStrike" kern="1200" baseline="0" dirty="0" smtClean="0">
                <a:solidFill>
                  <a:schemeClr val="tx1"/>
                </a:solidFill>
                <a:latin typeface="+mn-lt"/>
                <a:ea typeface="+mn-ea"/>
                <a:cs typeface="+mn-cs"/>
              </a:rPr>
              <a:t>) in a reintroduced population in Mongolia. A stochastic event (the severe winter of 2009/2010) caused a 60% decline in the population, and only one newborn was recruited </a:t>
            </a:r>
            <a:r>
              <a:rPr lang="en-IN" sz="1200" b="0" i="0" u="none" strike="noStrike" kern="1200" baseline="0" dirty="0" smtClean="0">
                <a:solidFill>
                  <a:schemeClr val="tx1"/>
                </a:solidFill>
                <a:latin typeface="+mn-lt"/>
                <a:ea typeface="+mn-ea"/>
                <a:cs typeface="+mn-cs"/>
              </a:rPr>
              <a:t>into the population.</a:t>
            </a:r>
            <a:endParaRPr lang="en-IN" dirty="0"/>
          </a:p>
        </p:txBody>
      </p:sp>
      <p:sp>
        <p:nvSpPr>
          <p:cNvPr id="4" name="Slide Number Placeholder 3"/>
          <p:cNvSpPr>
            <a:spLocks noGrp="1"/>
          </p:cNvSpPr>
          <p:nvPr>
            <p:ph type="sldNum" sz="quarter" idx="10"/>
          </p:nvPr>
        </p:nvSpPr>
        <p:spPr/>
        <p:txBody>
          <a:bodyPr/>
          <a:lstStyle/>
          <a:p>
            <a:pPr>
              <a:defRPr/>
            </a:pPr>
            <a:fld id="{F6F973A6-1012-42FB-8183-4D3C37B2EBC3}" type="slidenum">
              <a:rPr lang="en-US" smtClean="0"/>
              <a:pPr>
                <a:defRPr/>
              </a:pPr>
              <a:t>6</a:t>
            </a:fld>
            <a:endParaRPr lang="en-US"/>
          </a:p>
        </p:txBody>
      </p:sp>
    </p:spTree>
    <p:extLst>
      <p:ext uri="{BB962C8B-B14F-4D97-AF65-F5344CB8AC3E}">
        <p14:creationId xmlns:p14="http://schemas.microsoft.com/office/powerpoint/2010/main" val="31466042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Figure 13.3 </a:t>
            </a:r>
            <a:r>
              <a:rPr lang="en-US" sz="1200" b="0" i="0" u="none" strike="noStrike" kern="1200" baseline="0" dirty="0" smtClean="0">
                <a:solidFill>
                  <a:schemeClr val="tx1"/>
                </a:solidFill>
                <a:latin typeface="+mn-lt"/>
                <a:ea typeface="+mn-ea"/>
                <a:cs typeface="+mn-cs"/>
              </a:rPr>
              <a:t>Genetic variability is lost randomly through genetic drift. This graph shows the average percentage of genetic variability remaining after 10 generations in theoretical populations of various effective population </a:t>
            </a:r>
            <a:r>
              <a:rPr lang="en-IN" sz="1200" b="0" i="0" u="none" strike="noStrike" kern="1200" baseline="0" dirty="0" smtClean="0">
                <a:solidFill>
                  <a:schemeClr val="tx1"/>
                </a:solidFill>
                <a:latin typeface="+mn-lt"/>
                <a:ea typeface="+mn-ea"/>
                <a:cs typeface="+mn-cs"/>
              </a:rPr>
              <a:t>sizes (</a:t>
            </a:r>
            <a:r>
              <a:rPr lang="en-IN" sz="1200" b="0" i="1" u="none" strike="noStrike" kern="1200" baseline="0" dirty="0" smtClean="0">
                <a:solidFill>
                  <a:schemeClr val="tx1"/>
                </a:solidFill>
                <a:latin typeface="+mn-lt"/>
                <a:ea typeface="+mn-ea"/>
                <a:cs typeface="+mn-cs"/>
              </a:rPr>
              <a:t>N</a:t>
            </a:r>
            <a:r>
              <a:rPr lang="en-IN" sz="1200" b="0" i="1" u="none" strike="noStrike" kern="1200" baseline="-25000" dirty="0" smtClean="0">
                <a:solidFill>
                  <a:schemeClr val="tx1"/>
                </a:solidFill>
                <a:latin typeface="+mn-lt"/>
                <a:ea typeface="+mn-ea"/>
                <a:cs typeface="+mn-cs"/>
              </a:rPr>
              <a:t>e</a:t>
            </a:r>
            <a:r>
              <a:rPr lang="en-IN" sz="1200" b="0" i="0" u="none" strike="noStrike" kern="1200" baseline="0" dirty="0" smtClean="0">
                <a:solidFill>
                  <a:schemeClr val="tx1"/>
                </a:solidFill>
                <a:latin typeface="+mn-lt"/>
                <a:ea typeface="+mn-ea"/>
                <a:cs typeface="+mn-cs"/>
              </a:rPr>
              <a:t>).</a:t>
            </a:r>
            <a:endParaRPr lang="en-IN" dirty="0"/>
          </a:p>
        </p:txBody>
      </p:sp>
      <p:sp>
        <p:nvSpPr>
          <p:cNvPr id="4" name="Slide Number Placeholder 3"/>
          <p:cNvSpPr>
            <a:spLocks noGrp="1"/>
          </p:cNvSpPr>
          <p:nvPr>
            <p:ph type="sldNum" sz="quarter" idx="10"/>
          </p:nvPr>
        </p:nvSpPr>
        <p:spPr/>
        <p:txBody>
          <a:bodyPr/>
          <a:lstStyle/>
          <a:p>
            <a:pPr>
              <a:defRPr/>
            </a:pPr>
            <a:fld id="{F6F973A6-1012-42FB-8183-4D3C37B2EBC3}" type="slidenum">
              <a:rPr lang="en-US" smtClean="0"/>
              <a:pPr>
                <a:defRPr/>
              </a:pPr>
              <a:t>7</a:t>
            </a:fld>
            <a:endParaRPr lang="en-US"/>
          </a:p>
        </p:txBody>
      </p:sp>
    </p:spTree>
    <p:extLst>
      <p:ext uri="{BB962C8B-B14F-4D97-AF65-F5344CB8AC3E}">
        <p14:creationId xmlns:p14="http://schemas.microsoft.com/office/powerpoint/2010/main" val="10066593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Figure 13.4 </a:t>
            </a:r>
            <a:r>
              <a:rPr lang="en-US" sz="1200" b="0" i="0" u="none" strike="noStrike" kern="1200" baseline="0" dirty="0" smtClean="0">
                <a:solidFill>
                  <a:schemeClr val="tx1"/>
                </a:solidFill>
                <a:latin typeface="+mn-lt"/>
                <a:ea typeface="+mn-ea"/>
                <a:cs typeface="+mn-cs"/>
              </a:rPr>
              <a:t>The effective population size (</a:t>
            </a:r>
            <a:r>
              <a:rPr lang="en-US" sz="1200" b="0" i="1" u="none" strike="noStrike" kern="1200" baseline="0" dirty="0" smtClean="0">
                <a:solidFill>
                  <a:schemeClr val="tx1"/>
                </a:solidFill>
                <a:latin typeface="+mn-lt"/>
                <a:ea typeface="+mn-ea"/>
                <a:cs typeface="+mn-cs"/>
              </a:rPr>
              <a:t>N</a:t>
            </a:r>
            <a:r>
              <a:rPr lang="en-US" sz="1200" b="0" i="1" u="none" strike="noStrike" kern="1200" baseline="-25000" dirty="0" smtClean="0">
                <a:solidFill>
                  <a:schemeClr val="tx1"/>
                </a:solidFill>
                <a:latin typeface="+mn-lt"/>
                <a:ea typeface="+mn-ea"/>
                <a:cs typeface="+mn-cs"/>
              </a:rPr>
              <a:t>e</a:t>
            </a:r>
            <a:r>
              <a:rPr lang="en-US" sz="1200" b="0" i="0" u="none" strike="noStrike" kern="1200" baseline="0" dirty="0" smtClean="0">
                <a:solidFill>
                  <a:schemeClr val="tx1"/>
                </a:solidFill>
                <a:latin typeface="+mn-lt"/>
                <a:ea typeface="+mn-ea"/>
                <a:cs typeface="+mn-cs"/>
              </a:rPr>
              <a:t>) declines when the number of males and females in a breeding population (</a:t>
            </a:r>
            <a:r>
              <a:rPr lang="en-US" sz="1200" b="0" i="1" u="none" strike="noStrike" kern="1200" baseline="0" dirty="0" smtClean="0">
                <a:solidFill>
                  <a:schemeClr val="tx1"/>
                </a:solidFill>
                <a:latin typeface="+mn-lt"/>
                <a:ea typeface="+mn-ea"/>
                <a:cs typeface="+mn-cs"/>
              </a:rPr>
              <a:t>N</a:t>
            </a:r>
            <a:r>
              <a:rPr lang="en-US" sz="1200" b="0" i="0" u="none" strike="noStrike" kern="1200" baseline="0" dirty="0" smtClean="0">
                <a:solidFill>
                  <a:schemeClr val="tx1"/>
                </a:solidFill>
                <a:latin typeface="+mn-lt"/>
                <a:ea typeface="+mn-ea"/>
                <a:cs typeface="+mn-cs"/>
              </a:rPr>
              <a:t>) of 100 individuals is increasingly unequal.</a:t>
            </a:r>
            <a:endParaRPr lang="en-IN" dirty="0"/>
          </a:p>
        </p:txBody>
      </p:sp>
      <p:sp>
        <p:nvSpPr>
          <p:cNvPr id="4" name="Slide Number Placeholder 3"/>
          <p:cNvSpPr>
            <a:spLocks noGrp="1"/>
          </p:cNvSpPr>
          <p:nvPr>
            <p:ph type="sldNum" sz="quarter" idx="10"/>
          </p:nvPr>
        </p:nvSpPr>
        <p:spPr/>
        <p:txBody>
          <a:bodyPr/>
          <a:lstStyle/>
          <a:p>
            <a:pPr>
              <a:defRPr/>
            </a:pPr>
            <a:fld id="{F6F973A6-1012-42FB-8183-4D3C37B2EBC3}" type="slidenum">
              <a:rPr lang="en-US" smtClean="0"/>
              <a:pPr>
                <a:defRPr/>
              </a:pPr>
              <a:t>8</a:t>
            </a:fld>
            <a:endParaRPr lang="en-US"/>
          </a:p>
        </p:txBody>
      </p:sp>
    </p:spTree>
    <p:extLst>
      <p:ext uri="{BB962C8B-B14F-4D97-AF65-F5344CB8AC3E}">
        <p14:creationId xmlns:p14="http://schemas.microsoft.com/office/powerpoint/2010/main" val="23934360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Figure 13.5 </a:t>
            </a:r>
            <a:r>
              <a:rPr lang="en-US" sz="1200" b="0" i="0" u="none" strike="noStrike" kern="1200" baseline="0" dirty="0" smtClean="0">
                <a:solidFill>
                  <a:schemeClr val="tx1"/>
                </a:solidFill>
                <a:latin typeface="+mn-lt"/>
                <a:ea typeface="+mn-ea"/>
                <a:cs typeface="+mn-cs"/>
              </a:rPr>
              <a:t>The </a:t>
            </a:r>
            <a:r>
              <a:rPr lang="en-US" sz="1200" b="0" i="0" u="none" strike="noStrike" kern="1200" baseline="0" dirty="0" err="1" smtClean="0">
                <a:solidFill>
                  <a:schemeClr val="tx1"/>
                </a:solidFill>
                <a:latin typeface="+mn-lt"/>
                <a:ea typeface="+mn-ea"/>
                <a:cs typeface="+mn-cs"/>
              </a:rPr>
              <a:t>Ngorongoro</a:t>
            </a:r>
            <a:r>
              <a:rPr lang="en-US" sz="1200" b="0" i="0" u="none" strike="noStrike" kern="1200" baseline="0" dirty="0" smtClean="0">
                <a:solidFill>
                  <a:schemeClr val="tx1"/>
                </a:solidFill>
                <a:latin typeface="+mn-lt"/>
                <a:ea typeface="+mn-ea"/>
                <a:cs typeface="+mn-cs"/>
              </a:rPr>
              <a:t> Crater lion population in Tanzania consisted of about 90 individuals in 1961 before it crashed in 1962. Since that time, the population reached a peak of 125 individuals in 1983 before collapsing to 34 individuals (fewer than 20 of which were adults). Small population size, an isolated location, lack of immigration since 1964, and disease have contributed to the loss of genetic variability caused by a population bottleneck. A lack of census data for certain years is the cause of gaps in the lines. The four vertical bars represent episodes of disease outbreak.</a:t>
            </a:r>
            <a:endParaRPr lang="en-IN" dirty="0"/>
          </a:p>
        </p:txBody>
      </p:sp>
      <p:sp>
        <p:nvSpPr>
          <p:cNvPr id="4" name="Slide Number Placeholder 3"/>
          <p:cNvSpPr>
            <a:spLocks noGrp="1"/>
          </p:cNvSpPr>
          <p:nvPr>
            <p:ph type="sldNum" sz="quarter" idx="10"/>
          </p:nvPr>
        </p:nvSpPr>
        <p:spPr/>
        <p:txBody>
          <a:bodyPr/>
          <a:lstStyle/>
          <a:p>
            <a:pPr>
              <a:defRPr/>
            </a:pPr>
            <a:fld id="{F6F973A6-1012-42FB-8183-4D3C37B2EBC3}" type="slidenum">
              <a:rPr lang="en-US" smtClean="0"/>
              <a:pPr>
                <a:defRPr/>
              </a:pPr>
              <a:t>9</a:t>
            </a:fld>
            <a:endParaRPr lang="en-US"/>
          </a:p>
        </p:txBody>
      </p:sp>
    </p:spTree>
    <p:extLst>
      <p:ext uri="{BB962C8B-B14F-4D97-AF65-F5344CB8AC3E}">
        <p14:creationId xmlns:p14="http://schemas.microsoft.com/office/powerpoint/2010/main" val="32557788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Figure 13.6 </a:t>
            </a:r>
            <a:r>
              <a:rPr lang="en-US" sz="1200" b="0" i="0" u="none" strike="noStrike" kern="1200" baseline="0" dirty="0" smtClean="0">
                <a:solidFill>
                  <a:schemeClr val="tx1"/>
                </a:solidFill>
                <a:latin typeface="+mn-lt"/>
                <a:ea typeface="+mn-ea"/>
                <a:cs typeface="+mn-cs"/>
              </a:rPr>
              <a:t>Once a population drops below a certain size, it can enter an extinction vortex in which the factors that affect small populations tend to drive its size progressively lower. This downward spiral can lead to local </a:t>
            </a:r>
            <a:r>
              <a:rPr lang="en-IN" sz="1200" b="0" i="0" u="none" strike="noStrike" kern="1200" baseline="0" dirty="0" smtClean="0">
                <a:solidFill>
                  <a:schemeClr val="tx1"/>
                </a:solidFill>
                <a:latin typeface="+mn-lt"/>
                <a:ea typeface="+mn-ea"/>
                <a:cs typeface="+mn-cs"/>
              </a:rPr>
              <a:t>extinction of the species.</a:t>
            </a:r>
            <a:endParaRPr lang="en-IN" dirty="0"/>
          </a:p>
        </p:txBody>
      </p:sp>
      <p:sp>
        <p:nvSpPr>
          <p:cNvPr id="4" name="Slide Number Placeholder 3"/>
          <p:cNvSpPr>
            <a:spLocks noGrp="1"/>
          </p:cNvSpPr>
          <p:nvPr>
            <p:ph type="sldNum" sz="quarter" idx="10"/>
          </p:nvPr>
        </p:nvSpPr>
        <p:spPr/>
        <p:txBody>
          <a:bodyPr/>
          <a:lstStyle/>
          <a:p>
            <a:pPr>
              <a:defRPr/>
            </a:pPr>
            <a:fld id="{F6F973A6-1012-42FB-8183-4D3C37B2EBC3}" type="slidenum">
              <a:rPr lang="en-US" smtClean="0"/>
              <a:pPr>
                <a:defRPr/>
              </a:pPr>
              <a:t>10</a:t>
            </a:fld>
            <a:endParaRPr lang="en-US"/>
          </a:p>
        </p:txBody>
      </p:sp>
    </p:spTree>
    <p:extLst>
      <p:ext uri="{BB962C8B-B14F-4D97-AF65-F5344CB8AC3E}">
        <p14:creationId xmlns:p14="http://schemas.microsoft.com/office/powerpoint/2010/main" val="14316121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Figure 13.7 </a:t>
            </a:r>
            <a:r>
              <a:rPr lang="en-US" sz="1200" b="0" i="0" u="none" strike="noStrike" kern="1200" baseline="0" dirty="0" smtClean="0">
                <a:solidFill>
                  <a:schemeClr val="tx1"/>
                </a:solidFill>
                <a:latin typeface="+mn-lt"/>
                <a:ea typeface="+mn-ea"/>
                <a:cs typeface="+mn-cs"/>
              </a:rPr>
              <a:t>A census of the Hawaiian monk seal (</a:t>
            </a:r>
            <a:r>
              <a:rPr lang="en-US" sz="1200" b="0" i="1" u="none" strike="noStrike" kern="1200" baseline="0" dirty="0" err="1" smtClean="0">
                <a:solidFill>
                  <a:schemeClr val="tx1"/>
                </a:solidFill>
                <a:latin typeface="+mn-lt"/>
                <a:ea typeface="+mn-ea"/>
                <a:cs typeface="+mn-cs"/>
              </a:rPr>
              <a:t>Monachus</a:t>
            </a:r>
            <a:r>
              <a:rPr lang="en-US" sz="1200" b="0" i="1" u="none" strike="noStrike" kern="1200" baseline="0" dirty="0" smtClean="0">
                <a:solidFill>
                  <a:schemeClr val="tx1"/>
                </a:solidFill>
                <a:latin typeface="+mn-lt"/>
                <a:ea typeface="+mn-ea"/>
                <a:cs typeface="+mn-cs"/>
              </a:rPr>
              <a:t> </a:t>
            </a:r>
            <a:r>
              <a:rPr lang="en-US" sz="1200" b="0" i="1" u="none" strike="noStrike" kern="1200" baseline="0" dirty="0" err="1" smtClean="0">
                <a:solidFill>
                  <a:schemeClr val="tx1"/>
                </a:solidFill>
                <a:latin typeface="+mn-lt"/>
                <a:ea typeface="+mn-ea"/>
                <a:cs typeface="+mn-cs"/>
              </a:rPr>
              <a:t>schauinslandi</a:t>
            </a:r>
            <a:r>
              <a:rPr lang="en-US" sz="1200" b="0" i="0" u="none" strike="noStrike" kern="1200" baseline="0" dirty="0" smtClean="0">
                <a:solidFill>
                  <a:schemeClr val="tx1"/>
                </a:solidFill>
                <a:latin typeface="+mn-lt"/>
                <a:ea typeface="+mn-ea"/>
                <a:cs typeface="+mn-cs"/>
              </a:rPr>
              <a:t>) populations on Green Island, Kure Atoll; and Tern Island, French Frigate Shoals, revealed that this species was in danger of extinction. Population counts were plotted from a single count, the mean of several counts, or the maximum of several counts. Seal populations declined when a Coast Guard station was opened on Green Island in 1960 because of disturbance by people and dogs; the population increased on Tern Island after the closing of a Coast Guard </a:t>
            </a:r>
            <a:r>
              <a:rPr lang="en-IN" sz="1200" b="0" i="0" u="none" strike="noStrike" kern="1200" baseline="0" dirty="0" smtClean="0">
                <a:solidFill>
                  <a:schemeClr val="tx1"/>
                </a:solidFill>
                <a:latin typeface="+mn-lt"/>
                <a:ea typeface="+mn-ea"/>
                <a:cs typeface="+mn-cs"/>
              </a:rPr>
              <a:t>station in 1979.</a:t>
            </a:r>
            <a:endParaRPr lang="en-IN" dirty="0"/>
          </a:p>
        </p:txBody>
      </p:sp>
      <p:sp>
        <p:nvSpPr>
          <p:cNvPr id="4" name="Slide Number Placeholder 3"/>
          <p:cNvSpPr>
            <a:spLocks noGrp="1"/>
          </p:cNvSpPr>
          <p:nvPr>
            <p:ph type="sldNum" sz="quarter" idx="10"/>
          </p:nvPr>
        </p:nvSpPr>
        <p:spPr/>
        <p:txBody>
          <a:bodyPr/>
          <a:lstStyle/>
          <a:p>
            <a:pPr>
              <a:defRPr/>
            </a:pPr>
            <a:fld id="{F6F973A6-1012-42FB-8183-4D3C37B2EBC3}" type="slidenum">
              <a:rPr lang="en-US" smtClean="0"/>
              <a:pPr>
                <a:defRPr/>
              </a:pPr>
              <a:t>11</a:t>
            </a:fld>
            <a:endParaRPr lang="en-US"/>
          </a:p>
        </p:txBody>
      </p:sp>
    </p:spTree>
    <p:extLst>
      <p:ext uri="{BB962C8B-B14F-4D97-AF65-F5344CB8AC3E}">
        <p14:creationId xmlns:p14="http://schemas.microsoft.com/office/powerpoint/2010/main" val="40458571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A graph showing the number (or frequency) of animals detected in different distance “bins,” each 10 m from the centerline of a transect survey. For each animal detected during the survey, the perpendicular distance from the line was measured. These results are from a hypothetical example of a zebra survey but are typical for transect (or circular plot) surveys for many other species.</a:t>
            </a:r>
            <a:endParaRPr lang="en-IN" dirty="0"/>
          </a:p>
        </p:txBody>
      </p:sp>
      <p:sp>
        <p:nvSpPr>
          <p:cNvPr id="4" name="Slide Number Placeholder 3"/>
          <p:cNvSpPr>
            <a:spLocks noGrp="1"/>
          </p:cNvSpPr>
          <p:nvPr>
            <p:ph type="sldNum" sz="quarter" idx="10"/>
          </p:nvPr>
        </p:nvSpPr>
        <p:spPr/>
        <p:txBody>
          <a:bodyPr/>
          <a:lstStyle/>
          <a:p>
            <a:pPr>
              <a:defRPr/>
            </a:pPr>
            <a:fld id="{F6F973A6-1012-42FB-8183-4D3C37B2EBC3}" type="slidenum">
              <a:rPr lang="en-US" smtClean="0"/>
              <a:pPr>
                <a:defRPr/>
              </a:pPr>
              <a:t>12</a:t>
            </a:fld>
            <a:endParaRPr lang="en-US"/>
          </a:p>
        </p:txBody>
      </p:sp>
    </p:spTree>
    <p:extLst>
      <p:ext uri="{BB962C8B-B14F-4D97-AF65-F5344CB8AC3E}">
        <p14:creationId xmlns:p14="http://schemas.microsoft.com/office/powerpoint/2010/main" val="35260289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Figure 13.8 </a:t>
            </a:r>
            <a:r>
              <a:rPr lang="en-US" sz="1200" b="0" i="0" u="none" strike="noStrike" kern="1200" baseline="0" dirty="0" smtClean="0">
                <a:solidFill>
                  <a:schemeClr val="tx1"/>
                </a:solidFill>
                <a:latin typeface="+mn-lt"/>
                <a:ea typeface="+mn-ea"/>
                <a:cs typeface="+mn-cs"/>
              </a:rPr>
              <a:t>The capture–mark–recapture (CMR) approach to estimating population size. In this case, CMR is used to estimate the population of jerboas (</a:t>
            </a:r>
            <a:r>
              <a:rPr lang="en-US" sz="1200" b="0" i="1" u="none" strike="noStrike" kern="1200" baseline="0" dirty="0" smtClean="0">
                <a:solidFill>
                  <a:schemeClr val="tx1"/>
                </a:solidFill>
                <a:latin typeface="+mn-lt"/>
                <a:ea typeface="+mn-ea"/>
                <a:cs typeface="+mn-cs"/>
              </a:rPr>
              <a:t>N</a:t>
            </a:r>
            <a:r>
              <a:rPr lang="en-US" sz="1200" b="0" i="0" u="none" strike="noStrike" kern="1200" baseline="0" dirty="0" smtClean="0">
                <a:solidFill>
                  <a:schemeClr val="tx1"/>
                </a:solidFill>
                <a:latin typeface="+mn-lt"/>
                <a:ea typeface="+mn-ea"/>
                <a:cs typeface="+mn-cs"/>
              </a:rPr>
              <a:t>), which is unknown. Survey 1 captures a proportion of the total (</a:t>
            </a:r>
            <a:r>
              <a:rPr lang="en-US" sz="1200" b="0" i="1" u="none" strike="noStrike" kern="1200" baseline="0" dirty="0" smtClean="0">
                <a:solidFill>
                  <a:schemeClr val="tx1"/>
                </a:solidFill>
                <a:latin typeface="+mn-lt"/>
                <a:ea typeface="+mn-ea"/>
                <a:cs typeface="+mn-cs"/>
              </a:rPr>
              <a:t>n</a:t>
            </a:r>
            <a:r>
              <a:rPr lang="en-US" sz="1200" b="0" i="0" u="none" strike="noStrike" kern="1200" baseline="-25000" dirty="0" smtClean="0">
                <a:solidFill>
                  <a:schemeClr val="tx1"/>
                </a:solidFill>
                <a:latin typeface="+mn-lt"/>
                <a:ea typeface="+mn-ea"/>
                <a:cs typeface="+mn-cs"/>
              </a:rPr>
              <a:t>1</a:t>
            </a:r>
            <a:r>
              <a:rPr lang="en-US" sz="1200" b="0" i="0" u="none" strike="noStrike" kern="1200" baseline="0" dirty="0" smtClean="0">
                <a:solidFill>
                  <a:schemeClr val="tx1"/>
                </a:solidFill>
                <a:latin typeface="+mn-lt"/>
                <a:ea typeface="+mn-ea"/>
                <a:cs typeface="+mn-cs"/>
              </a:rPr>
              <a:t>) and those animals are marked and released back into the population. Survey 2 captures a new group of individuals (</a:t>
            </a:r>
            <a:r>
              <a:rPr lang="en-US" sz="1200" b="0" i="1" u="none" strike="noStrike" kern="1200" baseline="0" dirty="0" smtClean="0">
                <a:solidFill>
                  <a:schemeClr val="tx1"/>
                </a:solidFill>
                <a:latin typeface="+mn-lt"/>
                <a:ea typeface="+mn-ea"/>
                <a:cs typeface="+mn-cs"/>
              </a:rPr>
              <a:t>n</a:t>
            </a:r>
            <a:r>
              <a:rPr lang="en-US" sz="1200" b="0" i="0" u="none" strike="noStrike" kern="1200" baseline="-25000" dirty="0" smtClean="0">
                <a:solidFill>
                  <a:schemeClr val="tx1"/>
                </a:solidFill>
                <a:latin typeface="+mn-lt"/>
                <a:ea typeface="+mn-ea"/>
                <a:cs typeface="+mn-cs"/>
              </a:rPr>
              <a:t>2</a:t>
            </a:r>
            <a:r>
              <a:rPr lang="en-US" sz="1200" b="0" i="0" u="none" strike="noStrike" kern="1200" baseline="0" dirty="0" smtClean="0">
                <a:solidFill>
                  <a:schemeClr val="tx1"/>
                </a:solidFill>
                <a:latin typeface="+mn-lt"/>
                <a:ea typeface="+mn-ea"/>
                <a:cs typeface="+mn-cs"/>
              </a:rPr>
              <a:t>), of which some number are marked (</a:t>
            </a:r>
            <a:r>
              <a:rPr lang="en-US" sz="1200" b="0" i="1" u="none" strike="noStrike" kern="1200" baseline="0" dirty="0" smtClean="0">
                <a:solidFill>
                  <a:schemeClr val="tx1"/>
                </a:solidFill>
                <a:latin typeface="+mn-lt"/>
                <a:ea typeface="+mn-ea"/>
                <a:cs typeface="+mn-cs"/>
              </a:rPr>
              <a:t>m</a:t>
            </a:r>
            <a:r>
              <a:rPr lang="en-US" sz="1200" b="0" i="0" u="none" strike="noStrike" kern="1200" baseline="-25000" dirty="0" smtClean="0">
                <a:solidFill>
                  <a:schemeClr val="tx1"/>
                </a:solidFill>
                <a:latin typeface="+mn-lt"/>
                <a:ea typeface="+mn-ea"/>
                <a:cs typeface="+mn-cs"/>
              </a:rPr>
              <a:t>2</a:t>
            </a:r>
            <a:r>
              <a:rPr lang="en-US" sz="1200" b="0" i="0" u="none" strike="noStrike" kern="1200" baseline="0" dirty="0" smtClean="0">
                <a:solidFill>
                  <a:schemeClr val="tx1"/>
                </a:solidFill>
                <a:latin typeface="+mn-lt"/>
                <a:ea typeface="+mn-ea"/>
                <a:cs typeface="+mn-cs"/>
              </a:rPr>
              <a:t>). The ratio of </a:t>
            </a:r>
            <a:r>
              <a:rPr lang="en-US" sz="1200" b="0" i="1" u="none" strike="noStrike" kern="1200" baseline="0" dirty="0" smtClean="0">
                <a:solidFill>
                  <a:schemeClr val="tx1"/>
                </a:solidFill>
                <a:latin typeface="+mn-lt"/>
                <a:ea typeface="+mn-ea"/>
                <a:cs typeface="+mn-cs"/>
              </a:rPr>
              <a:t>m</a:t>
            </a:r>
            <a:r>
              <a:rPr lang="en-US" sz="1200" b="0" i="0" u="none" strike="noStrike" kern="1200" baseline="-25000" dirty="0" smtClean="0">
                <a:solidFill>
                  <a:schemeClr val="tx1"/>
                </a:solidFill>
                <a:latin typeface="+mn-lt"/>
                <a:ea typeface="+mn-ea"/>
                <a:cs typeface="+mn-cs"/>
              </a:rPr>
              <a:t>2</a:t>
            </a:r>
            <a:r>
              <a:rPr lang="en-US" sz="1200" b="0" i="0" u="none" strike="noStrike" kern="1200" baseline="0" dirty="0" smtClean="0">
                <a:solidFill>
                  <a:schemeClr val="tx1"/>
                </a:solidFill>
                <a:latin typeface="+mn-lt"/>
                <a:ea typeface="+mn-ea"/>
                <a:cs typeface="+mn-cs"/>
              </a:rPr>
              <a:t> to </a:t>
            </a:r>
            <a:r>
              <a:rPr lang="en-US" sz="1200" b="0" i="1" u="none" strike="noStrike" kern="1200" baseline="0" dirty="0" smtClean="0">
                <a:solidFill>
                  <a:schemeClr val="tx1"/>
                </a:solidFill>
                <a:latin typeface="+mn-lt"/>
                <a:ea typeface="+mn-ea"/>
                <a:cs typeface="+mn-cs"/>
              </a:rPr>
              <a:t>n</a:t>
            </a:r>
            <a:r>
              <a:rPr lang="en-US" sz="1200" b="0" i="0" u="none" strike="noStrike" kern="1200" baseline="-25000" dirty="0" smtClean="0">
                <a:solidFill>
                  <a:schemeClr val="tx1"/>
                </a:solidFill>
                <a:latin typeface="+mn-lt"/>
                <a:ea typeface="+mn-ea"/>
                <a:cs typeface="+mn-cs"/>
              </a:rPr>
              <a:t>2</a:t>
            </a:r>
            <a:r>
              <a:rPr lang="en-US" sz="1200" b="0" i="0" u="none" strike="noStrike" kern="1200" baseline="0" dirty="0" smtClean="0">
                <a:solidFill>
                  <a:schemeClr val="tx1"/>
                </a:solidFill>
                <a:latin typeface="+mn-lt"/>
                <a:ea typeface="+mn-ea"/>
                <a:cs typeface="+mn-cs"/>
              </a:rPr>
              <a:t> should be equivalent to the ratio of </a:t>
            </a:r>
            <a:r>
              <a:rPr lang="en-US" sz="1200" b="0" i="1" u="none" strike="noStrike" kern="1200" baseline="0" dirty="0" smtClean="0">
                <a:solidFill>
                  <a:schemeClr val="tx1"/>
                </a:solidFill>
                <a:latin typeface="+mn-lt"/>
                <a:ea typeface="+mn-ea"/>
                <a:cs typeface="+mn-cs"/>
              </a:rPr>
              <a:t>n</a:t>
            </a:r>
            <a:r>
              <a:rPr lang="en-US" sz="1200" b="0" i="0" u="none" strike="noStrike" kern="1200" baseline="0" dirty="0" smtClean="0">
                <a:solidFill>
                  <a:schemeClr val="tx1"/>
                </a:solidFill>
                <a:latin typeface="+mn-lt"/>
                <a:ea typeface="+mn-ea"/>
                <a:cs typeface="+mn-cs"/>
              </a:rPr>
              <a:t>1 to </a:t>
            </a:r>
            <a:r>
              <a:rPr lang="en-US" sz="1200" b="0" i="1" u="none" strike="noStrike" kern="1200" baseline="0" dirty="0" smtClean="0">
                <a:solidFill>
                  <a:schemeClr val="tx1"/>
                </a:solidFill>
                <a:latin typeface="+mn-lt"/>
                <a:ea typeface="+mn-ea"/>
                <a:cs typeface="+mn-cs"/>
              </a:rPr>
              <a:t>N</a:t>
            </a:r>
            <a:r>
              <a:rPr lang="en-US" sz="1200" b="0" i="0" u="none" strike="noStrike" kern="1200" baseline="0" dirty="0" smtClean="0">
                <a:solidFill>
                  <a:schemeClr val="tx1"/>
                </a:solidFill>
                <a:latin typeface="+mn-lt"/>
                <a:ea typeface="+mn-ea"/>
                <a:cs typeface="+mn-cs"/>
              </a:rPr>
              <a:t>. Note that the Lincoln–Peterson equation estimates a total population of 45, which is slightly more than the true total number of jerboas (40 in the top box).</a:t>
            </a:r>
            <a:endParaRPr lang="en-IN" dirty="0"/>
          </a:p>
        </p:txBody>
      </p:sp>
      <p:sp>
        <p:nvSpPr>
          <p:cNvPr id="4" name="Slide Number Placeholder 3"/>
          <p:cNvSpPr>
            <a:spLocks noGrp="1"/>
          </p:cNvSpPr>
          <p:nvPr>
            <p:ph type="sldNum" sz="quarter" idx="10"/>
          </p:nvPr>
        </p:nvSpPr>
        <p:spPr/>
        <p:txBody>
          <a:bodyPr/>
          <a:lstStyle/>
          <a:p>
            <a:pPr>
              <a:defRPr/>
            </a:pPr>
            <a:fld id="{F6F973A6-1012-42FB-8183-4D3C37B2EBC3}" type="slidenum">
              <a:rPr lang="en-US" smtClean="0"/>
              <a:pPr>
                <a:defRPr/>
              </a:pPr>
              <a:t>13</a:t>
            </a:fld>
            <a:endParaRPr lang="en-US"/>
          </a:p>
        </p:txBody>
      </p:sp>
    </p:spTree>
    <p:extLst>
      <p:ext uri="{BB962C8B-B14F-4D97-AF65-F5344CB8AC3E}">
        <p14:creationId xmlns:p14="http://schemas.microsoft.com/office/powerpoint/2010/main" val="35368537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The photo depicts Tucker, the Center for Conservation Biology scat detection dog, locating whale scat from Southern Resident killer whales on the Salish Sea in Washington State. Scats are genotyped to determine the whale’s identity and sex. Reproductive, stress, and nutrition hormones extracted from the samples indicate physiological health as well as pregnancy occurrence and loss. Toxins extracted from these samples indicate how nutritional stress interacts with toxin loads, leading to spontaneous abortion of nutritionally compromised whales.</a:t>
            </a:r>
            <a:endParaRPr lang="en-IN" dirty="0"/>
          </a:p>
        </p:txBody>
      </p:sp>
      <p:sp>
        <p:nvSpPr>
          <p:cNvPr id="4" name="Slide Number Placeholder 3"/>
          <p:cNvSpPr>
            <a:spLocks noGrp="1"/>
          </p:cNvSpPr>
          <p:nvPr>
            <p:ph type="sldNum" sz="quarter" idx="10"/>
          </p:nvPr>
        </p:nvSpPr>
        <p:spPr/>
        <p:txBody>
          <a:bodyPr/>
          <a:lstStyle/>
          <a:p>
            <a:pPr>
              <a:defRPr/>
            </a:pPr>
            <a:fld id="{F6F973A6-1012-42FB-8183-4D3C37B2EBC3}" type="slidenum">
              <a:rPr lang="en-US" smtClean="0"/>
              <a:pPr>
                <a:defRPr/>
              </a:pPr>
              <a:t>14</a:t>
            </a:fld>
            <a:endParaRPr lang="en-US"/>
          </a:p>
        </p:txBody>
      </p:sp>
    </p:spTree>
    <p:extLst>
      <p:ext uri="{BB962C8B-B14F-4D97-AF65-F5344CB8AC3E}">
        <p14:creationId xmlns:p14="http://schemas.microsoft.com/office/powerpoint/2010/main" val="7755309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Figure 13.9 </a:t>
            </a:r>
            <a:r>
              <a:rPr lang="en-US" sz="1200" b="0" i="0" u="none" strike="noStrike" kern="1200" baseline="0" dirty="0" smtClean="0">
                <a:solidFill>
                  <a:schemeClr val="tx1"/>
                </a:solidFill>
                <a:latin typeface="+mn-lt"/>
                <a:ea typeface="+mn-ea"/>
                <a:cs typeface="+mn-cs"/>
              </a:rPr>
              <a:t>Population growth calculated using the geometric growth model (A) and logistic growth </a:t>
            </a:r>
            <a:r>
              <a:rPr lang="en-IN" sz="1200" b="0" i="0" u="none" strike="noStrike" kern="1200" baseline="0" dirty="0" smtClean="0">
                <a:solidFill>
                  <a:schemeClr val="tx1"/>
                </a:solidFill>
                <a:latin typeface="+mn-lt"/>
                <a:ea typeface="+mn-ea"/>
                <a:cs typeface="+mn-cs"/>
              </a:rPr>
              <a:t>model </a:t>
            </a:r>
            <a:r>
              <a:rPr lang="en-US" sz="1200" b="0" i="0" u="none" strike="noStrike" kern="1200" baseline="0" dirty="0" smtClean="0">
                <a:solidFill>
                  <a:schemeClr val="tx1"/>
                </a:solidFill>
                <a:latin typeface="+mn-lt"/>
                <a:ea typeface="+mn-ea"/>
                <a:cs typeface="+mn-cs"/>
              </a:rPr>
              <a:t>(B). The geometric growth model shows a </a:t>
            </a:r>
            <a:r>
              <a:rPr lang="en-IN" sz="1200" b="0" i="0" u="none" strike="noStrike" kern="1200" baseline="0" dirty="0" smtClean="0">
                <a:solidFill>
                  <a:schemeClr val="tx1"/>
                </a:solidFill>
                <a:latin typeface="+mn-lt"/>
                <a:ea typeface="+mn-ea"/>
                <a:cs typeface="+mn-cs"/>
              </a:rPr>
              <a:t>pattern </a:t>
            </a:r>
            <a:r>
              <a:rPr lang="en-US" sz="1200" b="0" i="0" u="none" strike="noStrike" kern="1200" baseline="0" dirty="0" smtClean="0">
                <a:solidFill>
                  <a:schemeClr val="tx1"/>
                </a:solidFill>
                <a:latin typeface="+mn-lt"/>
                <a:ea typeface="+mn-ea"/>
                <a:cs typeface="+mn-cs"/>
              </a:rPr>
              <a:t>of exponential growth that is unconstrained, because birth and death rates are constant. The logistic growth model introduces a carrying capacity (</a:t>
            </a:r>
            <a:r>
              <a:rPr lang="en-US" sz="1200" b="0" i="1" u="none" strike="noStrike" kern="1200" baseline="0" dirty="0" smtClean="0">
                <a:solidFill>
                  <a:schemeClr val="tx1"/>
                </a:solidFill>
                <a:latin typeface="+mn-lt"/>
                <a:ea typeface="+mn-ea"/>
                <a:cs typeface="+mn-cs"/>
              </a:rPr>
              <a:t>K</a:t>
            </a:r>
            <a:r>
              <a:rPr lang="en-US" sz="1200" b="0" i="0" u="none" strike="noStrike" kern="1200" baseline="0" dirty="0" smtClean="0">
                <a:solidFill>
                  <a:schemeClr val="tx1"/>
                </a:solidFill>
                <a:latin typeface="+mn-lt"/>
                <a:ea typeface="+mn-ea"/>
                <a:cs typeface="+mn-cs"/>
              </a:rPr>
              <a:t>, the maximum number of individuals an area can support) to account for the effect of intraspecific competition in the population. Both models are discrete-time models (with year as the time unit) and have the same growth </a:t>
            </a:r>
            <a:r>
              <a:rPr lang="en-IN" sz="1200" b="0" i="0" u="none" strike="noStrike" kern="1200" baseline="0" dirty="0" smtClean="0">
                <a:solidFill>
                  <a:schemeClr val="tx1"/>
                </a:solidFill>
                <a:latin typeface="+mn-lt"/>
                <a:ea typeface="+mn-ea"/>
                <a:cs typeface="+mn-cs"/>
              </a:rPr>
              <a:t>rate (</a:t>
            </a:r>
            <a:r>
              <a:rPr lang="en-IN" sz="1200" b="0" i="1" u="none" strike="noStrike" kern="1200" baseline="0" dirty="0" smtClean="0">
                <a:solidFill>
                  <a:schemeClr val="tx1"/>
                </a:solidFill>
                <a:latin typeface="+mn-lt"/>
                <a:ea typeface="+mn-ea"/>
                <a:cs typeface="+mn-cs"/>
              </a:rPr>
              <a:t>R</a:t>
            </a:r>
            <a:r>
              <a:rPr lang="en-IN" sz="1200" b="0" i="0" u="none" strike="noStrike" kern="1200" baseline="0" dirty="0" smtClean="0">
                <a:solidFill>
                  <a:schemeClr val="tx1"/>
                </a:solidFill>
                <a:latin typeface="+mn-lt"/>
                <a:ea typeface="+mn-ea"/>
                <a:cs typeface="+mn-cs"/>
              </a:rPr>
              <a:t>).</a:t>
            </a:r>
            <a:endParaRPr lang="en-IN" dirty="0"/>
          </a:p>
        </p:txBody>
      </p:sp>
      <p:sp>
        <p:nvSpPr>
          <p:cNvPr id="4" name="Slide Number Placeholder 3"/>
          <p:cNvSpPr>
            <a:spLocks noGrp="1"/>
          </p:cNvSpPr>
          <p:nvPr>
            <p:ph type="sldNum" sz="quarter" idx="10"/>
          </p:nvPr>
        </p:nvSpPr>
        <p:spPr/>
        <p:txBody>
          <a:bodyPr/>
          <a:lstStyle/>
          <a:p>
            <a:pPr>
              <a:defRPr/>
            </a:pPr>
            <a:fld id="{F6F973A6-1012-42FB-8183-4D3C37B2EBC3}" type="slidenum">
              <a:rPr lang="en-US" smtClean="0"/>
              <a:pPr>
                <a:defRPr/>
              </a:pPr>
              <a:t>15</a:t>
            </a:fld>
            <a:endParaRPr lang="en-US"/>
          </a:p>
        </p:txBody>
      </p:sp>
    </p:spTree>
    <p:extLst>
      <p:ext uri="{BB962C8B-B14F-4D97-AF65-F5344CB8AC3E}">
        <p14:creationId xmlns:p14="http://schemas.microsoft.com/office/powerpoint/2010/main" val="34165728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Figure 13.10 </a:t>
            </a:r>
            <a:r>
              <a:rPr lang="en-US" sz="1200" b="0" i="0" u="none" strike="noStrike" kern="1200" baseline="0" dirty="0" smtClean="0">
                <a:solidFill>
                  <a:schemeClr val="tx1"/>
                </a:solidFill>
                <a:latin typeface="+mn-lt"/>
                <a:ea typeface="+mn-ea"/>
                <a:cs typeface="+mn-cs"/>
              </a:rPr>
              <a:t>Using a Leslie matrix to estimate the size and growth rate of a population when there is age structure. (A) In this example, the species lives for 4 years and ages are divided into classes (1 = 0–1 year; 2 = 1–2 years; 3 = 2–3 years; and 4 = 3–4 years). Animals in each class have a probability </a:t>
            </a:r>
            <a:r>
              <a:rPr lang="en-US" sz="1200" b="0" i="1" u="none" strike="noStrike" kern="1200" baseline="0" dirty="0" smtClean="0">
                <a:solidFill>
                  <a:schemeClr val="tx1"/>
                </a:solidFill>
                <a:latin typeface="+mn-lt"/>
                <a:ea typeface="+mn-ea"/>
                <a:cs typeface="+mn-cs"/>
              </a:rPr>
              <a:t>P </a:t>
            </a:r>
            <a:r>
              <a:rPr lang="en-US" sz="1200" b="0" i="0" u="none" strike="noStrike" kern="1200" baseline="0" dirty="0" smtClean="0">
                <a:solidFill>
                  <a:schemeClr val="tx1"/>
                </a:solidFill>
                <a:latin typeface="+mn-lt"/>
                <a:ea typeface="+mn-ea"/>
                <a:cs typeface="+mn-cs"/>
              </a:rPr>
              <a:t>of surviving to the next class. Animals in each age class except the first produce offspring at a rate </a:t>
            </a:r>
            <a:r>
              <a:rPr lang="en-US" sz="1200" b="0" i="1" u="none" strike="noStrike" kern="1200" baseline="0" dirty="0" smtClean="0">
                <a:solidFill>
                  <a:schemeClr val="tx1"/>
                </a:solidFill>
                <a:latin typeface="+mn-lt"/>
                <a:ea typeface="+mn-ea"/>
                <a:cs typeface="+mn-cs"/>
              </a:rPr>
              <a:t>F</a:t>
            </a:r>
            <a:r>
              <a:rPr lang="en-US" sz="1200" b="0" i="0" u="none" strike="noStrike" kern="1200" baseline="0" dirty="0" smtClean="0">
                <a:solidFill>
                  <a:schemeClr val="tx1"/>
                </a:solidFill>
                <a:latin typeface="+mn-lt"/>
                <a:ea typeface="+mn-ea"/>
                <a:cs typeface="+mn-cs"/>
              </a:rPr>
              <a:t>; these offspring then enter the first age class. (B, C) Because survival and fecundity differ by age class, there is age structure in this population. If we estimate these parameters and census the population in the current year, a Leslie matrix can be used to estimate the number of individuals in each class in the next time step. Total population size is then the sum of all animals in each age class. Population estimates can also be used to calculate the growth rate for the population.</a:t>
            </a:r>
            <a:endParaRPr lang="en-IN" dirty="0"/>
          </a:p>
        </p:txBody>
      </p:sp>
      <p:sp>
        <p:nvSpPr>
          <p:cNvPr id="4" name="Slide Number Placeholder 3"/>
          <p:cNvSpPr>
            <a:spLocks noGrp="1"/>
          </p:cNvSpPr>
          <p:nvPr>
            <p:ph type="sldNum" sz="quarter" idx="10"/>
          </p:nvPr>
        </p:nvSpPr>
        <p:spPr/>
        <p:txBody>
          <a:bodyPr/>
          <a:lstStyle/>
          <a:p>
            <a:pPr>
              <a:defRPr/>
            </a:pPr>
            <a:fld id="{F6F973A6-1012-42FB-8183-4D3C37B2EBC3}" type="slidenum">
              <a:rPr lang="en-US" smtClean="0"/>
              <a:pPr>
                <a:defRPr/>
              </a:pPr>
              <a:t>16</a:t>
            </a:fld>
            <a:endParaRPr lang="en-US"/>
          </a:p>
        </p:txBody>
      </p:sp>
    </p:spTree>
    <p:extLst>
      <p:ext uri="{BB962C8B-B14F-4D97-AF65-F5344CB8AC3E}">
        <p14:creationId xmlns:p14="http://schemas.microsoft.com/office/powerpoint/2010/main" val="26242545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Figure 13.11 </a:t>
            </a:r>
            <a:r>
              <a:rPr lang="en-US" sz="1200" b="0" i="0" u="none" strike="noStrike" kern="1200" baseline="0" dirty="0" smtClean="0">
                <a:solidFill>
                  <a:schemeClr val="tx1"/>
                </a:solidFill>
                <a:latin typeface="+mn-lt"/>
                <a:ea typeface="+mn-ea"/>
                <a:cs typeface="+mn-cs"/>
              </a:rPr>
              <a:t>A stage-based model of loggerhead turtles (</a:t>
            </a:r>
            <a:r>
              <a:rPr lang="en-US" sz="1200" b="0" i="1" u="none" strike="noStrike" kern="1200" baseline="0" dirty="0" err="1" smtClean="0">
                <a:solidFill>
                  <a:schemeClr val="tx1"/>
                </a:solidFill>
                <a:latin typeface="+mn-lt"/>
                <a:ea typeface="+mn-ea"/>
                <a:cs typeface="+mn-cs"/>
              </a:rPr>
              <a:t>Caretta</a:t>
            </a:r>
            <a:r>
              <a:rPr lang="en-US" sz="1200" b="0" i="1" u="none" strike="noStrike" kern="1200" baseline="0" dirty="0" smtClean="0">
                <a:solidFill>
                  <a:schemeClr val="tx1"/>
                </a:solidFill>
                <a:latin typeface="+mn-lt"/>
                <a:ea typeface="+mn-ea"/>
                <a:cs typeface="+mn-cs"/>
              </a:rPr>
              <a:t> </a:t>
            </a:r>
            <a:r>
              <a:rPr lang="en-US" sz="1200" b="0" i="1" u="none" strike="noStrike" kern="1200" baseline="0" dirty="0" err="1" smtClean="0">
                <a:solidFill>
                  <a:schemeClr val="tx1"/>
                </a:solidFill>
                <a:latin typeface="+mn-lt"/>
                <a:ea typeface="+mn-ea"/>
                <a:cs typeface="+mn-cs"/>
              </a:rPr>
              <a:t>caretta</a:t>
            </a:r>
            <a:r>
              <a:rPr lang="en-US" sz="1200" b="0" i="0" u="none" strike="noStrike" kern="1200" baseline="0" dirty="0" smtClean="0">
                <a:solidFill>
                  <a:schemeClr val="tx1"/>
                </a:solidFill>
                <a:latin typeface="+mn-lt"/>
                <a:ea typeface="+mn-ea"/>
                <a:cs typeface="+mn-cs"/>
              </a:rPr>
              <a:t>) was used to simulate of the effects of 10%, 50%, and 90% reductions in mortality on the intrinsic population growth rate (</a:t>
            </a:r>
            <a:r>
              <a:rPr lang="en-US" sz="1200" b="0" i="1" u="none" strike="noStrike" kern="1200" baseline="0" dirty="0" smtClean="0">
                <a:solidFill>
                  <a:schemeClr val="tx1"/>
                </a:solidFill>
                <a:latin typeface="+mn-lt"/>
                <a:ea typeface="+mn-ea"/>
                <a:cs typeface="+mn-cs"/>
              </a:rPr>
              <a:t>r</a:t>
            </a:r>
            <a:r>
              <a:rPr lang="en-US" sz="1200" b="0" i="0" u="none" strike="noStrike" kern="1200" baseline="0" dirty="0" smtClean="0">
                <a:solidFill>
                  <a:schemeClr val="tx1"/>
                </a:solidFill>
                <a:latin typeface="+mn-lt"/>
                <a:ea typeface="+mn-ea"/>
                <a:cs typeface="+mn-cs"/>
              </a:rPr>
              <a:t>) of different life stages. The results revealed that efforts to reduce mortality of large juveniles had the greatest effect on the population. A main source of mortality for turtles in this age class is entrapment in fishing nets. These results led to more widespread use of escape hatches in nets, known as turtle excluder </a:t>
            </a:r>
            <a:r>
              <a:rPr lang="en-IN" sz="1200" b="0" i="0" u="none" strike="noStrike" kern="1200" baseline="0" dirty="0" smtClean="0">
                <a:solidFill>
                  <a:schemeClr val="tx1"/>
                </a:solidFill>
                <a:latin typeface="+mn-lt"/>
                <a:ea typeface="+mn-ea"/>
                <a:cs typeface="+mn-cs"/>
              </a:rPr>
              <a:t>devices.</a:t>
            </a:r>
            <a:endParaRPr lang="en-IN" dirty="0"/>
          </a:p>
        </p:txBody>
      </p:sp>
      <p:sp>
        <p:nvSpPr>
          <p:cNvPr id="4" name="Slide Number Placeholder 3"/>
          <p:cNvSpPr>
            <a:spLocks noGrp="1"/>
          </p:cNvSpPr>
          <p:nvPr>
            <p:ph type="sldNum" sz="quarter" idx="10"/>
          </p:nvPr>
        </p:nvSpPr>
        <p:spPr/>
        <p:txBody>
          <a:bodyPr/>
          <a:lstStyle/>
          <a:p>
            <a:pPr>
              <a:defRPr/>
            </a:pPr>
            <a:fld id="{F6F973A6-1012-42FB-8183-4D3C37B2EBC3}" type="slidenum">
              <a:rPr lang="en-US" smtClean="0"/>
              <a:pPr>
                <a:defRPr/>
              </a:pPr>
              <a:t>17</a:t>
            </a:fld>
            <a:endParaRPr lang="en-US"/>
          </a:p>
        </p:txBody>
      </p:sp>
    </p:spTree>
    <p:extLst>
      <p:ext uri="{BB962C8B-B14F-4D97-AF65-F5344CB8AC3E}">
        <p14:creationId xmlns:p14="http://schemas.microsoft.com/office/powerpoint/2010/main" val="2932452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Figure 13.12 </a:t>
            </a:r>
            <a:r>
              <a:rPr lang="en-US" sz="1200" b="0" i="0" u="none" strike="noStrike" kern="1200" baseline="0" dirty="0" smtClean="0">
                <a:solidFill>
                  <a:schemeClr val="tx1"/>
                </a:solidFill>
                <a:latin typeface="+mn-lt"/>
                <a:ea typeface="+mn-ea"/>
                <a:cs typeface="+mn-cs"/>
              </a:rPr>
              <a:t>(A) If the goal is persistence for a greater number of years, then a larger minimum viable population size is needed. This point is illustrated by two lines: one showing the minimum viable population size (</a:t>
            </a:r>
            <a:r>
              <a:rPr lang="en-US" sz="1200" b="0" i="1" u="none" strike="noStrike" kern="1200" baseline="0" dirty="0" smtClean="0">
                <a:solidFill>
                  <a:schemeClr val="tx1"/>
                </a:solidFill>
                <a:latin typeface="+mn-lt"/>
                <a:ea typeface="+mn-ea"/>
                <a:cs typeface="+mn-cs"/>
              </a:rPr>
              <a:t>y </a:t>
            </a:r>
            <a:r>
              <a:rPr lang="en-US" sz="1200" b="0" i="0" u="none" strike="noStrike" kern="1200" baseline="0" dirty="0" smtClean="0">
                <a:solidFill>
                  <a:schemeClr val="tx1"/>
                </a:solidFill>
                <a:latin typeface="+mn-lt"/>
                <a:ea typeface="+mn-ea"/>
                <a:cs typeface="+mn-cs"/>
              </a:rPr>
              <a:t>axis) required to ensure a 50% chance of survival (dashed red line) and a second showing the size needed to ensure a 90% chance of survival (solid blue line). These log scale values were derived from data on changes in population size and persistence of 1,198 different species. (B) The relationship between the initial population size (</a:t>
            </a:r>
            <a:r>
              <a:rPr lang="en-US" sz="1200" b="0" i="1" u="none" strike="noStrike" kern="1200" baseline="0" dirty="0" smtClean="0">
                <a:solidFill>
                  <a:schemeClr val="tx1"/>
                </a:solidFill>
                <a:latin typeface="+mn-lt"/>
                <a:ea typeface="+mn-ea"/>
                <a:cs typeface="+mn-cs"/>
              </a:rPr>
              <a:t>N</a:t>
            </a:r>
            <a:r>
              <a:rPr lang="en-US" sz="1200" b="0" i="0" u="none" strike="noStrike" kern="1200" baseline="0" dirty="0" smtClean="0">
                <a:solidFill>
                  <a:schemeClr val="tx1"/>
                </a:solidFill>
                <a:latin typeface="+mn-lt"/>
                <a:ea typeface="+mn-ea"/>
                <a:cs typeface="+mn-cs"/>
              </a:rPr>
              <a:t>) of bighorn sheep and the percentage of populations that persisted over time. Almost all populations with more than 100 sheep persisted beyond 50 years, while populations with fewer than 50 individuals died out within 50 years. Not included are small populations that were actively managed and augmented by the release of additional </a:t>
            </a:r>
            <a:r>
              <a:rPr lang="en-IN" sz="1200" b="0" i="0" u="none" strike="noStrike" kern="1200" baseline="0" dirty="0" smtClean="0">
                <a:solidFill>
                  <a:schemeClr val="tx1"/>
                </a:solidFill>
                <a:latin typeface="+mn-lt"/>
                <a:ea typeface="+mn-ea"/>
                <a:cs typeface="+mn-cs"/>
              </a:rPr>
              <a:t>animals.</a:t>
            </a:r>
            <a:endParaRPr lang="en-IN" dirty="0"/>
          </a:p>
        </p:txBody>
      </p:sp>
      <p:sp>
        <p:nvSpPr>
          <p:cNvPr id="4" name="Slide Number Placeholder 3"/>
          <p:cNvSpPr>
            <a:spLocks noGrp="1"/>
          </p:cNvSpPr>
          <p:nvPr>
            <p:ph type="sldNum" sz="quarter" idx="10"/>
          </p:nvPr>
        </p:nvSpPr>
        <p:spPr/>
        <p:txBody>
          <a:bodyPr/>
          <a:lstStyle/>
          <a:p>
            <a:pPr>
              <a:defRPr/>
            </a:pPr>
            <a:fld id="{F6F973A6-1012-42FB-8183-4D3C37B2EBC3}" type="slidenum">
              <a:rPr lang="en-US" smtClean="0"/>
              <a:pPr>
                <a:defRPr/>
              </a:pPr>
              <a:t>18</a:t>
            </a:fld>
            <a:endParaRPr lang="en-US"/>
          </a:p>
        </p:txBody>
      </p:sp>
    </p:spTree>
    <p:extLst>
      <p:ext uri="{BB962C8B-B14F-4D97-AF65-F5344CB8AC3E}">
        <p14:creationId xmlns:p14="http://schemas.microsoft.com/office/powerpoint/2010/main" val="11732273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Figure 13.13 </a:t>
            </a:r>
            <a:r>
              <a:rPr lang="en-US" sz="1200" b="0" i="0" u="none" strike="noStrike" kern="1200" baseline="0" dirty="0" smtClean="0">
                <a:solidFill>
                  <a:schemeClr val="tx1"/>
                </a:solidFill>
                <a:latin typeface="+mn-lt"/>
                <a:ea typeface="+mn-ea"/>
                <a:cs typeface="+mn-cs"/>
              </a:rPr>
              <a:t>Extinction rates of bird species like the loggerhead shrike, </a:t>
            </a:r>
            <a:r>
              <a:rPr lang="en-US" sz="1200" b="0" i="1" u="none" strike="noStrike" kern="1200" baseline="0" dirty="0" err="1" smtClean="0">
                <a:solidFill>
                  <a:schemeClr val="tx1"/>
                </a:solidFill>
                <a:latin typeface="+mn-lt"/>
                <a:ea typeface="+mn-ea"/>
                <a:cs typeface="+mn-cs"/>
              </a:rPr>
              <a:t>Lanius</a:t>
            </a:r>
            <a:r>
              <a:rPr lang="en-US" sz="1200" b="0" i="1" u="none" strike="noStrike" kern="1200" baseline="0" dirty="0" smtClean="0">
                <a:solidFill>
                  <a:schemeClr val="tx1"/>
                </a:solidFill>
                <a:latin typeface="+mn-lt"/>
                <a:ea typeface="+mn-ea"/>
                <a:cs typeface="+mn-cs"/>
              </a:rPr>
              <a:t> </a:t>
            </a:r>
            <a:r>
              <a:rPr lang="en-US" sz="1200" b="0" i="1" u="none" strike="noStrike" kern="1200" baseline="0" dirty="0" err="1" smtClean="0">
                <a:solidFill>
                  <a:schemeClr val="tx1"/>
                </a:solidFill>
                <a:latin typeface="+mn-lt"/>
                <a:ea typeface="+mn-ea"/>
                <a:cs typeface="+mn-cs"/>
              </a:rPr>
              <a:t>ludovicianus</a:t>
            </a:r>
            <a:r>
              <a:rPr lang="en-US" sz="1200" b="0" i="1" u="none" strike="noStrike" kern="1200" baseline="0" dirty="0" smtClean="0">
                <a:solidFill>
                  <a:schemeClr val="tx1"/>
                </a:solidFill>
                <a:latin typeface="+mn-lt"/>
                <a:ea typeface="+mn-ea"/>
                <a:cs typeface="+mn-cs"/>
              </a:rPr>
              <a:t> </a:t>
            </a:r>
            <a:r>
              <a:rPr lang="en-US" sz="1200" b="0" i="1" u="none" strike="noStrike" kern="1200" baseline="0" dirty="0" err="1" smtClean="0">
                <a:solidFill>
                  <a:schemeClr val="tx1"/>
                </a:solidFill>
                <a:latin typeface="+mn-lt"/>
                <a:ea typeface="+mn-ea"/>
                <a:cs typeface="+mn-cs"/>
              </a:rPr>
              <a:t>anthonyi</a:t>
            </a:r>
            <a:r>
              <a:rPr lang="en-US" sz="1200" b="0" i="0" u="none" strike="noStrike" kern="1200" baseline="0" dirty="0" smtClean="0">
                <a:solidFill>
                  <a:schemeClr val="tx1"/>
                </a:solidFill>
                <a:latin typeface="+mn-lt"/>
                <a:ea typeface="+mn-ea"/>
                <a:cs typeface="+mn-cs"/>
              </a:rPr>
              <a:t>, on the Channel Islands of Southern California. Each dot represents the extinction percentage of all the species in that population size class; extinction rate decreases as the size of the population increases. Populations with fewer than 10 breeding pairs had an overall 39% probability of extinction over 80 years. Populations of between 10 and 100 pairs averaged about 10% probability of extinction, and populations of over 100 pairs had a very low probability of extinction.</a:t>
            </a:r>
            <a:endParaRPr lang="en-IN" dirty="0"/>
          </a:p>
        </p:txBody>
      </p:sp>
      <p:sp>
        <p:nvSpPr>
          <p:cNvPr id="4" name="Slide Number Placeholder 3"/>
          <p:cNvSpPr>
            <a:spLocks noGrp="1"/>
          </p:cNvSpPr>
          <p:nvPr>
            <p:ph type="sldNum" sz="quarter" idx="10"/>
          </p:nvPr>
        </p:nvSpPr>
        <p:spPr/>
        <p:txBody>
          <a:bodyPr/>
          <a:lstStyle/>
          <a:p>
            <a:pPr>
              <a:defRPr/>
            </a:pPr>
            <a:fld id="{F6F973A6-1012-42FB-8183-4D3C37B2EBC3}" type="slidenum">
              <a:rPr lang="en-US" smtClean="0"/>
              <a:pPr>
                <a:defRPr/>
              </a:pPr>
              <a:t>19</a:t>
            </a:fld>
            <a:endParaRPr lang="en-US"/>
          </a:p>
        </p:txBody>
      </p:sp>
    </p:spTree>
    <p:extLst>
      <p:ext uri="{BB962C8B-B14F-4D97-AF65-F5344CB8AC3E}">
        <p14:creationId xmlns:p14="http://schemas.microsoft.com/office/powerpoint/2010/main" val="20111060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Figure 13.14 </a:t>
            </a:r>
            <a:r>
              <a:rPr lang="en-US" sz="1200" b="0" i="0" u="none" strike="noStrike" kern="1200" baseline="0" dirty="0" smtClean="0">
                <a:solidFill>
                  <a:schemeClr val="tx1"/>
                </a:solidFill>
                <a:latin typeface="+mn-lt"/>
                <a:ea typeface="+mn-ea"/>
                <a:cs typeface="+mn-cs"/>
              </a:rPr>
              <a:t>Projecting a population forward in a basic population viability analysis using a geometric growth model; each projection is referred to as a trial. Starting with an initial population size, estimating the population size in the next step involves drawing a random population growth rate value (λ) from a distribution of values from past data and then multiplying this value by the initial population size. Estimating population size in the next year involves drawing a new λ value and multiplying it by the year 1 population size. This procedure is repeated year after year until the final period of the analysis is reached.</a:t>
            </a:r>
            <a:endParaRPr lang="en-IN" dirty="0"/>
          </a:p>
        </p:txBody>
      </p:sp>
      <p:sp>
        <p:nvSpPr>
          <p:cNvPr id="4" name="Slide Number Placeholder 3"/>
          <p:cNvSpPr>
            <a:spLocks noGrp="1"/>
          </p:cNvSpPr>
          <p:nvPr>
            <p:ph type="sldNum" sz="quarter" idx="10"/>
          </p:nvPr>
        </p:nvSpPr>
        <p:spPr/>
        <p:txBody>
          <a:bodyPr/>
          <a:lstStyle/>
          <a:p>
            <a:pPr>
              <a:defRPr/>
            </a:pPr>
            <a:fld id="{F6F973A6-1012-42FB-8183-4D3C37B2EBC3}" type="slidenum">
              <a:rPr lang="en-US" smtClean="0"/>
              <a:pPr>
                <a:defRPr/>
              </a:pPr>
              <a:t>20</a:t>
            </a:fld>
            <a:endParaRPr lang="en-US"/>
          </a:p>
        </p:txBody>
      </p:sp>
    </p:spTree>
    <p:extLst>
      <p:ext uri="{BB962C8B-B14F-4D97-AF65-F5344CB8AC3E}">
        <p14:creationId xmlns:p14="http://schemas.microsoft.com/office/powerpoint/2010/main" val="29289374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1" i="0" u="none" strike="noStrike" kern="1200" baseline="0" dirty="0" smtClean="0">
                <a:solidFill>
                  <a:schemeClr val="tx1"/>
                </a:solidFill>
                <a:latin typeface="+mn-lt"/>
                <a:ea typeface="+mn-ea"/>
                <a:cs typeface="+mn-cs"/>
              </a:rPr>
              <a:t>Figure 13.15 </a:t>
            </a:r>
            <a:r>
              <a:rPr lang="en-IN" sz="1200" b="0" i="0" u="none" strike="noStrike" kern="1200" baseline="0" dirty="0" smtClean="0">
                <a:solidFill>
                  <a:schemeClr val="tx1"/>
                </a:solidFill>
                <a:latin typeface="+mn-lt"/>
                <a:ea typeface="+mn-ea"/>
                <a:cs typeface="+mn-cs"/>
              </a:rPr>
              <a:t>A population viability analysis based on 10 population projections, or trials. </a:t>
            </a:r>
            <a:r>
              <a:rPr lang="en-US" sz="1200" b="0" i="0" u="none" strike="noStrike" kern="1200" baseline="0" dirty="0" smtClean="0">
                <a:solidFill>
                  <a:schemeClr val="tx1"/>
                </a:solidFill>
                <a:latin typeface="+mn-lt"/>
                <a:ea typeface="+mn-ea"/>
                <a:cs typeface="+mn-cs"/>
              </a:rPr>
              <a:t>The probability of viability in this case is the number of trials that end with more than 2 individuals out of the total number of trials = 4/10, or 40%. Population viability analyses usually conduct more than just 10 trials, often hundreds or thousands.</a:t>
            </a:r>
            <a:endParaRPr lang="en-IN" dirty="0"/>
          </a:p>
        </p:txBody>
      </p:sp>
      <p:sp>
        <p:nvSpPr>
          <p:cNvPr id="4" name="Slide Number Placeholder 3"/>
          <p:cNvSpPr>
            <a:spLocks noGrp="1"/>
          </p:cNvSpPr>
          <p:nvPr>
            <p:ph type="sldNum" sz="quarter" idx="10"/>
          </p:nvPr>
        </p:nvSpPr>
        <p:spPr/>
        <p:txBody>
          <a:bodyPr/>
          <a:lstStyle/>
          <a:p>
            <a:pPr>
              <a:defRPr/>
            </a:pPr>
            <a:fld id="{F6F973A6-1012-42FB-8183-4D3C37B2EBC3}" type="slidenum">
              <a:rPr lang="en-US" smtClean="0"/>
              <a:pPr>
                <a:defRPr/>
              </a:pPr>
              <a:t>21</a:t>
            </a:fld>
            <a:endParaRPr lang="en-US"/>
          </a:p>
        </p:txBody>
      </p:sp>
    </p:spTree>
    <p:extLst>
      <p:ext uri="{BB962C8B-B14F-4D97-AF65-F5344CB8AC3E}">
        <p14:creationId xmlns:p14="http://schemas.microsoft.com/office/powerpoint/2010/main" val="106276051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Figure 13.16 </a:t>
            </a:r>
            <a:r>
              <a:rPr lang="en-US" sz="1200" b="0" i="0" u="none" strike="noStrike" kern="1200" baseline="0" dirty="0" smtClean="0">
                <a:solidFill>
                  <a:schemeClr val="tx1"/>
                </a:solidFill>
                <a:latin typeface="+mn-lt"/>
                <a:ea typeface="+mn-ea"/>
                <a:cs typeface="+mn-cs"/>
              </a:rPr>
              <a:t>Population viability analyses predict that it takes 100 hectares of habitat to ensure (at 95% likelihood) the persistence of a marsh fritillary butterfly (</a:t>
            </a:r>
            <a:r>
              <a:rPr lang="en-US" sz="1200" b="0" i="1" u="none" strike="noStrike" kern="1200" baseline="0" dirty="0" err="1" smtClean="0">
                <a:solidFill>
                  <a:schemeClr val="tx1"/>
                </a:solidFill>
                <a:latin typeface="+mn-lt"/>
                <a:ea typeface="+mn-ea"/>
                <a:cs typeface="+mn-cs"/>
              </a:rPr>
              <a:t>Euphydryas</a:t>
            </a:r>
            <a:r>
              <a:rPr lang="en-US" sz="1200" b="0" i="1" u="none" strike="noStrike" kern="1200" baseline="0" dirty="0" smtClean="0">
                <a:solidFill>
                  <a:schemeClr val="tx1"/>
                </a:solidFill>
                <a:latin typeface="+mn-lt"/>
                <a:ea typeface="+mn-ea"/>
                <a:cs typeface="+mn-cs"/>
              </a:rPr>
              <a:t> </a:t>
            </a:r>
            <a:r>
              <a:rPr lang="en-US" sz="1200" b="0" i="1" u="none" strike="noStrike" kern="1200" baseline="0" dirty="0" err="1" smtClean="0">
                <a:solidFill>
                  <a:schemeClr val="tx1"/>
                </a:solidFill>
                <a:latin typeface="+mn-lt"/>
                <a:ea typeface="+mn-ea"/>
                <a:cs typeface="+mn-cs"/>
              </a:rPr>
              <a:t>aurinia</a:t>
            </a:r>
            <a:r>
              <a:rPr lang="en-US" sz="1200" b="0" i="0" u="none" strike="noStrike" kern="1200" baseline="0" dirty="0" smtClean="0">
                <a:solidFill>
                  <a:schemeClr val="tx1"/>
                </a:solidFill>
                <a:latin typeface="+mn-lt"/>
                <a:ea typeface="+mn-ea"/>
                <a:cs typeface="+mn-cs"/>
              </a:rPr>
              <a:t>) population for 100 years. All the extinct populations occupied areas much smaller than 100 hectares. Four of the six extant populations occupy areas smaller than 100 hectares and are predicted to go extinct unless their habitat is increased.</a:t>
            </a:r>
            <a:endParaRPr lang="en-IN" dirty="0"/>
          </a:p>
        </p:txBody>
      </p:sp>
      <p:sp>
        <p:nvSpPr>
          <p:cNvPr id="4" name="Slide Number Placeholder 3"/>
          <p:cNvSpPr>
            <a:spLocks noGrp="1"/>
          </p:cNvSpPr>
          <p:nvPr>
            <p:ph type="sldNum" sz="quarter" idx="10"/>
          </p:nvPr>
        </p:nvSpPr>
        <p:spPr/>
        <p:txBody>
          <a:bodyPr/>
          <a:lstStyle/>
          <a:p>
            <a:pPr>
              <a:defRPr/>
            </a:pPr>
            <a:fld id="{F6F973A6-1012-42FB-8183-4D3C37B2EBC3}" type="slidenum">
              <a:rPr lang="en-US" smtClean="0"/>
              <a:pPr>
                <a:defRPr/>
              </a:pPr>
              <a:t>22</a:t>
            </a:fld>
            <a:endParaRPr lang="en-US"/>
          </a:p>
        </p:txBody>
      </p:sp>
    </p:spTree>
    <p:extLst>
      <p:ext uri="{BB962C8B-B14F-4D97-AF65-F5344CB8AC3E}">
        <p14:creationId xmlns:p14="http://schemas.microsoft.com/office/powerpoint/2010/main" val="118913237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Figure 13.17 </a:t>
            </a:r>
            <a:r>
              <a:rPr lang="en-US" sz="1200" b="0" i="0" u="none" strike="noStrike" kern="1200" baseline="0" dirty="0" err="1" smtClean="0">
                <a:solidFill>
                  <a:schemeClr val="tx1"/>
                </a:solidFill>
                <a:latin typeface="+mn-lt"/>
                <a:ea typeface="+mn-ea"/>
                <a:cs typeface="+mn-cs"/>
              </a:rPr>
              <a:t>PrOACT</a:t>
            </a:r>
            <a:r>
              <a:rPr lang="en-US" sz="1200" b="0" i="0" u="none" strike="noStrike" kern="1200" baseline="0" dirty="0" smtClean="0">
                <a:solidFill>
                  <a:schemeClr val="tx1"/>
                </a:solidFill>
                <a:latin typeface="+mn-lt"/>
                <a:ea typeface="+mn-ea"/>
                <a:cs typeface="+mn-cs"/>
              </a:rPr>
              <a:t> is a transparent, data-driven approach to evaluate decisions. </a:t>
            </a:r>
            <a:r>
              <a:rPr lang="en-US" sz="1200" b="0" i="0" u="none" strike="noStrike" kern="1200" baseline="0" dirty="0" err="1" smtClean="0">
                <a:solidFill>
                  <a:schemeClr val="tx1"/>
                </a:solidFill>
                <a:latin typeface="+mn-lt"/>
                <a:ea typeface="+mn-ea"/>
                <a:cs typeface="+mn-cs"/>
              </a:rPr>
              <a:t>PrOACT</a:t>
            </a:r>
            <a:r>
              <a:rPr lang="en-US" sz="1200" b="0" i="0" u="none" strike="noStrike" kern="1200" baseline="0" dirty="0" smtClean="0">
                <a:solidFill>
                  <a:schemeClr val="tx1"/>
                </a:solidFill>
                <a:latin typeface="+mn-lt"/>
                <a:ea typeface="+mn-ea"/>
                <a:cs typeface="+mn-cs"/>
              </a:rPr>
              <a:t> stands for </a:t>
            </a:r>
            <a:r>
              <a:rPr lang="en-IN" sz="1200" b="0" i="0" u="none" strike="noStrike" kern="1200" baseline="0" dirty="0" smtClean="0">
                <a:solidFill>
                  <a:schemeClr val="tx1"/>
                </a:solidFill>
                <a:latin typeface="+mn-lt"/>
                <a:ea typeface="+mn-ea"/>
                <a:cs typeface="+mn-cs"/>
              </a:rPr>
              <a:t>problem, objectives, alternatives, consequences, and </a:t>
            </a:r>
            <a:r>
              <a:rPr lang="en-US" sz="1200" b="0" i="0" u="none" strike="noStrike" kern="1200" baseline="0" dirty="0" smtClean="0">
                <a:solidFill>
                  <a:schemeClr val="tx1"/>
                </a:solidFill>
                <a:latin typeface="+mn-lt"/>
                <a:ea typeface="+mn-ea"/>
                <a:cs typeface="+mn-cs"/>
              </a:rPr>
              <a:t>trade-offs. The </a:t>
            </a:r>
            <a:r>
              <a:rPr lang="en-US" sz="1200" b="0" i="0" u="none" strike="noStrike" kern="1200" baseline="0" dirty="0" err="1" smtClean="0">
                <a:solidFill>
                  <a:schemeClr val="tx1"/>
                </a:solidFill>
                <a:latin typeface="+mn-lt"/>
                <a:ea typeface="+mn-ea"/>
                <a:cs typeface="+mn-cs"/>
              </a:rPr>
              <a:t>PrOACT</a:t>
            </a:r>
            <a:r>
              <a:rPr lang="en-US" sz="1200" b="0" i="0" u="none" strike="noStrike" kern="1200" baseline="0" dirty="0" smtClean="0">
                <a:solidFill>
                  <a:schemeClr val="tx1"/>
                </a:solidFill>
                <a:latin typeface="+mn-lt"/>
                <a:ea typeface="+mn-ea"/>
                <a:cs typeface="+mn-cs"/>
              </a:rPr>
              <a:t> approach forms the basis of structured decision-making, which is often used to evaluate conservation decisions. Key steps include articulating the problem, identifying objectives important to addressing the problem, developing a set of alternative decisions that could be made, estimating the consequences of each alternative on each objective, and evaluating the trade-offs of each alternative given the consequences. A decision follows, and further monitoring information collected after the decision is implemented can be used to update the consequences, which then updates the trade-offs. This last step forms the foundation of what is referred to as adaptive management.</a:t>
            </a:r>
            <a:endParaRPr lang="en-IN" dirty="0"/>
          </a:p>
        </p:txBody>
      </p:sp>
      <p:sp>
        <p:nvSpPr>
          <p:cNvPr id="4" name="Slide Number Placeholder 3"/>
          <p:cNvSpPr>
            <a:spLocks noGrp="1"/>
          </p:cNvSpPr>
          <p:nvPr>
            <p:ph type="sldNum" sz="quarter" idx="10"/>
          </p:nvPr>
        </p:nvSpPr>
        <p:spPr/>
        <p:txBody>
          <a:bodyPr/>
          <a:lstStyle/>
          <a:p>
            <a:pPr>
              <a:defRPr/>
            </a:pPr>
            <a:fld id="{F6F973A6-1012-42FB-8183-4D3C37B2EBC3}" type="slidenum">
              <a:rPr lang="en-US" smtClean="0"/>
              <a:pPr>
                <a:defRPr/>
              </a:pPr>
              <a:t>23</a:t>
            </a:fld>
            <a:endParaRPr lang="en-US"/>
          </a:p>
        </p:txBody>
      </p:sp>
    </p:spTree>
    <p:extLst>
      <p:ext uri="{BB962C8B-B14F-4D97-AF65-F5344CB8AC3E}">
        <p14:creationId xmlns:p14="http://schemas.microsoft.com/office/powerpoint/2010/main" val="338031144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1" i="0" u="none" strike="noStrike" kern="1200" baseline="0" dirty="0" smtClean="0">
                <a:solidFill>
                  <a:schemeClr val="tx1"/>
                </a:solidFill>
                <a:latin typeface="+mn-lt"/>
                <a:ea typeface="+mn-ea"/>
                <a:cs typeface="+mn-cs"/>
              </a:rPr>
              <a:t>TABLE 13.1 </a:t>
            </a:r>
            <a:r>
              <a:rPr lang="en-US" sz="1200" b="0" i="0" u="none" strike="noStrike" kern="1200" baseline="0" dirty="0" smtClean="0">
                <a:solidFill>
                  <a:schemeClr val="tx1"/>
                </a:solidFill>
                <a:latin typeface="+mn-lt"/>
                <a:ea typeface="+mn-ea"/>
                <a:cs typeface="+mn-cs"/>
              </a:rPr>
              <a:t>Results of a decision-making analysis using a framework to evaluate and compare three management alternatives for reducing a potential outbreak of disease in a bighorn sheep </a:t>
            </a:r>
            <a:r>
              <a:rPr lang="en-IN" sz="1200" b="0" i="0" u="none" strike="noStrike" kern="1200" baseline="0" dirty="0" err="1" smtClean="0">
                <a:solidFill>
                  <a:schemeClr val="tx1"/>
                </a:solidFill>
                <a:latin typeface="+mn-lt"/>
                <a:ea typeface="+mn-ea"/>
                <a:cs typeface="+mn-cs"/>
              </a:rPr>
              <a:t>population</a:t>
            </a:r>
            <a:r>
              <a:rPr lang="en-IN" sz="1200" b="0" i="1" u="none" strike="noStrike" kern="1200" baseline="30000" dirty="0" err="1" smtClean="0">
                <a:solidFill>
                  <a:schemeClr val="tx1"/>
                </a:solidFill>
                <a:latin typeface="+mn-lt"/>
                <a:ea typeface="+mn-ea"/>
                <a:cs typeface="+mn-cs"/>
              </a:rPr>
              <a:t>a</a:t>
            </a:r>
            <a:endParaRPr lang="en-IN" baseline="30000" dirty="0"/>
          </a:p>
        </p:txBody>
      </p:sp>
      <p:sp>
        <p:nvSpPr>
          <p:cNvPr id="4" name="Slide Number Placeholder 3"/>
          <p:cNvSpPr>
            <a:spLocks noGrp="1"/>
          </p:cNvSpPr>
          <p:nvPr>
            <p:ph type="sldNum" sz="quarter" idx="10"/>
          </p:nvPr>
        </p:nvSpPr>
        <p:spPr/>
        <p:txBody>
          <a:bodyPr/>
          <a:lstStyle/>
          <a:p>
            <a:pPr>
              <a:defRPr/>
            </a:pPr>
            <a:fld id="{F6F973A6-1012-42FB-8183-4D3C37B2EBC3}" type="slidenum">
              <a:rPr lang="en-US" smtClean="0"/>
              <a:pPr>
                <a:defRPr/>
              </a:pPr>
              <a:t>24</a:t>
            </a:fld>
            <a:endParaRPr lang="en-US"/>
          </a:p>
        </p:txBody>
      </p:sp>
    </p:spTree>
    <p:extLst>
      <p:ext uri="{BB962C8B-B14F-4D97-AF65-F5344CB8AC3E}">
        <p14:creationId xmlns:p14="http://schemas.microsoft.com/office/powerpoint/2010/main" val="224140400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IN" sz="1200" b="1" i="0" u="none" strike="noStrike" kern="1200" baseline="0" dirty="0" smtClean="0">
                <a:solidFill>
                  <a:schemeClr val="tx1"/>
                </a:solidFill>
                <a:latin typeface="+mn-lt"/>
                <a:ea typeface="+mn-ea"/>
                <a:cs typeface="+mn-cs"/>
              </a:rPr>
              <a:t>TABLE 13.1 </a:t>
            </a:r>
            <a:r>
              <a:rPr lang="en-US" sz="1200" b="0" i="0" u="none" strike="noStrike" kern="1200" baseline="0" dirty="0" smtClean="0">
                <a:solidFill>
                  <a:schemeClr val="tx1"/>
                </a:solidFill>
                <a:latin typeface="+mn-lt"/>
                <a:ea typeface="+mn-ea"/>
                <a:cs typeface="+mn-cs"/>
              </a:rPr>
              <a:t>Results of a decision-making analysis using a framework to evaluate and compare three management alternatives for reducing a potential outbreak of disease in a bighorn sheep </a:t>
            </a:r>
            <a:r>
              <a:rPr lang="en-IN" sz="1200" b="0" i="0" u="none" strike="noStrike" kern="1200" baseline="0" dirty="0" err="1" smtClean="0">
                <a:solidFill>
                  <a:schemeClr val="tx1"/>
                </a:solidFill>
                <a:latin typeface="+mn-lt"/>
                <a:ea typeface="+mn-ea"/>
                <a:cs typeface="+mn-cs"/>
              </a:rPr>
              <a:t>population</a:t>
            </a:r>
            <a:r>
              <a:rPr lang="en-IN" sz="1200" b="0" i="1" u="none" strike="noStrike" kern="1200" baseline="30000" dirty="0" err="1" smtClean="0">
                <a:solidFill>
                  <a:schemeClr val="tx1"/>
                </a:solidFill>
                <a:latin typeface="+mn-lt"/>
                <a:ea typeface="+mn-ea"/>
                <a:cs typeface="+mn-cs"/>
              </a:rPr>
              <a:t>a</a:t>
            </a:r>
            <a:endParaRPr lang="en-IN" baseline="30000" dirty="0" smtClean="0"/>
          </a:p>
          <a:p>
            <a:endParaRPr lang="en-IN" dirty="0"/>
          </a:p>
        </p:txBody>
      </p:sp>
      <p:sp>
        <p:nvSpPr>
          <p:cNvPr id="4" name="Slide Number Placeholder 3"/>
          <p:cNvSpPr>
            <a:spLocks noGrp="1"/>
          </p:cNvSpPr>
          <p:nvPr>
            <p:ph type="sldNum" sz="quarter" idx="10"/>
          </p:nvPr>
        </p:nvSpPr>
        <p:spPr/>
        <p:txBody>
          <a:bodyPr/>
          <a:lstStyle/>
          <a:p>
            <a:pPr>
              <a:defRPr/>
            </a:pPr>
            <a:fld id="{F6F973A6-1012-42FB-8183-4D3C37B2EBC3}" type="slidenum">
              <a:rPr lang="en-US" smtClean="0"/>
              <a:pPr>
                <a:defRPr/>
              </a:pPr>
              <a:t>25</a:t>
            </a:fld>
            <a:endParaRPr lang="en-US"/>
          </a:p>
        </p:txBody>
      </p:sp>
    </p:spTree>
    <p:extLst>
      <p:ext uri="{BB962C8B-B14F-4D97-AF65-F5344CB8AC3E}">
        <p14:creationId xmlns:p14="http://schemas.microsoft.com/office/powerpoint/2010/main" val="367754816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Figure 13.18 </a:t>
            </a:r>
            <a:r>
              <a:rPr lang="en-US" sz="1200" b="0" i="0" u="none" strike="noStrike" kern="1200" baseline="0" dirty="0" smtClean="0">
                <a:solidFill>
                  <a:schemeClr val="tx1"/>
                </a:solidFill>
                <a:latin typeface="+mn-lt"/>
                <a:ea typeface="+mn-ea"/>
                <a:cs typeface="+mn-cs"/>
              </a:rPr>
              <a:t>Scores for three management alternatives for two populations of bighorn sheep in Montana, calculated using a decision-making framework (see Table 13.1).</a:t>
            </a:r>
            <a:endParaRPr lang="en-IN" dirty="0"/>
          </a:p>
        </p:txBody>
      </p:sp>
      <p:sp>
        <p:nvSpPr>
          <p:cNvPr id="4" name="Slide Number Placeholder 3"/>
          <p:cNvSpPr>
            <a:spLocks noGrp="1"/>
          </p:cNvSpPr>
          <p:nvPr>
            <p:ph type="sldNum" sz="quarter" idx="10"/>
          </p:nvPr>
        </p:nvSpPr>
        <p:spPr/>
        <p:txBody>
          <a:bodyPr/>
          <a:lstStyle/>
          <a:p>
            <a:pPr>
              <a:defRPr/>
            </a:pPr>
            <a:fld id="{F6F973A6-1012-42FB-8183-4D3C37B2EBC3}" type="slidenum">
              <a:rPr lang="en-US" smtClean="0"/>
              <a:pPr>
                <a:defRPr/>
              </a:pPr>
              <a:t>26</a:t>
            </a:fld>
            <a:endParaRPr lang="en-US"/>
          </a:p>
        </p:txBody>
      </p:sp>
    </p:spTree>
    <p:extLst>
      <p:ext uri="{BB962C8B-B14F-4D97-AF65-F5344CB8AC3E}">
        <p14:creationId xmlns:p14="http://schemas.microsoft.com/office/powerpoint/2010/main" val="80758813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pic>
        <p:nvPicPr>
          <p:cNvPr id="5" name="Picture 5" descr="Oxford University Press logo"/>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5976938"/>
            <a:ext cx="2505075" cy="881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Placeholder 1"/>
          <p:cNvSpPr>
            <a:spLocks noGrp="1"/>
          </p:cNvSpPr>
          <p:nvPr>
            <p:ph type="title"/>
          </p:nvPr>
        </p:nvSpPr>
        <p:spPr>
          <a:xfrm>
            <a:off x="450575" y="586409"/>
            <a:ext cx="11317356" cy="566530"/>
          </a:xfrm>
          <a:prstGeom prst="rect">
            <a:avLst/>
          </a:prstGeom>
        </p:spPr>
        <p:txBody>
          <a:bodyPr rtlCol="0" anchor="t">
            <a:normAutofit/>
          </a:bodyPr>
          <a:lstStyle>
            <a:lvl1pPr algn="ctr">
              <a:defRPr sz="3600" b="1" i="1"/>
            </a:lvl1pPr>
          </a:lstStyle>
          <a:p>
            <a:r>
              <a:rPr lang="en-US" smtClean="0"/>
              <a:t>Click to edit Master title style</a:t>
            </a:r>
            <a:endParaRPr lang="en-US" dirty="0"/>
          </a:p>
        </p:txBody>
      </p:sp>
      <p:sp>
        <p:nvSpPr>
          <p:cNvPr id="11" name="Text Placeholder 10"/>
          <p:cNvSpPr>
            <a:spLocks noGrp="1"/>
          </p:cNvSpPr>
          <p:nvPr>
            <p:ph type="body" sz="quarter" idx="11"/>
          </p:nvPr>
        </p:nvSpPr>
        <p:spPr>
          <a:xfrm>
            <a:off x="450851" y="1152525"/>
            <a:ext cx="11317816" cy="477838"/>
          </a:xfrm>
          <a:prstGeom prst="rect">
            <a:avLst/>
          </a:prstGeom>
        </p:spPr>
        <p:txBody>
          <a:bodyPr/>
          <a:lstStyle>
            <a:lvl1pPr marL="0" indent="0" algn="ctr">
              <a:buNone/>
              <a:defRPr sz="2400">
                <a:solidFill>
                  <a:srgbClr val="1F497D"/>
                </a:solidFill>
              </a:defRPr>
            </a:lvl1pPr>
          </a:lstStyle>
          <a:p>
            <a:pPr lvl="0"/>
            <a:r>
              <a:rPr lang="en-US"/>
              <a:t>Edit Master text styles</a:t>
            </a:r>
          </a:p>
        </p:txBody>
      </p:sp>
      <p:sp>
        <p:nvSpPr>
          <p:cNvPr id="6" name="Picture Placeholder 5"/>
          <p:cNvSpPr>
            <a:spLocks noGrp="1"/>
          </p:cNvSpPr>
          <p:nvPr>
            <p:ph type="pic" sz="quarter" idx="10"/>
          </p:nvPr>
        </p:nvSpPr>
        <p:spPr>
          <a:xfrm>
            <a:off x="3710609" y="1808921"/>
            <a:ext cx="4770784" cy="4283766"/>
          </a:xfrm>
          <a:prstGeom prst="rect">
            <a:avLst/>
          </a:prstGeom>
        </p:spPr>
        <p:txBody>
          <a:bodyPr rtlCol="0">
            <a:normAutofit/>
          </a:bodyPr>
          <a:lstStyle/>
          <a:p>
            <a:pPr lvl="0"/>
            <a:r>
              <a:rPr lang="en-US" noProof="0"/>
              <a:t>Click icon to add picture</a:t>
            </a:r>
            <a:endParaRPr lang="en-US" noProof="0" dirty="0"/>
          </a:p>
        </p:txBody>
      </p:sp>
    </p:spTree>
    <p:extLst>
      <p:ext uri="{BB962C8B-B14F-4D97-AF65-F5344CB8AC3E}">
        <p14:creationId xmlns:p14="http://schemas.microsoft.com/office/powerpoint/2010/main" val="38903167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154626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p:txBody>
      </p:sp>
    </p:spTree>
    <p:extLst>
      <p:ext uri="{BB962C8B-B14F-4D97-AF65-F5344CB8AC3E}">
        <p14:creationId xmlns:p14="http://schemas.microsoft.com/office/powerpoint/2010/main" val="380355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8EB49-10B0-434E-B9A9-AEEABF0BE468}"/>
              </a:ext>
            </a:extLst>
          </p:cNvPr>
          <p:cNvSpPr>
            <a:spLocks noGrp="1"/>
          </p:cNvSpPr>
          <p:nvPr>
            <p:ph type="title"/>
          </p:nvPr>
        </p:nvSpPr>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3973636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Figur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A1A7EB-3577-43FD-9B2D-BCEA4F83C945}"/>
              </a:ext>
            </a:extLst>
          </p:cNvPr>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15460288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8EB49-10B0-434E-B9A9-AEEABF0BE468}"/>
              </a:ext>
            </a:extLst>
          </p:cNvPr>
          <p:cNvSpPr>
            <a:spLocks noGrp="1"/>
          </p:cNvSpPr>
          <p:nvPr>
            <p:ph type="title"/>
          </p:nvPr>
        </p:nvSpPr>
        <p:spPr/>
        <p:txBody>
          <a:bodyPr/>
          <a:lstStyle/>
          <a:p>
            <a:r>
              <a:rPr lang="en-US"/>
              <a:t>Click to edit Master title style</a:t>
            </a:r>
          </a:p>
        </p:txBody>
      </p:sp>
      <p:sp>
        <p:nvSpPr>
          <p:cNvPr id="4" name="Table Placeholder 3">
            <a:extLst>
              <a:ext uri="{FF2B5EF4-FFF2-40B4-BE49-F238E27FC236}">
                <a16:creationId xmlns:a16="http://schemas.microsoft.com/office/drawing/2014/main" id="{143F8EF5-4C16-48DE-A586-E7CCF94F9F03}"/>
              </a:ext>
            </a:extLst>
          </p:cNvPr>
          <p:cNvSpPr>
            <a:spLocks noGrp="1"/>
          </p:cNvSpPr>
          <p:nvPr>
            <p:ph type="tbl" sz="quarter" idx="10"/>
          </p:nvPr>
        </p:nvSpPr>
        <p:spPr>
          <a:xfrm>
            <a:off x="1366838" y="808037"/>
            <a:ext cx="9759950" cy="5045832"/>
          </a:xfrm>
        </p:spPr>
        <p:txBody>
          <a:bodyPr rtlCol="0">
            <a:normAutofit/>
          </a:bodyPr>
          <a:lstStyle/>
          <a:p>
            <a:pPr lvl="0"/>
            <a:endParaRPr lang="en-US" noProof="0"/>
          </a:p>
        </p:txBody>
      </p:sp>
      <p:sp>
        <p:nvSpPr>
          <p:cNvPr id="6" name="Text Placeholder 5">
            <a:extLst>
              <a:ext uri="{FF2B5EF4-FFF2-40B4-BE49-F238E27FC236}">
                <a16:creationId xmlns:a16="http://schemas.microsoft.com/office/drawing/2014/main" id="{F24482F5-5C68-40F1-BAC8-3387D676EB94}"/>
              </a:ext>
            </a:extLst>
          </p:cNvPr>
          <p:cNvSpPr>
            <a:spLocks noGrp="1"/>
          </p:cNvSpPr>
          <p:nvPr>
            <p:ph type="body" sz="quarter" idx="11"/>
          </p:nvPr>
        </p:nvSpPr>
        <p:spPr>
          <a:xfrm>
            <a:off x="1366838" y="5973510"/>
            <a:ext cx="9759950" cy="503490"/>
          </a:xfrm>
        </p:spPr>
        <p:txBody>
          <a:bodyPr>
            <a:noAutofit/>
          </a:bodyPr>
          <a:lstStyle>
            <a:lvl1pPr marL="0" indent="0">
              <a:buNone/>
              <a:defRPr sz="1400"/>
            </a:lvl1pPr>
            <a:lvl2pPr marL="457200" indent="0">
              <a:buNone/>
              <a:defRPr/>
            </a:lvl2pPr>
            <a:lvl3pPr marL="914400" indent="0">
              <a:buNone/>
              <a:defRPr/>
            </a:lvl3pPr>
            <a:lvl4pPr marL="1371600" indent="0">
              <a:buNone/>
              <a:defRPr/>
            </a:lvl4pPr>
            <a:lvl5pPr marL="1828800" indent="0">
              <a:buNone/>
              <a:defRPr/>
            </a:lvl5pPr>
          </a:lstStyle>
          <a:p>
            <a:pPr lvl="0"/>
            <a:r>
              <a:rPr lang="en-US" dirty="0"/>
              <a:t>Edit Master text styles</a:t>
            </a:r>
          </a:p>
        </p:txBody>
      </p:sp>
    </p:spTree>
    <p:extLst>
      <p:ext uri="{BB962C8B-B14F-4D97-AF65-F5344CB8AC3E}">
        <p14:creationId xmlns:p14="http://schemas.microsoft.com/office/powerpoint/2010/main" val="40344273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11/22/2024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523572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6"/>
          <p:cNvPicPr>
            <a:picLocks noChangeAspect="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1588" y="3175"/>
            <a:ext cx="12190412"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Title Placeholder 1"/>
          <p:cNvSpPr>
            <a:spLocks noGrp="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1028" name="Text Placeholder 2"/>
          <p:cNvSpPr>
            <a:spLocks noGrp="1"/>
          </p:cNvSpPr>
          <p:nvPr>
            <p:ph type="body" idx="1"/>
          </p:nvPr>
        </p:nvSpPr>
        <p:spPr bwMode="auto">
          <a:xfrm>
            <a:off x="609600" y="1600200"/>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0"/>
            <a:r>
              <a:rPr lang="en-US" altLang="en-US" smtClean="0"/>
              <a:t>Click to edit Master text styles</a:t>
            </a:r>
          </a:p>
        </p:txBody>
      </p:sp>
      <p:sp>
        <p:nvSpPr>
          <p:cNvPr id="9" name="TextBox 8"/>
          <p:cNvSpPr txBox="1">
            <a:spLocks noChangeArrowheads="1"/>
          </p:cNvSpPr>
          <p:nvPr userDrawn="1"/>
        </p:nvSpPr>
        <p:spPr bwMode="auto">
          <a:xfrm>
            <a:off x="10363200" y="6605588"/>
            <a:ext cx="1827213" cy="246062"/>
          </a:xfrm>
          <a:prstGeom prst="rect">
            <a:avLst/>
          </a:prstGeom>
          <a:noFill/>
          <a:ln>
            <a:noFill/>
          </a:ln>
        </p:spPr>
        <p:txBody>
          <a:bodyPr wrap="none">
            <a:spAutoFit/>
          </a:bodyPr>
          <a:lstStyle>
            <a:lvl1pPr>
              <a:defRPr sz="2400" b="1">
                <a:solidFill>
                  <a:schemeClr val="bg2"/>
                </a:solidFill>
                <a:latin typeface="Times New Roman" panose="02020603050405020304" pitchFamily="18" charset="0"/>
                <a:ea typeface="ＭＳ Ｐゴシック" panose="020B0600070205080204" pitchFamily="34" charset="-128"/>
              </a:defRPr>
            </a:lvl1pPr>
            <a:lvl2pPr marL="742950" indent="-285750">
              <a:defRPr sz="2400" b="1">
                <a:solidFill>
                  <a:schemeClr val="bg2"/>
                </a:solidFill>
                <a:latin typeface="Times New Roman" panose="02020603050405020304" pitchFamily="18" charset="0"/>
                <a:ea typeface="ＭＳ Ｐゴシック" panose="020B0600070205080204" pitchFamily="34" charset="-128"/>
              </a:defRPr>
            </a:lvl2pPr>
            <a:lvl3pPr marL="1143000" indent="-228600">
              <a:defRPr sz="2400" b="1">
                <a:solidFill>
                  <a:schemeClr val="bg2"/>
                </a:solidFill>
                <a:latin typeface="Times New Roman" panose="02020603050405020304" pitchFamily="18" charset="0"/>
                <a:ea typeface="ＭＳ Ｐゴシック" panose="020B0600070205080204" pitchFamily="34" charset="-128"/>
              </a:defRPr>
            </a:lvl3pPr>
            <a:lvl4pPr marL="1600200" indent="-228600">
              <a:defRPr sz="2400" b="1">
                <a:solidFill>
                  <a:schemeClr val="bg2"/>
                </a:solidFill>
                <a:latin typeface="Times New Roman" panose="02020603050405020304" pitchFamily="18" charset="0"/>
                <a:ea typeface="ＭＳ Ｐゴシック" panose="020B0600070205080204" pitchFamily="34" charset="-128"/>
              </a:defRPr>
            </a:lvl4pPr>
            <a:lvl5pPr marL="2057400" indent="-228600">
              <a:defRPr sz="2400" b="1">
                <a:solidFill>
                  <a:schemeClr val="bg2"/>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bg2"/>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bg2"/>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bg2"/>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bg2"/>
                </a:solidFill>
                <a:latin typeface="Times New Roman" panose="02020603050405020304" pitchFamily="18" charset="0"/>
                <a:ea typeface="ＭＳ Ｐゴシック" panose="020B0600070205080204" pitchFamily="34" charset="-128"/>
              </a:defRPr>
            </a:lvl9pPr>
          </a:lstStyle>
          <a:p>
            <a:pPr algn="r" eaLnBrk="1" fontAlgn="auto" hangingPunct="1">
              <a:spcBef>
                <a:spcPts val="0"/>
              </a:spcBef>
              <a:spcAft>
                <a:spcPts val="0"/>
              </a:spcAft>
              <a:defRPr/>
            </a:pPr>
            <a:r>
              <a:rPr lang="en-US" altLang="en-US" sz="1000" b="0" dirty="0">
                <a:solidFill>
                  <a:schemeClr val="tx1"/>
                </a:solidFill>
                <a:latin typeface="+mj-lt"/>
                <a:cs typeface="Arial" panose="020B0604020202020204" pitchFamily="34" charset="0"/>
              </a:rPr>
              <a:t>© </a:t>
            </a:r>
            <a:r>
              <a:rPr lang="en-US" altLang="en-US" sz="1000" b="0" dirty="0" smtClean="0">
                <a:solidFill>
                  <a:schemeClr val="tx1"/>
                </a:solidFill>
                <a:latin typeface="+mj-lt"/>
                <a:cs typeface="Arial" panose="020B0604020202020204" pitchFamily="34" charset="0"/>
              </a:rPr>
              <a:t>2024 </a:t>
            </a:r>
            <a:r>
              <a:rPr lang="en-US" altLang="en-US" sz="1000" b="0" dirty="0">
                <a:solidFill>
                  <a:schemeClr val="tx1"/>
                </a:solidFill>
                <a:latin typeface="+mj-lt"/>
                <a:cs typeface="Arial" panose="020B0604020202020204" pitchFamily="34" charset="0"/>
              </a:rPr>
              <a:t>Oxford University Press</a:t>
            </a:r>
          </a:p>
        </p:txBody>
      </p:sp>
    </p:spTree>
  </p:cSld>
  <p:clrMap bg1="lt1" tx1="dk1" bg2="lt2" tx2="dk2" accent1="accent1" accent2="accent2" accent3="accent3" accent4="accent4" accent5="accent5" accent6="accent6" hlink="hlink" folHlink="folHlink"/>
  <p:sldLayoutIdLst>
    <p:sldLayoutId id="2147483692" r:id="rId1"/>
    <p:sldLayoutId id="2147483687" r:id="rId2"/>
    <p:sldLayoutId id="2147483688" r:id="rId3"/>
    <p:sldLayoutId id="2147483689" r:id="rId4"/>
  </p:sldLayoutIdLst>
  <p:txStyles>
    <p:titleStyle>
      <a:lvl1pPr algn="ctr" rtl="0" eaLnBrk="0" fontAlgn="base" hangingPunct="0">
        <a:spcBef>
          <a:spcPct val="0"/>
        </a:spcBef>
        <a:spcAft>
          <a:spcPct val="0"/>
        </a:spcAft>
        <a:defRPr sz="3600" kern="1200">
          <a:solidFill>
            <a:schemeClr val="tx2"/>
          </a:solidFill>
          <a:latin typeface="+mj-lt"/>
          <a:ea typeface="+mj-ea"/>
          <a:cs typeface="+mj-cs"/>
        </a:defRPr>
      </a:lvl1pPr>
      <a:lvl2pPr algn="ctr" rtl="0" eaLnBrk="0" fontAlgn="base" hangingPunct="0">
        <a:spcBef>
          <a:spcPct val="0"/>
        </a:spcBef>
        <a:spcAft>
          <a:spcPct val="0"/>
        </a:spcAft>
        <a:defRPr sz="3600">
          <a:solidFill>
            <a:schemeClr val="tx2"/>
          </a:solidFill>
          <a:latin typeface="Calibri" panose="020F0502020204030204" pitchFamily="34" charset="0"/>
        </a:defRPr>
      </a:lvl2pPr>
      <a:lvl3pPr algn="ctr" rtl="0" eaLnBrk="0" fontAlgn="base" hangingPunct="0">
        <a:spcBef>
          <a:spcPct val="0"/>
        </a:spcBef>
        <a:spcAft>
          <a:spcPct val="0"/>
        </a:spcAft>
        <a:defRPr sz="3600">
          <a:solidFill>
            <a:schemeClr val="tx2"/>
          </a:solidFill>
          <a:latin typeface="Calibri" panose="020F0502020204030204" pitchFamily="34" charset="0"/>
        </a:defRPr>
      </a:lvl3pPr>
      <a:lvl4pPr algn="ctr" rtl="0" eaLnBrk="0" fontAlgn="base" hangingPunct="0">
        <a:spcBef>
          <a:spcPct val="0"/>
        </a:spcBef>
        <a:spcAft>
          <a:spcPct val="0"/>
        </a:spcAft>
        <a:defRPr sz="3600">
          <a:solidFill>
            <a:schemeClr val="tx2"/>
          </a:solidFill>
          <a:latin typeface="Calibri" panose="020F0502020204030204" pitchFamily="34" charset="0"/>
        </a:defRPr>
      </a:lvl4pPr>
      <a:lvl5pPr algn="ctr" rtl="0" eaLnBrk="0" fontAlgn="base" hangingPunct="0">
        <a:spcBef>
          <a:spcPct val="0"/>
        </a:spcBef>
        <a:spcAft>
          <a:spcPct val="0"/>
        </a:spcAft>
        <a:defRPr sz="3600">
          <a:solidFill>
            <a:schemeClr val="tx2"/>
          </a:solidFill>
          <a:latin typeface="Calibri" panose="020F0502020204030204" pitchFamily="34" charset="0"/>
        </a:defRPr>
      </a:lvl5pPr>
      <a:lvl6pPr marL="457200" algn="ctr" rtl="0" fontAlgn="base">
        <a:spcBef>
          <a:spcPct val="0"/>
        </a:spcBef>
        <a:spcAft>
          <a:spcPct val="0"/>
        </a:spcAft>
        <a:defRPr sz="3600">
          <a:solidFill>
            <a:schemeClr val="tx2"/>
          </a:solidFill>
          <a:latin typeface="Calibri" panose="020F0502020204030204" pitchFamily="34" charset="0"/>
        </a:defRPr>
      </a:lvl6pPr>
      <a:lvl7pPr marL="914400" algn="ctr" rtl="0" fontAlgn="base">
        <a:spcBef>
          <a:spcPct val="0"/>
        </a:spcBef>
        <a:spcAft>
          <a:spcPct val="0"/>
        </a:spcAft>
        <a:defRPr sz="3600">
          <a:solidFill>
            <a:schemeClr val="tx2"/>
          </a:solidFill>
          <a:latin typeface="Calibri" panose="020F0502020204030204" pitchFamily="34" charset="0"/>
        </a:defRPr>
      </a:lvl7pPr>
      <a:lvl8pPr marL="1371600" algn="ctr" rtl="0" fontAlgn="base">
        <a:spcBef>
          <a:spcPct val="0"/>
        </a:spcBef>
        <a:spcAft>
          <a:spcPct val="0"/>
        </a:spcAft>
        <a:defRPr sz="3600">
          <a:solidFill>
            <a:schemeClr val="tx2"/>
          </a:solidFill>
          <a:latin typeface="Calibri" panose="020F0502020204030204" pitchFamily="34" charset="0"/>
        </a:defRPr>
      </a:lvl8pPr>
      <a:lvl9pPr marL="1828800" algn="ctr" rtl="0" fontAlgn="base">
        <a:spcBef>
          <a:spcPct val="0"/>
        </a:spcBef>
        <a:spcAft>
          <a:spcPct val="0"/>
        </a:spcAft>
        <a:defRPr sz="3600">
          <a:solidFill>
            <a:schemeClr val="tx2"/>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0" y="0"/>
            <a:ext cx="12192000" cy="369888"/>
          </a:xfrm>
          <a:prstGeom prst="rect">
            <a:avLst/>
          </a:prstGeom>
          <a:solidFill>
            <a:srgbClr val="001A4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lvl="0"/>
            <a:r>
              <a:rPr lang="en-US" altLang="en-US" smtClean="0"/>
              <a:t>Click to edit Master title style</a:t>
            </a:r>
          </a:p>
        </p:txBody>
      </p:sp>
      <p:sp>
        <p:nvSpPr>
          <p:cNvPr id="2051" name="Text Placeholder 3"/>
          <p:cNvSpPr>
            <a:spLocks noGrp="1"/>
          </p:cNvSpPr>
          <p:nvPr>
            <p:ph type="body" idx="1"/>
          </p:nvPr>
        </p:nvSpPr>
        <p:spPr bwMode="auto">
          <a:xfrm>
            <a:off x="838200" y="952500"/>
            <a:ext cx="10515600" cy="522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6" name="TextBox 5">
            <a:extLst>
              <a:ext uri="{FF2B5EF4-FFF2-40B4-BE49-F238E27FC236}">
                <a16:creationId xmlns:a16="http://schemas.microsoft.com/office/drawing/2014/main" id="{B9A352A1-3B59-4F46-8B27-7104614BE002}"/>
              </a:ext>
            </a:extLst>
          </p:cNvPr>
          <p:cNvSpPr txBox="1">
            <a:spLocks noChangeArrowheads="1"/>
          </p:cNvSpPr>
          <p:nvPr userDrawn="1"/>
        </p:nvSpPr>
        <p:spPr bwMode="auto">
          <a:xfrm>
            <a:off x="10363200" y="6605588"/>
            <a:ext cx="1827213" cy="246062"/>
          </a:xfrm>
          <a:prstGeom prst="rect">
            <a:avLst/>
          </a:prstGeom>
          <a:noFill/>
          <a:ln>
            <a:noFill/>
          </a:ln>
        </p:spPr>
        <p:txBody>
          <a:bodyPr wrap="none">
            <a:spAutoFit/>
          </a:bodyPr>
          <a:lstStyle>
            <a:lvl1pPr>
              <a:defRPr sz="2400" b="1">
                <a:solidFill>
                  <a:schemeClr val="bg2"/>
                </a:solidFill>
                <a:latin typeface="Times New Roman" panose="02020603050405020304" pitchFamily="18" charset="0"/>
                <a:ea typeface="ＭＳ Ｐゴシック" panose="020B0600070205080204" pitchFamily="34" charset="-128"/>
              </a:defRPr>
            </a:lvl1pPr>
            <a:lvl2pPr marL="742950" indent="-285750">
              <a:defRPr sz="2400" b="1">
                <a:solidFill>
                  <a:schemeClr val="bg2"/>
                </a:solidFill>
                <a:latin typeface="Times New Roman" panose="02020603050405020304" pitchFamily="18" charset="0"/>
                <a:ea typeface="ＭＳ Ｐゴシック" panose="020B0600070205080204" pitchFamily="34" charset="-128"/>
              </a:defRPr>
            </a:lvl2pPr>
            <a:lvl3pPr marL="1143000" indent="-228600">
              <a:defRPr sz="2400" b="1">
                <a:solidFill>
                  <a:schemeClr val="bg2"/>
                </a:solidFill>
                <a:latin typeface="Times New Roman" panose="02020603050405020304" pitchFamily="18" charset="0"/>
                <a:ea typeface="ＭＳ Ｐゴシック" panose="020B0600070205080204" pitchFamily="34" charset="-128"/>
              </a:defRPr>
            </a:lvl3pPr>
            <a:lvl4pPr marL="1600200" indent="-228600">
              <a:defRPr sz="2400" b="1">
                <a:solidFill>
                  <a:schemeClr val="bg2"/>
                </a:solidFill>
                <a:latin typeface="Times New Roman" panose="02020603050405020304" pitchFamily="18" charset="0"/>
                <a:ea typeface="ＭＳ Ｐゴシック" panose="020B0600070205080204" pitchFamily="34" charset="-128"/>
              </a:defRPr>
            </a:lvl4pPr>
            <a:lvl5pPr marL="2057400" indent="-228600">
              <a:defRPr sz="2400" b="1">
                <a:solidFill>
                  <a:schemeClr val="bg2"/>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bg2"/>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bg2"/>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bg2"/>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bg2"/>
                </a:solidFill>
                <a:latin typeface="Times New Roman" panose="02020603050405020304" pitchFamily="18" charset="0"/>
                <a:ea typeface="ＭＳ Ｐゴシック" panose="020B0600070205080204" pitchFamily="34" charset="-128"/>
              </a:defRPr>
            </a:lvl9pPr>
          </a:lstStyle>
          <a:p>
            <a:pPr algn="r" eaLnBrk="1" fontAlgn="auto" hangingPunct="1">
              <a:spcBef>
                <a:spcPts val="0"/>
              </a:spcBef>
              <a:spcAft>
                <a:spcPts val="0"/>
              </a:spcAft>
              <a:defRPr/>
            </a:pPr>
            <a:r>
              <a:rPr lang="en-US" altLang="en-US" sz="1000" b="0" dirty="0">
                <a:solidFill>
                  <a:schemeClr val="tx1"/>
                </a:solidFill>
                <a:latin typeface="+mj-lt"/>
                <a:cs typeface="Arial" panose="020B0604020202020204" pitchFamily="34" charset="0"/>
              </a:rPr>
              <a:t>© </a:t>
            </a:r>
            <a:r>
              <a:rPr lang="en-US" altLang="en-US" sz="1000" b="0" dirty="0" smtClean="0">
                <a:solidFill>
                  <a:schemeClr val="tx1"/>
                </a:solidFill>
                <a:latin typeface="+mj-lt"/>
                <a:cs typeface="Arial" panose="020B0604020202020204" pitchFamily="34" charset="0"/>
              </a:rPr>
              <a:t>2024 </a:t>
            </a:r>
            <a:r>
              <a:rPr lang="en-US" altLang="en-US" sz="1000" b="0" dirty="0">
                <a:solidFill>
                  <a:schemeClr val="tx1"/>
                </a:solidFill>
                <a:latin typeface="+mj-lt"/>
                <a:cs typeface="Arial" panose="020B0604020202020204" pitchFamily="34" charset="0"/>
              </a:rPr>
              <a:t>Oxford University Press</a:t>
            </a:r>
          </a:p>
        </p:txBody>
      </p:sp>
    </p:spTree>
  </p:cSld>
  <p:clrMap bg1="lt1" tx1="dk1" bg2="lt2" tx2="dk2" accent1="accent1" accent2="accent2" accent3="accent3" accent4="accent4" accent5="accent5" accent6="accent6" hlink="hlink" folHlink="folHlink"/>
  <p:sldLayoutIdLst>
    <p:sldLayoutId id="2147483690" r:id="rId1"/>
    <p:sldLayoutId id="2147483691" r:id="rId2"/>
    <p:sldLayoutId id="2147483693" r:id="rId3"/>
  </p:sldLayoutIdLst>
  <p:txStyles>
    <p:titleStyle>
      <a:lvl1pPr algn="l" rtl="0" eaLnBrk="0" fontAlgn="base" hangingPunct="0">
        <a:spcBef>
          <a:spcPct val="0"/>
        </a:spcBef>
        <a:spcAft>
          <a:spcPct val="0"/>
        </a:spcAft>
        <a:defRPr kern="1200">
          <a:solidFill>
            <a:schemeClr val="bg1"/>
          </a:solidFill>
          <a:latin typeface="+mj-lt"/>
          <a:ea typeface="+mj-ea"/>
          <a:cs typeface="+mj-cs"/>
        </a:defRPr>
      </a:lvl1pPr>
      <a:lvl2pPr algn="l" rtl="0" eaLnBrk="0" fontAlgn="base" hangingPunct="0">
        <a:spcBef>
          <a:spcPct val="0"/>
        </a:spcBef>
        <a:spcAft>
          <a:spcPct val="0"/>
        </a:spcAft>
        <a:defRPr>
          <a:solidFill>
            <a:schemeClr val="bg1"/>
          </a:solidFill>
          <a:latin typeface="Calibri" panose="020F0502020204030204" pitchFamily="34" charset="0"/>
        </a:defRPr>
      </a:lvl2pPr>
      <a:lvl3pPr algn="l" rtl="0" eaLnBrk="0" fontAlgn="base" hangingPunct="0">
        <a:spcBef>
          <a:spcPct val="0"/>
        </a:spcBef>
        <a:spcAft>
          <a:spcPct val="0"/>
        </a:spcAft>
        <a:defRPr>
          <a:solidFill>
            <a:schemeClr val="bg1"/>
          </a:solidFill>
          <a:latin typeface="Calibri" panose="020F0502020204030204" pitchFamily="34" charset="0"/>
        </a:defRPr>
      </a:lvl3pPr>
      <a:lvl4pPr algn="l" rtl="0" eaLnBrk="0" fontAlgn="base" hangingPunct="0">
        <a:spcBef>
          <a:spcPct val="0"/>
        </a:spcBef>
        <a:spcAft>
          <a:spcPct val="0"/>
        </a:spcAft>
        <a:defRPr>
          <a:solidFill>
            <a:schemeClr val="bg1"/>
          </a:solidFill>
          <a:latin typeface="Calibri" panose="020F0502020204030204" pitchFamily="34" charset="0"/>
        </a:defRPr>
      </a:lvl4pPr>
      <a:lvl5pPr algn="l" rtl="0" eaLnBrk="0" fontAlgn="base" hangingPunct="0">
        <a:spcBef>
          <a:spcPct val="0"/>
        </a:spcBef>
        <a:spcAft>
          <a:spcPct val="0"/>
        </a:spcAft>
        <a:defRPr>
          <a:solidFill>
            <a:schemeClr val="bg1"/>
          </a:solidFill>
          <a:latin typeface="Calibri" panose="020F0502020204030204" pitchFamily="34" charset="0"/>
        </a:defRPr>
      </a:lvl5pPr>
      <a:lvl6pPr marL="457200" algn="l" rtl="0" fontAlgn="base">
        <a:spcBef>
          <a:spcPct val="0"/>
        </a:spcBef>
        <a:spcAft>
          <a:spcPct val="0"/>
        </a:spcAft>
        <a:defRPr>
          <a:solidFill>
            <a:schemeClr val="bg1"/>
          </a:solidFill>
          <a:latin typeface="Calibri" panose="020F0502020204030204" pitchFamily="34" charset="0"/>
        </a:defRPr>
      </a:lvl6pPr>
      <a:lvl7pPr marL="914400" algn="l" rtl="0" fontAlgn="base">
        <a:spcBef>
          <a:spcPct val="0"/>
        </a:spcBef>
        <a:spcAft>
          <a:spcPct val="0"/>
        </a:spcAft>
        <a:defRPr>
          <a:solidFill>
            <a:schemeClr val="bg1"/>
          </a:solidFill>
          <a:latin typeface="Calibri" panose="020F0502020204030204" pitchFamily="34" charset="0"/>
        </a:defRPr>
      </a:lvl7pPr>
      <a:lvl8pPr marL="1371600" algn="l" rtl="0" fontAlgn="base">
        <a:spcBef>
          <a:spcPct val="0"/>
        </a:spcBef>
        <a:spcAft>
          <a:spcPct val="0"/>
        </a:spcAft>
        <a:defRPr>
          <a:solidFill>
            <a:schemeClr val="bg1"/>
          </a:solidFill>
          <a:latin typeface="Calibri" panose="020F0502020204030204" pitchFamily="34" charset="0"/>
        </a:defRPr>
      </a:lvl8pPr>
      <a:lvl9pPr marL="1828800" algn="l" rtl="0" fontAlgn="base">
        <a:spcBef>
          <a:spcPct val="0"/>
        </a:spcBef>
        <a:spcAft>
          <a:spcPct val="0"/>
        </a:spcAft>
        <a:defRPr>
          <a:solidFill>
            <a:schemeClr val="bg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3"/>
          <p:cNvSpPr>
            <a:spLocks noGrp="1"/>
          </p:cNvSpPr>
          <p:nvPr>
            <p:ph type="title"/>
          </p:nvPr>
        </p:nvSpPr>
        <p:spPr>
          <a:xfrm>
            <a:off x="439738" y="585788"/>
            <a:ext cx="11317287" cy="593017"/>
          </a:xfrm>
        </p:spPr>
        <p:txBody>
          <a:bodyPr>
            <a:noAutofit/>
          </a:bodyPr>
          <a:lstStyle/>
          <a:p>
            <a:pPr eaLnBrk="1" hangingPunct="1"/>
            <a:r>
              <a:rPr lang="en-US" altLang="en-US" sz="3500" dirty="0"/>
              <a:t>CONSERVATION </a:t>
            </a:r>
            <a:r>
              <a:rPr lang="en-US" altLang="en-US" sz="3500" dirty="0" smtClean="0"/>
              <a:t>BIOLOGY</a:t>
            </a:r>
            <a:endParaRPr lang="en-IN" altLang="en-US" sz="2600" dirty="0" smtClean="0"/>
          </a:p>
        </p:txBody>
      </p:sp>
      <p:sp>
        <p:nvSpPr>
          <p:cNvPr id="6147" name="Text Placeholder 5"/>
          <p:cNvSpPr>
            <a:spLocks noGrp="1"/>
          </p:cNvSpPr>
          <p:nvPr>
            <p:ph type="body" sz="quarter" idx="11"/>
          </p:nvPr>
        </p:nvSpPr>
        <p:spPr>
          <a:xfrm>
            <a:off x="450850" y="1178805"/>
            <a:ext cx="11317288" cy="450850"/>
          </a:xfrm>
        </p:spPr>
        <p:txBody>
          <a:bodyPr/>
          <a:lstStyle/>
          <a:p>
            <a:pPr eaLnBrk="1" hangingPunct="1"/>
            <a:r>
              <a:rPr lang="en-US" altLang="en-US" kern="1000" dirty="0" smtClean="0"/>
              <a:t>By </a:t>
            </a:r>
            <a:r>
              <a:rPr lang="en-US" altLang="en-US" kern="1000" dirty="0"/>
              <a:t>Bradley J. </a:t>
            </a:r>
            <a:r>
              <a:rPr lang="en-US" altLang="en-US" kern="1000" dirty="0" err="1"/>
              <a:t>Cardinale</a:t>
            </a:r>
            <a:r>
              <a:rPr lang="de-DE" dirty="0" smtClean="0"/>
              <a:t> and </a:t>
            </a:r>
            <a:r>
              <a:rPr lang="de-DE" dirty="0"/>
              <a:t>James D. Murdoch</a:t>
            </a:r>
            <a:endParaRPr lang="en-IN" altLang="en-US" kern="1000" dirty="0" smtClean="0"/>
          </a:p>
        </p:txBody>
      </p:sp>
      <p:pic>
        <p:nvPicPr>
          <p:cNvPr id="3" name="Picture 2" title="Cove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08482" y="1762127"/>
            <a:ext cx="3775037" cy="483204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N" dirty="0" smtClean="0"/>
              <a:t>2</a:t>
            </a:r>
            <a:endParaRPr lang="en-IN" dirty="0"/>
          </a:p>
        </p:txBody>
      </p:sp>
      <p:pic>
        <p:nvPicPr>
          <p:cNvPr id="2" name="Picture 1" descr="Four Ethiopian wolfs stand on the sand.&#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3907" y="1014225"/>
            <a:ext cx="6104186" cy="4829550"/>
          </a:xfrm>
          <a:prstGeom prst="rect">
            <a:avLst/>
          </a:prstGeom>
        </p:spPr>
      </p:pic>
    </p:spTree>
    <p:extLst>
      <p:ext uri="{BB962C8B-B14F-4D97-AF65-F5344CB8AC3E}">
        <p14:creationId xmlns:p14="http://schemas.microsoft.com/office/powerpoint/2010/main" val="1162091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N" dirty="0" smtClean="0"/>
              <a:t>3</a:t>
            </a:r>
            <a:endParaRPr lang="en-IN" dirty="0"/>
          </a:p>
        </p:txBody>
      </p:sp>
      <p:pic>
        <p:nvPicPr>
          <p:cNvPr id="2" name="Picture 1" descr="A photo shows the island fox. A map highlights the five Counties of Southern California. The Counties are Santa Barbara County, Ventura County, Los Angeles County, Orange County, and San Diego County. The island foxes on the following islands. San Miguel Island: San Miguel Island fox. Santa Rosa Island: Santa Rosa Island fox. Santa Cruz Island: Santa Cruz Island fox. Anacapa Island. Santa Barbara Island. San Nicholas Island: San Nicholas Island fox. San Catalina Island: Santa Catalina Island fox. San Clemente Island: San Clemente Island fox.&#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58435" y="732129"/>
            <a:ext cx="6675130" cy="5393742"/>
          </a:xfrm>
          <a:prstGeom prst="rect">
            <a:avLst/>
          </a:prstGeom>
        </p:spPr>
      </p:pic>
    </p:spTree>
    <p:extLst>
      <p:ext uri="{BB962C8B-B14F-4D97-AF65-F5344CB8AC3E}">
        <p14:creationId xmlns:p14="http://schemas.microsoft.com/office/powerpoint/2010/main" val="20224108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N" dirty="0" smtClean="0"/>
              <a:t>4</a:t>
            </a:r>
            <a:endParaRPr lang="en-IN" dirty="0"/>
          </a:p>
        </p:txBody>
      </p:sp>
      <p:pic>
        <p:nvPicPr>
          <p:cNvPr id="2" name="Picture 1" descr="Four line graphs illustrate the population estimates of island foxes on four of California’s channel Islands.  The graphs plot the number of foxes versus years. San Miguel: The line begins at 320 in 1993 falls to 0 in 2000 and rises to 600 in 2014. Santa Cruz: The line starts at 1400 in 1996, falls to 0 in 2000, and slowly increases to 1800 in 2013. Santa Rosa: The line begins at 1600 in 1996, falls to 0 in 1998, and slowly rises to 1000 in 2013. Santa Catalina: The line starts at 1200 in 1996, decreases to 50 in 2000, and gradually increases to 1800 in 2013.&#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9849" y="627897"/>
            <a:ext cx="3032303" cy="5910682"/>
          </a:xfrm>
          <a:prstGeom prst="rect">
            <a:avLst/>
          </a:prstGeom>
        </p:spPr>
      </p:pic>
    </p:spTree>
    <p:extLst>
      <p:ext uri="{BB962C8B-B14F-4D97-AF65-F5344CB8AC3E}">
        <p14:creationId xmlns:p14="http://schemas.microsoft.com/office/powerpoint/2010/main" val="31237179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0"/>
            <a:ext cx="12192000" cy="646331"/>
          </a:xfrm>
        </p:spPr>
        <p:txBody>
          <a:bodyPr/>
          <a:lstStyle/>
          <a:p>
            <a:r>
              <a:rPr lang="en-US" b="1" dirty="0"/>
              <a:t>Figure 13.1 </a:t>
            </a:r>
            <a:r>
              <a:rPr lang="en-US" dirty="0"/>
              <a:t>Population changes in Spanish imperial </a:t>
            </a:r>
            <a:r>
              <a:rPr lang="en-IN" dirty="0"/>
              <a:t>eagles (</a:t>
            </a:r>
            <a:r>
              <a:rPr lang="en-IN" i="1" dirty="0"/>
              <a:t>Aquila </a:t>
            </a:r>
            <a:r>
              <a:rPr lang="en-IN" i="1" dirty="0" err="1"/>
              <a:t>adalberti</a:t>
            </a:r>
            <a:r>
              <a:rPr lang="en-IN" dirty="0"/>
              <a:t>). Small population size </a:t>
            </a:r>
            <a:r>
              <a:rPr lang="en-US" dirty="0"/>
              <a:t>resulted in changes in the sex ratio of eagles in the population partly due to demographic </a:t>
            </a:r>
            <a:r>
              <a:rPr lang="en-US" dirty="0" err="1"/>
              <a:t>stochasticity</a:t>
            </a:r>
            <a:r>
              <a:rPr lang="en-US" dirty="0"/>
              <a:t>. </a:t>
            </a:r>
          </a:p>
        </p:txBody>
      </p:sp>
      <p:pic>
        <p:nvPicPr>
          <p:cNvPr id="2" name="Picture 1" descr="A photo shows the Spanish imperial eagle. A line graph plots the percent of breeders in adult plumage and the sex ratio of nestlings versus years. The percent ranges from 70 to 105, in increments of 5. The sex ratio ranges from 0.0 to 1.0. The year ranges from 1976 to 2011, in increments of 5 years. The line for the percentage follows the decreasing trend. The line begins at 100 in  1976 and ends at 87 in 2011. The line for the sex ratio follows the increasing trend. The line starts at 0.1 in 1983 and ends at 0.55 in 2011. Two lines merged in 1991 represent the mature males start leaving the site. In the year 2003, supplemental feeding began and mature males remains at the site.&#10;" title="Figure 13.1 Population changes in Spanish imperial eagles (Aquila adalberti). Small population size resulted in changes in the sex ratio of eagles in the population partly due to demographic stochasticity. "/>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53410" y="798651"/>
            <a:ext cx="5885180" cy="5521955"/>
          </a:xfrm>
          <a:prstGeom prst="rect">
            <a:avLst/>
          </a:prstGeom>
        </p:spPr>
      </p:pic>
    </p:spTree>
    <p:extLst>
      <p:ext uri="{BB962C8B-B14F-4D97-AF65-F5344CB8AC3E}">
        <p14:creationId xmlns:p14="http://schemas.microsoft.com/office/powerpoint/2010/main" val="39806633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0"/>
            <a:ext cx="12192000" cy="646331"/>
          </a:xfrm>
        </p:spPr>
        <p:txBody>
          <a:bodyPr/>
          <a:lstStyle/>
          <a:p>
            <a:r>
              <a:rPr lang="en-US" b="1" dirty="0"/>
              <a:t>Figure 13.2 </a:t>
            </a:r>
            <a:r>
              <a:rPr lang="en-US" dirty="0"/>
              <a:t>Population size and number of newborn </a:t>
            </a:r>
            <a:r>
              <a:rPr lang="en-US" dirty="0" err="1"/>
              <a:t>Przewalski’s</a:t>
            </a:r>
            <a:r>
              <a:rPr lang="en-US" dirty="0"/>
              <a:t> horse (</a:t>
            </a:r>
            <a:r>
              <a:rPr lang="en-US" i="1" dirty="0" err="1"/>
              <a:t>Equus</a:t>
            </a:r>
            <a:r>
              <a:rPr lang="en-US" i="1" dirty="0"/>
              <a:t> </a:t>
            </a:r>
            <a:r>
              <a:rPr lang="en-US" i="1" dirty="0" err="1"/>
              <a:t>ferus</a:t>
            </a:r>
            <a:r>
              <a:rPr lang="en-US" i="1" dirty="0"/>
              <a:t> </a:t>
            </a:r>
            <a:r>
              <a:rPr lang="en-US" i="1" dirty="0" err="1"/>
              <a:t>przewalskii</a:t>
            </a:r>
            <a:r>
              <a:rPr lang="en-US" dirty="0"/>
              <a:t>) in a reintroduced population in Mongolia. </a:t>
            </a:r>
          </a:p>
        </p:txBody>
      </p:sp>
      <p:pic>
        <p:nvPicPr>
          <p:cNvPr id="2" name="Picture 1" descr="A photo shows six of Przewalski’s horses standing on the grass. A line graph plots the number of Przewalski’s horses versus years. The number ranges from 0 to 140, in increments of 20. The years range from 1992 to 1993 to 2010 to 2011. The line for alive begins at 5 in 1992 to 1993, gradually rises, and ends at 50 in 2010 to 2011. The line for born starts at 0 from 1992 to 1993, increases to 19 from 2000 to 2001, and ends at 0 from 2010 to 2011.&#10;" title="Figure 13.2 Population size and number of newborn Przewalski’s horse (Equus ferus przewalskii) in a reintroduced population in Mongolia. "/>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1196" y="858115"/>
            <a:ext cx="8749609" cy="5426779"/>
          </a:xfrm>
          <a:prstGeom prst="rect">
            <a:avLst/>
          </a:prstGeom>
        </p:spPr>
      </p:pic>
    </p:spTree>
    <p:extLst>
      <p:ext uri="{BB962C8B-B14F-4D97-AF65-F5344CB8AC3E}">
        <p14:creationId xmlns:p14="http://schemas.microsoft.com/office/powerpoint/2010/main" val="28096350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0"/>
            <a:ext cx="12192000" cy="646331"/>
          </a:xfrm>
        </p:spPr>
        <p:txBody>
          <a:bodyPr/>
          <a:lstStyle/>
          <a:p>
            <a:r>
              <a:rPr lang="en-US" b="1" dirty="0"/>
              <a:t>Figure 13.3 </a:t>
            </a:r>
            <a:r>
              <a:rPr lang="en-US" dirty="0"/>
              <a:t>Genetic variability is lost randomly through genetic drift. This graph shows the average percentage of genetic variability remaining after 10 generations in theoretical populations of various effective population </a:t>
            </a:r>
            <a:r>
              <a:rPr lang="en-IN" dirty="0"/>
              <a:t>sizes (</a:t>
            </a:r>
            <a:r>
              <a:rPr lang="en-IN" i="1" dirty="0"/>
              <a:t>N</a:t>
            </a:r>
            <a:r>
              <a:rPr lang="en-IN" i="1" baseline="-25000" dirty="0"/>
              <a:t>e</a:t>
            </a:r>
            <a:r>
              <a:rPr lang="en-IN" dirty="0"/>
              <a:t>).</a:t>
            </a:r>
          </a:p>
        </p:txBody>
      </p:sp>
      <p:pic>
        <p:nvPicPr>
          <p:cNvPr id="2" name="Picture 1" descr="A plot cum line graph of the Amount of genetic variability remaining in percentage versus Generation. The five lines under Small populations are labelled N subscript e equals 10, 5, 3, 2, and 1. They follow a decreasing trend. The three lines under the Large populations are labelled N subscript e equals 1000, 100, and 50. They follow a constant trend. &#10;" title="Figure 13.3 Genetic variability is lost randomly through genetic drift. This graph shows the average percentage of genetic variability remaining after 10 generations in theoretical populations of various effective population sizes (Ne)."/>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81207" y="853377"/>
            <a:ext cx="5229587" cy="5412505"/>
          </a:xfrm>
          <a:prstGeom prst="rect">
            <a:avLst/>
          </a:prstGeom>
        </p:spPr>
      </p:pic>
    </p:spTree>
    <p:extLst>
      <p:ext uri="{BB962C8B-B14F-4D97-AF65-F5344CB8AC3E}">
        <p14:creationId xmlns:p14="http://schemas.microsoft.com/office/powerpoint/2010/main" val="13067298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0"/>
            <a:ext cx="12192000" cy="646331"/>
          </a:xfrm>
        </p:spPr>
        <p:txBody>
          <a:bodyPr/>
          <a:lstStyle/>
          <a:p>
            <a:r>
              <a:rPr lang="en-US" b="1" dirty="0"/>
              <a:t>Figure 13.4 </a:t>
            </a:r>
            <a:r>
              <a:rPr lang="en-US" dirty="0"/>
              <a:t>The effective population size (</a:t>
            </a:r>
            <a:r>
              <a:rPr lang="en-US" i="1" dirty="0"/>
              <a:t>N</a:t>
            </a:r>
            <a:r>
              <a:rPr lang="en-US" i="1" baseline="-25000" dirty="0"/>
              <a:t>e</a:t>
            </a:r>
            <a:r>
              <a:rPr lang="en-US" dirty="0"/>
              <a:t>) declines when the number of males and females in a breeding population (</a:t>
            </a:r>
            <a:r>
              <a:rPr lang="en-US" i="1" dirty="0"/>
              <a:t>N</a:t>
            </a:r>
            <a:r>
              <a:rPr lang="en-US" dirty="0"/>
              <a:t>) of 100 individuals is increasingly unequal.</a:t>
            </a:r>
            <a:endParaRPr lang="en-IN" dirty="0"/>
          </a:p>
        </p:txBody>
      </p:sp>
      <p:pic>
        <p:nvPicPr>
          <p:cNvPr id="2" name="Picture 1" descr="A graph shows the relation between the effective population size Ne and ratio of breeding males: females. The horizontal axis shows the ratio of breeding males: females. The vertical axis shows the Effective population size. The data in the format Ratio of breeding male: female- Effective population size is as follows. 50:50- 100, 50 males and 50 females breed. 40:60- 96. 30:70- 84. 20:80-64. 10:90-36, 10 males and 90 females breed. Here, N equals 100.&#10;" title="Figure 13.4 The effective population size (Ne) declines when the number of males and females in a breeding population (N) of 100 individuals is increasingly unequal."/>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67102" y="1135686"/>
            <a:ext cx="6657797" cy="4586629"/>
          </a:xfrm>
          <a:prstGeom prst="rect">
            <a:avLst/>
          </a:prstGeom>
        </p:spPr>
      </p:pic>
    </p:spTree>
    <p:extLst>
      <p:ext uri="{BB962C8B-B14F-4D97-AF65-F5344CB8AC3E}">
        <p14:creationId xmlns:p14="http://schemas.microsoft.com/office/powerpoint/2010/main" val="20763026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0"/>
            <a:ext cx="12192000" cy="646331"/>
          </a:xfrm>
        </p:spPr>
        <p:txBody>
          <a:bodyPr/>
          <a:lstStyle/>
          <a:p>
            <a:r>
              <a:rPr lang="en-US" b="1" dirty="0"/>
              <a:t>Figure 13.5 </a:t>
            </a:r>
            <a:r>
              <a:rPr lang="en-US" dirty="0"/>
              <a:t>The </a:t>
            </a:r>
            <a:r>
              <a:rPr lang="en-US" dirty="0" err="1"/>
              <a:t>Ngorongoro</a:t>
            </a:r>
            <a:r>
              <a:rPr lang="en-US" dirty="0"/>
              <a:t> Crater lion population in Tanzania consisted of about 90 individuals in 1961 before it crashed in </a:t>
            </a:r>
            <a:r>
              <a:rPr lang="en-US" dirty="0" smtClean="0"/>
              <a:t>1962.</a:t>
            </a:r>
            <a:endParaRPr lang="en-US" dirty="0"/>
          </a:p>
        </p:txBody>
      </p:sp>
      <p:pic>
        <p:nvPicPr>
          <p:cNvPr id="2" name="Picture 1" descr="A line graph of the Number of individuals versus Year. The graph plots the values for Total population size and Adult population size. Episode of disease is marked in 1961, between 1992 and 1997, and between 1997 and 2002. Total population size and Adult population size follow a fluctuating trend. A photo of a lion is on the top right corner. &#10;" title="Figure 13.5 The Ngorongoro Crater lion population in Tanzania consisted of about 90 individuals in 1961 before it crashed in 1962. Since that time, the population reached a peak of 125 individuals in 1983 before collapsing to 34 individuals (fewer than 20 of which were adults). Small population size, an isolated location, lack of immigration since 1964, and disease have contributed to the loss of genetic variability caused by a population bottleneck. A lack of census data for certain years is the cause of gaps in the lines. The four vertical bars represent episodes of disease outbreak."/>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62108" y="761129"/>
            <a:ext cx="9467785" cy="5335743"/>
          </a:xfrm>
          <a:prstGeom prst="rect">
            <a:avLst/>
          </a:prstGeom>
        </p:spPr>
      </p:pic>
    </p:spTree>
    <p:extLst>
      <p:ext uri="{BB962C8B-B14F-4D97-AF65-F5344CB8AC3E}">
        <p14:creationId xmlns:p14="http://schemas.microsoft.com/office/powerpoint/2010/main" val="40320774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0"/>
            <a:ext cx="12192000" cy="646331"/>
          </a:xfrm>
        </p:spPr>
        <p:txBody>
          <a:bodyPr/>
          <a:lstStyle/>
          <a:p>
            <a:r>
              <a:rPr lang="en-US" b="1" dirty="0"/>
              <a:t>Figure 13.6 </a:t>
            </a:r>
            <a:r>
              <a:rPr lang="en-US" dirty="0"/>
              <a:t>Once a population drops below a certain size, it can enter an extinction vortex in which the factors that affect small populations tend to drive its size progressively lower. This downward spiral can lead to local </a:t>
            </a:r>
            <a:r>
              <a:rPr lang="en-IN" dirty="0"/>
              <a:t>extinction of the species.</a:t>
            </a:r>
          </a:p>
        </p:txBody>
      </p:sp>
      <p:pic>
        <p:nvPicPr>
          <p:cNvPr id="2" name="Picture 1" descr="A diagram shows the different stages that lead to Extinction. Small population, Inbreeding Genetic drift, Loss of genetic variability, Reduction in individual fitness and population adaptability, High mortality Low reproduction, Smaller population, and Extinction. Human impacts, Demographic stochasticity, Environmental stochasticity are under  Reduction in individual fitness and population adaptability. &#10;" title="Figure 13.6 Once a population drops below a certain size, it can enter an extinction vortex in which the factors that affect small populations tend to drive its size progressively lower. This downward spiral can lead to local extinction of the specie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34501" y="991899"/>
            <a:ext cx="4522998" cy="5325464"/>
          </a:xfrm>
          <a:prstGeom prst="rect">
            <a:avLst/>
          </a:prstGeom>
        </p:spPr>
      </p:pic>
    </p:spTree>
    <p:extLst>
      <p:ext uri="{BB962C8B-B14F-4D97-AF65-F5344CB8AC3E}">
        <p14:creationId xmlns:p14="http://schemas.microsoft.com/office/powerpoint/2010/main" val="38043158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0"/>
            <a:ext cx="12192000" cy="646331"/>
          </a:xfrm>
        </p:spPr>
        <p:txBody>
          <a:bodyPr/>
          <a:lstStyle/>
          <a:p>
            <a:r>
              <a:rPr lang="en-US" b="1" dirty="0"/>
              <a:t>Figure 13.7 </a:t>
            </a:r>
            <a:r>
              <a:rPr lang="en-US" dirty="0"/>
              <a:t>A census of the Hawaiian monk seal (</a:t>
            </a:r>
            <a:r>
              <a:rPr lang="en-US" i="1" dirty="0" err="1"/>
              <a:t>Monachus</a:t>
            </a:r>
            <a:r>
              <a:rPr lang="en-US" i="1" dirty="0"/>
              <a:t> </a:t>
            </a:r>
            <a:r>
              <a:rPr lang="en-US" i="1" dirty="0" err="1"/>
              <a:t>schauinslandi</a:t>
            </a:r>
            <a:r>
              <a:rPr lang="en-US" dirty="0"/>
              <a:t>) populations on Green Island, Kure Atoll; and Tern Island, French Frigate Shoals, revealed that this species was in danger of extinction. </a:t>
            </a:r>
          </a:p>
        </p:txBody>
      </p:sp>
      <p:pic>
        <p:nvPicPr>
          <p:cNvPr id="2" name="Picture 1" descr="A plot cum line graph shows the number of seals versus Year. The graph plots the Mean count, Single count, and Highest count.  Before 1960: Green Island. 1960: Coast Guard station opens. 1979: Coast Guard station closes. After 1980: Tern Island. A photo of a seal in water is on the right. &#10;" title="Figure 13.7 A census of the Hawaiian monk seal (Monachus schauinslandi) populations on Green Island, Kure Atoll; and Tern Island, French Frigate Shoals, revealed that this species was in danger of extinction. "/>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7024" y="1183968"/>
            <a:ext cx="10057952" cy="4490065"/>
          </a:xfrm>
          <a:prstGeom prst="rect">
            <a:avLst/>
          </a:prstGeom>
        </p:spPr>
      </p:pic>
    </p:spTree>
    <p:extLst>
      <p:ext uri="{BB962C8B-B14F-4D97-AF65-F5344CB8AC3E}">
        <p14:creationId xmlns:p14="http://schemas.microsoft.com/office/powerpoint/2010/main" val="22625791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N" dirty="0" smtClean="0"/>
              <a:t>12</a:t>
            </a:r>
            <a:endParaRPr lang="en-IN" dirty="0"/>
          </a:p>
        </p:txBody>
      </p:sp>
      <p:pic>
        <p:nvPicPr>
          <p:cNvPr id="2" name="Picture 1" descr="A stacked bar chart shows Frequency ranging from 0 to 35 at an interval of 5, versus Distance (meter) from 0-10 to 60-70. It plots bars for observed and not observed. A vertical dashed line marked at 36 meters is labeled as Effective strip half-width (micro) = 36.4 meters. The observed frequency decreases from a high of 35 at 0-10 meters to a low of 2 at 60-70 meters. The not observed frequency increases from a low of 0 at 0-10 meters to a high of 35 at 60-70 meters. The values are estimated.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83983" y="1070349"/>
            <a:ext cx="6024035" cy="4717302"/>
          </a:xfrm>
          <a:prstGeom prst="rect">
            <a:avLst/>
          </a:prstGeom>
        </p:spPr>
      </p:pic>
    </p:spTree>
    <p:extLst>
      <p:ext uri="{BB962C8B-B14F-4D97-AF65-F5344CB8AC3E}">
        <p14:creationId xmlns:p14="http://schemas.microsoft.com/office/powerpoint/2010/main" val="27729510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0"/>
            <a:ext cx="12192000" cy="646331"/>
          </a:xfrm>
        </p:spPr>
        <p:txBody>
          <a:bodyPr/>
          <a:lstStyle/>
          <a:p>
            <a:r>
              <a:rPr lang="en-US" b="1" dirty="0"/>
              <a:t>Figure 13.8 </a:t>
            </a:r>
            <a:r>
              <a:rPr lang="en-US" dirty="0"/>
              <a:t>The capture–mark–recapture (CMR) approach to estimating population size. In this case, CMR is used to estimate the population of jerboas (</a:t>
            </a:r>
            <a:r>
              <a:rPr lang="en-US" i="1" dirty="0"/>
              <a:t>N</a:t>
            </a:r>
            <a:r>
              <a:rPr lang="en-US" dirty="0"/>
              <a:t>), which is unknown. </a:t>
            </a:r>
          </a:p>
        </p:txBody>
      </p:sp>
      <p:pic>
        <p:nvPicPr>
          <p:cNvPr id="2" name="Picture 1" descr="A schematic flow chart shows the steps in the capture–mark–recapture approach. The text on the top reads, N: total population size; n 1: total number of animals captured in the first survey; n 2: total number of animals captured in the second survey; m 2: total number of recaptured animals in the second survey. Step 1: Among 40 rats, C M R captures 12 rats, which are highlighted within a square. This points down to Survey 1. Step 2: In Survey 1 (n 1 = 12), all captured animals are marked. This points down to Step 3. Step 3: Among the mixture of 40 marked and unmarked rats, C M R captures 15 rats, highlighted within a square. This points down to Survey 2. Step 4: In Survey 2 (n 2 = 15; m 2 = 4), 4 marked animals are captured. Marked and unmarked animals are differentiated by colors. The equation at the bottom reads, N = (n 1 of n 2) divided by m 2. N = (12 of 15) divided by 4 = 45.      &#10;" title="Figure 13.8 The capture–mark–recapture (CMR) approach to estimating population size. In this case, CMR is used to estimate the population of jerboas (N), which is unknown. Survey 1 captures a proportion of the total (n1) and those animals are marked and released back into the population. "/>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13278" y="768616"/>
            <a:ext cx="3165444" cy="5730342"/>
          </a:xfrm>
          <a:prstGeom prst="rect">
            <a:avLst/>
          </a:prstGeom>
        </p:spPr>
      </p:pic>
    </p:spTree>
    <p:extLst>
      <p:ext uri="{BB962C8B-B14F-4D97-AF65-F5344CB8AC3E}">
        <p14:creationId xmlns:p14="http://schemas.microsoft.com/office/powerpoint/2010/main" val="13523038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N" dirty="0" smtClean="0"/>
              <a:t>14</a:t>
            </a:r>
            <a:endParaRPr lang="en-IN" dirty="0"/>
          </a:p>
        </p:txBody>
      </p:sp>
      <p:pic>
        <p:nvPicPr>
          <p:cNvPr id="2" name="Picture 1" descr="Two women officers are sailing on a boat with a detector dog. All three wear life jackets. One officer is standing in front with the dog, which is tied to a rope. The dog has its front legs on the boat and is looking into the water for whale scat.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90167" y="1229555"/>
            <a:ext cx="6611667" cy="4398890"/>
          </a:xfrm>
          <a:prstGeom prst="rect">
            <a:avLst/>
          </a:prstGeom>
        </p:spPr>
      </p:pic>
    </p:spTree>
    <p:extLst>
      <p:ext uri="{BB962C8B-B14F-4D97-AF65-F5344CB8AC3E}">
        <p14:creationId xmlns:p14="http://schemas.microsoft.com/office/powerpoint/2010/main" val="31855998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0"/>
            <a:ext cx="12192000" cy="369332"/>
          </a:xfrm>
        </p:spPr>
        <p:txBody>
          <a:bodyPr/>
          <a:lstStyle/>
          <a:p>
            <a:r>
              <a:rPr lang="en-US" b="1" dirty="0"/>
              <a:t>Figure 13.9 </a:t>
            </a:r>
            <a:r>
              <a:rPr lang="en-US" dirty="0"/>
              <a:t>Population growth calculated using the geometric growth model (A) and logistic growth </a:t>
            </a:r>
            <a:r>
              <a:rPr lang="en-IN" dirty="0"/>
              <a:t>model </a:t>
            </a:r>
            <a:r>
              <a:rPr lang="en-US" dirty="0"/>
              <a:t>(B). </a:t>
            </a:r>
          </a:p>
        </p:txBody>
      </p:sp>
      <p:pic>
        <p:nvPicPr>
          <p:cNvPr id="2" name="Picture 1" descr="Two graphs A and B show the Population growth calculated using the geometric growth model and logistic growth model. Graph A shows the population size ranging from 0 to 35,000 when calculated by geometric growth. The horizontal axis represents time in year ranging from 0 to 20. Here R equals 0.75. The curve is at 0 for almost half the distance. Following that, the curve rises gradually and reaches the size of 32,000 by the end. Graph B shows the population size ranging from 0 to 60 when calculated by Logistic growth. Here R equals 0.75, and K equals 50. The curve rises initially from 0 to 46 and then stays stable at 47 from year 9 to 20. &#10;" title="Figure 13.9 Population growth calculated using the geometric growth model (A) and logistic growth model (B). "/>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40893" y="589812"/>
            <a:ext cx="5310215" cy="5678377"/>
          </a:xfrm>
          <a:prstGeom prst="rect">
            <a:avLst/>
          </a:prstGeom>
        </p:spPr>
      </p:pic>
    </p:spTree>
    <p:extLst>
      <p:ext uri="{BB962C8B-B14F-4D97-AF65-F5344CB8AC3E}">
        <p14:creationId xmlns:p14="http://schemas.microsoft.com/office/powerpoint/2010/main" val="17428183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0"/>
            <a:ext cx="12192000" cy="369332"/>
          </a:xfrm>
        </p:spPr>
        <p:txBody>
          <a:bodyPr/>
          <a:lstStyle/>
          <a:p>
            <a:r>
              <a:rPr lang="en-US" b="1" dirty="0"/>
              <a:t>Figure 13.10 </a:t>
            </a:r>
            <a:r>
              <a:rPr lang="en-US" dirty="0"/>
              <a:t>Using a Leslie matrix to estimate the size and growth rate of a population when there is age structure. </a:t>
            </a:r>
          </a:p>
        </p:txBody>
      </p:sp>
      <p:pic>
        <p:nvPicPr>
          <p:cNvPr id="2" name="Picture 1" descr="A. A schematic horizontal flow chart shows the steps in new animals born (F) into age class 1 and survival probability (P) to the next age class. From left to right: Age 1 leads to Age 2 of F 2 through P 1. Age 2 leads to Age 3 of F 3 through P 2. Age 3 leads to Age 4 of F 4 through P 3. On the top, the arrows from Age 2, Age 3, and Age 4 lead to Age 1. B. A schematic shows the steps in the mathematical workings of a Leslie matrix. The Leslie matrix representing the fertility rates and survival rates is multiplied with Number this year (t) = Number next year (t+1). Step 1: Matrix of F 1, F 2, F 3, F 4; P 1, 0, 0, 0; 0, P 2, 0, 0; 0, 0, P 3, 0 is multiplied with matrix of n age 1; n age 2; n age 3; n age 4 = n age 1; n age 2; n age 3; n age 4. Step 2: Matrix of 0, 1.0, 1.6, 1.1; 0.7, 0, 0, 0; 0, 0.4, 0, 0; 0, 0, 0.2, 0 is multiplied with matrix of 58; 45; 13; 6 = matrix of n age 1; n age 2; n age 3; n age 4. Step 3: Matrix of (0 of 58) + (1.0 of 45) + (1.6 of 13) + (1.1 of 6); (0.7 of 58) + (0 of 45) + (0 of 13) + (0 of 6); (0 of 58) + (0.4 of 45) + (0 of 13) + (0 of 6); (0 of 58) + (0 of 45) + (0.2 of 13) + (0 of× 6) = matrix of 72; 41; 18; 3. C. Population size and growth rate: Population size, N t + 1 = (72 + 41 + 18 + 3) = 134. Growth rate, lambda t = N t + 1 over N t = (72 + 41 + 18 + 3) over (58 + 45 + 13 + 6) = 1.098.       &#10;" title="Figure 13.10 Using a Leslie matrix to estimate the size and growth rate of a population when there is age structure. "/>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66052" y="552371"/>
            <a:ext cx="3659896" cy="5753258"/>
          </a:xfrm>
          <a:prstGeom prst="rect">
            <a:avLst/>
          </a:prstGeom>
        </p:spPr>
      </p:pic>
    </p:spTree>
    <p:extLst>
      <p:ext uri="{BB962C8B-B14F-4D97-AF65-F5344CB8AC3E}">
        <p14:creationId xmlns:p14="http://schemas.microsoft.com/office/powerpoint/2010/main" val="5789591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0"/>
            <a:ext cx="12192000" cy="646331"/>
          </a:xfrm>
        </p:spPr>
        <p:txBody>
          <a:bodyPr/>
          <a:lstStyle/>
          <a:p>
            <a:r>
              <a:rPr lang="en-US" b="1" dirty="0"/>
              <a:t>Figure 13.11 </a:t>
            </a:r>
            <a:r>
              <a:rPr lang="en-US" dirty="0"/>
              <a:t>A stage-based model of loggerhead turtles (</a:t>
            </a:r>
            <a:r>
              <a:rPr lang="en-US" i="1" dirty="0" err="1"/>
              <a:t>Caretta</a:t>
            </a:r>
            <a:r>
              <a:rPr lang="en-US" i="1" dirty="0"/>
              <a:t> </a:t>
            </a:r>
            <a:r>
              <a:rPr lang="en-US" i="1" dirty="0" err="1"/>
              <a:t>caretta</a:t>
            </a:r>
            <a:r>
              <a:rPr lang="en-US" dirty="0"/>
              <a:t>) was used to simulate of the effects of 10%, 50%, and 90% reductions in mortality on the intrinsic population growth rate (</a:t>
            </a:r>
            <a:r>
              <a:rPr lang="en-US" i="1" dirty="0"/>
              <a:t>r</a:t>
            </a:r>
            <a:r>
              <a:rPr lang="en-US" dirty="0"/>
              <a:t>) of different life stages. </a:t>
            </a:r>
          </a:p>
        </p:txBody>
      </p:sp>
      <p:pic>
        <p:nvPicPr>
          <p:cNvPr id="2" name="Picture 1" descr="Left: A bar chart plots the intrinsic rate of increase ranging from negative 0.050 to 0.060 versus 6 stages. The mortality percentage of negative 10, 50, and 90 in each stage is as follows. Egg or hatchling: Negative 0.050, negative 0.045, and negative 0.040. Small juvenile: Negative 0.045, negative 0.010, and 20. Large juvenile: Negative 0.038, 15, and 60. Sub-adult: Negative 0.045, negative 0.015, and 15. Adult: Negative 0.048, negative 20, and 15. Fecundity: Negative 0.046, negative 0.035, and negative 0.030. Values are estimated. Right: A baby loggerhead turtle swims under water. Nets are beside.&#10;" title="Figure 13.11 A stage-based model of loggerhead turtles (Caretta caretta) was used to simulate of the effects of 10%, 50%, and 90% reductions in mortality on the intrinsic population growth rate (r) of different life stages. "/>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86144" y="1618789"/>
            <a:ext cx="9819712" cy="3620423"/>
          </a:xfrm>
          <a:prstGeom prst="rect">
            <a:avLst/>
          </a:prstGeom>
        </p:spPr>
      </p:pic>
    </p:spTree>
    <p:extLst>
      <p:ext uri="{BB962C8B-B14F-4D97-AF65-F5344CB8AC3E}">
        <p14:creationId xmlns:p14="http://schemas.microsoft.com/office/powerpoint/2010/main" val="13501011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0"/>
            <a:ext cx="12192000" cy="369332"/>
          </a:xfrm>
        </p:spPr>
        <p:txBody>
          <a:bodyPr/>
          <a:lstStyle/>
          <a:p>
            <a:r>
              <a:rPr lang="en-US" b="1" dirty="0"/>
              <a:t>Figure 13.12 </a:t>
            </a:r>
            <a:r>
              <a:rPr lang="en-US" dirty="0"/>
              <a:t>(A) If the goal is persistence for a greater number of years, then a larger minimum viable population size is needed. </a:t>
            </a:r>
          </a:p>
        </p:txBody>
      </p:sp>
      <p:pic>
        <p:nvPicPr>
          <p:cNvPr id="2" name="Picture 1" descr="A.     A line graph plots the minimum viable population size ranging from 100 to 100,000 versus persistence in years from 10 to 1000. The line greater than 90 percent survival begins at 950 follows an upward trend and ends at 100000. The dashed line of 50 percent survival begins at 140 follows an upward trend and ends at 6000. Values are estimated. B. A multiline graph plots the percentage of populations persisting ranging from 0 to 100 versus time from 10 to 50 years. The lines are N equals 101 or more; N equals 51 minus 100; N equals 31 minus 50; N equals 16 minus 30; N equals 15 or less. All the lines follow downward trend. A big horn sheep stands on a rock. It has two big curved horns. It has a patchy discoloration on the tail and the mouth part.&#10;" title="Figure 13.12 (A) If the goal is persistence for a greater number of years, then a larger minimum viable population size is needed. "/>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26058" y="640867"/>
            <a:ext cx="6339884" cy="5576267"/>
          </a:xfrm>
          <a:prstGeom prst="rect">
            <a:avLst/>
          </a:prstGeom>
        </p:spPr>
      </p:pic>
    </p:spTree>
    <p:extLst>
      <p:ext uri="{BB962C8B-B14F-4D97-AF65-F5344CB8AC3E}">
        <p14:creationId xmlns:p14="http://schemas.microsoft.com/office/powerpoint/2010/main" val="15454016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0"/>
            <a:ext cx="12192000" cy="646331"/>
          </a:xfrm>
        </p:spPr>
        <p:txBody>
          <a:bodyPr/>
          <a:lstStyle/>
          <a:p>
            <a:r>
              <a:rPr lang="en-US" b="1" dirty="0"/>
              <a:t>Figure 13.13 </a:t>
            </a:r>
            <a:r>
              <a:rPr lang="en-US" dirty="0"/>
              <a:t>Extinction rates of bird species like the loggerhead shrike, </a:t>
            </a:r>
            <a:r>
              <a:rPr lang="en-US" i="1" dirty="0" err="1"/>
              <a:t>Lanius</a:t>
            </a:r>
            <a:r>
              <a:rPr lang="en-US" i="1" dirty="0"/>
              <a:t> </a:t>
            </a:r>
            <a:r>
              <a:rPr lang="en-US" i="1" dirty="0" err="1"/>
              <a:t>ludovicianus</a:t>
            </a:r>
            <a:r>
              <a:rPr lang="en-US" i="1" dirty="0"/>
              <a:t> </a:t>
            </a:r>
            <a:r>
              <a:rPr lang="en-US" i="1" dirty="0" err="1"/>
              <a:t>anthonyi</a:t>
            </a:r>
            <a:r>
              <a:rPr lang="en-US" dirty="0"/>
              <a:t>, on the Channel Islands of Southern California. </a:t>
            </a:r>
          </a:p>
        </p:txBody>
      </p:sp>
      <p:pic>
        <p:nvPicPr>
          <p:cNvPr id="2" name="Picture 1" descr="A graph shows the extinction rates of bird species loggerhead shrike based on the population size that is number of pairs. A curve is formed from extinction rate of 60 to 1. When the population size is around 1, the rate of extinction is 43. At population size 9, rate of extinction is 30. Population size of 12 has extinction rate 10, Population size of 800 has 5 percent extinction rate. Population of 1200 has 1 percent extinction rate. Population size of 9000 has 1 percent extinction rate. In the inset is a picture of a loggerhead shrike. &#10;" title="Figure 13.13 Extinction rates of bird species like the loggerhead shrike, Lanius ludovicianus anthonyi, on the Channel Islands of Southern California. "/>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04594" y="1051509"/>
            <a:ext cx="6382813" cy="4754983"/>
          </a:xfrm>
          <a:prstGeom prst="rect">
            <a:avLst/>
          </a:prstGeom>
        </p:spPr>
      </p:pic>
    </p:spTree>
    <p:extLst>
      <p:ext uri="{BB962C8B-B14F-4D97-AF65-F5344CB8AC3E}">
        <p14:creationId xmlns:p14="http://schemas.microsoft.com/office/powerpoint/2010/main" val="16595926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0"/>
            <a:ext cx="12192000" cy="646331"/>
          </a:xfrm>
        </p:spPr>
        <p:txBody>
          <a:bodyPr/>
          <a:lstStyle/>
          <a:p>
            <a:r>
              <a:rPr lang="en-US" b="1" dirty="0"/>
              <a:t>Figure 13.14 </a:t>
            </a:r>
            <a:r>
              <a:rPr lang="en-US" dirty="0"/>
              <a:t>Projecting a population forward in a basic population viability analysis using a geometric growth model; each projection is referred to as a trial. </a:t>
            </a:r>
          </a:p>
        </p:txBody>
      </p:sp>
      <p:pic>
        <p:nvPicPr>
          <p:cNvPr id="2" name="Picture 1" descr="A set of three graphs Projects a population forward in a basic PVA using a geometric growth model. The Initial population size equals 100 individuals. Year 1, 2, and 3 shows a bell curve to show the population growth rate in relation with frequency. An arrow from Year 1 graph points to the following, Draw random value, 1.1 times Multiply by Year 0 population size, 100 equals 110. An arrow from Year 2 graph points to the following, Draw random value, 0.9 times Multiply by Year 1 population size, 110 equals 99. An arrow from Year 3 graph points to the following, Draw random value, 1.2 times Multiply by Year 2 population size, 99 equals 119. &#10;" title="Figure 13.14 Projecting a population forward in a basic population viability analysis using a geometric growth model; each projection is referred to as a trial. "/>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98356" y="820798"/>
            <a:ext cx="4195288" cy="5691415"/>
          </a:xfrm>
          <a:prstGeom prst="rect">
            <a:avLst/>
          </a:prstGeom>
        </p:spPr>
      </p:pic>
    </p:spTree>
    <p:extLst>
      <p:ext uri="{BB962C8B-B14F-4D97-AF65-F5344CB8AC3E}">
        <p14:creationId xmlns:p14="http://schemas.microsoft.com/office/powerpoint/2010/main" val="13249824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0"/>
            <a:ext cx="12192000" cy="369332"/>
          </a:xfrm>
        </p:spPr>
        <p:txBody>
          <a:bodyPr/>
          <a:lstStyle/>
          <a:p>
            <a:r>
              <a:rPr lang="en-IN" b="1" dirty="0"/>
              <a:t>Figure 13.15 </a:t>
            </a:r>
            <a:r>
              <a:rPr lang="en-IN" dirty="0"/>
              <a:t>A population viability analysis based on 10 population projections, or trials. </a:t>
            </a:r>
            <a:endParaRPr lang="en-US" dirty="0"/>
          </a:p>
        </p:txBody>
      </p:sp>
      <p:pic>
        <p:nvPicPr>
          <p:cNvPr id="2" name="Picture 1" descr="A graph shows the A population viability analysis based on 10 population projections. The horizontal axis shows the time in year from 0 to 100. The vertical axis shows the population size from 1000 to 7000. In this Population viability analysis 10 trials, λ equals 1.01, SD equals 0.25. There are 10 lines plotted based on different reading. Each coincides with each another. Few stay below 1000 population size, very few go up to 6000. &#10;" title="Figure 13.15 A population viability analysis based on 10 population projections, or trials. "/>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33439" y="1171994"/>
            <a:ext cx="8525122" cy="4514013"/>
          </a:xfrm>
          <a:prstGeom prst="rect">
            <a:avLst/>
          </a:prstGeom>
        </p:spPr>
      </p:pic>
    </p:spTree>
    <p:extLst>
      <p:ext uri="{BB962C8B-B14F-4D97-AF65-F5344CB8AC3E}">
        <p14:creationId xmlns:p14="http://schemas.microsoft.com/office/powerpoint/2010/main" val="7508479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0"/>
            <a:ext cx="12192000" cy="646331"/>
          </a:xfrm>
        </p:spPr>
        <p:txBody>
          <a:bodyPr/>
          <a:lstStyle/>
          <a:p>
            <a:r>
              <a:rPr lang="en-US" b="1" dirty="0"/>
              <a:t>Figure 13.16 </a:t>
            </a:r>
            <a:r>
              <a:rPr lang="en-US" dirty="0"/>
              <a:t>Population viability analyses predict that it takes 100 hectares of habitat to ensure (at 95% likelihood) the persistence of a marsh fritillary butterfly (</a:t>
            </a:r>
            <a:r>
              <a:rPr lang="en-US" i="1" dirty="0" err="1"/>
              <a:t>Euphydryas</a:t>
            </a:r>
            <a:r>
              <a:rPr lang="en-US" i="1" dirty="0"/>
              <a:t> </a:t>
            </a:r>
            <a:r>
              <a:rPr lang="en-US" i="1" dirty="0" err="1"/>
              <a:t>aurinia</a:t>
            </a:r>
            <a:r>
              <a:rPr lang="en-US" dirty="0"/>
              <a:t>) population for 100 years. </a:t>
            </a:r>
          </a:p>
        </p:txBody>
      </p:sp>
      <p:pic>
        <p:nvPicPr>
          <p:cNvPr id="2" name="Picture 1" descr="A dot cum line graph plots the per cent chance population will persist ranges from 0 to 100 versus the amount in habitat in hectare ranges from 0 to 150. The line has an increasing trend. It labels the minimum habitat area necessary for the population to persist for 100 years. The dot and triangle points represent extant and extinct populations. Photo of a butterfly on a flower.&#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69668" y="991598"/>
            <a:ext cx="7452665" cy="4874804"/>
          </a:xfrm>
          <a:prstGeom prst="rect">
            <a:avLst/>
          </a:prstGeom>
        </p:spPr>
      </p:pic>
    </p:spTree>
    <p:extLst>
      <p:ext uri="{BB962C8B-B14F-4D97-AF65-F5344CB8AC3E}">
        <p14:creationId xmlns:p14="http://schemas.microsoft.com/office/powerpoint/2010/main" val="19594455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0"/>
            <a:ext cx="12192000" cy="646331"/>
          </a:xfrm>
        </p:spPr>
        <p:txBody>
          <a:bodyPr/>
          <a:lstStyle/>
          <a:p>
            <a:r>
              <a:rPr lang="en-US" b="1" dirty="0"/>
              <a:t>Figure 13.17 </a:t>
            </a:r>
            <a:r>
              <a:rPr lang="en-US" dirty="0" err="1"/>
              <a:t>PrOACT</a:t>
            </a:r>
            <a:r>
              <a:rPr lang="en-US" dirty="0"/>
              <a:t> is a transparent, data-driven approach to evaluate decisions. </a:t>
            </a:r>
            <a:r>
              <a:rPr lang="en-US" dirty="0" err="1"/>
              <a:t>PrOACT</a:t>
            </a:r>
            <a:r>
              <a:rPr lang="en-US" dirty="0"/>
              <a:t> stands for </a:t>
            </a:r>
            <a:r>
              <a:rPr lang="en-IN" dirty="0"/>
              <a:t>problem, objectives, alternatives, consequences, and </a:t>
            </a:r>
            <a:r>
              <a:rPr lang="en-US" dirty="0"/>
              <a:t>trade-offs. </a:t>
            </a:r>
          </a:p>
        </p:txBody>
      </p:sp>
      <p:pic>
        <p:nvPicPr>
          <p:cNvPr id="2" name="Picture 1" descr="Proact decision-making cycle includes the process of a trigger, problem, objectives, alternatives, consequences, trade-offs, deciding and taking action, monitoring and learning. It points to consequences. Trade-offs point to objectives and alternatives.&#10;" title="Figure 13.17 PrOACT is a transparent, data-driven approach to evaluate decisions. PrOACT stands for problem, objectives, alternatives, consequences, and trade-offs. "/>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76781" y="1085166"/>
            <a:ext cx="5238438" cy="4687669"/>
          </a:xfrm>
          <a:prstGeom prst="rect">
            <a:avLst/>
          </a:prstGeom>
        </p:spPr>
      </p:pic>
    </p:spTree>
    <p:extLst>
      <p:ext uri="{BB962C8B-B14F-4D97-AF65-F5344CB8AC3E}">
        <p14:creationId xmlns:p14="http://schemas.microsoft.com/office/powerpoint/2010/main" val="32681514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title="TABLE 13.1 Results of a decision-making analysis using a framework to evaluate and compare three management alternatives for reducing a potential outbreak of disease in a bighorn sheep populationa"/>
          <p:cNvGraphicFramePr>
            <a:graphicFrameLocks noGrp="1"/>
          </p:cNvGraphicFramePr>
          <p:nvPr>
            <p:extLst>
              <p:ext uri="{D42A27DB-BD31-4B8C-83A1-F6EECF244321}">
                <p14:modId xmlns:p14="http://schemas.microsoft.com/office/powerpoint/2010/main" val="3489121375"/>
              </p:ext>
            </p:extLst>
          </p:nvPr>
        </p:nvGraphicFramePr>
        <p:xfrm>
          <a:off x="1565681" y="1295400"/>
          <a:ext cx="9041125" cy="4047490"/>
        </p:xfrm>
        <a:graphic>
          <a:graphicData uri="http://schemas.openxmlformats.org/drawingml/2006/table">
            <a:tbl>
              <a:tblPr firstRow="1" bandRow="1">
                <a:tableStyleId>{2D5ABB26-0587-4C30-8999-92F81FD0307C}</a:tableStyleId>
              </a:tblPr>
              <a:tblGrid>
                <a:gridCol w="1130935">
                  <a:extLst>
                    <a:ext uri="{9D8B030D-6E8A-4147-A177-3AD203B41FA5}">
                      <a16:colId xmlns:a16="http://schemas.microsoft.com/office/drawing/2014/main" val="20000"/>
                    </a:ext>
                  </a:extLst>
                </a:gridCol>
                <a:gridCol w="1118869">
                  <a:extLst>
                    <a:ext uri="{9D8B030D-6E8A-4147-A177-3AD203B41FA5}">
                      <a16:colId xmlns:a16="http://schemas.microsoft.com/office/drawing/2014/main" val="20001"/>
                    </a:ext>
                  </a:extLst>
                </a:gridCol>
                <a:gridCol w="1203960">
                  <a:extLst>
                    <a:ext uri="{9D8B030D-6E8A-4147-A177-3AD203B41FA5}">
                      <a16:colId xmlns:a16="http://schemas.microsoft.com/office/drawing/2014/main" val="20002"/>
                    </a:ext>
                  </a:extLst>
                </a:gridCol>
                <a:gridCol w="1172210">
                  <a:extLst>
                    <a:ext uri="{9D8B030D-6E8A-4147-A177-3AD203B41FA5}">
                      <a16:colId xmlns:a16="http://schemas.microsoft.com/office/drawing/2014/main" val="20003"/>
                    </a:ext>
                  </a:extLst>
                </a:gridCol>
                <a:gridCol w="1246504">
                  <a:extLst>
                    <a:ext uri="{9D8B030D-6E8A-4147-A177-3AD203B41FA5}">
                      <a16:colId xmlns:a16="http://schemas.microsoft.com/office/drawing/2014/main" val="20004"/>
                    </a:ext>
                  </a:extLst>
                </a:gridCol>
                <a:gridCol w="1197609">
                  <a:extLst>
                    <a:ext uri="{9D8B030D-6E8A-4147-A177-3AD203B41FA5}">
                      <a16:colId xmlns:a16="http://schemas.microsoft.com/office/drawing/2014/main" val="20005"/>
                    </a:ext>
                  </a:extLst>
                </a:gridCol>
                <a:gridCol w="1052829">
                  <a:extLst>
                    <a:ext uri="{9D8B030D-6E8A-4147-A177-3AD203B41FA5}">
                      <a16:colId xmlns:a16="http://schemas.microsoft.com/office/drawing/2014/main" val="20006"/>
                    </a:ext>
                  </a:extLst>
                </a:gridCol>
                <a:gridCol w="918209">
                  <a:extLst>
                    <a:ext uri="{9D8B030D-6E8A-4147-A177-3AD203B41FA5}">
                      <a16:colId xmlns:a16="http://schemas.microsoft.com/office/drawing/2014/main" val="20007"/>
                    </a:ext>
                  </a:extLst>
                </a:gridCol>
              </a:tblGrid>
              <a:tr h="231140">
                <a:tc>
                  <a:txBody>
                    <a:bodyPr/>
                    <a:lstStyle/>
                    <a:p>
                      <a:pPr>
                        <a:lnSpc>
                          <a:spcPct val="100000"/>
                        </a:lnSpc>
                      </a:pPr>
                      <a:endParaRPr sz="1100">
                        <a:latin typeface="Times New Roman"/>
                        <a:cs typeface="Times New Roman"/>
                      </a:endParaRPr>
                    </a:p>
                  </a:txBody>
                  <a:tcPr marL="0" marR="0" marT="0" marB="0"/>
                </a:tc>
                <a:tc>
                  <a:txBody>
                    <a:bodyPr/>
                    <a:lstStyle/>
                    <a:p>
                      <a:pPr marR="368300" algn="r">
                        <a:lnSpc>
                          <a:spcPct val="100000"/>
                        </a:lnSpc>
                        <a:spcBef>
                          <a:spcPts val="35"/>
                        </a:spcBef>
                      </a:pPr>
                      <a:r>
                        <a:rPr sz="1150" b="0" spc="-10" dirty="0">
                          <a:solidFill>
                            <a:srgbClr val="231F20"/>
                          </a:solidFill>
                          <a:latin typeface="Aktiv Grotesk Medium"/>
                          <a:cs typeface="Aktiv Grotesk Medium"/>
                        </a:rPr>
                        <a:t>Objective</a:t>
                      </a:r>
                      <a:endParaRPr sz="1150">
                        <a:latin typeface="Aktiv Grotesk Medium"/>
                        <a:cs typeface="Aktiv Grotesk Medium"/>
                      </a:endParaRPr>
                    </a:p>
                  </a:txBody>
                  <a:tcPr marL="0" marR="0" marT="4445" marB="0">
                    <a:lnB w="19050">
                      <a:solidFill>
                        <a:srgbClr val="C2DCDF"/>
                      </a:solidFill>
                      <a:prstDash val="solid"/>
                    </a:lnB>
                  </a:tcPr>
                </a:tc>
                <a:tc>
                  <a:txBody>
                    <a:bodyPr/>
                    <a:lstStyle/>
                    <a:p>
                      <a:pPr>
                        <a:lnSpc>
                          <a:spcPct val="100000"/>
                        </a:lnSpc>
                      </a:pPr>
                      <a:endParaRPr sz="1100">
                        <a:latin typeface="Times New Roman"/>
                        <a:cs typeface="Times New Roman"/>
                      </a:endParaRPr>
                    </a:p>
                  </a:txBody>
                  <a:tcPr marL="0" marR="0" marT="0" marB="0">
                    <a:lnB w="19050">
                      <a:solidFill>
                        <a:srgbClr val="C2DCDF"/>
                      </a:solidFill>
                      <a:prstDash val="solid"/>
                    </a:lnB>
                  </a:tcPr>
                </a:tc>
                <a:tc>
                  <a:txBody>
                    <a:bodyPr/>
                    <a:lstStyle/>
                    <a:p>
                      <a:pPr>
                        <a:lnSpc>
                          <a:spcPct val="100000"/>
                        </a:lnSpc>
                      </a:pPr>
                      <a:endParaRPr sz="1100">
                        <a:latin typeface="Times New Roman"/>
                        <a:cs typeface="Times New Roman"/>
                      </a:endParaRPr>
                    </a:p>
                  </a:txBody>
                  <a:tcPr marL="0" marR="0" marT="0" marB="0">
                    <a:lnB w="19050">
                      <a:solidFill>
                        <a:srgbClr val="C2DCDF"/>
                      </a:solidFill>
                      <a:prstDash val="solid"/>
                    </a:lnB>
                  </a:tcPr>
                </a:tc>
                <a:tc>
                  <a:txBody>
                    <a:bodyPr/>
                    <a:lstStyle/>
                    <a:p>
                      <a:pPr>
                        <a:lnSpc>
                          <a:spcPct val="100000"/>
                        </a:lnSpc>
                      </a:pPr>
                      <a:endParaRPr sz="1100">
                        <a:latin typeface="Times New Roman"/>
                        <a:cs typeface="Times New Roman"/>
                      </a:endParaRPr>
                    </a:p>
                  </a:txBody>
                  <a:tcPr marL="0" marR="0" marT="0" marB="0">
                    <a:lnB w="19050">
                      <a:solidFill>
                        <a:srgbClr val="C2DCDF"/>
                      </a:solidFill>
                      <a:prstDash val="solid"/>
                    </a:lnB>
                  </a:tcPr>
                </a:tc>
                <a:tc>
                  <a:txBody>
                    <a:bodyPr/>
                    <a:lstStyle/>
                    <a:p>
                      <a:pPr>
                        <a:lnSpc>
                          <a:spcPct val="100000"/>
                        </a:lnSpc>
                      </a:pPr>
                      <a:endParaRPr sz="1100">
                        <a:latin typeface="Times New Roman"/>
                        <a:cs typeface="Times New Roman"/>
                      </a:endParaRPr>
                    </a:p>
                  </a:txBody>
                  <a:tcPr marL="0" marR="0" marT="0" marB="0">
                    <a:lnB w="19050">
                      <a:solidFill>
                        <a:srgbClr val="C2DCDF"/>
                      </a:solidFill>
                      <a:prstDash val="solid"/>
                    </a:lnB>
                  </a:tcPr>
                </a:tc>
                <a:tc>
                  <a:txBody>
                    <a:bodyPr/>
                    <a:lstStyle/>
                    <a:p>
                      <a:pPr>
                        <a:lnSpc>
                          <a:spcPct val="100000"/>
                        </a:lnSpc>
                      </a:pPr>
                      <a:endParaRPr sz="1100">
                        <a:latin typeface="Times New Roman"/>
                        <a:cs typeface="Times New Roman"/>
                      </a:endParaRPr>
                    </a:p>
                  </a:txBody>
                  <a:tcPr marL="0" marR="0" marT="0" marB="0">
                    <a:lnB w="19050">
                      <a:solidFill>
                        <a:srgbClr val="C2DCDF"/>
                      </a:solidFill>
                      <a:prstDash val="solid"/>
                    </a:lnB>
                  </a:tcPr>
                </a:tc>
                <a:tc>
                  <a:txBody>
                    <a:bodyPr/>
                    <a:lstStyle/>
                    <a:p>
                      <a:pPr>
                        <a:lnSpc>
                          <a:spcPct val="100000"/>
                        </a:lnSpc>
                      </a:pPr>
                      <a:endParaRPr sz="1100">
                        <a:latin typeface="Times New Roman"/>
                        <a:cs typeface="Times New Roman"/>
                      </a:endParaRPr>
                    </a:p>
                  </a:txBody>
                  <a:tcPr marL="0" marR="0" marT="0" marB="0">
                    <a:lnB w="19050">
                      <a:solidFill>
                        <a:srgbClr val="C2DCDF"/>
                      </a:solidFill>
                      <a:prstDash val="solid"/>
                    </a:lnB>
                  </a:tcPr>
                </a:tc>
                <a:extLst>
                  <a:ext uri="{0D108BD9-81ED-4DB2-BD59-A6C34878D82A}">
                    <a16:rowId xmlns:a16="http://schemas.microsoft.com/office/drawing/2014/main" val="10000"/>
                  </a:ext>
                </a:extLst>
              </a:tr>
              <a:tr h="1015365">
                <a:tc>
                  <a:txBody>
                    <a:bodyPr/>
                    <a:lstStyle/>
                    <a:p>
                      <a:pPr>
                        <a:lnSpc>
                          <a:spcPct val="100000"/>
                        </a:lnSpc>
                      </a:pPr>
                      <a:endParaRPr sz="1150">
                        <a:latin typeface="Times New Roman"/>
                        <a:cs typeface="Times New Roman"/>
                      </a:endParaRPr>
                    </a:p>
                    <a:p>
                      <a:pPr>
                        <a:lnSpc>
                          <a:spcPct val="100000"/>
                        </a:lnSpc>
                      </a:pPr>
                      <a:endParaRPr sz="1150">
                        <a:latin typeface="Times New Roman"/>
                        <a:cs typeface="Times New Roman"/>
                      </a:endParaRPr>
                    </a:p>
                    <a:p>
                      <a:pPr>
                        <a:lnSpc>
                          <a:spcPct val="100000"/>
                        </a:lnSpc>
                        <a:spcBef>
                          <a:spcPts val="685"/>
                        </a:spcBef>
                      </a:pPr>
                      <a:endParaRPr sz="1150">
                        <a:latin typeface="Times New Roman"/>
                        <a:cs typeface="Times New Roman"/>
                      </a:endParaRPr>
                    </a:p>
                    <a:p>
                      <a:pPr marL="64135" marR="131445">
                        <a:lnSpc>
                          <a:spcPct val="106400"/>
                        </a:lnSpc>
                      </a:pPr>
                      <a:r>
                        <a:rPr sz="1150" b="0" spc="-10" dirty="0">
                          <a:solidFill>
                            <a:srgbClr val="231F20"/>
                          </a:solidFill>
                          <a:latin typeface="Aktiv Grotesk Medium"/>
                          <a:cs typeface="Aktiv Grotesk Medium"/>
                        </a:rPr>
                        <a:t>Management alternative</a:t>
                      </a:r>
                      <a:endParaRPr sz="1150">
                        <a:latin typeface="Aktiv Grotesk Medium"/>
                        <a:cs typeface="Aktiv Grotesk Medium"/>
                      </a:endParaRPr>
                    </a:p>
                  </a:txBody>
                  <a:tcPr marL="0" marR="0" marT="0" marB="0">
                    <a:lnB w="12700">
                      <a:solidFill>
                        <a:srgbClr val="C2DCDF"/>
                      </a:solidFill>
                      <a:prstDash val="solid"/>
                    </a:lnB>
                  </a:tcPr>
                </a:tc>
                <a:tc>
                  <a:txBody>
                    <a:bodyPr/>
                    <a:lstStyle/>
                    <a:p>
                      <a:pPr marL="64135" marR="109220">
                        <a:lnSpc>
                          <a:spcPct val="106400"/>
                        </a:lnSpc>
                        <a:spcBef>
                          <a:spcPts val="245"/>
                        </a:spcBef>
                      </a:pPr>
                      <a:r>
                        <a:rPr sz="1150" b="0" dirty="0">
                          <a:solidFill>
                            <a:srgbClr val="231F20"/>
                          </a:solidFill>
                          <a:latin typeface="Aktiv Grotesk Medium"/>
                          <a:cs typeface="Aktiv Grotesk Medium"/>
                        </a:rPr>
                        <a:t>Probability</a:t>
                      </a:r>
                      <a:r>
                        <a:rPr sz="1150" b="0" spc="229" dirty="0">
                          <a:solidFill>
                            <a:srgbClr val="231F20"/>
                          </a:solidFill>
                          <a:latin typeface="Aktiv Grotesk Medium"/>
                          <a:cs typeface="Aktiv Grotesk Medium"/>
                        </a:rPr>
                        <a:t> </a:t>
                      </a:r>
                      <a:r>
                        <a:rPr sz="1150" b="0" spc="-25" dirty="0">
                          <a:solidFill>
                            <a:srgbClr val="231F20"/>
                          </a:solidFill>
                          <a:latin typeface="Aktiv Grotesk Medium"/>
                          <a:cs typeface="Aktiv Grotesk Medium"/>
                        </a:rPr>
                        <a:t>of </a:t>
                      </a:r>
                      <a:r>
                        <a:rPr sz="1150" b="0" spc="-10" dirty="0">
                          <a:solidFill>
                            <a:srgbClr val="231F20"/>
                          </a:solidFill>
                          <a:latin typeface="Aktiv Grotesk Medium"/>
                          <a:cs typeface="Aktiv Grotesk Medium"/>
                        </a:rPr>
                        <a:t>persistence Goal: maximize </a:t>
                      </a:r>
                      <a:r>
                        <a:rPr sz="1150" b="0" dirty="0">
                          <a:solidFill>
                            <a:srgbClr val="231F20"/>
                          </a:solidFill>
                          <a:latin typeface="Aktiv Grotesk Medium"/>
                          <a:cs typeface="Aktiv Grotesk Medium"/>
                        </a:rPr>
                        <a:t>Weight:</a:t>
                      </a:r>
                      <a:r>
                        <a:rPr sz="1150" b="0" spc="140" dirty="0">
                          <a:solidFill>
                            <a:srgbClr val="231F20"/>
                          </a:solidFill>
                          <a:latin typeface="Aktiv Grotesk Medium"/>
                          <a:cs typeface="Aktiv Grotesk Medium"/>
                        </a:rPr>
                        <a:t> </a:t>
                      </a:r>
                      <a:r>
                        <a:rPr sz="1150" b="0" spc="-20" dirty="0">
                          <a:solidFill>
                            <a:srgbClr val="231F20"/>
                          </a:solidFill>
                          <a:latin typeface="Aktiv Grotesk Medium"/>
                          <a:cs typeface="Aktiv Grotesk Medium"/>
                        </a:rPr>
                        <a:t>0.21</a:t>
                      </a:r>
                      <a:endParaRPr sz="1150">
                        <a:latin typeface="Aktiv Grotesk Medium"/>
                        <a:cs typeface="Aktiv Grotesk Medium"/>
                      </a:endParaRPr>
                    </a:p>
                  </a:txBody>
                  <a:tcPr marL="0" marR="0" marT="31115" marB="0">
                    <a:lnT w="19050">
                      <a:solidFill>
                        <a:srgbClr val="C2DCDF"/>
                      </a:solidFill>
                      <a:prstDash val="solid"/>
                    </a:lnT>
                    <a:lnB w="19050">
                      <a:solidFill>
                        <a:srgbClr val="C2DCDF"/>
                      </a:solidFill>
                      <a:prstDash val="solid"/>
                    </a:lnB>
                  </a:tcPr>
                </a:tc>
                <a:tc>
                  <a:txBody>
                    <a:bodyPr/>
                    <a:lstStyle/>
                    <a:p>
                      <a:pPr>
                        <a:lnSpc>
                          <a:spcPct val="100000"/>
                        </a:lnSpc>
                        <a:spcBef>
                          <a:spcPts val="390"/>
                        </a:spcBef>
                      </a:pPr>
                      <a:endParaRPr sz="1150">
                        <a:latin typeface="Times New Roman"/>
                        <a:cs typeface="Times New Roman"/>
                      </a:endParaRPr>
                    </a:p>
                    <a:p>
                      <a:pPr marL="116839" marR="369570">
                        <a:lnSpc>
                          <a:spcPct val="106400"/>
                        </a:lnSpc>
                      </a:pPr>
                      <a:r>
                        <a:rPr sz="1150" b="0" spc="-10" dirty="0">
                          <a:solidFill>
                            <a:srgbClr val="231F20"/>
                          </a:solidFill>
                          <a:latin typeface="Aktiv Grotesk Medium"/>
                          <a:cs typeface="Aktiv Grotesk Medium"/>
                        </a:rPr>
                        <a:t>Operating costs</a:t>
                      </a:r>
                      <a:endParaRPr sz="1150">
                        <a:latin typeface="Aktiv Grotesk Medium"/>
                        <a:cs typeface="Aktiv Grotesk Medium"/>
                      </a:endParaRPr>
                    </a:p>
                    <a:p>
                      <a:pPr marL="116839" marR="66675">
                        <a:lnSpc>
                          <a:spcPct val="106400"/>
                        </a:lnSpc>
                      </a:pPr>
                      <a:r>
                        <a:rPr sz="1150" b="0" dirty="0">
                          <a:solidFill>
                            <a:srgbClr val="231F20"/>
                          </a:solidFill>
                          <a:latin typeface="Aktiv Grotesk Medium"/>
                          <a:cs typeface="Aktiv Grotesk Medium"/>
                        </a:rPr>
                        <a:t>Goal:</a:t>
                      </a:r>
                      <a:r>
                        <a:rPr sz="1150" b="0" spc="90" dirty="0">
                          <a:solidFill>
                            <a:srgbClr val="231F20"/>
                          </a:solidFill>
                          <a:latin typeface="Aktiv Grotesk Medium"/>
                          <a:cs typeface="Aktiv Grotesk Medium"/>
                        </a:rPr>
                        <a:t> </a:t>
                      </a:r>
                      <a:r>
                        <a:rPr sz="1150" b="0" spc="-10" dirty="0">
                          <a:solidFill>
                            <a:srgbClr val="231F20"/>
                          </a:solidFill>
                          <a:latin typeface="Aktiv Grotesk Medium"/>
                          <a:cs typeface="Aktiv Grotesk Medium"/>
                        </a:rPr>
                        <a:t>minimize </a:t>
                      </a:r>
                      <a:r>
                        <a:rPr sz="1150" b="0" dirty="0">
                          <a:solidFill>
                            <a:srgbClr val="231F20"/>
                          </a:solidFill>
                          <a:latin typeface="Aktiv Grotesk Medium"/>
                          <a:cs typeface="Aktiv Grotesk Medium"/>
                        </a:rPr>
                        <a:t>Weight:</a:t>
                      </a:r>
                      <a:r>
                        <a:rPr sz="1150" b="0" spc="130" dirty="0">
                          <a:solidFill>
                            <a:srgbClr val="231F20"/>
                          </a:solidFill>
                          <a:latin typeface="Aktiv Grotesk Medium"/>
                          <a:cs typeface="Aktiv Grotesk Medium"/>
                        </a:rPr>
                        <a:t> </a:t>
                      </a:r>
                      <a:r>
                        <a:rPr sz="1150" b="0" spc="-20" dirty="0">
                          <a:solidFill>
                            <a:srgbClr val="231F20"/>
                          </a:solidFill>
                          <a:latin typeface="Aktiv Grotesk Medium"/>
                          <a:cs typeface="Aktiv Grotesk Medium"/>
                        </a:rPr>
                        <a:t>0.15</a:t>
                      </a:r>
                      <a:endParaRPr sz="1150">
                        <a:latin typeface="Aktiv Grotesk Medium"/>
                        <a:cs typeface="Aktiv Grotesk Medium"/>
                      </a:endParaRPr>
                    </a:p>
                  </a:txBody>
                  <a:tcPr marL="0" marR="0" marT="49530" marB="0">
                    <a:lnT w="19050">
                      <a:solidFill>
                        <a:srgbClr val="C2DCDF"/>
                      </a:solidFill>
                      <a:prstDash val="solid"/>
                    </a:lnT>
                    <a:lnB w="19050">
                      <a:solidFill>
                        <a:srgbClr val="C2DCDF"/>
                      </a:solidFill>
                      <a:prstDash val="solid"/>
                    </a:lnB>
                  </a:tcPr>
                </a:tc>
                <a:tc>
                  <a:txBody>
                    <a:bodyPr/>
                    <a:lstStyle/>
                    <a:p>
                      <a:pPr>
                        <a:lnSpc>
                          <a:spcPct val="100000"/>
                        </a:lnSpc>
                        <a:spcBef>
                          <a:spcPts val="390"/>
                        </a:spcBef>
                      </a:pPr>
                      <a:endParaRPr sz="1150">
                        <a:latin typeface="Times New Roman"/>
                        <a:cs typeface="Times New Roman"/>
                      </a:endParaRPr>
                    </a:p>
                    <a:p>
                      <a:pPr marL="74295" marR="378460">
                        <a:lnSpc>
                          <a:spcPct val="106400"/>
                        </a:lnSpc>
                      </a:pPr>
                      <a:r>
                        <a:rPr sz="1150" b="0" spc="-10" dirty="0">
                          <a:solidFill>
                            <a:srgbClr val="231F20"/>
                          </a:solidFill>
                          <a:latin typeface="Aktiv Grotesk Medium"/>
                          <a:cs typeface="Aktiv Grotesk Medium"/>
                        </a:rPr>
                        <a:t>Personnel costs</a:t>
                      </a:r>
                      <a:endParaRPr sz="1150">
                        <a:latin typeface="Aktiv Grotesk Medium"/>
                        <a:cs typeface="Aktiv Grotesk Medium"/>
                      </a:endParaRPr>
                    </a:p>
                    <a:p>
                      <a:pPr marL="74295" marR="77470">
                        <a:lnSpc>
                          <a:spcPct val="106400"/>
                        </a:lnSpc>
                      </a:pPr>
                      <a:r>
                        <a:rPr sz="1150" b="0" dirty="0">
                          <a:solidFill>
                            <a:srgbClr val="231F20"/>
                          </a:solidFill>
                          <a:latin typeface="Aktiv Grotesk Medium"/>
                          <a:cs typeface="Aktiv Grotesk Medium"/>
                        </a:rPr>
                        <a:t>Goal:</a:t>
                      </a:r>
                      <a:r>
                        <a:rPr sz="1150" b="0" spc="90" dirty="0">
                          <a:solidFill>
                            <a:srgbClr val="231F20"/>
                          </a:solidFill>
                          <a:latin typeface="Aktiv Grotesk Medium"/>
                          <a:cs typeface="Aktiv Grotesk Medium"/>
                        </a:rPr>
                        <a:t> </a:t>
                      </a:r>
                      <a:r>
                        <a:rPr sz="1150" b="0" spc="-10" dirty="0">
                          <a:solidFill>
                            <a:srgbClr val="231F20"/>
                          </a:solidFill>
                          <a:latin typeface="Aktiv Grotesk Medium"/>
                          <a:cs typeface="Aktiv Grotesk Medium"/>
                        </a:rPr>
                        <a:t>minimize </a:t>
                      </a:r>
                      <a:r>
                        <a:rPr sz="1150" b="0" dirty="0">
                          <a:solidFill>
                            <a:srgbClr val="231F20"/>
                          </a:solidFill>
                          <a:latin typeface="Aktiv Grotesk Medium"/>
                          <a:cs typeface="Aktiv Grotesk Medium"/>
                        </a:rPr>
                        <a:t>Weight:</a:t>
                      </a:r>
                      <a:r>
                        <a:rPr sz="1150" b="0" spc="130" dirty="0">
                          <a:solidFill>
                            <a:srgbClr val="231F20"/>
                          </a:solidFill>
                          <a:latin typeface="Aktiv Grotesk Medium"/>
                          <a:cs typeface="Aktiv Grotesk Medium"/>
                        </a:rPr>
                        <a:t> </a:t>
                      </a:r>
                      <a:r>
                        <a:rPr sz="1150" b="0" spc="-20" dirty="0">
                          <a:solidFill>
                            <a:srgbClr val="231F20"/>
                          </a:solidFill>
                          <a:latin typeface="Aktiv Grotesk Medium"/>
                          <a:cs typeface="Aktiv Grotesk Medium"/>
                        </a:rPr>
                        <a:t>0.14</a:t>
                      </a:r>
                      <a:endParaRPr sz="1150">
                        <a:latin typeface="Aktiv Grotesk Medium"/>
                        <a:cs typeface="Aktiv Grotesk Medium"/>
                      </a:endParaRPr>
                    </a:p>
                  </a:txBody>
                  <a:tcPr marL="0" marR="0" marT="49530" marB="0">
                    <a:lnT w="19050">
                      <a:solidFill>
                        <a:srgbClr val="C2DCDF"/>
                      </a:solidFill>
                      <a:prstDash val="solid"/>
                    </a:lnT>
                    <a:lnB w="19050">
                      <a:solidFill>
                        <a:srgbClr val="C2DCDF"/>
                      </a:solidFill>
                      <a:prstDash val="solid"/>
                    </a:lnB>
                  </a:tcPr>
                </a:tc>
                <a:tc>
                  <a:txBody>
                    <a:bodyPr/>
                    <a:lstStyle/>
                    <a:p>
                      <a:pPr>
                        <a:lnSpc>
                          <a:spcPct val="100000"/>
                        </a:lnSpc>
                        <a:spcBef>
                          <a:spcPts val="390"/>
                        </a:spcBef>
                      </a:pPr>
                      <a:endParaRPr sz="1150">
                        <a:latin typeface="Times New Roman"/>
                        <a:cs typeface="Times New Roman"/>
                      </a:endParaRPr>
                    </a:p>
                    <a:p>
                      <a:pPr marL="85090" marR="56515">
                        <a:lnSpc>
                          <a:spcPct val="106400"/>
                        </a:lnSpc>
                      </a:pPr>
                      <a:r>
                        <a:rPr sz="1150" b="0" dirty="0">
                          <a:solidFill>
                            <a:srgbClr val="231F20"/>
                          </a:solidFill>
                          <a:latin typeface="Aktiv Grotesk Medium"/>
                          <a:cs typeface="Aktiv Grotesk Medium"/>
                        </a:rPr>
                        <a:t>Crisis</a:t>
                      </a:r>
                      <a:r>
                        <a:rPr sz="1150" b="0" spc="105" dirty="0">
                          <a:solidFill>
                            <a:srgbClr val="231F20"/>
                          </a:solidFill>
                          <a:latin typeface="Aktiv Grotesk Medium"/>
                          <a:cs typeface="Aktiv Grotesk Medium"/>
                        </a:rPr>
                        <a:t> </a:t>
                      </a:r>
                      <a:r>
                        <a:rPr sz="1150" b="0" spc="-10" dirty="0">
                          <a:solidFill>
                            <a:srgbClr val="231F20"/>
                          </a:solidFill>
                          <a:latin typeface="Aktiv Grotesk Medium"/>
                          <a:cs typeface="Aktiv Grotesk Medium"/>
                        </a:rPr>
                        <a:t>response costs</a:t>
                      </a:r>
                      <a:endParaRPr sz="1150">
                        <a:latin typeface="Aktiv Grotesk Medium"/>
                        <a:cs typeface="Aktiv Grotesk Medium"/>
                      </a:endParaRPr>
                    </a:p>
                    <a:p>
                      <a:pPr marL="85090" marR="140970">
                        <a:lnSpc>
                          <a:spcPct val="106400"/>
                        </a:lnSpc>
                      </a:pPr>
                      <a:r>
                        <a:rPr sz="1150" b="0" dirty="0">
                          <a:solidFill>
                            <a:srgbClr val="231F20"/>
                          </a:solidFill>
                          <a:latin typeface="Aktiv Grotesk Medium"/>
                          <a:cs typeface="Aktiv Grotesk Medium"/>
                        </a:rPr>
                        <a:t>Goal:</a:t>
                      </a:r>
                      <a:r>
                        <a:rPr sz="1150" b="0" spc="90" dirty="0">
                          <a:solidFill>
                            <a:srgbClr val="231F20"/>
                          </a:solidFill>
                          <a:latin typeface="Aktiv Grotesk Medium"/>
                          <a:cs typeface="Aktiv Grotesk Medium"/>
                        </a:rPr>
                        <a:t> </a:t>
                      </a:r>
                      <a:r>
                        <a:rPr sz="1150" b="0" spc="-10" dirty="0">
                          <a:solidFill>
                            <a:srgbClr val="231F20"/>
                          </a:solidFill>
                          <a:latin typeface="Aktiv Grotesk Medium"/>
                          <a:cs typeface="Aktiv Grotesk Medium"/>
                        </a:rPr>
                        <a:t>minimize </a:t>
                      </a:r>
                      <a:r>
                        <a:rPr sz="1150" b="0" dirty="0">
                          <a:solidFill>
                            <a:srgbClr val="231F20"/>
                          </a:solidFill>
                          <a:latin typeface="Aktiv Grotesk Medium"/>
                          <a:cs typeface="Aktiv Grotesk Medium"/>
                        </a:rPr>
                        <a:t>Weight:</a:t>
                      </a:r>
                      <a:r>
                        <a:rPr sz="1150" b="0" spc="130" dirty="0">
                          <a:solidFill>
                            <a:srgbClr val="231F20"/>
                          </a:solidFill>
                          <a:latin typeface="Aktiv Grotesk Medium"/>
                          <a:cs typeface="Aktiv Grotesk Medium"/>
                        </a:rPr>
                        <a:t> </a:t>
                      </a:r>
                      <a:r>
                        <a:rPr sz="1150" b="0" spc="-20" dirty="0">
                          <a:solidFill>
                            <a:srgbClr val="231F20"/>
                          </a:solidFill>
                          <a:latin typeface="Aktiv Grotesk Medium"/>
                          <a:cs typeface="Aktiv Grotesk Medium"/>
                        </a:rPr>
                        <a:t>0.19</a:t>
                      </a:r>
                      <a:endParaRPr sz="1150">
                        <a:latin typeface="Aktiv Grotesk Medium"/>
                        <a:cs typeface="Aktiv Grotesk Medium"/>
                      </a:endParaRPr>
                    </a:p>
                  </a:txBody>
                  <a:tcPr marL="0" marR="0" marT="49530" marB="0">
                    <a:lnT w="19050">
                      <a:solidFill>
                        <a:srgbClr val="C2DCDF"/>
                      </a:solidFill>
                      <a:prstDash val="solid"/>
                    </a:lnT>
                    <a:lnB w="19050">
                      <a:solidFill>
                        <a:srgbClr val="C2DCDF"/>
                      </a:solidFill>
                      <a:prstDash val="solid"/>
                    </a:lnB>
                  </a:tcPr>
                </a:tc>
                <a:tc>
                  <a:txBody>
                    <a:bodyPr/>
                    <a:lstStyle/>
                    <a:p>
                      <a:pPr>
                        <a:lnSpc>
                          <a:spcPct val="100000"/>
                        </a:lnSpc>
                        <a:spcBef>
                          <a:spcPts val="390"/>
                        </a:spcBef>
                      </a:pPr>
                      <a:endParaRPr sz="1150">
                        <a:latin typeface="Times New Roman"/>
                        <a:cs typeface="Times New Roman"/>
                      </a:endParaRPr>
                    </a:p>
                    <a:p>
                      <a:pPr marL="64135" marR="74295">
                        <a:lnSpc>
                          <a:spcPct val="106400"/>
                        </a:lnSpc>
                      </a:pPr>
                      <a:r>
                        <a:rPr sz="1150" b="0" spc="-10" dirty="0">
                          <a:solidFill>
                            <a:srgbClr val="231F20"/>
                          </a:solidFill>
                          <a:latin typeface="Aktiv Grotesk Medium"/>
                          <a:cs typeface="Aktiv Grotesk Medium"/>
                        </a:rPr>
                        <a:t>Viewing opportunity </a:t>
                      </a:r>
                      <a:r>
                        <a:rPr sz="1150" b="0" dirty="0">
                          <a:solidFill>
                            <a:srgbClr val="231F20"/>
                          </a:solidFill>
                          <a:latin typeface="Aktiv Grotesk Medium"/>
                          <a:cs typeface="Aktiv Grotesk Medium"/>
                        </a:rPr>
                        <a:t>Goal:</a:t>
                      </a:r>
                      <a:r>
                        <a:rPr sz="1150" b="0" spc="90" dirty="0">
                          <a:solidFill>
                            <a:srgbClr val="231F20"/>
                          </a:solidFill>
                          <a:latin typeface="Aktiv Grotesk Medium"/>
                          <a:cs typeface="Aktiv Grotesk Medium"/>
                        </a:rPr>
                        <a:t> </a:t>
                      </a:r>
                      <a:r>
                        <a:rPr sz="1150" b="0" spc="-10" dirty="0">
                          <a:solidFill>
                            <a:srgbClr val="231F20"/>
                          </a:solidFill>
                          <a:latin typeface="Aktiv Grotesk Medium"/>
                          <a:cs typeface="Aktiv Grotesk Medium"/>
                        </a:rPr>
                        <a:t>maximize </a:t>
                      </a:r>
                      <a:r>
                        <a:rPr sz="1150" b="0" dirty="0">
                          <a:solidFill>
                            <a:srgbClr val="231F20"/>
                          </a:solidFill>
                          <a:latin typeface="Aktiv Grotesk Medium"/>
                          <a:cs typeface="Aktiv Grotesk Medium"/>
                        </a:rPr>
                        <a:t>Weight:</a:t>
                      </a:r>
                      <a:r>
                        <a:rPr sz="1150" b="0" spc="130" dirty="0">
                          <a:solidFill>
                            <a:srgbClr val="231F20"/>
                          </a:solidFill>
                          <a:latin typeface="Aktiv Grotesk Medium"/>
                          <a:cs typeface="Aktiv Grotesk Medium"/>
                        </a:rPr>
                        <a:t> </a:t>
                      </a:r>
                      <a:r>
                        <a:rPr sz="1150" b="0" spc="-20" dirty="0">
                          <a:solidFill>
                            <a:srgbClr val="231F20"/>
                          </a:solidFill>
                          <a:latin typeface="Aktiv Grotesk Medium"/>
                          <a:cs typeface="Aktiv Grotesk Medium"/>
                        </a:rPr>
                        <a:t>0.15</a:t>
                      </a:r>
                      <a:endParaRPr sz="1150">
                        <a:latin typeface="Aktiv Grotesk Medium"/>
                        <a:cs typeface="Aktiv Grotesk Medium"/>
                      </a:endParaRPr>
                    </a:p>
                  </a:txBody>
                  <a:tcPr marL="0" marR="0" marT="49530" marB="0">
                    <a:lnT w="19050">
                      <a:solidFill>
                        <a:srgbClr val="C2DCDF"/>
                      </a:solidFill>
                      <a:prstDash val="solid"/>
                    </a:lnT>
                    <a:lnB w="19050">
                      <a:solidFill>
                        <a:srgbClr val="C2DCDF"/>
                      </a:solidFill>
                      <a:prstDash val="solid"/>
                    </a:lnB>
                  </a:tcPr>
                </a:tc>
                <a:tc>
                  <a:txBody>
                    <a:bodyPr/>
                    <a:lstStyle/>
                    <a:p>
                      <a:pPr marL="81915" marR="112395">
                        <a:lnSpc>
                          <a:spcPct val="106400"/>
                        </a:lnSpc>
                        <a:spcBef>
                          <a:spcPts val="245"/>
                        </a:spcBef>
                      </a:pPr>
                      <a:r>
                        <a:rPr sz="1150" b="0" spc="-10" dirty="0">
                          <a:solidFill>
                            <a:srgbClr val="231F20"/>
                          </a:solidFill>
                          <a:latin typeface="Aktiv Grotesk Medium"/>
                          <a:cs typeface="Aktiv Grotesk Medium"/>
                        </a:rPr>
                        <a:t>Hunting opportunity Goal: maximize </a:t>
                      </a:r>
                      <a:r>
                        <a:rPr sz="1150" b="0" dirty="0">
                          <a:solidFill>
                            <a:srgbClr val="231F20"/>
                          </a:solidFill>
                          <a:latin typeface="Aktiv Grotesk Medium"/>
                          <a:cs typeface="Aktiv Grotesk Medium"/>
                        </a:rPr>
                        <a:t>Weight:</a:t>
                      </a:r>
                      <a:r>
                        <a:rPr sz="1150" b="0" spc="130" dirty="0">
                          <a:solidFill>
                            <a:srgbClr val="231F20"/>
                          </a:solidFill>
                          <a:latin typeface="Aktiv Grotesk Medium"/>
                          <a:cs typeface="Aktiv Grotesk Medium"/>
                        </a:rPr>
                        <a:t> </a:t>
                      </a:r>
                      <a:r>
                        <a:rPr sz="1150" b="0" spc="-20" dirty="0">
                          <a:solidFill>
                            <a:srgbClr val="231F20"/>
                          </a:solidFill>
                          <a:latin typeface="Aktiv Grotesk Medium"/>
                          <a:cs typeface="Aktiv Grotesk Medium"/>
                        </a:rPr>
                        <a:t>0.18</a:t>
                      </a:r>
                      <a:endParaRPr sz="1150">
                        <a:latin typeface="Aktiv Grotesk Medium"/>
                        <a:cs typeface="Aktiv Grotesk Medium"/>
                      </a:endParaRPr>
                    </a:p>
                  </a:txBody>
                  <a:tcPr marL="0" marR="0" marT="31115" marB="0">
                    <a:lnT w="19050">
                      <a:solidFill>
                        <a:srgbClr val="C2DCDF"/>
                      </a:solidFill>
                      <a:prstDash val="solid"/>
                    </a:lnT>
                    <a:lnB w="19050">
                      <a:solidFill>
                        <a:srgbClr val="C2DCDF"/>
                      </a:solidFill>
                      <a:prstDash val="solid"/>
                    </a:lnB>
                  </a:tcPr>
                </a:tc>
                <a:tc>
                  <a:txBody>
                    <a:bodyPr/>
                    <a:lstStyle/>
                    <a:p>
                      <a:pPr>
                        <a:lnSpc>
                          <a:spcPct val="100000"/>
                        </a:lnSpc>
                      </a:pPr>
                      <a:endParaRPr sz="1150">
                        <a:latin typeface="Times New Roman"/>
                        <a:cs typeface="Times New Roman"/>
                      </a:endParaRPr>
                    </a:p>
                    <a:p>
                      <a:pPr>
                        <a:lnSpc>
                          <a:spcPct val="100000"/>
                        </a:lnSpc>
                      </a:pPr>
                      <a:endParaRPr sz="1150">
                        <a:latin typeface="Times New Roman"/>
                        <a:cs typeface="Times New Roman"/>
                      </a:endParaRPr>
                    </a:p>
                    <a:p>
                      <a:pPr>
                        <a:lnSpc>
                          <a:spcPct val="100000"/>
                        </a:lnSpc>
                        <a:spcBef>
                          <a:spcPts val="685"/>
                        </a:spcBef>
                      </a:pPr>
                      <a:endParaRPr sz="1150">
                        <a:latin typeface="Times New Roman"/>
                        <a:cs typeface="Times New Roman"/>
                      </a:endParaRPr>
                    </a:p>
                    <a:p>
                      <a:pPr marL="120014" marR="327660">
                        <a:lnSpc>
                          <a:spcPct val="106400"/>
                        </a:lnSpc>
                      </a:pPr>
                      <a:r>
                        <a:rPr sz="1150" b="0" spc="-10" dirty="0">
                          <a:solidFill>
                            <a:srgbClr val="231F20"/>
                          </a:solidFill>
                          <a:latin typeface="Aktiv Grotesk Medium"/>
                          <a:cs typeface="Aktiv Grotesk Medium"/>
                        </a:rPr>
                        <a:t>Final score</a:t>
                      </a:r>
                      <a:r>
                        <a:rPr sz="1200" b="0" i="1" spc="-15" baseline="20833" dirty="0">
                          <a:solidFill>
                            <a:srgbClr val="231F20"/>
                          </a:solidFill>
                          <a:latin typeface="Aktiv Grotesk Light"/>
                          <a:cs typeface="Aktiv Grotesk Light"/>
                        </a:rPr>
                        <a:t>b</a:t>
                      </a:r>
                      <a:endParaRPr sz="1200" baseline="20833">
                        <a:latin typeface="Aktiv Grotesk Light"/>
                        <a:cs typeface="Aktiv Grotesk Light"/>
                      </a:endParaRPr>
                    </a:p>
                  </a:txBody>
                  <a:tcPr marL="0" marR="0" marT="0" marB="0">
                    <a:lnT w="19050">
                      <a:solidFill>
                        <a:srgbClr val="C2DCDF"/>
                      </a:solidFill>
                      <a:prstDash val="solid"/>
                    </a:lnT>
                    <a:lnB w="19050">
                      <a:solidFill>
                        <a:srgbClr val="C2DCDF"/>
                      </a:solidFill>
                      <a:prstDash val="solid"/>
                    </a:lnB>
                  </a:tcPr>
                </a:tc>
                <a:extLst>
                  <a:ext uri="{0D108BD9-81ED-4DB2-BD59-A6C34878D82A}">
                    <a16:rowId xmlns:a16="http://schemas.microsoft.com/office/drawing/2014/main" val="10001"/>
                  </a:ext>
                </a:extLst>
              </a:tr>
              <a:tr h="234950">
                <a:tc>
                  <a:txBody>
                    <a:bodyPr/>
                    <a:lstStyle/>
                    <a:p>
                      <a:pPr marL="64135">
                        <a:lnSpc>
                          <a:spcPct val="100000"/>
                        </a:lnSpc>
                        <a:spcBef>
                          <a:spcPts val="275"/>
                        </a:spcBef>
                      </a:pPr>
                      <a:r>
                        <a:rPr sz="1050" b="0" spc="-10" dirty="0">
                          <a:solidFill>
                            <a:srgbClr val="231F20"/>
                          </a:solidFill>
                          <a:latin typeface="Aktiv Grotesk Medium"/>
                          <a:cs typeface="Aktiv Grotesk Medium"/>
                        </a:rPr>
                        <a:t>AGGRESSIVE</a:t>
                      </a:r>
                      <a:endParaRPr sz="1050">
                        <a:latin typeface="Aktiv Grotesk Medium"/>
                        <a:cs typeface="Aktiv Grotesk Medium"/>
                      </a:endParaRPr>
                    </a:p>
                  </a:txBody>
                  <a:tcPr marL="0" marR="0" marT="34925" marB="0">
                    <a:lnT w="12700">
                      <a:solidFill>
                        <a:srgbClr val="C2DCDF"/>
                      </a:solidFill>
                      <a:prstDash val="solid"/>
                    </a:lnT>
                  </a:tcPr>
                </a:tc>
                <a:tc>
                  <a:txBody>
                    <a:bodyPr/>
                    <a:lstStyle/>
                    <a:p>
                      <a:pPr>
                        <a:lnSpc>
                          <a:spcPct val="100000"/>
                        </a:lnSpc>
                      </a:pPr>
                      <a:endParaRPr sz="1100">
                        <a:latin typeface="Times New Roman"/>
                        <a:cs typeface="Times New Roman"/>
                      </a:endParaRPr>
                    </a:p>
                  </a:txBody>
                  <a:tcPr marL="0" marR="0" marT="0" marB="0">
                    <a:lnT w="19050">
                      <a:solidFill>
                        <a:srgbClr val="C2DCDF"/>
                      </a:solidFill>
                      <a:prstDash val="solid"/>
                    </a:lnT>
                  </a:tcPr>
                </a:tc>
                <a:tc>
                  <a:txBody>
                    <a:bodyPr/>
                    <a:lstStyle/>
                    <a:p>
                      <a:pPr>
                        <a:lnSpc>
                          <a:spcPct val="100000"/>
                        </a:lnSpc>
                      </a:pPr>
                      <a:endParaRPr sz="1100">
                        <a:latin typeface="Times New Roman"/>
                        <a:cs typeface="Times New Roman"/>
                      </a:endParaRPr>
                    </a:p>
                  </a:txBody>
                  <a:tcPr marL="0" marR="0" marT="0" marB="0">
                    <a:lnT w="19050">
                      <a:solidFill>
                        <a:srgbClr val="C2DCDF"/>
                      </a:solidFill>
                      <a:prstDash val="solid"/>
                    </a:lnT>
                  </a:tcPr>
                </a:tc>
                <a:tc>
                  <a:txBody>
                    <a:bodyPr/>
                    <a:lstStyle/>
                    <a:p>
                      <a:pPr>
                        <a:lnSpc>
                          <a:spcPct val="100000"/>
                        </a:lnSpc>
                      </a:pPr>
                      <a:endParaRPr sz="1100">
                        <a:latin typeface="Times New Roman"/>
                        <a:cs typeface="Times New Roman"/>
                      </a:endParaRPr>
                    </a:p>
                  </a:txBody>
                  <a:tcPr marL="0" marR="0" marT="0" marB="0">
                    <a:lnT w="19050">
                      <a:solidFill>
                        <a:srgbClr val="C2DCDF"/>
                      </a:solidFill>
                      <a:prstDash val="solid"/>
                    </a:lnT>
                  </a:tcPr>
                </a:tc>
                <a:tc>
                  <a:txBody>
                    <a:bodyPr/>
                    <a:lstStyle/>
                    <a:p>
                      <a:pPr>
                        <a:lnSpc>
                          <a:spcPct val="100000"/>
                        </a:lnSpc>
                      </a:pPr>
                      <a:endParaRPr sz="1100">
                        <a:latin typeface="Times New Roman"/>
                        <a:cs typeface="Times New Roman"/>
                      </a:endParaRPr>
                    </a:p>
                  </a:txBody>
                  <a:tcPr marL="0" marR="0" marT="0" marB="0">
                    <a:lnT w="19050">
                      <a:solidFill>
                        <a:srgbClr val="C2DCDF"/>
                      </a:solidFill>
                      <a:prstDash val="solid"/>
                    </a:lnT>
                  </a:tcPr>
                </a:tc>
                <a:tc>
                  <a:txBody>
                    <a:bodyPr/>
                    <a:lstStyle/>
                    <a:p>
                      <a:pPr>
                        <a:lnSpc>
                          <a:spcPct val="100000"/>
                        </a:lnSpc>
                      </a:pPr>
                      <a:endParaRPr sz="1100">
                        <a:latin typeface="Times New Roman"/>
                        <a:cs typeface="Times New Roman"/>
                      </a:endParaRPr>
                    </a:p>
                  </a:txBody>
                  <a:tcPr marL="0" marR="0" marT="0" marB="0">
                    <a:lnT w="19050">
                      <a:solidFill>
                        <a:srgbClr val="C2DCDF"/>
                      </a:solidFill>
                      <a:prstDash val="solid"/>
                    </a:lnT>
                  </a:tcPr>
                </a:tc>
                <a:tc>
                  <a:txBody>
                    <a:bodyPr/>
                    <a:lstStyle/>
                    <a:p>
                      <a:pPr>
                        <a:lnSpc>
                          <a:spcPct val="100000"/>
                        </a:lnSpc>
                      </a:pPr>
                      <a:endParaRPr sz="1100">
                        <a:latin typeface="Times New Roman"/>
                        <a:cs typeface="Times New Roman"/>
                      </a:endParaRPr>
                    </a:p>
                  </a:txBody>
                  <a:tcPr marL="0" marR="0" marT="0" marB="0">
                    <a:lnT w="19050">
                      <a:solidFill>
                        <a:srgbClr val="C2DCDF"/>
                      </a:solidFill>
                      <a:prstDash val="solid"/>
                    </a:lnT>
                  </a:tcPr>
                </a:tc>
                <a:tc>
                  <a:txBody>
                    <a:bodyPr/>
                    <a:lstStyle/>
                    <a:p>
                      <a:pPr>
                        <a:lnSpc>
                          <a:spcPct val="100000"/>
                        </a:lnSpc>
                      </a:pPr>
                      <a:endParaRPr sz="1100">
                        <a:latin typeface="Times New Roman"/>
                        <a:cs typeface="Times New Roman"/>
                      </a:endParaRPr>
                    </a:p>
                  </a:txBody>
                  <a:tcPr marL="0" marR="0" marT="0" marB="0">
                    <a:lnT w="19050">
                      <a:solidFill>
                        <a:srgbClr val="C2DCDF"/>
                      </a:solidFill>
                      <a:prstDash val="solid"/>
                    </a:lnT>
                  </a:tcPr>
                </a:tc>
                <a:extLst>
                  <a:ext uri="{0D108BD9-81ED-4DB2-BD59-A6C34878D82A}">
                    <a16:rowId xmlns:a16="http://schemas.microsoft.com/office/drawing/2014/main" val="10002"/>
                  </a:ext>
                </a:extLst>
              </a:tr>
              <a:tr h="394970">
                <a:tc>
                  <a:txBody>
                    <a:bodyPr/>
                    <a:lstStyle/>
                    <a:p>
                      <a:pPr marL="170815" marR="354330" indent="-106680">
                        <a:lnSpc>
                          <a:spcPts val="1260"/>
                        </a:lnSpc>
                        <a:spcBef>
                          <a:spcPts val="334"/>
                        </a:spcBef>
                      </a:pPr>
                      <a:r>
                        <a:rPr sz="1100" b="0" spc="-10" dirty="0">
                          <a:solidFill>
                            <a:srgbClr val="231F20"/>
                          </a:solidFill>
                          <a:latin typeface="Aktiv Grotesk Light"/>
                          <a:cs typeface="Aktiv Grotesk Light"/>
                        </a:rPr>
                        <a:t>Expected outcome</a:t>
                      </a:r>
                      <a:endParaRPr sz="1100">
                        <a:latin typeface="Aktiv Grotesk Light"/>
                        <a:cs typeface="Aktiv Grotesk Light"/>
                      </a:endParaRPr>
                    </a:p>
                  </a:txBody>
                  <a:tcPr marL="0" marR="0" marT="42544" marB="0"/>
                </a:tc>
                <a:tc>
                  <a:txBody>
                    <a:bodyPr/>
                    <a:lstStyle/>
                    <a:p>
                      <a:pPr marL="52069" algn="ctr">
                        <a:lnSpc>
                          <a:spcPct val="100000"/>
                        </a:lnSpc>
                        <a:spcBef>
                          <a:spcPts val="240"/>
                        </a:spcBef>
                      </a:pPr>
                      <a:r>
                        <a:rPr sz="1100" b="0" spc="-25" dirty="0">
                          <a:solidFill>
                            <a:srgbClr val="231F20"/>
                          </a:solidFill>
                          <a:latin typeface="Aktiv Grotesk Light"/>
                          <a:cs typeface="Aktiv Grotesk Light"/>
                        </a:rPr>
                        <a:t>0.9</a:t>
                      </a:r>
                      <a:endParaRPr sz="1100">
                        <a:latin typeface="Aktiv Grotesk Light"/>
                        <a:cs typeface="Aktiv Grotesk Light"/>
                      </a:endParaRPr>
                    </a:p>
                  </a:txBody>
                  <a:tcPr marL="0" marR="0" marT="30480" marB="0"/>
                </a:tc>
                <a:tc>
                  <a:txBody>
                    <a:bodyPr/>
                    <a:lstStyle/>
                    <a:p>
                      <a:pPr marL="62230" algn="ctr">
                        <a:lnSpc>
                          <a:spcPct val="100000"/>
                        </a:lnSpc>
                        <a:spcBef>
                          <a:spcPts val="240"/>
                        </a:spcBef>
                      </a:pPr>
                      <a:r>
                        <a:rPr sz="1100" b="0" spc="-25" dirty="0">
                          <a:solidFill>
                            <a:srgbClr val="231F20"/>
                          </a:solidFill>
                          <a:latin typeface="Aktiv Grotesk Light"/>
                          <a:cs typeface="Aktiv Grotesk Light"/>
                        </a:rPr>
                        <a:t>105</a:t>
                      </a:r>
                      <a:endParaRPr sz="1100">
                        <a:latin typeface="Aktiv Grotesk Light"/>
                        <a:cs typeface="Aktiv Grotesk Light"/>
                      </a:endParaRPr>
                    </a:p>
                  </a:txBody>
                  <a:tcPr marL="0" marR="0" marT="30480" marB="0"/>
                </a:tc>
                <a:tc>
                  <a:txBody>
                    <a:bodyPr/>
                    <a:lstStyle/>
                    <a:p>
                      <a:pPr marL="30480" algn="ctr">
                        <a:lnSpc>
                          <a:spcPct val="100000"/>
                        </a:lnSpc>
                        <a:spcBef>
                          <a:spcPts val="240"/>
                        </a:spcBef>
                      </a:pPr>
                      <a:r>
                        <a:rPr sz="1100" b="0" spc="-25" dirty="0">
                          <a:solidFill>
                            <a:srgbClr val="231F20"/>
                          </a:solidFill>
                          <a:latin typeface="Aktiv Grotesk Light"/>
                          <a:cs typeface="Aktiv Grotesk Light"/>
                        </a:rPr>
                        <a:t>220</a:t>
                      </a:r>
                      <a:endParaRPr sz="1100">
                        <a:latin typeface="Aktiv Grotesk Light"/>
                        <a:cs typeface="Aktiv Grotesk Light"/>
                      </a:endParaRPr>
                    </a:p>
                  </a:txBody>
                  <a:tcPr marL="0" marR="0" marT="30480" marB="0"/>
                </a:tc>
                <a:tc>
                  <a:txBody>
                    <a:bodyPr/>
                    <a:lstStyle/>
                    <a:p>
                      <a:pPr marL="20320" algn="ctr">
                        <a:lnSpc>
                          <a:spcPct val="100000"/>
                        </a:lnSpc>
                        <a:spcBef>
                          <a:spcPts val="240"/>
                        </a:spcBef>
                      </a:pPr>
                      <a:r>
                        <a:rPr sz="1100" b="0" spc="-50" dirty="0">
                          <a:solidFill>
                            <a:srgbClr val="231F20"/>
                          </a:solidFill>
                          <a:latin typeface="Aktiv Grotesk Light"/>
                          <a:cs typeface="Aktiv Grotesk Light"/>
                        </a:rPr>
                        <a:t>8</a:t>
                      </a:r>
                      <a:endParaRPr sz="1100">
                        <a:latin typeface="Aktiv Grotesk Light"/>
                        <a:cs typeface="Aktiv Grotesk Light"/>
                      </a:endParaRPr>
                    </a:p>
                  </a:txBody>
                  <a:tcPr marL="0" marR="0" marT="30480" marB="0"/>
                </a:tc>
                <a:tc>
                  <a:txBody>
                    <a:bodyPr/>
                    <a:lstStyle/>
                    <a:p>
                      <a:pPr marL="17145" algn="ctr">
                        <a:lnSpc>
                          <a:spcPct val="100000"/>
                        </a:lnSpc>
                        <a:spcBef>
                          <a:spcPts val="240"/>
                        </a:spcBef>
                      </a:pPr>
                      <a:r>
                        <a:rPr sz="1100" b="0" spc="-25" dirty="0">
                          <a:solidFill>
                            <a:srgbClr val="231F20"/>
                          </a:solidFill>
                          <a:latin typeface="Aktiv Grotesk Light"/>
                          <a:cs typeface="Aktiv Grotesk Light"/>
                        </a:rPr>
                        <a:t>0.9</a:t>
                      </a:r>
                      <a:endParaRPr sz="1100">
                        <a:latin typeface="Aktiv Grotesk Light"/>
                        <a:cs typeface="Aktiv Grotesk Light"/>
                      </a:endParaRPr>
                    </a:p>
                  </a:txBody>
                  <a:tcPr marL="0" marR="0" marT="30480" marB="0"/>
                </a:tc>
                <a:tc>
                  <a:txBody>
                    <a:bodyPr/>
                    <a:lstStyle/>
                    <a:p>
                      <a:pPr marL="72390" algn="ctr">
                        <a:lnSpc>
                          <a:spcPct val="100000"/>
                        </a:lnSpc>
                        <a:spcBef>
                          <a:spcPts val="240"/>
                        </a:spcBef>
                      </a:pPr>
                      <a:r>
                        <a:rPr sz="1100" b="0" spc="-25" dirty="0">
                          <a:solidFill>
                            <a:srgbClr val="231F20"/>
                          </a:solidFill>
                          <a:latin typeface="Aktiv Grotesk Light"/>
                          <a:cs typeface="Aktiv Grotesk Light"/>
                        </a:rPr>
                        <a:t>190</a:t>
                      </a:r>
                      <a:endParaRPr sz="1100">
                        <a:latin typeface="Aktiv Grotesk Light"/>
                        <a:cs typeface="Aktiv Grotesk Light"/>
                      </a:endParaRPr>
                    </a:p>
                  </a:txBody>
                  <a:tcPr marL="0" marR="0" marT="30480" marB="0"/>
                </a:tc>
                <a:tc>
                  <a:txBody>
                    <a:bodyPr/>
                    <a:lstStyle/>
                    <a:p>
                      <a:pPr>
                        <a:lnSpc>
                          <a:spcPct val="100000"/>
                        </a:lnSpc>
                      </a:pPr>
                      <a:endParaRPr sz="1100">
                        <a:latin typeface="Times New Roman"/>
                        <a:cs typeface="Times New Roman"/>
                      </a:endParaRPr>
                    </a:p>
                  </a:txBody>
                  <a:tcPr marL="0" marR="0" marT="0" marB="0"/>
                </a:tc>
                <a:extLst>
                  <a:ext uri="{0D108BD9-81ED-4DB2-BD59-A6C34878D82A}">
                    <a16:rowId xmlns:a16="http://schemas.microsoft.com/office/drawing/2014/main" val="10003"/>
                  </a:ext>
                </a:extLst>
              </a:tr>
              <a:tr h="390525">
                <a:tc>
                  <a:txBody>
                    <a:bodyPr/>
                    <a:lstStyle/>
                    <a:p>
                      <a:pPr marL="170815" marR="313690" indent="-106680">
                        <a:lnSpc>
                          <a:spcPts val="1260"/>
                        </a:lnSpc>
                        <a:spcBef>
                          <a:spcPts val="300"/>
                        </a:spcBef>
                      </a:pPr>
                      <a:r>
                        <a:rPr sz="1100" b="0" spc="-10" dirty="0">
                          <a:solidFill>
                            <a:srgbClr val="231F20"/>
                          </a:solidFill>
                          <a:latin typeface="Aktiv Grotesk Light"/>
                          <a:cs typeface="Aktiv Grotesk Light"/>
                        </a:rPr>
                        <a:t>Normalized score</a:t>
                      </a:r>
                      <a:endParaRPr sz="1100">
                        <a:latin typeface="Aktiv Grotesk Light"/>
                        <a:cs typeface="Aktiv Grotesk Light"/>
                      </a:endParaRPr>
                    </a:p>
                  </a:txBody>
                  <a:tcPr marL="0" marR="0" marT="38100" marB="0"/>
                </a:tc>
                <a:tc>
                  <a:txBody>
                    <a:bodyPr/>
                    <a:lstStyle/>
                    <a:p>
                      <a:pPr marR="378460" algn="r">
                        <a:lnSpc>
                          <a:spcPct val="100000"/>
                        </a:lnSpc>
                        <a:spcBef>
                          <a:spcPts val="204"/>
                        </a:spcBef>
                      </a:pPr>
                      <a:r>
                        <a:rPr sz="1100" b="0" spc="-20" dirty="0">
                          <a:solidFill>
                            <a:srgbClr val="231F20"/>
                          </a:solidFill>
                          <a:latin typeface="Aktiv Grotesk Light"/>
                          <a:cs typeface="Aktiv Grotesk Light"/>
                        </a:rPr>
                        <a:t>1.00</a:t>
                      </a:r>
                      <a:endParaRPr sz="1100">
                        <a:latin typeface="Aktiv Grotesk Light"/>
                        <a:cs typeface="Aktiv Grotesk Light"/>
                      </a:endParaRPr>
                    </a:p>
                  </a:txBody>
                  <a:tcPr marL="0" marR="0" marT="26034" marB="0"/>
                </a:tc>
                <a:tc>
                  <a:txBody>
                    <a:bodyPr/>
                    <a:lstStyle/>
                    <a:p>
                      <a:pPr marL="62230" algn="ctr">
                        <a:lnSpc>
                          <a:spcPct val="100000"/>
                        </a:lnSpc>
                        <a:spcBef>
                          <a:spcPts val="204"/>
                        </a:spcBef>
                      </a:pPr>
                      <a:r>
                        <a:rPr sz="1100" b="0" spc="-20" dirty="0">
                          <a:solidFill>
                            <a:srgbClr val="231F20"/>
                          </a:solidFill>
                          <a:latin typeface="Aktiv Grotesk Light"/>
                          <a:cs typeface="Aktiv Grotesk Light"/>
                        </a:rPr>
                        <a:t>0.00</a:t>
                      </a:r>
                      <a:endParaRPr sz="1100">
                        <a:latin typeface="Aktiv Grotesk Light"/>
                        <a:cs typeface="Aktiv Grotesk Light"/>
                      </a:endParaRPr>
                    </a:p>
                  </a:txBody>
                  <a:tcPr marL="0" marR="0" marT="26034" marB="0"/>
                </a:tc>
                <a:tc>
                  <a:txBody>
                    <a:bodyPr/>
                    <a:lstStyle/>
                    <a:p>
                      <a:pPr marL="30480" algn="ctr">
                        <a:lnSpc>
                          <a:spcPct val="100000"/>
                        </a:lnSpc>
                        <a:spcBef>
                          <a:spcPts val="204"/>
                        </a:spcBef>
                      </a:pPr>
                      <a:r>
                        <a:rPr sz="1100" b="0" spc="-20" dirty="0">
                          <a:solidFill>
                            <a:srgbClr val="231F20"/>
                          </a:solidFill>
                          <a:latin typeface="Aktiv Grotesk Light"/>
                          <a:cs typeface="Aktiv Grotesk Light"/>
                        </a:rPr>
                        <a:t>0.00</a:t>
                      </a:r>
                      <a:endParaRPr sz="1100">
                        <a:latin typeface="Aktiv Grotesk Light"/>
                        <a:cs typeface="Aktiv Grotesk Light"/>
                      </a:endParaRPr>
                    </a:p>
                  </a:txBody>
                  <a:tcPr marL="0" marR="0" marT="26034" marB="0"/>
                </a:tc>
                <a:tc>
                  <a:txBody>
                    <a:bodyPr/>
                    <a:lstStyle/>
                    <a:p>
                      <a:pPr marL="20320" algn="ctr">
                        <a:lnSpc>
                          <a:spcPct val="100000"/>
                        </a:lnSpc>
                        <a:spcBef>
                          <a:spcPts val="204"/>
                        </a:spcBef>
                      </a:pPr>
                      <a:r>
                        <a:rPr sz="1100" b="0" spc="-20" dirty="0">
                          <a:solidFill>
                            <a:srgbClr val="231F20"/>
                          </a:solidFill>
                          <a:latin typeface="Aktiv Grotesk Light"/>
                          <a:cs typeface="Aktiv Grotesk Light"/>
                        </a:rPr>
                        <a:t>1.00</a:t>
                      </a:r>
                      <a:endParaRPr sz="1100">
                        <a:latin typeface="Aktiv Grotesk Light"/>
                        <a:cs typeface="Aktiv Grotesk Light"/>
                      </a:endParaRPr>
                    </a:p>
                  </a:txBody>
                  <a:tcPr marL="0" marR="0" marT="26034" marB="0"/>
                </a:tc>
                <a:tc>
                  <a:txBody>
                    <a:bodyPr/>
                    <a:lstStyle/>
                    <a:p>
                      <a:pPr marL="17145" algn="ctr">
                        <a:lnSpc>
                          <a:spcPct val="100000"/>
                        </a:lnSpc>
                        <a:spcBef>
                          <a:spcPts val="204"/>
                        </a:spcBef>
                      </a:pPr>
                      <a:r>
                        <a:rPr sz="1100" b="0" spc="-20" dirty="0">
                          <a:solidFill>
                            <a:srgbClr val="231F20"/>
                          </a:solidFill>
                          <a:latin typeface="Aktiv Grotesk Light"/>
                          <a:cs typeface="Aktiv Grotesk Light"/>
                        </a:rPr>
                        <a:t>1.00</a:t>
                      </a:r>
                      <a:endParaRPr sz="1100">
                        <a:latin typeface="Aktiv Grotesk Light"/>
                        <a:cs typeface="Aktiv Grotesk Light"/>
                      </a:endParaRPr>
                    </a:p>
                  </a:txBody>
                  <a:tcPr marL="0" marR="0" marT="26034" marB="0"/>
                </a:tc>
                <a:tc>
                  <a:txBody>
                    <a:bodyPr/>
                    <a:lstStyle/>
                    <a:p>
                      <a:pPr marL="72390" algn="ctr">
                        <a:lnSpc>
                          <a:spcPct val="100000"/>
                        </a:lnSpc>
                        <a:spcBef>
                          <a:spcPts val="204"/>
                        </a:spcBef>
                      </a:pPr>
                      <a:r>
                        <a:rPr sz="1100" b="0" spc="-20" dirty="0">
                          <a:solidFill>
                            <a:srgbClr val="231F20"/>
                          </a:solidFill>
                          <a:latin typeface="Aktiv Grotesk Light"/>
                          <a:cs typeface="Aktiv Grotesk Light"/>
                        </a:rPr>
                        <a:t>1.00</a:t>
                      </a:r>
                      <a:endParaRPr sz="1100">
                        <a:latin typeface="Aktiv Grotesk Light"/>
                        <a:cs typeface="Aktiv Grotesk Light"/>
                      </a:endParaRPr>
                    </a:p>
                  </a:txBody>
                  <a:tcPr marL="0" marR="0" marT="26034" marB="0"/>
                </a:tc>
                <a:tc>
                  <a:txBody>
                    <a:bodyPr/>
                    <a:lstStyle/>
                    <a:p>
                      <a:pPr>
                        <a:lnSpc>
                          <a:spcPct val="100000"/>
                        </a:lnSpc>
                      </a:pPr>
                      <a:endParaRPr sz="1100">
                        <a:latin typeface="Times New Roman"/>
                        <a:cs typeface="Times New Roman"/>
                      </a:endParaRPr>
                    </a:p>
                  </a:txBody>
                  <a:tcPr marL="0" marR="0" marT="0" marB="0"/>
                </a:tc>
                <a:extLst>
                  <a:ext uri="{0D108BD9-81ED-4DB2-BD59-A6C34878D82A}">
                    <a16:rowId xmlns:a16="http://schemas.microsoft.com/office/drawing/2014/main" val="10004"/>
                  </a:ext>
                </a:extLst>
              </a:tr>
              <a:tr h="398145">
                <a:tc>
                  <a:txBody>
                    <a:bodyPr/>
                    <a:lstStyle/>
                    <a:p>
                      <a:pPr marL="170815" marR="221615" indent="-106680">
                        <a:lnSpc>
                          <a:spcPts val="1260"/>
                        </a:lnSpc>
                        <a:spcBef>
                          <a:spcPts val="300"/>
                        </a:spcBef>
                      </a:pPr>
                      <a:r>
                        <a:rPr sz="1100" b="0" spc="-10" dirty="0">
                          <a:solidFill>
                            <a:srgbClr val="231F20"/>
                          </a:solidFill>
                          <a:latin typeface="Aktiv Grotesk Light"/>
                          <a:cs typeface="Aktiv Grotesk Light"/>
                        </a:rPr>
                        <a:t>Normalized </a:t>
                      </a:r>
                      <a:r>
                        <a:rPr sz="1100" b="0" dirty="0">
                          <a:solidFill>
                            <a:srgbClr val="231F20"/>
                          </a:solidFill>
                          <a:latin typeface="Aktiv Grotesk Light"/>
                          <a:cs typeface="Aktiv Grotesk Light"/>
                        </a:rPr>
                        <a:t>score</a:t>
                      </a:r>
                      <a:r>
                        <a:rPr sz="1100" b="0" spc="120" dirty="0">
                          <a:solidFill>
                            <a:srgbClr val="231F20"/>
                          </a:solidFill>
                          <a:latin typeface="Aktiv Grotesk Light"/>
                          <a:cs typeface="Aktiv Grotesk Light"/>
                        </a:rPr>
                        <a:t> </a:t>
                      </a:r>
                      <a:r>
                        <a:rPr sz="1100" dirty="0">
                          <a:solidFill>
                            <a:srgbClr val="231F20"/>
                          </a:solidFill>
                          <a:latin typeface="STIX Two Text"/>
                          <a:cs typeface="STIX Two Text"/>
                        </a:rPr>
                        <a:t>×</a:t>
                      </a:r>
                      <a:r>
                        <a:rPr sz="1100" spc="105" dirty="0">
                          <a:solidFill>
                            <a:srgbClr val="231F20"/>
                          </a:solidFill>
                          <a:latin typeface="STIX Two Text"/>
                          <a:cs typeface="STIX Two Text"/>
                        </a:rPr>
                        <a:t> </a:t>
                      </a:r>
                      <a:r>
                        <a:rPr sz="1100" b="0" spc="-25" dirty="0">
                          <a:solidFill>
                            <a:srgbClr val="231F20"/>
                          </a:solidFill>
                          <a:latin typeface="Aktiv Grotesk Light"/>
                          <a:cs typeface="Aktiv Grotesk Light"/>
                        </a:rPr>
                        <a:t>wt.</a:t>
                      </a:r>
                      <a:endParaRPr sz="1100">
                        <a:latin typeface="Aktiv Grotesk Light"/>
                        <a:cs typeface="Aktiv Grotesk Light"/>
                      </a:endParaRPr>
                    </a:p>
                  </a:txBody>
                  <a:tcPr marL="0" marR="0" marT="38100" marB="0"/>
                </a:tc>
                <a:tc>
                  <a:txBody>
                    <a:bodyPr/>
                    <a:lstStyle/>
                    <a:p>
                      <a:pPr marR="378460" algn="r">
                        <a:lnSpc>
                          <a:spcPct val="100000"/>
                        </a:lnSpc>
                        <a:spcBef>
                          <a:spcPts val="204"/>
                        </a:spcBef>
                      </a:pPr>
                      <a:r>
                        <a:rPr sz="1100" b="0" spc="-20" dirty="0">
                          <a:solidFill>
                            <a:srgbClr val="231F20"/>
                          </a:solidFill>
                          <a:latin typeface="Aktiv Grotesk Light"/>
                          <a:cs typeface="Aktiv Grotesk Light"/>
                        </a:rPr>
                        <a:t>0.21</a:t>
                      </a:r>
                      <a:endParaRPr sz="1100">
                        <a:latin typeface="Aktiv Grotesk Light"/>
                        <a:cs typeface="Aktiv Grotesk Light"/>
                      </a:endParaRPr>
                    </a:p>
                  </a:txBody>
                  <a:tcPr marL="0" marR="0" marT="26034" marB="0"/>
                </a:tc>
                <a:tc>
                  <a:txBody>
                    <a:bodyPr/>
                    <a:lstStyle/>
                    <a:p>
                      <a:pPr marL="62230" algn="ctr">
                        <a:lnSpc>
                          <a:spcPct val="100000"/>
                        </a:lnSpc>
                        <a:spcBef>
                          <a:spcPts val="204"/>
                        </a:spcBef>
                      </a:pPr>
                      <a:r>
                        <a:rPr sz="1100" b="0" spc="-20" dirty="0">
                          <a:solidFill>
                            <a:srgbClr val="231F20"/>
                          </a:solidFill>
                          <a:latin typeface="Aktiv Grotesk Light"/>
                          <a:cs typeface="Aktiv Grotesk Light"/>
                        </a:rPr>
                        <a:t>0.00</a:t>
                      </a:r>
                      <a:endParaRPr sz="1100">
                        <a:latin typeface="Aktiv Grotesk Light"/>
                        <a:cs typeface="Aktiv Grotesk Light"/>
                      </a:endParaRPr>
                    </a:p>
                  </a:txBody>
                  <a:tcPr marL="0" marR="0" marT="26034" marB="0"/>
                </a:tc>
                <a:tc>
                  <a:txBody>
                    <a:bodyPr/>
                    <a:lstStyle/>
                    <a:p>
                      <a:pPr marL="30480" algn="ctr">
                        <a:lnSpc>
                          <a:spcPct val="100000"/>
                        </a:lnSpc>
                        <a:spcBef>
                          <a:spcPts val="204"/>
                        </a:spcBef>
                      </a:pPr>
                      <a:r>
                        <a:rPr sz="1100" b="0" spc="-20" dirty="0">
                          <a:solidFill>
                            <a:srgbClr val="231F20"/>
                          </a:solidFill>
                          <a:latin typeface="Aktiv Grotesk Light"/>
                          <a:cs typeface="Aktiv Grotesk Light"/>
                        </a:rPr>
                        <a:t>0.00</a:t>
                      </a:r>
                      <a:endParaRPr sz="1100">
                        <a:latin typeface="Aktiv Grotesk Light"/>
                        <a:cs typeface="Aktiv Grotesk Light"/>
                      </a:endParaRPr>
                    </a:p>
                  </a:txBody>
                  <a:tcPr marL="0" marR="0" marT="26034" marB="0"/>
                </a:tc>
                <a:tc>
                  <a:txBody>
                    <a:bodyPr/>
                    <a:lstStyle/>
                    <a:p>
                      <a:pPr marL="20320" algn="ctr">
                        <a:lnSpc>
                          <a:spcPct val="100000"/>
                        </a:lnSpc>
                        <a:spcBef>
                          <a:spcPts val="204"/>
                        </a:spcBef>
                      </a:pPr>
                      <a:r>
                        <a:rPr sz="1100" b="0" spc="-20" dirty="0">
                          <a:solidFill>
                            <a:srgbClr val="231F20"/>
                          </a:solidFill>
                          <a:latin typeface="Aktiv Grotesk Light"/>
                          <a:cs typeface="Aktiv Grotesk Light"/>
                        </a:rPr>
                        <a:t>0.19</a:t>
                      </a:r>
                      <a:endParaRPr sz="1100">
                        <a:latin typeface="Aktiv Grotesk Light"/>
                        <a:cs typeface="Aktiv Grotesk Light"/>
                      </a:endParaRPr>
                    </a:p>
                  </a:txBody>
                  <a:tcPr marL="0" marR="0" marT="26034" marB="0"/>
                </a:tc>
                <a:tc>
                  <a:txBody>
                    <a:bodyPr/>
                    <a:lstStyle/>
                    <a:p>
                      <a:pPr marL="17145" algn="ctr">
                        <a:lnSpc>
                          <a:spcPct val="100000"/>
                        </a:lnSpc>
                        <a:spcBef>
                          <a:spcPts val="204"/>
                        </a:spcBef>
                      </a:pPr>
                      <a:r>
                        <a:rPr sz="1100" b="0" spc="-20" dirty="0">
                          <a:solidFill>
                            <a:srgbClr val="231F20"/>
                          </a:solidFill>
                          <a:latin typeface="Aktiv Grotesk Light"/>
                          <a:cs typeface="Aktiv Grotesk Light"/>
                        </a:rPr>
                        <a:t>0.15</a:t>
                      </a:r>
                      <a:endParaRPr sz="1100">
                        <a:latin typeface="Aktiv Grotesk Light"/>
                        <a:cs typeface="Aktiv Grotesk Light"/>
                      </a:endParaRPr>
                    </a:p>
                  </a:txBody>
                  <a:tcPr marL="0" marR="0" marT="26034" marB="0"/>
                </a:tc>
                <a:tc>
                  <a:txBody>
                    <a:bodyPr/>
                    <a:lstStyle/>
                    <a:p>
                      <a:pPr marL="72390" algn="ctr">
                        <a:lnSpc>
                          <a:spcPct val="100000"/>
                        </a:lnSpc>
                        <a:spcBef>
                          <a:spcPts val="204"/>
                        </a:spcBef>
                      </a:pPr>
                      <a:r>
                        <a:rPr sz="1100" b="0" spc="-20" dirty="0">
                          <a:solidFill>
                            <a:srgbClr val="231F20"/>
                          </a:solidFill>
                          <a:latin typeface="Aktiv Grotesk Light"/>
                          <a:cs typeface="Aktiv Grotesk Light"/>
                        </a:rPr>
                        <a:t>0.18</a:t>
                      </a:r>
                      <a:endParaRPr sz="1100">
                        <a:latin typeface="Aktiv Grotesk Light"/>
                        <a:cs typeface="Aktiv Grotesk Light"/>
                      </a:endParaRPr>
                    </a:p>
                  </a:txBody>
                  <a:tcPr marL="0" marR="0" marT="26034" marB="0"/>
                </a:tc>
                <a:tc>
                  <a:txBody>
                    <a:bodyPr/>
                    <a:lstStyle/>
                    <a:p>
                      <a:pPr marL="55244" algn="ctr">
                        <a:lnSpc>
                          <a:spcPct val="100000"/>
                        </a:lnSpc>
                        <a:spcBef>
                          <a:spcPts val="204"/>
                        </a:spcBef>
                      </a:pPr>
                      <a:r>
                        <a:rPr sz="1100" b="0" spc="-20" dirty="0">
                          <a:solidFill>
                            <a:srgbClr val="231F20"/>
                          </a:solidFill>
                          <a:latin typeface="Aktiv Grotesk Light"/>
                          <a:cs typeface="Aktiv Grotesk Light"/>
                        </a:rPr>
                        <a:t>0.72</a:t>
                      </a:r>
                      <a:endParaRPr sz="1100">
                        <a:latin typeface="Aktiv Grotesk Light"/>
                        <a:cs typeface="Aktiv Grotesk Light"/>
                      </a:endParaRPr>
                    </a:p>
                  </a:txBody>
                  <a:tcPr marL="0" marR="0" marT="26034" marB="0"/>
                </a:tc>
                <a:extLst>
                  <a:ext uri="{0D108BD9-81ED-4DB2-BD59-A6C34878D82A}">
                    <a16:rowId xmlns:a16="http://schemas.microsoft.com/office/drawing/2014/main" val="10005"/>
                  </a:ext>
                </a:extLst>
              </a:tr>
              <a:tr h="218440">
                <a:tc>
                  <a:txBody>
                    <a:bodyPr/>
                    <a:lstStyle/>
                    <a:p>
                      <a:pPr marL="64135">
                        <a:lnSpc>
                          <a:spcPct val="100000"/>
                        </a:lnSpc>
                        <a:spcBef>
                          <a:spcPts val="145"/>
                        </a:spcBef>
                      </a:pPr>
                      <a:r>
                        <a:rPr sz="1050" b="0" spc="-10" dirty="0">
                          <a:solidFill>
                            <a:srgbClr val="231F20"/>
                          </a:solidFill>
                          <a:latin typeface="Aktiv Grotesk Medium"/>
                          <a:cs typeface="Aktiv Grotesk Medium"/>
                        </a:rPr>
                        <a:t>MODERATE</a:t>
                      </a:r>
                      <a:endParaRPr sz="1050">
                        <a:latin typeface="Aktiv Grotesk Medium"/>
                        <a:cs typeface="Aktiv Grotesk Medium"/>
                      </a:endParaRPr>
                    </a:p>
                  </a:txBody>
                  <a:tcPr marL="0" marR="0" marT="18415" marB="0"/>
                </a:tc>
                <a:tc>
                  <a:txBody>
                    <a:bodyPr/>
                    <a:lstStyle/>
                    <a:p>
                      <a:pPr>
                        <a:lnSpc>
                          <a:spcPct val="100000"/>
                        </a:lnSpc>
                      </a:pPr>
                      <a:endParaRPr sz="1100">
                        <a:latin typeface="Times New Roman"/>
                        <a:cs typeface="Times New Roman"/>
                      </a:endParaRPr>
                    </a:p>
                  </a:txBody>
                  <a:tcPr marL="0" marR="0" marT="0" marB="0"/>
                </a:tc>
                <a:tc>
                  <a:txBody>
                    <a:bodyPr/>
                    <a:lstStyle/>
                    <a:p>
                      <a:pPr>
                        <a:lnSpc>
                          <a:spcPct val="100000"/>
                        </a:lnSpc>
                      </a:pPr>
                      <a:endParaRPr sz="1100">
                        <a:latin typeface="Times New Roman"/>
                        <a:cs typeface="Times New Roman"/>
                      </a:endParaRPr>
                    </a:p>
                  </a:txBody>
                  <a:tcPr marL="0" marR="0" marT="0" marB="0"/>
                </a:tc>
                <a:tc>
                  <a:txBody>
                    <a:bodyPr/>
                    <a:lstStyle/>
                    <a:p>
                      <a:pPr>
                        <a:lnSpc>
                          <a:spcPct val="100000"/>
                        </a:lnSpc>
                      </a:pPr>
                      <a:endParaRPr sz="1100">
                        <a:latin typeface="Times New Roman"/>
                        <a:cs typeface="Times New Roman"/>
                      </a:endParaRPr>
                    </a:p>
                  </a:txBody>
                  <a:tcPr marL="0" marR="0" marT="0" marB="0"/>
                </a:tc>
                <a:tc>
                  <a:txBody>
                    <a:bodyPr/>
                    <a:lstStyle/>
                    <a:p>
                      <a:pPr>
                        <a:lnSpc>
                          <a:spcPct val="100000"/>
                        </a:lnSpc>
                      </a:pPr>
                      <a:endParaRPr sz="1100">
                        <a:latin typeface="Times New Roman"/>
                        <a:cs typeface="Times New Roman"/>
                      </a:endParaRPr>
                    </a:p>
                  </a:txBody>
                  <a:tcPr marL="0" marR="0" marT="0" marB="0"/>
                </a:tc>
                <a:tc>
                  <a:txBody>
                    <a:bodyPr/>
                    <a:lstStyle/>
                    <a:p>
                      <a:pPr>
                        <a:lnSpc>
                          <a:spcPct val="100000"/>
                        </a:lnSpc>
                      </a:pPr>
                      <a:endParaRPr sz="1100">
                        <a:latin typeface="Times New Roman"/>
                        <a:cs typeface="Times New Roman"/>
                      </a:endParaRPr>
                    </a:p>
                  </a:txBody>
                  <a:tcPr marL="0" marR="0" marT="0" marB="0"/>
                </a:tc>
                <a:tc>
                  <a:txBody>
                    <a:bodyPr/>
                    <a:lstStyle/>
                    <a:p>
                      <a:pPr>
                        <a:lnSpc>
                          <a:spcPct val="100000"/>
                        </a:lnSpc>
                      </a:pPr>
                      <a:endParaRPr sz="1100">
                        <a:latin typeface="Times New Roman"/>
                        <a:cs typeface="Times New Roman"/>
                      </a:endParaRPr>
                    </a:p>
                  </a:txBody>
                  <a:tcPr marL="0" marR="0" marT="0" marB="0"/>
                </a:tc>
                <a:tc>
                  <a:txBody>
                    <a:bodyPr/>
                    <a:lstStyle/>
                    <a:p>
                      <a:pPr>
                        <a:lnSpc>
                          <a:spcPct val="100000"/>
                        </a:lnSpc>
                      </a:pPr>
                      <a:endParaRPr sz="1100">
                        <a:latin typeface="Times New Roman"/>
                        <a:cs typeface="Times New Roman"/>
                      </a:endParaRPr>
                    </a:p>
                  </a:txBody>
                  <a:tcPr marL="0" marR="0" marT="0" marB="0"/>
                </a:tc>
                <a:extLst>
                  <a:ext uri="{0D108BD9-81ED-4DB2-BD59-A6C34878D82A}">
                    <a16:rowId xmlns:a16="http://schemas.microsoft.com/office/drawing/2014/main" val="10006"/>
                  </a:ext>
                </a:extLst>
              </a:tr>
              <a:tr h="394970">
                <a:tc>
                  <a:txBody>
                    <a:bodyPr/>
                    <a:lstStyle/>
                    <a:p>
                      <a:pPr marL="170815" marR="354330" indent="-106680">
                        <a:lnSpc>
                          <a:spcPts val="1260"/>
                        </a:lnSpc>
                        <a:spcBef>
                          <a:spcPts val="334"/>
                        </a:spcBef>
                      </a:pPr>
                      <a:r>
                        <a:rPr sz="1100" b="0" spc="-10" dirty="0">
                          <a:solidFill>
                            <a:srgbClr val="231F20"/>
                          </a:solidFill>
                          <a:latin typeface="Aktiv Grotesk Light"/>
                          <a:cs typeface="Aktiv Grotesk Light"/>
                        </a:rPr>
                        <a:t>Expected outcome</a:t>
                      </a:r>
                      <a:endParaRPr sz="1100">
                        <a:latin typeface="Aktiv Grotesk Light"/>
                        <a:cs typeface="Aktiv Grotesk Light"/>
                      </a:endParaRPr>
                    </a:p>
                  </a:txBody>
                  <a:tcPr marL="0" marR="0" marT="42544" marB="0"/>
                </a:tc>
                <a:tc>
                  <a:txBody>
                    <a:bodyPr/>
                    <a:lstStyle/>
                    <a:p>
                      <a:pPr marL="52069" algn="ctr">
                        <a:lnSpc>
                          <a:spcPct val="100000"/>
                        </a:lnSpc>
                        <a:spcBef>
                          <a:spcPts val="240"/>
                        </a:spcBef>
                      </a:pPr>
                      <a:r>
                        <a:rPr sz="1100" b="0" spc="-25" dirty="0">
                          <a:solidFill>
                            <a:srgbClr val="231F20"/>
                          </a:solidFill>
                          <a:latin typeface="Aktiv Grotesk Light"/>
                          <a:cs typeface="Aktiv Grotesk Light"/>
                        </a:rPr>
                        <a:t>0.8</a:t>
                      </a:r>
                      <a:endParaRPr sz="1100">
                        <a:latin typeface="Aktiv Grotesk Light"/>
                        <a:cs typeface="Aktiv Grotesk Light"/>
                      </a:endParaRPr>
                    </a:p>
                  </a:txBody>
                  <a:tcPr marL="0" marR="0" marT="30480" marB="0"/>
                </a:tc>
                <a:tc>
                  <a:txBody>
                    <a:bodyPr/>
                    <a:lstStyle/>
                    <a:p>
                      <a:pPr marL="62230" algn="ctr">
                        <a:lnSpc>
                          <a:spcPct val="100000"/>
                        </a:lnSpc>
                        <a:spcBef>
                          <a:spcPts val="240"/>
                        </a:spcBef>
                      </a:pPr>
                      <a:r>
                        <a:rPr sz="1100" b="0" spc="-25" dirty="0">
                          <a:solidFill>
                            <a:srgbClr val="231F20"/>
                          </a:solidFill>
                          <a:latin typeface="Aktiv Grotesk Light"/>
                          <a:cs typeface="Aktiv Grotesk Light"/>
                        </a:rPr>
                        <a:t>100</a:t>
                      </a:r>
                      <a:endParaRPr sz="1100">
                        <a:latin typeface="Aktiv Grotesk Light"/>
                        <a:cs typeface="Aktiv Grotesk Light"/>
                      </a:endParaRPr>
                    </a:p>
                  </a:txBody>
                  <a:tcPr marL="0" marR="0" marT="30480" marB="0"/>
                </a:tc>
                <a:tc>
                  <a:txBody>
                    <a:bodyPr/>
                    <a:lstStyle/>
                    <a:p>
                      <a:pPr marL="30480" algn="ctr">
                        <a:lnSpc>
                          <a:spcPct val="100000"/>
                        </a:lnSpc>
                        <a:spcBef>
                          <a:spcPts val="240"/>
                        </a:spcBef>
                      </a:pPr>
                      <a:r>
                        <a:rPr sz="1100" b="0" spc="-25" dirty="0">
                          <a:solidFill>
                            <a:srgbClr val="231F20"/>
                          </a:solidFill>
                          <a:latin typeface="Aktiv Grotesk Light"/>
                          <a:cs typeface="Aktiv Grotesk Light"/>
                        </a:rPr>
                        <a:t>170</a:t>
                      </a:r>
                      <a:endParaRPr sz="1100">
                        <a:latin typeface="Aktiv Grotesk Light"/>
                        <a:cs typeface="Aktiv Grotesk Light"/>
                      </a:endParaRPr>
                    </a:p>
                  </a:txBody>
                  <a:tcPr marL="0" marR="0" marT="30480" marB="0"/>
                </a:tc>
                <a:tc>
                  <a:txBody>
                    <a:bodyPr/>
                    <a:lstStyle/>
                    <a:p>
                      <a:pPr marL="20320" algn="ctr">
                        <a:lnSpc>
                          <a:spcPct val="100000"/>
                        </a:lnSpc>
                        <a:spcBef>
                          <a:spcPts val="240"/>
                        </a:spcBef>
                      </a:pPr>
                      <a:r>
                        <a:rPr sz="1100" b="0" spc="-25" dirty="0">
                          <a:solidFill>
                            <a:srgbClr val="231F20"/>
                          </a:solidFill>
                          <a:latin typeface="Aktiv Grotesk Light"/>
                          <a:cs typeface="Aktiv Grotesk Light"/>
                        </a:rPr>
                        <a:t>16</a:t>
                      </a:r>
                      <a:endParaRPr sz="1100">
                        <a:latin typeface="Aktiv Grotesk Light"/>
                        <a:cs typeface="Aktiv Grotesk Light"/>
                      </a:endParaRPr>
                    </a:p>
                  </a:txBody>
                  <a:tcPr marL="0" marR="0" marT="30480" marB="0"/>
                </a:tc>
                <a:tc>
                  <a:txBody>
                    <a:bodyPr/>
                    <a:lstStyle/>
                    <a:p>
                      <a:pPr marL="17145" algn="ctr">
                        <a:lnSpc>
                          <a:spcPct val="100000"/>
                        </a:lnSpc>
                        <a:spcBef>
                          <a:spcPts val="240"/>
                        </a:spcBef>
                      </a:pPr>
                      <a:r>
                        <a:rPr sz="1100" b="0" spc="-25" dirty="0">
                          <a:solidFill>
                            <a:srgbClr val="231F20"/>
                          </a:solidFill>
                          <a:latin typeface="Aktiv Grotesk Light"/>
                          <a:cs typeface="Aktiv Grotesk Light"/>
                        </a:rPr>
                        <a:t>0.8</a:t>
                      </a:r>
                      <a:endParaRPr sz="1100">
                        <a:latin typeface="Aktiv Grotesk Light"/>
                        <a:cs typeface="Aktiv Grotesk Light"/>
                      </a:endParaRPr>
                    </a:p>
                  </a:txBody>
                  <a:tcPr marL="0" marR="0" marT="30480" marB="0"/>
                </a:tc>
                <a:tc>
                  <a:txBody>
                    <a:bodyPr/>
                    <a:lstStyle/>
                    <a:p>
                      <a:pPr marL="72390" algn="ctr">
                        <a:lnSpc>
                          <a:spcPct val="100000"/>
                        </a:lnSpc>
                        <a:spcBef>
                          <a:spcPts val="240"/>
                        </a:spcBef>
                      </a:pPr>
                      <a:r>
                        <a:rPr sz="1100" b="0" spc="-25" dirty="0">
                          <a:solidFill>
                            <a:srgbClr val="231F20"/>
                          </a:solidFill>
                          <a:latin typeface="Aktiv Grotesk Light"/>
                          <a:cs typeface="Aktiv Grotesk Light"/>
                        </a:rPr>
                        <a:t>135</a:t>
                      </a:r>
                      <a:endParaRPr sz="1100">
                        <a:latin typeface="Aktiv Grotesk Light"/>
                        <a:cs typeface="Aktiv Grotesk Light"/>
                      </a:endParaRPr>
                    </a:p>
                  </a:txBody>
                  <a:tcPr marL="0" marR="0" marT="30480" marB="0"/>
                </a:tc>
                <a:tc>
                  <a:txBody>
                    <a:bodyPr/>
                    <a:lstStyle/>
                    <a:p>
                      <a:pPr>
                        <a:lnSpc>
                          <a:spcPct val="100000"/>
                        </a:lnSpc>
                      </a:pPr>
                      <a:endParaRPr sz="1100">
                        <a:latin typeface="Times New Roman"/>
                        <a:cs typeface="Times New Roman"/>
                      </a:endParaRPr>
                    </a:p>
                  </a:txBody>
                  <a:tcPr marL="0" marR="0" marT="0" marB="0"/>
                </a:tc>
                <a:extLst>
                  <a:ext uri="{0D108BD9-81ED-4DB2-BD59-A6C34878D82A}">
                    <a16:rowId xmlns:a16="http://schemas.microsoft.com/office/drawing/2014/main" val="10007"/>
                  </a:ext>
                </a:extLst>
              </a:tr>
              <a:tr h="390525">
                <a:tc>
                  <a:txBody>
                    <a:bodyPr/>
                    <a:lstStyle/>
                    <a:p>
                      <a:pPr marL="170815" marR="313690" indent="-106680">
                        <a:lnSpc>
                          <a:spcPts val="1260"/>
                        </a:lnSpc>
                        <a:spcBef>
                          <a:spcPts val="300"/>
                        </a:spcBef>
                      </a:pPr>
                      <a:r>
                        <a:rPr sz="1100" b="0" spc="-10" dirty="0">
                          <a:solidFill>
                            <a:srgbClr val="231F20"/>
                          </a:solidFill>
                          <a:latin typeface="Aktiv Grotesk Light"/>
                          <a:cs typeface="Aktiv Grotesk Light"/>
                        </a:rPr>
                        <a:t>Normalized score</a:t>
                      </a:r>
                      <a:endParaRPr sz="1100">
                        <a:latin typeface="Aktiv Grotesk Light"/>
                        <a:cs typeface="Aktiv Grotesk Light"/>
                      </a:endParaRPr>
                    </a:p>
                  </a:txBody>
                  <a:tcPr marL="0" marR="0" marT="38100" marB="0"/>
                </a:tc>
                <a:tc>
                  <a:txBody>
                    <a:bodyPr/>
                    <a:lstStyle/>
                    <a:p>
                      <a:pPr marR="378460" algn="r">
                        <a:lnSpc>
                          <a:spcPct val="100000"/>
                        </a:lnSpc>
                        <a:spcBef>
                          <a:spcPts val="204"/>
                        </a:spcBef>
                      </a:pPr>
                      <a:r>
                        <a:rPr sz="1100" b="0" spc="-20" dirty="0">
                          <a:solidFill>
                            <a:srgbClr val="231F20"/>
                          </a:solidFill>
                          <a:latin typeface="Aktiv Grotesk Light"/>
                          <a:cs typeface="Aktiv Grotesk Light"/>
                        </a:rPr>
                        <a:t>0.80</a:t>
                      </a:r>
                      <a:endParaRPr sz="1100">
                        <a:latin typeface="Aktiv Grotesk Light"/>
                        <a:cs typeface="Aktiv Grotesk Light"/>
                      </a:endParaRPr>
                    </a:p>
                  </a:txBody>
                  <a:tcPr marL="0" marR="0" marT="26034" marB="0"/>
                </a:tc>
                <a:tc>
                  <a:txBody>
                    <a:bodyPr/>
                    <a:lstStyle/>
                    <a:p>
                      <a:pPr marL="62230" algn="ctr">
                        <a:lnSpc>
                          <a:spcPct val="100000"/>
                        </a:lnSpc>
                        <a:spcBef>
                          <a:spcPts val="204"/>
                        </a:spcBef>
                      </a:pPr>
                      <a:r>
                        <a:rPr sz="1100" b="0" spc="-20" dirty="0">
                          <a:solidFill>
                            <a:srgbClr val="231F20"/>
                          </a:solidFill>
                          <a:latin typeface="Aktiv Grotesk Light"/>
                          <a:cs typeface="Aktiv Grotesk Light"/>
                        </a:rPr>
                        <a:t>0.05</a:t>
                      </a:r>
                      <a:endParaRPr sz="1100">
                        <a:latin typeface="Aktiv Grotesk Light"/>
                        <a:cs typeface="Aktiv Grotesk Light"/>
                      </a:endParaRPr>
                    </a:p>
                  </a:txBody>
                  <a:tcPr marL="0" marR="0" marT="26034" marB="0"/>
                </a:tc>
                <a:tc>
                  <a:txBody>
                    <a:bodyPr/>
                    <a:lstStyle/>
                    <a:p>
                      <a:pPr marL="30480" algn="ctr">
                        <a:lnSpc>
                          <a:spcPct val="100000"/>
                        </a:lnSpc>
                        <a:spcBef>
                          <a:spcPts val="204"/>
                        </a:spcBef>
                      </a:pPr>
                      <a:r>
                        <a:rPr sz="1100" b="0" spc="-20" dirty="0">
                          <a:solidFill>
                            <a:srgbClr val="231F20"/>
                          </a:solidFill>
                          <a:latin typeface="Aktiv Grotesk Light"/>
                          <a:cs typeface="Aktiv Grotesk Light"/>
                        </a:rPr>
                        <a:t>0.23</a:t>
                      </a:r>
                      <a:endParaRPr sz="1100">
                        <a:latin typeface="Aktiv Grotesk Light"/>
                        <a:cs typeface="Aktiv Grotesk Light"/>
                      </a:endParaRPr>
                    </a:p>
                  </a:txBody>
                  <a:tcPr marL="0" marR="0" marT="26034" marB="0"/>
                </a:tc>
                <a:tc>
                  <a:txBody>
                    <a:bodyPr/>
                    <a:lstStyle/>
                    <a:p>
                      <a:pPr marL="20320" algn="ctr">
                        <a:lnSpc>
                          <a:spcPct val="100000"/>
                        </a:lnSpc>
                        <a:spcBef>
                          <a:spcPts val="204"/>
                        </a:spcBef>
                      </a:pPr>
                      <a:r>
                        <a:rPr sz="1100" b="0" spc="-20" dirty="0">
                          <a:solidFill>
                            <a:srgbClr val="231F20"/>
                          </a:solidFill>
                          <a:latin typeface="Aktiv Grotesk Light"/>
                          <a:cs typeface="Aktiv Grotesk Light"/>
                        </a:rPr>
                        <a:t>0.80</a:t>
                      </a:r>
                      <a:endParaRPr sz="1100">
                        <a:latin typeface="Aktiv Grotesk Light"/>
                        <a:cs typeface="Aktiv Grotesk Light"/>
                      </a:endParaRPr>
                    </a:p>
                  </a:txBody>
                  <a:tcPr marL="0" marR="0" marT="26034" marB="0"/>
                </a:tc>
                <a:tc>
                  <a:txBody>
                    <a:bodyPr/>
                    <a:lstStyle/>
                    <a:p>
                      <a:pPr marL="17145" algn="ctr">
                        <a:lnSpc>
                          <a:spcPct val="100000"/>
                        </a:lnSpc>
                        <a:spcBef>
                          <a:spcPts val="204"/>
                        </a:spcBef>
                      </a:pPr>
                      <a:r>
                        <a:rPr sz="1100" b="0" spc="-20" dirty="0">
                          <a:solidFill>
                            <a:srgbClr val="231F20"/>
                          </a:solidFill>
                          <a:latin typeface="Aktiv Grotesk Light"/>
                          <a:cs typeface="Aktiv Grotesk Light"/>
                        </a:rPr>
                        <a:t>0.80</a:t>
                      </a:r>
                      <a:endParaRPr sz="1100">
                        <a:latin typeface="Aktiv Grotesk Light"/>
                        <a:cs typeface="Aktiv Grotesk Light"/>
                      </a:endParaRPr>
                    </a:p>
                  </a:txBody>
                  <a:tcPr marL="0" marR="0" marT="26034" marB="0"/>
                </a:tc>
                <a:tc>
                  <a:txBody>
                    <a:bodyPr/>
                    <a:lstStyle/>
                    <a:p>
                      <a:pPr marL="72390" algn="ctr">
                        <a:lnSpc>
                          <a:spcPct val="100000"/>
                        </a:lnSpc>
                        <a:spcBef>
                          <a:spcPts val="204"/>
                        </a:spcBef>
                      </a:pPr>
                      <a:r>
                        <a:rPr sz="1100" b="0" spc="-20" dirty="0">
                          <a:solidFill>
                            <a:srgbClr val="231F20"/>
                          </a:solidFill>
                          <a:latin typeface="Aktiv Grotesk Light"/>
                          <a:cs typeface="Aktiv Grotesk Light"/>
                        </a:rPr>
                        <a:t>0.35</a:t>
                      </a:r>
                      <a:endParaRPr sz="1100">
                        <a:latin typeface="Aktiv Grotesk Light"/>
                        <a:cs typeface="Aktiv Grotesk Light"/>
                      </a:endParaRPr>
                    </a:p>
                  </a:txBody>
                  <a:tcPr marL="0" marR="0" marT="26034" marB="0"/>
                </a:tc>
                <a:tc>
                  <a:txBody>
                    <a:bodyPr/>
                    <a:lstStyle/>
                    <a:p>
                      <a:pPr>
                        <a:lnSpc>
                          <a:spcPct val="100000"/>
                        </a:lnSpc>
                      </a:pPr>
                      <a:endParaRPr sz="1100">
                        <a:latin typeface="Times New Roman"/>
                        <a:cs typeface="Times New Roman"/>
                      </a:endParaRPr>
                    </a:p>
                  </a:txBody>
                  <a:tcPr marL="0" marR="0" marT="0" marB="0"/>
                </a:tc>
                <a:extLst>
                  <a:ext uri="{0D108BD9-81ED-4DB2-BD59-A6C34878D82A}">
                    <a16:rowId xmlns:a16="http://schemas.microsoft.com/office/drawing/2014/main" val="10008"/>
                  </a:ext>
                </a:extLst>
              </a:tr>
              <a:tr h="378460">
                <a:tc>
                  <a:txBody>
                    <a:bodyPr/>
                    <a:lstStyle/>
                    <a:p>
                      <a:pPr marL="170815" marR="221615" indent="-106680">
                        <a:lnSpc>
                          <a:spcPts val="1260"/>
                        </a:lnSpc>
                        <a:spcBef>
                          <a:spcPts val="300"/>
                        </a:spcBef>
                      </a:pPr>
                      <a:r>
                        <a:rPr sz="1100" b="0" spc="-10" dirty="0">
                          <a:solidFill>
                            <a:srgbClr val="231F20"/>
                          </a:solidFill>
                          <a:latin typeface="Aktiv Grotesk Light"/>
                          <a:cs typeface="Aktiv Grotesk Light"/>
                        </a:rPr>
                        <a:t>Normalized </a:t>
                      </a:r>
                      <a:r>
                        <a:rPr sz="1100" b="0" dirty="0">
                          <a:solidFill>
                            <a:srgbClr val="231F20"/>
                          </a:solidFill>
                          <a:latin typeface="Aktiv Grotesk Light"/>
                          <a:cs typeface="Aktiv Grotesk Light"/>
                        </a:rPr>
                        <a:t>score</a:t>
                      </a:r>
                      <a:r>
                        <a:rPr sz="1100" b="0" spc="120" dirty="0">
                          <a:solidFill>
                            <a:srgbClr val="231F20"/>
                          </a:solidFill>
                          <a:latin typeface="Aktiv Grotesk Light"/>
                          <a:cs typeface="Aktiv Grotesk Light"/>
                        </a:rPr>
                        <a:t> </a:t>
                      </a:r>
                      <a:r>
                        <a:rPr sz="1100" dirty="0">
                          <a:solidFill>
                            <a:srgbClr val="231F20"/>
                          </a:solidFill>
                          <a:latin typeface="STIX Two Text"/>
                          <a:cs typeface="STIX Two Text"/>
                        </a:rPr>
                        <a:t>×</a:t>
                      </a:r>
                      <a:r>
                        <a:rPr sz="1100" spc="105" dirty="0">
                          <a:solidFill>
                            <a:srgbClr val="231F20"/>
                          </a:solidFill>
                          <a:latin typeface="STIX Two Text"/>
                          <a:cs typeface="STIX Two Text"/>
                        </a:rPr>
                        <a:t> </a:t>
                      </a:r>
                      <a:r>
                        <a:rPr sz="1100" b="0" spc="-25" dirty="0">
                          <a:solidFill>
                            <a:srgbClr val="231F20"/>
                          </a:solidFill>
                          <a:latin typeface="Aktiv Grotesk Light"/>
                          <a:cs typeface="Aktiv Grotesk Light"/>
                        </a:rPr>
                        <a:t>wt.</a:t>
                      </a:r>
                      <a:endParaRPr sz="1100">
                        <a:latin typeface="Aktiv Grotesk Light"/>
                        <a:cs typeface="Aktiv Grotesk Light"/>
                      </a:endParaRPr>
                    </a:p>
                  </a:txBody>
                  <a:tcPr marL="0" marR="0" marT="38100" marB="0"/>
                </a:tc>
                <a:tc>
                  <a:txBody>
                    <a:bodyPr/>
                    <a:lstStyle/>
                    <a:p>
                      <a:pPr marR="378460" algn="r">
                        <a:lnSpc>
                          <a:spcPct val="100000"/>
                        </a:lnSpc>
                        <a:spcBef>
                          <a:spcPts val="204"/>
                        </a:spcBef>
                      </a:pPr>
                      <a:r>
                        <a:rPr sz="1100" b="0" spc="-20" dirty="0">
                          <a:solidFill>
                            <a:srgbClr val="231F20"/>
                          </a:solidFill>
                          <a:latin typeface="Aktiv Grotesk Light"/>
                          <a:cs typeface="Aktiv Grotesk Light"/>
                        </a:rPr>
                        <a:t>0.17</a:t>
                      </a:r>
                      <a:endParaRPr sz="1100">
                        <a:latin typeface="Aktiv Grotesk Light"/>
                        <a:cs typeface="Aktiv Grotesk Light"/>
                      </a:endParaRPr>
                    </a:p>
                  </a:txBody>
                  <a:tcPr marL="0" marR="0" marT="26034" marB="0"/>
                </a:tc>
                <a:tc>
                  <a:txBody>
                    <a:bodyPr/>
                    <a:lstStyle/>
                    <a:p>
                      <a:pPr marL="62230" algn="ctr">
                        <a:lnSpc>
                          <a:spcPct val="100000"/>
                        </a:lnSpc>
                        <a:spcBef>
                          <a:spcPts val="204"/>
                        </a:spcBef>
                      </a:pPr>
                      <a:r>
                        <a:rPr sz="1100" b="0" spc="-20" dirty="0">
                          <a:solidFill>
                            <a:srgbClr val="231F20"/>
                          </a:solidFill>
                          <a:latin typeface="Aktiv Grotesk Light"/>
                          <a:cs typeface="Aktiv Grotesk Light"/>
                        </a:rPr>
                        <a:t>0.01</a:t>
                      </a:r>
                      <a:endParaRPr sz="1100">
                        <a:latin typeface="Aktiv Grotesk Light"/>
                        <a:cs typeface="Aktiv Grotesk Light"/>
                      </a:endParaRPr>
                    </a:p>
                  </a:txBody>
                  <a:tcPr marL="0" marR="0" marT="26034" marB="0"/>
                </a:tc>
                <a:tc>
                  <a:txBody>
                    <a:bodyPr/>
                    <a:lstStyle/>
                    <a:p>
                      <a:pPr marL="30480" algn="ctr">
                        <a:lnSpc>
                          <a:spcPct val="100000"/>
                        </a:lnSpc>
                        <a:spcBef>
                          <a:spcPts val="204"/>
                        </a:spcBef>
                      </a:pPr>
                      <a:r>
                        <a:rPr sz="1100" b="0" spc="-20" dirty="0">
                          <a:solidFill>
                            <a:srgbClr val="231F20"/>
                          </a:solidFill>
                          <a:latin typeface="Aktiv Grotesk Light"/>
                          <a:cs typeface="Aktiv Grotesk Light"/>
                        </a:rPr>
                        <a:t>0.03</a:t>
                      </a:r>
                      <a:endParaRPr sz="1100">
                        <a:latin typeface="Aktiv Grotesk Light"/>
                        <a:cs typeface="Aktiv Grotesk Light"/>
                      </a:endParaRPr>
                    </a:p>
                  </a:txBody>
                  <a:tcPr marL="0" marR="0" marT="26034" marB="0"/>
                </a:tc>
                <a:tc>
                  <a:txBody>
                    <a:bodyPr/>
                    <a:lstStyle/>
                    <a:p>
                      <a:pPr marL="20320" algn="ctr">
                        <a:lnSpc>
                          <a:spcPct val="100000"/>
                        </a:lnSpc>
                        <a:spcBef>
                          <a:spcPts val="204"/>
                        </a:spcBef>
                      </a:pPr>
                      <a:r>
                        <a:rPr sz="1100" b="0" spc="-20" dirty="0">
                          <a:solidFill>
                            <a:srgbClr val="231F20"/>
                          </a:solidFill>
                          <a:latin typeface="Aktiv Grotesk Light"/>
                          <a:cs typeface="Aktiv Grotesk Light"/>
                        </a:rPr>
                        <a:t>0.15</a:t>
                      </a:r>
                      <a:endParaRPr sz="1100">
                        <a:latin typeface="Aktiv Grotesk Light"/>
                        <a:cs typeface="Aktiv Grotesk Light"/>
                      </a:endParaRPr>
                    </a:p>
                  </a:txBody>
                  <a:tcPr marL="0" marR="0" marT="26034" marB="0"/>
                </a:tc>
                <a:tc>
                  <a:txBody>
                    <a:bodyPr/>
                    <a:lstStyle/>
                    <a:p>
                      <a:pPr marL="17145" algn="ctr">
                        <a:lnSpc>
                          <a:spcPct val="100000"/>
                        </a:lnSpc>
                        <a:spcBef>
                          <a:spcPts val="204"/>
                        </a:spcBef>
                      </a:pPr>
                      <a:r>
                        <a:rPr sz="1100" b="0" spc="-20" dirty="0">
                          <a:solidFill>
                            <a:srgbClr val="231F20"/>
                          </a:solidFill>
                          <a:latin typeface="Aktiv Grotesk Light"/>
                          <a:cs typeface="Aktiv Grotesk Light"/>
                        </a:rPr>
                        <a:t>0.12</a:t>
                      </a:r>
                      <a:endParaRPr sz="1100">
                        <a:latin typeface="Aktiv Grotesk Light"/>
                        <a:cs typeface="Aktiv Grotesk Light"/>
                      </a:endParaRPr>
                    </a:p>
                  </a:txBody>
                  <a:tcPr marL="0" marR="0" marT="26034" marB="0"/>
                </a:tc>
                <a:tc>
                  <a:txBody>
                    <a:bodyPr/>
                    <a:lstStyle/>
                    <a:p>
                      <a:pPr marL="72390" algn="ctr">
                        <a:lnSpc>
                          <a:spcPct val="100000"/>
                        </a:lnSpc>
                        <a:spcBef>
                          <a:spcPts val="204"/>
                        </a:spcBef>
                      </a:pPr>
                      <a:r>
                        <a:rPr sz="1100" b="0" spc="-20" dirty="0">
                          <a:solidFill>
                            <a:srgbClr val="231F20"/>
                          </a:solidFill>
                          <a:latin typeface="Aktiv Grotesk Light"/>
                          <a:cs typeface="Aktiv Grotesk Light"/>
                        </a:rPr>
                        <a:t>0.06</a:t>
                      </a:r>
                      <a:endParaRPr sz="1100">
                        <a:latin typeface="Aktiv Grotesk Light"/>
                        <a:cs typeface="Aktiv Grotesk Light"/>
                      </a:endParaRPr>
                    </a:p>
                  </a:txBody>
                  <a:tcPr marL="0" marR="0" marT="26034" marB="0"/>
                </a:tc>
                <a:tc>
                  <a:txBody>
                    <a:bodyPr/>
                    <a:lstStyle/>
                    <a:p>
                      <a:pPr marL="55244" algn="ctr">
                        <a:lnSpc>
                          <a:spcPct val="100000"/>
                        </a:lnSpc>
                        <a:spcBef>
                          <a:spcPts val="204"/>
                        </a:spcBef>
                      </a:pPr>
                      <a:r>
                        <a:rPr sz="1100" b="0" spc="-20" dirty="0">
                          <a:solidFill>
                            <a:srgbClr val="231F20"/>
                          </a:solidFill>
                          <a:latin typeface="Aktiv Grotesk Light"/>
                          <a:cs typeface="Aktiv Grotesk Light"/>
                        </a:rPr>
                        <a:t>0.53</a:t>
                      </a:r>
                      <a:endParaRPr sz="1100" dirty="0">
                        <a:latin typeface="Aktiv Grotesk Light"/>
                        <a:cs typeface="Aktiv Grotesk Light"/>
                      </a:endParaRPr>
                    </a:p>
                  </a:txBody>
                  <a:tcPr marL="0" marR="0" marT="26034" marB="0"/>
                </a:tc>
                <a:extLst>
                  <a:ext uri="{0D108BD9-81ED-4DB2-BD59-A6C34878D82A}">
                    <a16:rowId xmlns:a16="http://schemas.microsoft.com/office/drawing/2014/main" val="10009"/>
                  </a:ext>
                </a:extLst>
              </a:tr>
            </a:tbl>
          </a:graphicData>
        </a:graphic>
      </p:graphicFrame>
      <p:sp>
        <p:nvSpPr>
          <p:cNvPr id="3" name="Title 2"/>
          <p:cNvSpPr>
            <a:spLocks noGrp="1"/>
          </p:cNvSpPr>
          <p:nvPr>
            <p:ph type="title"/>
          </p:nvPr>
        </p:nvSpPr>
        <p:spPr>
          <a:xfrm>
            <a:off x="0" y="0"/>
            <a:ext cx="12192000" cy="646331"/>
          </a:xfrm>
        </p:spPr>
        <p:txBody>
          <a:bodyPr/>
          <a:lstStyle/>
          <a:p>
            <a:r>
              <a:rPr lang="en-IN" b="1" dirty="0"/>
              <a:t>TABLE 13.1 </a:t>
            </a:r>
            <a:r>
              <a:rPr lang="en-US" dirty="0"/>
              <a:t>Results of a decision-making analysis using a framework to evaluate and compare three management alternatives for reducing a potential outbreak of disease in a bighorn sheep </a:t>
            </a:r>
            <a:r>
              <a:rPr lang="en-IN" dirty="0" err="1"/>
              <a:t>population</a:t>
            </a:r>
            <a:r>
              <a:rPr lang="en-IN" i="1" baseline="30000" dirty="0" err="1"/>
              <a:t>a</a:t>
            </a:r>
            <a:endParaRPr lang="en-IN" baseline="30000" dirty="0"/>
          </a:p>
        </p:txBody>
      </p:sp>
    </p:spTree>
    <p:extLst>
      <p:ext uri="{BB962C8B-B14F-4D97-AF65-F5344CB8AC3E}">
        <p14:creationId xmlns:p14="http://schemas.microsoft.com/office/powerpoint/2010/main" val="25159077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title="TABLE 13.1 Results of a decision-making analysis using a framework to evaluate and compare three management alternatives for reducing a potential outbreak of disease in a bighorn sheep populationa"/>
          <p:cNvGraphicFramePr>
            <a:graphicFrameLocks noGrp="1"/>
          </p:cNvGraphicFramePr>
          <p:nvPr>
            <p:extLst>
              <p:ext uri="{D42A27DB-BD31-4B8C-83A1-F6EECF244321}">
                <p14:modId xmlns:p14="http://schemas.microsoft.com/office/powerpoint/2010/main" val="3853576588"/>
              </p:ext>
            </p:extLst>
          </p:nvPr>
        </p:nvGraphicFramePr>
        <p:xfrm>
          <a:off x="1574563" y="1589545"/>
          <a:ext cx="9041125" cy="2689225"/>
        </p:xfrm>
        <a:graphic>
          <a:graphicData uri="http://schemas.openxmlformats.org/drawingml/2006/table">
            <a:tbl>
              <a:tblPr firstRow="1" bandRow="1">
                <a:tableStyleId>{2D5ABB26-0587-4C30-8999-92F81FD0307C}</a:tableStyleId>
              </a:tblPr>
              <a:tblGrid>
                <a:gridCol w="1130935">
                  <a:extLst>
                    <a:ext uri="{9D8B030D-6E8A-4147-A177-3AD203B41FA5}">
                      <a16:colId xmlns:a16="http://schemas.microsoft.com/office/drawing/2014/main" val="20000"/>
                    </a:ext>
                  </a:extLst>
                </a:gridCol>
                <a:gridCol w="1118869">
                  <a:extLst>
                    <a:ext uri="{9D8B030D-6E8A-4147-A177-3AD203B41FA5}">
                      <a16:colId xmlns:a16="http://schemas.microsoft.com/office/drawing/2014/main" val="20001"/>
                    </a:ext>
                  </a:extLst>
                </a:gridCol>
                <a:gridCol w="1203960">
                  <a:extLst>
                    <a:ext uri="{9D8B030D-6E8A-4147-A177-3AD203B41FA5}">
                      <a16:colId xmlns:a16="http://schemas.microsoft.com/office/drawing/2014/main" val="20002"/>
                    </a:ext>
                  </a:extLst>
                </a:gridCol>
                <a:gridCol w="1172210">
                  <a:extLst>
                    <a:ext uri="{9D8B030D-6E8A-4147-A177-3AD203B41FA5}">
                      <a16:colId xmlns:a16="http://schemas.microsoft.com/office/drawing/2014/main" val="20003"/>
                    </a:ext>
                  </a:extLst>
                </a:gridCol>
                <a:gridCol w="1246504">
                  <a:extLst>
                    <a:ext uri="{9D8B030D-6E8A-4147-A177-3AD203B41FA5}">
                      <a16:colId xmlns:a16="http://schemas.microsoft.com/office/drawing/2014/main" val="20004"/>
                    </a:ext>
                  </a:extLst>
                </a:gridCol>
                <a:gridCol w="1197609">
                  <a:extLst>
                    <a:ext uri="{9D8B030D-6E8A-4147-A177-3AD203B41FA5}">
                      <a16:colId xmlns:a16="http://schemas.microsoft.com/office/drawing/2014/main" val="20005"/>
                    </a:ext>
                  </a:extLst>
                </a:gridCol>
                <a:gridCol w="1052829">
                  <a:extLst>
                    <a:ext uri="{9D8B030D-6E8A-4147-A177-3AD203B41FA5}">
                      <a16:colId xmlns:a16="http://schemas.microsoft.com/office/drawing/2014/main" val="20006"/>
                    </a:ext>
                  </a:extLst>
                </a:gridCol>
                <a:gridCol w="918209">
                  <a:extLst>
                    <a:ext uri="{9D8B030D-6E8A-4147-A177-3AD203B41FA5}">
                      <a16:colId xmlns:a16="http://schemas.microsoft.com/office/drawing/2014/main" val="20007"/>
                    </a:ext>
                  </a:extLst>
                </a:gridCol>
              </a:tblGrid>
              <a:tr h="231140">
                <a:tc>
                  <a:txBody>
                    <a:bodyPr/>
                    <a:lstStyle/>
                    <a:p>
                      <a:pPr>
                        <a:lnSpc>
                          <a:spcPct val="100000"/>
                        </a:lnSpc>
                      </a:pPr>
                      <a:endParaRPr sz="1000">
                        <a:latin typeface="Times New Roman"/>
                        <a:cs typeface="Times New Roman"/>
                      </a:endParaRPr>
                    </a:p>
                  </a:txBody>
                  <a:tcPr marL="0" marR="0" marT="0" marB="0"/>
                </a:tc>
                <a:tc>
                  <a:txBody>
                    <a:bodyPr/>
                    <a:lstStyle/>
                    <a:p>
                      <a:pPr marR="368300" algn="r">
                        <a:lnSpc>
                          <a:spcPct val="100000"/>
                        </a:lnSpc>
                        <a:spcBef>
                          <a:spcPts val="35"/>
                        </a:spcBef>
                      </a:pPr>
                      <a:r>
                        <a:rPr sz="1150" b="0" spc="-10" dirty="0">
                          <a:solidFill>
                            <a:srgbClr val="231F20"/>
                          </a:solidFill>
                          <a:latin typeface="Aktiv Grotesk Medium"/>
                          <a:cs typeface="Aktiv Grotesk Medium"/>
                        </a:rPr>
                        <a:t>Objective</a:t>
                      </a:r>
                      <a:endParaRPr sz="1150">
                        <a:latin typeface="Aktiv Grotesk Medium"/>
                        <a:cs typeface="Aktiv Grotesk Medium"/>
                      </a:endParaRPr>
                    </a:p>
                  </a:txBody>
                  <a:tcPr marL="0" marR="0" marT="4445" marB="0">
                    <a:lnB w="19050">
                      <a:solidFill>
                        <a:srgbClr val="C2DCDF"/>
                      </a:solidFill>
                      <a:prstDash val="solid"/>
                    </a:lnB>
                  </a:tcPr>
                </a:tc>
                <a:tc>
                  <a:txBody>
                    <a:bodyPr/>
                    <a:lstStyle/>
                    <a:p>
                      <a:pPr>
                        <a:lnSpc>
                          <a:spcPct val="100000"/>
                        </a:lnSpc>
                      </a:pPr>
                      <a:endParaRPr sz="1000">
                        <a:latin typeface="Times New Roman"/>
                        <a:cs typeface="Times New Roman"/>
                      </a:endParaRPr>
                    </a:p>
                  </a:txBody>
                  <a:tcPr marL="0" marR="0" marT="0" marB="0">
                    <a:lnB w="19050">
                      <a:solidFill>
                        <a:srgbClr val="C2DCDF"/>
                      </a:solidFill>
                      <a:prstDash val="solid"/>
                    </a:lnB>
                  </a:tcPr>
                </a:tc>
                <a:tc>
                  <a:txBody>
                    <a:bodyPr/>
                    <a:lstStyle/>
                    <a:p>
                      <a:pPr>
                        <a:lnSpc>
                          <a:spcPct val="100000"/>
                        </a:lnSpc>
                      </a:pPr>
                      <a:endParaRPr sz="1000">
                        <a:latin typeface="Times New Roman"/>
                        <a:cs typeface="Times New Roman"/>
                      </a:endParaRPr>
                    </a:p>
                  </a:txBody>
                  <a:tcPr marL="0" marR="0" marT="0" marB="0">
                    <a:lnB w="19050">
                      <a:solidFill>
                        <a:srgbClr val="C2DCDF"/>
                      </a:solidFill>
                      <a:prstDash val="solid"/>
                    </a:lnB>
                  </a:tcPr>
                </a:tc>
                <a:tc>
                  <a:txBody>
                    <a:bodyPr/>
                    <a:lstStyle/>
                    <a:p>
                      <a:pPr>
                        <a:lnSpc>
                          <a:spcPct val="100000"/>
                        </a:lnSpc>
                      </a:pPr>
                      <a:endParaRPr sz="1000">
                        <a:latin typeface="Times New Roman"/>
                        <a:cs typeface="Times New Roman"/>
                      </a:endParaRPr>
                    </a:p>
                  </a:txBody>
                  <a:tcPr marL="0" marR="0" marT="0" marB="0">
                    <a:lnB w="19050">
                      <a:solidFill>
                        <a:srgbClr val="C2DCDF"/>
                      </a:solidFill>
                      <a:prstDash val="solid"/>
                    </a:lnB>
                  </a:tcPr>
                </a:tc>
                <a:tc>
                  <a:txBody>
                    <a:bodyPr/>
                    <a:lstStyle/>
                    <a:p>
                      <a:pPr>
                        <a:lnSpc>
                          <a:spcPct val="100000"/>
                        </a:lnSpc>
                      </a:pPr>
                      <a:endParaRPr sz="1000">
                        <a:latin typeface="Times New Roman"/>
                        <a:cs typeface="Times New Roman"/>
                      </a:endParaRPr>
                    </a:p>
                  </a:txBody>
                  <a:tcPr marL="0" marR="0" marT="0" marB="0">
                    <a:lnB w="19050">
                      <a:solidFill>
                        <a:srgbClr val="C2DCDF"/>
                      </a:solidFill>
                      <a:prstDash val="solid"/>
                    </a:lnB>
                  </a:tcPr>
                </a:tc>
                <a:tc>
                  <a:txBody>
                    <a:bodyPr/>
                    <a:lstStyle/>
                    <a:p>
                      <a:pPr>
                        <a:lnSpc>
                          <a:spcPct val="100000"/>
                        </a:lnSpc>
                      </a:pPr>
                      <a:endParaRPr sz="1000">
                        <a:latin typeface="Times New Roman"/>
                        <a:cs typeface="Times New Roman"/>
                      </a:endParaRPr>
                    </a:p>
                  </a:txBody>
                  <a:tcPr marL="0" marR="0" marT="0" marB="0">
                    <a:lnB w="19050">
                      <a:solidFill>
                        <a:srgbClr val="C2DCDF"/>
                      </a:solidFill>
                      <a:prstDash val="solid"/>
                    </a:lnB>
                  </a:tcPr>
                </a:tc>
                <a:tc>
                  <a:txBody>
                    <a:bodyPr/>
                    <a:lstStyle/>
                    <a:p>
                      <a:pPr>
                        <a:lnSpc>
                          <a:spcPct val="100000"/>
                        </a:lnSpc>
                      </a:pPr>
                      <a:endParaRPr sz="1000">
                        <a:latin typeface="Times New Roman"/>
                        <a:cs typeface="Times New Roman"/>
                      </a:endParaRPr>
                    </a:p>
                  </a:txBody>
                  <a:tcPr marL="0" marR="0" marT="0" marB="0">
                    <a:lnB w="19050">
                      <a:solidFill>
                        <a:srgbClr val="C2DCDF"/>
                      </a:solidFill>
                      <a:prstDash val="solid"/>
                    </a:lnB>
                  </a:tcPr>
                </a:tc>
                <a:extLst>
                  <a:ext uri="{0D108BD9-81ED-4DB2-BD59-A6C34878D82A}">
                    <a16:rowId xmlns:a16="http://schemas.microsoft.com/office/drawing/2014/main" val="10000"/>
                  </a:ext>
                </a:extLst>
              </a:tr>
              <a:tr h="1015365">
                <a:tc>
                  <a:txBody>
                    <a:bodyPr/>
                    <a:lstStyle/>
                    <a:p>
                      <a:pPr>
                        <a:lnSpc>
                          <a:spcPct val="100000"/>
                        </a:lnSpc>
                      </a:pPr>
                      <a:endParaRPr sz="1150">
                        <a:latin typeface="Times New Roman"/>
                        <a:cs typeface="Times New Roman"/>
                      </a:endParaRPr>
                    </a:p>
                    <a:p>
                      <a:pPr>
                        <a:lnSpc>
                          <a:spcPct val="100000"/>
                        </a:lnSpc>
                      </a:pPr>
                      <a:endParaRPr sz="1150">
                        <a:latin typeface="Times New Roman"/>
                        <a:cs typeface="Times New Roman"/>
                      </a:endParaRPr>
                    </a:p>
                    <a:p>
                      <a:pPr>
                        <a:lnSpc>
                          <a:spcPct val="100000"/>
                        </a:lnSpc>
                        <a:spcBef>
                          <a:spcPts val="685"/>
                        </a:spcBef>
                      </a:pPr>
                      <a:endParaRPr sz="1150">
                        <a:latin typeface="Times New Roman"/>
                        <a:cs typeface="Times New Roman"/>
                      </a:endParaRPr>
                    </a:p>
                    <a:p>
                      <a:pPr marL="64135" marR="131445">
                        <a:lnSpc>
                          <a:spcPct val="106400"/>
                        </a:lnSpc>
                      </a:pPr>
                      <a:r>
                        <a:rPr sz="1150" b="0" spc="-10" dirty="0">
                          <a:solidFill>
                            <a:srgbClr val="231F20"/>
                          </a:solidFill>
                          <a:latin typeface="Aktiv Grotesk Medium"/>
                          <a:cs typeface="Aktiv Grotesk Medium"/>
                        </a:rPr>
                        <a:t>Management alternative</a:t>
                      </a:r>
                      <a:endParaRPr sz="1150">
                        <a:latin typeface="Aktiv Grotesk Medium"/>
                        <a:cs typeface="Aktiv Grotesk Medium"/>
                      </a:endParaRPr>
                    </a:p>
                  </a:txBody>
                  <a:tcPr marL="0" marR="0" marT="0" marB="0">
                    <a:lnB w="12700">
                      <a:solidFill>
                        <a:srgbClr val="C2DCDF"/>
                      </a:solidFill>
                      <a:prstDash val="solid"/>
                    </a:lnB>
                  </a:tcPr>
                </a:tc>
                <a:tc>
                  <a:txBody>
                    <a:bodyPr/>
                    <a:lstStyle/>
                    <a:p>
                      <a:pPr marL="64135" marR="109220">
                        <a:lnSpc>
                          <a:spcPct val="106400"/>
                        </a:lnSpc>
                        <a:spcBef>
                          <a:spcPts val="245"/>
                        </a:spcBef>
                      </a:pPr>
                      <a:r>
                        <a:rPr sz="1150" b="0" dirty="0">
                          <a:solidFill>
                            <a:srgbClr val="231F20"/>
                          </a:solidFill>
                          <a:latin typeface="Aktiv Grotesk Medium"/>
                          <a:cs typeface="Aktiv Grotesk Medium"/>
                        </a:rPr>
                        <a:t>Probability</a:t>
                      </a:r>
                      <a:r>
                        <a:rPr sz="1150" b="0" spc="229" dirty="0">
                          <a:solidFill>
                            <a:srgbClr val="231F20"/>
                          </a:solidFill>
                          <a:latin typeface="Aktiv Grotesk Medium"/>
                          <a:cs typeface="Aktiv Grotesk Medium"/>
                        </a:rPr>
                        <a:t> </a:t>
                      </a:r>
                      <a:r>
                        <a:rPr sz="1150" b="0" spc="-25" dirty="0">
                          <a:solidFill>
                            <a:srgbClr val="231F20"/>
                          </a:solidFill>
                          <a:latin typeface="Aktiv Grotesk Medium"/>
                          <a:cs typeface="Aktiv Grotesk Medium"/>
                        </a:rPr>
                        <a:t>of </a:t>
                      </a:r>
                      <a:r>
                        <a:rPr sz="1150" b="0" spc="-10" dirty="0">
                          <a:solidFill>
                            <a:srgbClr val="231F20"/>
                          </a:solidFill>
                          <a:latin typeface="Aktiv Grotesk Medium"/>
                          <a:cs typeface="Aktiv Grotesk Medium"/>
                        </a:rPr>
                        <a:t>persistence Goal: maximize </a:t>
                      </a:r>
                      <a:r>
                        <a:rPr sz="1150" b="0" dirty="0">
                          <a:solidFill>
                            <a:srgbClr val="231F20"/>
                          </a:solidFill>
                          <a:latin typeface="Aktiv Grotesk Medium"/>
                          <a:cs typeface="Aktiv Grotesk Medium"/>
                        </a:rPr>
                        <a:t>Weight:</a:t>
                      </a:r>
                      <a:r>
                        <a:rPr sz="1150" b="0" spc="140" dirty="0">
                          <a:solidFill>
                            <a:srgbClr val="231F20"/>
                          </a:solidFill>
                          <a:latin typeface="Aktiv Grotesk Medium"/>
                          <a:cs typeface="Aktiv Grotesk Medium"/>
                        </a:rPr>
                        <a:t> </a:t>
                      </a:r>
                      <a:r>
                        <a:rPr sz="1150" b="0" spc="-20" dirty="0">
                          <a:solidFill>
                            <a:srgbClr val="231F20"/>
                          </a:solidFill>
                          <a:latin typeface="Aktiv Grotesk Medium"/>
                          <a:cs typeface="Aktiv Grotesk Medium"/>
                        </a:rPr>
                        <a:t>0.21</a:t>
                      </a:r>
                      <a:endParaRPr sz="1150">
                        <a:latin typeface="Aktiv Grotesk Medium"/>
                        <a:cs typeface="Aktiv Grotesk Medium"/>
                      </a:endParaRPr>
                    </a:p>
                  </a:txBody>
                  <a:tcPr marL="0" marR="0" marT="31115" marB="0">
                    <a:lnT w="19050">
                      <a:solidFill>
                        <a:srgbClr val="C2DCDF"/>
                      </a:solidFill>
                      <a:prstDash val="solid"/>
                    </a:lnT>
                    <a:lnB w="19050">
                      <a:solidFill>
                        <a:srgbClr val="C2DCDF"/>
                      </a:solidFill>
                      <a:prstDash val="solid"/>
                    </a:lnB>
                  </a:tcPr>
                </a:tc>
                <a:tc>
                  <a:txBody>
                    <a:bodyPr/>
                    <a:lstStyle/>
                    <a:p>
                      <a:pPr>
                        <a:lnSpc>
                          <a:spcPct val="100000"/>
                        </a:lnSpc>
                        <a:spcBef>
                          <a:spcPts val="390"/>
                        </a:spcBef>
                      </a:pPr>
                      <a:endParaRPr sz="1150">
                        <a:latin typeface="Times New Roman"/>
                        <a:cs typeface="Times New Roman"/>
                      </a:endParaRPr>
                    </a:p>
                    <a:p>
                      <a:pPr marL="116839" marR="369570">
                        <a:lnSpc>
                          <a:spcPct val="106400"/>
                        </a:lnSpc>
                      </a:pPr>
                      <a:r>
                        <a:rPr sz="1150" b="0" spc="-10" dirty="0">
                          <a:solidFill>
                            <a:srgbClr val="231F20"/>
                          </a:solidFill>
                          <a:latin typeface="Aktiv Grotesk Medium"/>
                          <a:cs typeface="Aktiv Grotesk Medium"/>
                        </a:rPr>
                        <a:t>Operating costs</a:t>
                      </a:r>
                      <a:endParaRPr sz="1150">
                        <a:latin typeface="Aktiv Grotesk Medium"/>
                        <a:cs typeface="Aktiv Grotesk Medium"/>
                      </a:endParaRPr>
                    </a:p>
                    <a:p>
                      <a:pPr marL="116839" marR="66675">
                        <a:lnSpc>
                          <a:spcPct val="106400"/>
                        </a:lnSpc>
                      </a:pPr>
                      <a:r>
                        <a:rPr sz="1150" b="0" dirty="0">
                          <a:solidFill>
                            <a:srgbClr val="231F20"/>
                          </a:solidFill>
                          <a:latin typeface="Aktiv Grotesk Medium"/>
                          <a:cs typeface="Aktiv Grotesk Medium"/>
                        </a:rPr>
                        <a:t>Goal:</a:t>
                      </a:r>
                      <a:r>
                        <a:rPr sz="1150" b="0" spc="90" dirty="0">
                          <a:solidFill>
                            <a:srgbClr val="231F20"/>
                          </a:solidFill>
                          <a:latin typeface="Aktiv Grotesk Medium"/>
                          <a:cs typeface="Aktiv Grotesk Medium"/>
                        </a:rPr>
                        <a:t> </a:t>
                      </a:r>
                      <a:r>
                        <a:rPr sz="1150" b="0" spc="-10" dirty="0">
                          <a:solidFill>
                            <a:srgbClr val="231F20"/>
                          </a:solidFill>
                          <a:latin typeface="Aktiv Grotesk Medium"/>
                          <a:cs typeface="Aktiv Grotesk Medium"/>
                        </a:rPr>
                        <a:t>minimize </a:t>
                      </a:r>
                      <a:r>
                        <a:rPr sz="1150" b="0" dirty="0">
                          <a:solidFill>
                            <a:srgbClr val="231F20"/>
                          </a:solidFill>
                          <a:latin typeface="Aktiv Grotesk Medium"/>
                          <a:cs typeface="Aktiv Grotesk Medium"/>
                        </a:rPr>
                        <a:t>Weight:</a:t>
                      </a:r>
                      <a:r>
                        <a:rPr sz="1150" b="0" spc="130" dirty="0">
                          <a:solidFill>
                            <a:srgbClr val="231F20"/>
                          </a:solidFill>
                          <a:latin typeface="Aktiv Grotesk Medium"/>
                          <a:cs typeface="Aktiv Grotesk Medium"/>
                        </a:rPr>
                        <a:t> </a:t>
                      </a:r>
                      <a:r>
                        <a:rPr sz="1150" b="0" spc="-20" dirty="0">
                          <a:solidFill>
                            <a:srgbClr val="231F20"/>
                          </a:solidFill>
                          <a:latin typeface="Aktiv Grotesk Medium"/>
                          <a:cs typeface="Aktiv Grotesk Medium"/>
                        </a:rPr>
                        <a:t>0.15</a:t>
                      </a:r>
                      <a:endParaRPr sz="1150">
                        <a:latin typeface="Aktiv Grotesk Medium"/>
                        <a:cs typeface="Aktiv Grotesk Medium"/>
                      </a:endParaRPr>
                    </a:p>
                  </a:txBody>
                  <a:tcPr marL="0" marR="0" marT="49530" marB="0">
                    <a:lnT w="19050">
                      <a:solidFill>
                        <a:srgbClr val="C2DCDF"/>
                      </a:solidFill>
                      <a:prstDash val="solid"/>
                    </a:lnT>
                    <a:lnB w="19050">
                      <a:solidFill>
                        <a:srgbClr val="C2DCDF"/>
                      </a:solidFill>
                      <a:prstDash val="solid"/>
                    </a:lnB>
                  </a:tcPr>
                </a:tc>
                <a:tc>
                  <a:txBody>
                    <a:bodyPr/>
                    <a:lstStyle/>
                    <a:p>
                      <a:pPr>
                        <a:lnSpc>
                          <a:spcPct val="100000"/>
                        </a:lnSpc>
                        <a:spcBef>
                          <a:spcPts val="390"/>
                        </a:spcBef>
                      </a:pPr>
                      <a:endParaRPr sz="1150">
                        <a:latin typeface="Times New Roman"/>
                        <a:cs typeface="Times New Roman"/>
                      </a:endParaRPr>
                    </a:p>
                    <a:p>
                      <a:pPr marL="74295" marR="378460">
                        <a:lnSpc>
                          <a:spcPct val="106400"/>
                        </a:lnSpc>
                      </a:pPr>
                      <a:r>
                        <a:rPr sz="1150" b="0" spc="-10" dirty="0">
                          <a:solidFill>
                            <a:srgbClr val="231F20"/>
                          </a:solidFill>
                          <a:latin typeface="Aktiv Grotesk Medium"/>
                          <a:cs typeface="Aktiv Grotesk Medium"/>
                        </a:rPr>
                        <a:t>Personnel costs</a:t>
                      </a:r>
                      <a:endParaRPr sz="1150">
                        <a:latin typeface="Aktiv Grotesk Medium"/>
                        <a:cs typeface="Aktiv Grotesk Medium"/>
                      </a:endParaRPr>
                    </a:p>
                    <a:p>
                      <a:pPr marL="74295" marR="77470">
                        <a:lnSpc>
                          <a:spcPct val="106400"/>
                        </a:lnSpc>
                      </a:pPr>
                      <a:r>
                        <a:rPr sz="1150" b="0" dirty="0">
                          <a:solidFill>
                            <a:srgbClr val="231F20"/>
                          </a:solidFill>
                          <a:latin typeface="Aktiv Grotesk Medium"/>
                          <a:cs typeface="Aktiv Grotesk Medium"/>
                        </a:rPr>
                        <a:t>Goal:</a:t>
                      </a:r>
                      <a:r>
                        <a:rPr sz="1150" b="0" spc="90" dirty="0">
                          <a:solidFill>
                            <a:srgbClr val="231F20"/>
                          </a:solidFill>
                          <a:latin typeface="Aktiv Grotesk Medium"/>
                          <a:cs typeface="Aktiv Grotesk Medium"/>
                        </a:rPr>
                        <a:t> </a:t>
                      </a:r>
                      <a:r>
                        <a:rPr sz="1150" b="0" spc="-10" dirty="0">
                          <a:solidFill>
                            <a:srgbClr val="231F20"/>
                          </a:solidFill>
                          <a:latin typeface="Aktiv Grotesk Medium"/>
                          <a:cs typeface="Aktiv Grotesk Medium"/>
                        </a:rPr>
                        <a:t>minimize </a:t>
                      </a:r>
                      <a:r>
                        <a:rPr sz="1150" b="0" dirty="0">
                          <a:solidFill>
                            <a:srgbClr val="231F20"/>
                          </a:solidFill>
                          <a:latin typeface="Aktiv Grotesk Medium"/>
                          <a:cs typeface="Aktiv Grotesk Medium"/>
                        </a:rPr>
                        <a:t>Weight:</a:t>
                      </a:r>
                      <a:r>
                        <a:rPr sz="1150" b="0" spc="130" dirty="0">
                          <a:solidFill>
                            <a:srgbClr val="231F20"/>
                          </a:solidFill>
                          <a:latin typeface="Aktiv Grotesk Medium"/>
                          <a:cs typeface="Aktiv Grotesk Medium"/>
                        </a:rPr>
                        <a:t> </a:t>
                      </a:r>
                      <a:r>
                        <a:rPr sz="1150" b="0" spc="-20" dirty="0">
                          <a:solidFill>
                            <a:srgbClr val="231F20"/>
                          </a:solidFill>
                          <a:latin typeface="Aktiv Grotesk Medium"/>
                          <a:cs typeface="Aktiv Grotesk Medium"/>
                        </a:rPr>
                        <a:t>0.14</a:t>
                      </a:r>
                      <a:endParaRPr sz="1150">
                        <a:latin typeface="Aktiv Grotesk Medium"/>
                        <a:cs typeface="Aktiv Grotesk Medium"/>
                      </a:endParaRPr>
                    </a:p>
                  </a:txBody>
                  <a:tcPr marL="0" marR="0" marT="49530" marB="0">
                    <a:lnT w="19050">
                      <a:solidFill>
                        <a:srgbClr val="C2DCDF"/>
                      </a:solidFill>
                      <a:prstDash val="solid"/>
                    </a:lnT>
                    <a:lnB w="19050">
                      <a:solidFill>
                        <a:srgbClr val="C2DCDF"/>
                      </a:solidFill>
                      <a:prstDash val="solid"/>
                    </a:lnB>
                  </a:tcPr>
                </a:tc>
                <a:tc>
                  <a:txBody>
                    <a:bodyPr/>
                    <a:lstStyle/>
                    <a:p>
                      <a:pPr>
                        <a:lnSpc>
                          <a:spcPct val="100000"/>
                        </a:lnSpc>
                        <a:spcBef>
                          <a:spcPts val="390"/>
                        </a:spcBef>
                      </a:pPr>
                      <a:endParaRPr sz="1150">
                        <a:latin typeface="Times New Roman"/>
                        <a:cs typeface="Times New Roman"/>
                      </a:endParaRPr>
                    </a:p>
                    <a:p>
                      <a:pPr marL="85090" marR="56515">
                        <a:lnSpc>
                          <a:spcPct val="106400"/>
                        </a:lnSpc>
                      </a:pPr>
                      <a:r>
                        <a:rPr sz="1150" b="0" dirty="0">
                          <a:solidFill>
                            <a:srgbClr val="231F20"/>
                          </a:solidFill>
                          <a:latin typeface="Aktiv Grotesk Medium"/>
                          <a:cs typeface="Aktiv Grotesk Medium"/>
                        </a:rPr>
                        <a:t>Crisis</a:t>
                      </a:r>
                      <a:r>
                        <a:rPr sz="1150" b="0" spc="105" dirty="0">
                          <a:solidFill>
                            <a:srgbClr val="231F20"/>
                          </a:solidFill>
                          <a:latin typeface="Aktiv Grotesk Medium"/>
                          <a:cs typeface="Aktiv Grotesk Medium"/>
                        </a:rPr>
                        <a:t> </a:t>
                      </a:r>
                      <a:r>
                        <a:rPr sz="1150" b="0" spc="-10" dirty="0">
                          <a:solidFill>
                            <a:srgbClr val="231F20"/>
                          </a:solidFill>
                          <a:latin typeface="Aktiv Grotesk Medium"/>
                          <a:cs typeface="Aktiv Grotesk Medium"/>
                        </a:rPr>
                        <a:t>response costs</a:t>
                      </a:r>
                      <a:endParaRPr sz="1150">
                        <a:latin typeface="Aktiv Grotesk Medium"/>
                        <a:cs typeface="Aktiv Grotesk Medium"/>
                      </a:endParaRPr>
                    </a:p>
                    <a:p>
                      <a:pPr marL="85090" marR="140970">
                        <a:lnSpc>
                          <a:spcPct val="106400"/>
                        </a:lnSpc>
                      </a:pPr>
                      <a:r>
                        <a:rPr sz="1150" b="0" dirty="0">
                          <a:solidFill>
                            <a:srgbClr val="231F20"/>
                          </a:solidFill>
                          <a:latin typeface="Aktiv Grotesk Medium"/>
                          <a:cs typeface="Aktiv Grotesk Medium"/>
                        </a:rPr>
                        <a:t>Goal:</a:t>
                      </a:r>
                      <a:r>
                        <a:rPr sz="1150" b="0" spc="90" dirty="0">
                          <a:solidFill>
                            <a:srgbClr val="231F20"/>
                          </a:solidFill>
                          <a:latin typeface="Aktiv Grotesk Medium"/>
                          <a:cs typeface="Aktiv Grotesk Medium"/>
                        </a:rPr>
                        <a:t> </a:t>
                      </a:r>
                      <a:r>
                        <a:rPr sz="1150" b="0" spc="-10" dirty="0">
                          <a:solidFill>
                            <a:srgbClr val="231F20"/>
                          </a:solidFill>
                          <a:latin typeface="Aktiv Grotesk Medium"/>
                          <a:cs typeface="Aktiv Grotesk Medium"/>
                        </a:rPr>
                        <a:t>minimize </a:t>
                      </a:r>
                      <a:r>
                        <a:rPr sz="1150" b="0" dirty="0">
                          <a:solidFill>
                            <a:srgbClr val="231F20"/>
                          </a:solidFill>
                          <a:latin typeface="Aktiv Grotesk Medium"/>
                          <a:cs typeface="Aktiv Grotesk Medium"/>
                        </a:rPr>
                        <a:t>Weight:</a:t>
                      </a:r>
                      <a:r>
                        <a:rPr sz="1150" b="0" spc="130" dirty="0">
                          <a:solidFill>
                            <a:srgbClr val="231F20"/>
                          </a:solidFill>
                          <a:latin typeface="Aktiv Grotesk Medium"/>
                          <a:cs typeface="Aktiv Grotesk Medium"/>
                        </a:rPr>
                        <a:t> </a:t>
                      </a:r>
                      <a:r>
                        <a:rPr sz="1150" b="0" spc="-20" dirty="0">
                          <a:solidFill>
                            <a:srgbClr val="231F20"/>
                          </a:solidFill>
                          <a:latin typeface="Aktiv Grotesk Medium"/>
                          <a:cs typeface="Aktiv Grotesk Medium"/>
                        </a:rPr>
                        <a:t>0.19</a:t>
                      </a:r>
                      <a:endParaRPr sz="1150">
                        <a:latin typeface="Aktiv Grotesk Medium"/>
                        <a:cs typeface="Aktiv Grotesk Medium"/>
                      </a:endParaRPr>
                    </a:p>
                  </a:txBody>
                  <a:tcPr marL="0" marR="0" marT="49530" marB="0">
                    <a:lnT w="19050">
                      <a:solidFill>
                        <a:srgbClr val="C2DCDF"/>
                      </a:solidFill>
                      <a:prstDash val="solid"/>
                    </a:lnT>
                    <a:lnB w="19050">
                      <a:solidFill>
                        <a:srgbClr val="C2DCDF"/>
                      </a:solidFill>
                      <a:prstDash val="solid"/>
                    </a:lnB>
                  </a:tcPr>
                </a:tc>
                <a:tc>
                  <a:txBody>
                    <a:bodyPr/>
                    <a:lstStyle/>
                    <a:p>
                      <a:pPr>
                        <a:lnSpc>
                          <a:spcPct val="100000"/>
                        </a:lnSpc>
                        <a:spcBef>
                          <a:spcPts val="390"/>
                        </a:spcBef>
                      </a:pPr>
                      <a:endParaRPr sz="1150">
                        <a:latin typeface="Times New Roman"/>
                        <a:cs typeface="Times New Roman"/>
                      </a:endParaRPr>
                    </a:p>
                    <a:p>
                      <a:pPr marL="64135" marR="74295">
                        <a:lnSpc>
                          <a:spcPct val="106400"/>
                        </a:lnSpc>
                      </a:pPr>
                      <a:r>
                        <a:rPr sz="1150" b="0" spc="-10" dirty="0">
                          <a:solidFill>
                            <a:srgbClr val="231F20"/>
                          </a:solidFill>
                          <a:latin typeface="Aktiv Grotesk Medium"/>
                          <a:cs typeface="Aktiv Grotesk Medium"/>
                        </a:rPr>
                        <a:t>Viewing opportunity </a:t>
                      </a:r>
                      <a:r>
                        <a:rPr sz="1150" b="0" dirty="0">
                          <a:solidFill>
                            <a:srgbClr val="231F20"/>
                          </a:solidFill>
                          <a:latin typeface="Aktiv Grotesk Medium"/>
                          <a:cs typeface="Aktiv Grotesk Medium"/>
                        </a:rPr>
                        <a:t>Goal:</a:t>
                      </a:r>
                      <a:r>
                        <a:rPr sz="1150" b="0" spc="90" dirty="0">
                          <a:solidFill>
                            <a:srgbClr val="231F20"/>
                          </a:solidFill>
                          <a:latin typeface="Aktiv Grotesk Medium"/>
                          <a:cs typeface="Aktiv Grotesk Medium"/>
                        </a:rPr>
                        <a:t> </a:t>
                      </a:r>
                      <a:r>
                        <a:rPr sz="1150" b="0" spc="-10" dirty="0">
                          <a:solidFill>
                            <a:srgbClr val="231F20"/>
                          </a:solidFill>
                          <a:latin typeface="Aktiv Grotesk Medium"/>
                          <a:cs typeface="Aktiv Grotesk Medium"/>
                        </a:rPr>
                        <a:t>maximize </a:t>
                      </a:r>
                      <a:r>
                        <a:rPr sz="1150" b="0" dirty="0">
                          <a:solidFill>
                            <a:srgbClr val="231F20"/>
                          </a:solidFill>
                          <a:latin typeface="Aktiv Grotesk Medium"/>
                          <a:cs typeface="Aktiv Grotesk Medium"/>
                        </a:rPr>
                        <a:t>Weight:</a:t>
                      </a:r>
                      <a:r>
                        <a:rPr sz="1150" b="0" spc="130" dirty="0">
                          <a:solidFill>
                            <a:srgbClr val="231F20"/>
                          </a:solidFill>
                          <a:latin typeface="Aktiv Grotesk Medium"/>
                          <a:cs typeface="Aktiv Grotesk Medium"/>
                        </a:rPr>
                        <a:t> </a:t>
                      </a:r>
                      <a:r>
                        <a:rPr sz="1150" b="0" spc="-20" dirty="0">
                          <a:solidFill>
                            <a:srgbClr val="231F20"/>
                          </a:solidFill>
                          <a:latin typeface="Aktiv Grotesk Medium"/>
                          <a:cs typeface="Aktiv Grotesk Medium"/>
                        </a:rPr>
                        <a:t>0.15</a:t>
                      </a:r>
                      <a:endParaRPr sz="1150">
                        <a:latin typeface="Aktiv Grotesk Medium"/>
                        <a:cs typeface="Aktiv Grotesk Medium"/>
                      </a:endParaRPr>
                    </a:p>
                  </a:txBody>
                  <a:tcPr marL="0" marR="0" marT="49530" marB="0">
                    <a:lnT w="19050">
                      <a:solidFill>
                        <a:srgbClr val="C2DCDF"/>
                      </a:solidFill>
                      <a:prstDash val="solid"/>
                    </a:lnT>
                    <a:lnB w="19050">
                      <a:solidFill>
                        <a:srgbClr val="C2DCDF"/>
                      </a:solidFill>
                      <a:prstDash val="solid"/>
                    </a:lnB>
                  </a:tcPr>
                </a:tc>
                <a:tc>
                  <a:txBody>
                    <a:bodyPr/>
                    <a:lstStyle/>
                    <a:p>
                      <a:pPr marL="81915" marR="112395">
                        <a:lnSpc>
                          <a:spcPct val="106400"/>
                        </a:lnSpc>
                        <a:spcBef>
                          <a:spcPts val="245"/>
                        </a:spcBef>
                      </a:pPr>
                      <a:r>
                        <a:rPr sz="1150" b="0" spc="-10" dirty="0">
                          <a:solidFill>
                            <a:srgbClr val="231F20"/>
                          </a:solidFill>
                          <a:latin typeface="Aktiv Grotesk Medium"/>
                          <a:cs typeface="Aktiv Grotesk Medium"/>
                        </a:rPr>
                        <a:t>Hunting opportunity Goal: maximize </a:t>
                      </a:r>
                      <a:r>
                        <a:rPr sz="1150" b="0" dirty="0">
                          <a:solidFill>
                            <a:srgbClr val="231F20"/>
                          </a:solidFill>
                          <a:latin typeface="Aktiv Grotesk Medium"/>
                          <a:cs typeface="Aktiv Grotesk Medium"/>
                        </a:rPr>
                        <a:t>Weight:</a:t>
                      </a:r>
                      <a:r>
                        <a:rPr sz="1150" b="0" spc="130" dirty="0">
                          <a:solidFill>
                            <a:srgbClr val="231F20"/>
                          </a:solidFill>
                          <a:latin typeface="Aktiv Grotesk Medium"/>
                          <a:cs typeface="Aktiv Grotesk Medium"/>
                        </a:rPr>
                        <a:t> </a:t>
                      </a:r>
                      <a:r>
                        <a:rPr sz="1150" b="0" spc="-20" dirty="0">
                          <a:solidFill>
                            <a:srgbClr val="231F20"/>
                          </a:solidFill>
                          <a:latin typeface="Aktiv Grotesk Medium"/>
                          <a:cs typeface="Aktiv Grotesk Medium"/>
                        </a:rPr>
                        <a:t>0.18</a:t>
                      </a:r>
                      <a:endParaRPr sz="1150">
                        <a:latin typeface="Aktiv Grotesk Medium"/>
                        <a:cs typeface="Aktiv Grotesk Medium"/>
                      </a:endParaRPr>
                    </a:p>
                  </a:txBody>
                  <a:tcPr marL="0" marR="0" marT="31115" marB="0">
                    <a:lnT w="19050">
                      <a:solidFill>
                        <a:srgbClr val="C2DCDF"/>
                      </a:solidFill>
                      <a:prstDash val="solid"/>
                    </a:lnT>
                    <a:lnB w="19050">
                      <a:solidFill>
                        <a:srgbClr val="C2DCDF"/>
                      </a:solidFill>
                      <a:prstDash val="solid"/>
                    </a:lnB>
                  </a:tcPr>
                </a:tc>
                <a:tc>
                  <a:txBody>
                    <a:bodyPr/>
                    <a:lstStyle/>
                    <a:p>
                      <a:pPr>
                        <a:lnSpc>
                          <a:spcPct val="100000"/>
                        </a:lnSpc>
                      </a:pPr>
                      <a:endParaRPr sz="1150">
                        <a:latin typeface="Times New Roman"/>
                        <a:cs typeface="Times New Roman"/>
                      </a:endParaRPr>
                    </a:p>
                    <a:p>
                      <a:pPr>
                        <a:lnSpc>
                          <a:spcPct val="100000"/>
                        </a:lnSpc>
                      </a:pPr>
                      <a:endParaRPr sz="1150">
                        <a:latin typeface="Times New Roman"/>
                        <a:cs typeface="Times New Roman"/>
                      </a:endParaRPr>
                    </a:p>
                    <a:p>
                      <a:pPr>
                        <a:lnSpc>
                          <a:spcPct val="100000"/>
                        </a:lnSpc>
                        <a:spcBef>
                          <a:spcPts val="685"/>
                        </a:spcBef>
                      </a:pPr>
                      <a:endParaRPr sz="1150">
                        <a:latin typeface="Times New Roman"/>
                        <a:cs typeface="Times New Roman"/>
                      </a:endParaRPr>
                    </a:p>
                    <a:p>
                      <a:pPr marL="120014" marR="327660">
                        <a:lnSpc>
                          <a:spcPct val="106400"/>
                        </a:lnSpc>
                      </a:pPr>
                      <a:r>
                        <a:rPr sz="1150" b="0" spc="-10" dirty="0">
                          <a:solidFill>
                            <a:srgbClr val="231F20"/>
                          </a:solidFill>
                          <a:latin typeface="Aktiv Grotesk Medium"/>
                          <a:cs typeface="Aktiv Grotesk Medium"/>
                        </a:rPr>
                        <a:t>Final score</a:t>
                      </a:r>
                      <a:r>
                        <a:rPr sz="1200" b="0" i="1" spc="-15" baseline="20833" dirty="0">
                          <a:solidFill>
                            <a:srgbClr val="231F20"/>
                          </a:solidFill>
                          <a:latin typeface="Aktiv Grotesk Light"/>
                          <a:cs typeface="Aktiv Grotesk Light"/>
                        </a:rPr>
                        <a:t>b</a:t>
                      </a:r>
                      <a:endParaRPr sz="1200" baseline="20833">
                        <a:latin typeface="Aktiv Grotesk Light"/>
                        <a:cs typeface="Aktiv Grotesk Light"/>
                      </a:endParaRPr>
                    </a:p>
                  </a:txBody>
                  <a:tcPr marL="0" marR="0" marT="0" marB="0">
                    <a:lnT w="19050">
                      <a:solidFill>
                        <a:srgbClr val="C2DCDF"/>
                      </a:solidFill>
                      <a:prstDash val="solid"/>
                    </a:lnT>
                    <a:lnB w="19050">
                      <a:solidFill>
                        <a:srgbClr val="C2DCDF"/>
                      </a:solidFill>
                      <a:prstDash val="solid"/>
                    </a:lnB>
                  </a:tcPr>
                </a:tc>
                <a:extLst>
                  <a:ext uri="{0D108BD9-81ED-4DB2-BD59-A6C34878D82A}">
                    <a16:rowId xmlns:a16="http://schemas.microsoft.com/office/drawing/2014/main" val="10001"/>
                  </a:ext>
                </a:extLst>
              </a:tr>
              <a:tr h="234950">
                <a:tc>
                  <a:txBody>
                    <a:bodyPr/>
                    <a:lstStyle/>
                    <a:p>
                      <a:pPr marL="64135">
                        <a:lnSpc>
                          <a:spcPct val="100000"/>
                        </a:lnSpc>
                        <a:spcBef>
                          <a:spcPts val="275"/>
                        </a:spcBef>
                      </a:pPr>
                      <a:r>
                        <a:rPr sz="1050" b="0" spc="-10" dirty="0">
                          <a:solidFill>
                            <a:srgbClr val="231F20"/>
                          </a:solidFill>
                          <a:latin typeface="Aktiv Grotesk Medium"/>
                          <a:cs typeface="Aktiv Grotesk Medium"/>
                        </a:rPr>
                        <a:t>REACTIVE</a:t>
                      </a:r>
                      <a:endParaRPr sz="1050">
                        <a:latin typeface="Aktiv Grotesk Medium"/>
                        <a:cs typeface="Aktiv Grotesk Medium"/>
                      </a:endParaRPr>
                    </a:p>
                  </a:txBody>
                  <a:tcPr marL="0" marR="0" marT="34925" marB="0">
                    <a:lnT w="12700">
                      <a:solidFill>
                        <a:srgbClr val="C2DCDF"/>
                      </a:solidFill>
                      <a:prstDash val="solid"/>
                    </a:lnT>
                  </a:tcPr>
                </a:tc>
                <a:tc>
                  <a:txBody>
                    <a:bodyPr/>
                    <a:lstStyle/>
                    <a:p>
                      <a:pPr>
                        <a:lnSpc>
                          <a:spcPct val="100000"/>
                        </a:lnSpc>
                      </a:pPr>
                      <a:endParaRPr sz="1000">
                        <a:latin typeface="Times New Roman"/>
                        <a:cs typeface="Times New Roman"/>
                      </a:endParaRPr>
                    </a:p>
                  </a:txBody>
                  <a:tcPr marL="0" marR="0" marT="0" marB="0">
                    <a:lnT w="19050">
                      <a:solidFill>
                        <a:srgbClr val="C2DCDF"/>
                      </a:solidFill>
                      <a:prstDash val="solid"/>
                    </a:lnT>
                  </a:tcPr>
                </a:tc>
                <a:tc>
                  <a:txBody>
                    <a:bodyPr/>
                    <a:lstStyle/>
                    <a:p>
                      <a:pPr>
                        <a:lnSpc>
                          <a:spcPct val="100000"/>
                        </a:lnSpc>
                      </a:pPr>
                      <a:endParaRPr sz="1000">
                        <a:latin typeface="Times New Roman"/>
                        <a:cs typeface="Times New Roman"/>
                      </a:endParaRPr>
                    </a:p>
                  </a:txBody>
                  <a:tcPr marL="0" marR="0" marT="0" marB="0">
                    <a:lnT w="19050">
                      <a:solidFill>
                        <a:srgbClr val="C2DCDF"/>
                      </a:solidFill>
                      <a:prstDash val="solid"/>
                    </a:lnT>
                  </a:tcPr>
                </a:tc>
                <a:tc>
                  <a:txBody>
                    <a:bodyPr/>
                    <a:lstStyle/>
                    <a:p>
                      <a:pPr>
                        <a:lnSpc>
                          <a:spcPct val="100000"/>
                        </a:lnSpc>
                      </a:pPr>
                      <a:endParaRPr sz="1000">
                        <a:latin typeface="Times New Roman"/>
                        <a:cs typeface="Times New Roman"/>
                      </a:endParaRPr>
                    </a:p>
                  </a:txBody>
                  <a:tcPr marL="0" marR="0" marT="0" marB="0">
                    <a:lnT w="19050">
                      <a:solidFill>
                        <a:srgbClr val="C2DCDF"/>
                      </a:solidFill>
                      <a:prstDash val="solid"/>
                    </a:lnT>
                  </a:tcPr>
                </a:tc>
                <a:tc>
                  <a:txBody>
                    <a:bodyPr/>
                    <a:lstStyle/>
                    <a:p>
                      <a:pPr>
                        <a:lnSpc>
                          <a:spcPct val="100000"/>
                        </a:lnSpc>
                      </a:pPr>
                      <a:endParaRPr sz="1000">
                        <a:latin typeface="Times New Roman"/>
                        <a:cs typeface="Times New Roman"/>
                      </a:endParaRPr>
                    </a:p>
                  </a:txBody>
                  <a:tcPr marL="0" marR="0" marT="0" marB="0">
                    <a:lnT w="19050">
                      <a:solidFill>
                        <a:srgbClr val="C2DCDF"/>
                      </a:solidFill>
                      <a:prstDash val="solid"/>
                    </a:lnT>
                  </a:tcPr>
                </a:tc>
                <a:tc>
                  <a:txBody>
                    <a:bodyPr/>
                    <a:lstStyle/>
                    <a:p>
                      <a:pPr>
                        <a:lnSpc>
                          <a:spcPct val="100000"/>
                        </a:lnSpc>
                      </a:pPr>
                      <a:endParaRPr sz="1000">
                        <a:latin typeface="Times New Roman"/>
                        <a:cs typeface="Times New Roman"/>
                      </a:endParaRPr>
                    </a:p>
                  </a:txBody>
                  <a:tcPr marL="0" marR="0" marT="0" marB="0">
                    <a:lnT w="19050">
                      <a:solidFill>
                        <a:srgbClr val="C2DCDF"/>
                      </a:solidFill>
                      <a:prstDash val="solid"/>
                    </a:lnT>
                  </a:tcPr>
                </a:tc>
                <a:tc>
                  <a:txBody>
                    <a:bodyPr/>
                    <a:lstStyle/>
                    <a:p>
                      <a:pPr>
                        <a:lnSpc>
                          <a:spcPct val="100000"/>
                        </a:lnSpc>
                      </a:pPr>
                      <a:endParaRPr sz="1000">
                        <a:latin typeface="Times New Roman"/>
                        <a:cs typeface="Times New Roman"/>
                      </a:endParaRPr>
                    </a:p>
                  </a:txBody>
                  <a:tcPr marL="0" marR="0" marT="0" marB="0">
                    <a:lnT w="19050">
                      <a:solidFill>
                        <a:srgbClr val="C2DCDF"/>
                      </a:solidFill>
                      <a:prstDash val="solid"/>
                    </a:lnT>
                  </a:tcPr>
                </a:tc>
                <a:tc>
                  <a:txBody>
                    <a:bodyPr/>
                    <a:lstStyle/>
                    <a:p>
                      <a:pPr>
                        <a:lnSpc>
                          <a:spcPct val="100000"/>
                        </a:lnSpc>
                      </a:pPr>
                      <a:endParaRPr sz="1000">
                        <a:latin typeface="Times New Roman"/>
                        <a:cs typeface="Times New Roman"/>
                      </a:endParaRPr>
                    </a:p>
                  </a:txBody>
                  <a:tcPr marL="0" marR="0" marT="0" marB="0">
                    <a:lnT w="19050">
                      <a:solidFill>
                        <a:srgbClr val="C2DCDF"/>
                      </a:solidFill>
                      <a:prstDash val="solid"/>
                    </a:lnT>
                  </a:tcPr>
                </a:tc>
                <a:extLst>
                  <a:ext uri="{0D108BD9-81ED-4DB2-BD59-A6C34878D82A}">
                    <a16:rowId xmlns:a16="http://schemas.microsoft.com/office/drawing/2014/main" val="10002"/>
                  </a:ext>
                </a:extLst>
              </a:tr>
              <a:tr h="394970">
                <a:tc>
                  <a:txBody>
                    <a:bodyPr/>
                    <a:lstStyle/>
                    <a:p>
                      <a:pPr marL="170815" marR="354330" indent="-106680">
                        <a:lnSpc>
                          <a:spcPts val="1260"/>
                        </a:lnSpc>
                        <a:spcBef>
                          <a:spcPts val="334"/>
                        </a:spcBef>
                      </a:pPr>
                      <a:r>
                        <a:rPr sz="1100" b="0" spc="-10" dirty="0">
                          <a:solidFill>
                            <a:srgbClr val="231F20"/>
                          </a:solidFill>
                          <a:latin typeface="Aktiv Grotesk Light"/>
                          <a:cs typeface="Aktiv Grotesk Light"/>
                        </a:rPr>
                        <a:t>Expected outcome</a:t>
                      </a:r>
                      <a:endParaRPr sz="1100">
                        <a:latin typeface="Aktiv Grotesk Light"/>
                        <a:cs typeface="Aktiv Grotesk Light"/>
                      </a:endParaRPr>
                    </a:p>
                  </a:txBody>
                  <a:tcPr marL="0" marR="0" marT="42544" marB="0"/>
                </a:tc>
                <a:tc>
                  <a:txBody>
                    <a:bodyPr/>
                    <a:lstStyle/>
                    <a:p>
                      <a:pPr marL="52069" algn="ctr">
                        <a:lnSpc>
                          <a:spcPct val="100000"/>
                        </a:lnSpc>
                        <a:spcBef>
                          <a:spcPts val="240"/>
                        </a:spcBef>
                      </a:pPr>
                      <a:r>
                        <a:rPr sz="1100" b="0" spc="-25" dirty="0">
                          <a:solidFill>
                            <a:srgbClr val="231F20"/>
                          </a:solidFill>
                          <a:latin typeface="Aktiv Grotesk Light"/>
                          <a:cs typeface="Aktiv Grotesk Light"/>
                        </a:rPr>
                        <a:t>0.4</a:t>
                      </a:r>
                      <a:endParaRPr sz="1100">
                        <a:latin typeface="Aktiv Grotesk Light"/>
                        <a:cs typeface="Aktiv Grotesk Light"/>
                      </a:endParaRPr>
                    </a:p>
                  </a:txBody>
                  <a:tcPr marL="0" marR="0" marT="30480" marB="0"/>
                </a:tc>
                <a:tc>
                  <a:txBody>
                    <a:bodyPr/>
                    <a:lstStyle/>
                    <a:p>
                      <a:pPr marL="62230" algn="ctr">
                        <a:lnSpc>
                          <a:spcPct val="100000"/>
                        </a:lnSpc>
                        <a:spcBef>
                          <a:spcPts val="240"/>
                        </a:spcBef>
                      </a:pPr>
                      <a:r>
                        <a:rPr sz="1100" b="0" spc="-50" dirty="0">
                          <a:solidFill>
                            <a:srgbClr val="231F20"/>
                          </a:solidFill>
                          <a:latin typeface="Aktiv Grotesk Light"/>
                          <a:cs typeface="Aktiv Grotesk Light"/>
                        </a:rPr>
                        <a:t>0</a:t>
                      </a:r>
                      <a:endParaRPr sz="1100">
                        <a:latin typeface="Aktiv Grotesk Light"/>
                        <a:cs typeface="Aktiv Grotesk Light"/>
                      </a:endParaRPr>
                    </a:p>
                  </a:txBody>
                  <a:tcPr marL="0" marR="0" marT="30480" marB="0"/>
                </a:tc>
                <a:tc>
                  <a:txBody>
                    <a:bodyPr/>
                    <a:lstStyle/>
                    <a:p>
                      <a:pPr marL="30480" algn="ctr">
                        <a:lnSpc>
                          <a:spcPct val="100000"/>
                        </a:lnSpc>
                        <a:spcBef>
                          <a:spcPts val="240"/>
                        </a:spcBef>
                      </a:pPr>
                      <a:r>
                        <a:rPr sz="1100" b="0" spc="-50" dirty="0">
                          <a:solidFill>
                            <a:srgbClr val="231F20"/>
                          </a:solidFill>
                          <a:latin typeface="Aktiv Grotesk Light"/>
                          <a:cs typeface="Aktiv Grotesk Light"/>
                        </a:rPr>
                        <a:t>0</a:t>
                      </a:r>
                      <a:endParaRPr sz="1100">
                        <a:latin typeface="Aktiv Grotesk Light"/>
                        <a:cs typeface="Aktiv Grotesk Light"/>
                      </a:endParaRPr>
                    </a:p>
                  </a:txBody>
                  <a:tcPr marL="0" marR="0" marT="30480" marB="0"/>
                </a:tc>
                <a:tc>
                  <a:txBody>
                    <a:bodyPr/>
                    <a:lstStyle/>
                    <a:p>
                      <a:pPr marL="20320" algn="ctr">
                        <a:lnSpc>
                          <a:spcPct val="100000"/>
                        </a:lnSpc>
                        <a:spcBef>
                          <a:spcPts val="240"/>
                        </a:spcBef>
                      </a:pPr>
                      <a:r>
                        <a:rPr sz="1100" b="0" spc="-25" dirty="0">
                          <a:solidFill>
                            <a:srgbClr val="231F20"/>
                          </a:solidFill>
                          <a:latin typeface="Aktiv Grotesk Light"/>
                          <a:cs typeface="Aktiv Grotesk Light"/>
                        </a:rPr>
                        <a:t>48</a:t>
                      </a:r>
                      <a:endParaRPr sz="1100">
                        <a:latin typeface="Aktiv Grotesk Light"/>
                        <a:cs typeface="Aktiv Grotesk Light"/>
                      </a:endParaRPr>
                    </a:p>
                  </a:txBody>
                  <a:tcPr marL="0" marR="0" marT="30480" marB="0"/>
                </a:tc>
                <a:tc>
                  <a:txBody>
                    <a:bodyPr/>
                    <a:lstStyle/>
                    <a:p>
                      <a:pPr marL="17145" algn="ctr">
                        <a:lnSpc>
                          <a:spcPct val="100000"/>
                        </a:lnSpc>
                        <a:spcBef>
                          <a:spcPts val="240"/>
                        </a:spcBef>
                      </a:pPr>
                      <a:r>
                        <a:rPr sz="1100" b="0" spc="-25" dirty="0">
                          <a:solidFill>
                            <a:srgbClr val="231F20"/>
                          </a:solidFill>
                          <a:latin typeface="Aktiv Grotesk Light"/>
                          <a:cs typeface="Aktiv Grotesk Light"/>
                        </a:rPr>
                        <a:t>0.4</a:t>
                      </a:r>
                      <a:endParaRPr sz="1100">
                        <a:latin typeface="Aktiv Grotesk Light"/>
                        <a:cs typeface="Aktiv Grotesk Light"/>
                      </a:endParaRPr>
                    </a:p>
                  </a:txBody>
                  <a:tcPr marL="0" marR="0" marT="30480" marB="0"/>
                </a:tc>
                <a:tc>
                  <a:txBody>
                    <a:bodyPr/>
                    <a:lstStyle/>
                    <a:p>
                      <a:pPr marL="72390" algn="ctr">
                        <a:lnSpc>
                          <a:spcPct val="100000"/>
                        </a:lnSpc>
                        <a:spcBef>
                          <a:spcPts val="240"/>
                        </a:spcBef>
                      </a:pPr>
                      <a:r>
                        <a:rPr sz="1100" b="0" spc="-25" dirty="0">
                          <a:solidFill>
                            <a:srgbClr val="231F20"/>
                          </a:solidFill>
                          <a:latin typeface="Aktiv Grotesk Light"/>
                          <a:cs typeface="Aktiv Grotesk Light"/>
                        </a:rPr>
                        <a:t>105</a:t>
                      </a:r>
                      <a:endParaRPr sz="1100">
                        <a:latin typeface="Aktiv Grotesk Light"/>
                        <a:cs typeface="Aktiv Grotesk Light"/>
                      </a:endParaRPr>
                    </a:p>
                  </a:txBody>
                  <a:tcPr marL="0" marR="0" marT="30480" marB="0"/>
                </a:tc>
                <a:tc>
                  <a:txBody>
                    <a:bodyPr/>
                    <a:lstStyle/>
                    <a:p>
                      <a:pPr>
                        <a:lnSpc>
                          <a:spcPct val="100000"/>
                        </a:lnSpc>
                      </a:pPr>
                      <a:endParaRPr sz="1000">
                        <a:latin typeface="Times New Roman"/>
                        <a:cs typeface="Times New Roman"/>
                      </a:endParaRPr>
                    </a:p>
                  </a:txBody>
                  <a:tcPr marL="0" marR="0" marT="0" marB="0"/>
                </a:tc>
                <a:extLst>
                  <a:ext uri="{0D108BD9-81ED-4DB2-BD59-A6C34878D82A}">
                    <a16:rowId xmlns:a16="http://schemas.microsoft.com/office/drawing/2014/main" val="10003"/>
                  </a:ext>
                </a:extLst>
              </a:tr>
              <a:tr h="390525">
                <a:tc>
                  <a:txBody>
                    <a:bodyPr/>
                    <a:lstStyle/>
                    <a:p>
                      <a:pPr marL="170815" marR="313690" indent="-106680">
                        <a:lnSpc>
                          <a:spcPts val="1260"/>
                        </a:lnSpc>
                        <a:spcBef>
                          <a:spcPts val="300"/>
                        </a:spcBef>
                      </a:pPr>
                      <a:r>
                        <a:rPr sz="1100" b="0" spc="-10" dirty="0">
                          <a:solidFill>
                            <a:srgbClr val="231F20"/>
                          </a:solidFill>
                          <a:latin typeface="Aktiv Grotesk Light"/>
                          <a:cs typeface="Aktiv Grotesk Light"/>
                        </a:rPr>
                        <a:t>Normalized score</a:t>
                      </a:r>
                      <a:endParaRPr sz="1100">
                        <a:latin typeface="Aktiv Grotesk Light"/>
                        <a:cs typeface="Aktiv Grotesk Light"/>
                      </a:endParaRPr>
                    </a:p>
                  </a:txBody>
                  <a:tcPr marL="0" marR="0" marT="38100" marB="0"/>
                </a:tc>
                <a:tc>
                  <a:txBody>
                    <a:bodyPr/>
                    <a:lstStyle/>
                    <a:p>
                      <a:pPr marR="378460" algn="r">
                        <a:lnSpc>
                          <a:spcPct val="100000"/>
                        </a:lnSpc>
                        <a:spcBef>
                          <a:spcPts val="204"/>
                        </a:spcBef>
                      </a:pPr>
                      <a:r>
                        <a:rPr sz="1100" b="0" spc="-20" dirty="0">
                          <a:solidFill>
                            <a:srgbClr val="231F20"/>
                          </a:solidFill>
                          <a:latin typeface="Aktiv Grotesk Light"/>
                          <a:cs typeface="Aktiv Grotesk Light"/>
                        </a:rPr>
                        <a:t>0.00</a:t>
                      </a:r>
                      <a:endParaRPr sz="1100">
                        <a:latin typeface="Aktiv Grotesk Light"/>
                        <a:cs typeface="Aktiv Grotesk Light"/>
                      </a:endParaRPr>
                    </a:p>
                  </a:txBody>
                  <a:tcPr marL="0" marR="0" marT="26034" marB="0"/>
                </a:tc>
                <a:tc>
                  <a:txBody>
                    <a:bodyPr/>
                    <a:lstStyle/>
                    <a:p>
                      <a:pPr marL="62230" algn="ctr">
                        <a:lnSpc>
                          <a:spcPct val="100000"/>
                        </a:lnSpc>
                        <a:spcBef>
                          <a:spcPts val="204"/>
                        </a:spcBef>
                      </a:pPr>
                      <a:r>
                        <a:rPr sz="1100" b="0" spc="-20" dirty="0">
                          <a:solidFill>
                            <a:srgbClr val="231F20"/>
                          </a:solidFill>
                          <a:latin typeface="Aktiv Grotesk Light"/>
                          <a:cs typeface="Aktiv Grotesk Light"/>
                        </a:rPr>
                        <a:t>1.00</a:t>
                      </a:r>
                      <a:endParaRPr sz="1100">
                        <a:latin typeface="Aktiv Grotesk Light"/>
                        <a:cs typeface="Aktiv Grotesk Light"/>
                      </a:endParaRPr>
                    </a:p>
                  </a:txBody>
                  <a:tcPr marL="0" marR="0" marT="26034" marB="0"/>
                </a:tc>
                <a:tc>
                  <a:txBody>
                    <a:bodyPr/>
                    <a:lstStyle/>
                    <a:p>
                      <a:pPr marL="30480" algn="ctr">
                        <a:lnSpc>
                          <a:spcPct val="100000"/>
                        </a:lnSpc>
                        <a:spcBef>
                          <a:spcPts val="204"/>
                        </a:spcBef>
                      </a:pPr>
                      <a:r>
                        <a:rPr sz="1100" b="0" spc="-20" dirty="0">
                          <a:solidFill>
                            <a:srgbClr val="231F20"/>
                          </a:solidFill>
                          <a:latin typeface="Aktiv Grotesk Light"/>
                          <a:cs typeface="Aktiv Grotesk Light"/>
                        </a:rPr>
                        <a:t>1.00</a:t>
                      </a:r>
                      <a:endParaRPr sz="1100">
                        <a:latin typeface="Aktiv Grotesk Light"/>
                        <a:cs typeface="Aktiv Grotesk Light"/>
                      </a:endParaRPr>
                    </a:p>
                  </a:txBody>
                  <a:tcPr marL="0" marR="0" marT="26034" marB="0"/>
                </a:tc>
                <a:tc>
                  <a:txBody>
                    <a:bodyPr/>
                    <a:lstStyle/>
                    <a:p>
                      <a:pPr marL="20320" algn="ctr">
                        <a:lnSpc>
                          <a:spcPct val="100000"/>
                        </a:lnSpc>
                        <a:spcBef>
                          <a:spcPts val="204"/>
                        </a:spcBef>
                      </a:pPr>
                      <a:r>
                        <a:rPr sz="1100" b="0" spc="-20" dirty="0">
                          <a:solidFill>
                            <a:srgbClr val="231F20"/>
                          </a:solidFill>
                          <a:latin typeface="Aktiv Grotesk Light"/>
                          <a:cs typeface="Aktiv Grotesk Light"/>
                        </a:rPr>
                        <a:t>0.00</a:t>
                      </a:r>
                      <a:endParaRPr sz="1100">
                        <a:latin typeface="Aktiv Grotesk Light"/>
                        <a:cs typeface="Aktiv Grotesk Light"/>
                      </a:endParaRPr>
                    </a:p>
                  </a:txBody>
                  <a:tcPr marL="0" marR="0" marT="26034" marB="0"/>
                </a:tc>
                <a:tc>
                  <a:txBody>
                    <a:bodyPr/>
                    <a:lstStyle/>
                    <a:p>
                      <a:pPr marL="17145" algn="ctr">
                        <a:lnSpc>
                          <a:spcPct val="100000"/>
                        </a:lnSpc>
                        <a:spcBef>
                          <a:spcPts val="204"/>
                        </a:spcBef>
                      </a:pPr>
                      <a:r>
                        <a:rPr sz="1100" b="0" spc="-20" dirty="0">
                          <a:solidFill>
                            <a:srgbClr val="231F20"/>
                          </a:solidFill>
                          <a:latin typeface="Aktiv Grotesk Light"/>
                          <a:cs typeface="Aktiv Grotesk Light"/>
                        </a:rPr>
                        <a:t>0.00</a:t>
                      </a:r>
                      <a:endParaRPr sz="1100">
                        <a:latin typeface="Aktiv Grotesk Light"/>
                        <a:cs typeface="Aktiv Grotesk Light"/>
                      </a:endParaRPr>
                    </a:p>
                  </a:txBody>
                  <a:tcPr marL="0" marR="0" marT="26034" marB="0"/>
                </a:tc>
                <a:tc>
                  <a:txBody>
                    <a:bodyPr/>
                    <a:lstStyle/>
                    <a:p>
                      <a:pPr marL="72390" algn="ctr">
                        <a:lnSpc>
                          <a:spcPct val="100000"/>
                        </a:lnSpc>
                        <a:spcBef>
                          <a:spcPts val="204"/>
                        </a:spcBef>
                      </a:pPr>
                      <a:r>
                        <a:rPr sz="1100" b="0" spc="-20" dirty="0">
                          <a:solidFill>
                            <a:srgbClr val="231F20"/>
                          </a:solidFill>
                          <a:latin typeface="Aktiv Grotesk Light"/>
                          <a:cs typeface="Aktiv Grotesk Light"/>
                        </a:rPr>
                        <a:t>0.00</a:t>
                      </a:r>
                      <a:endParaRPr sz="1100">
                        <a:latin typeface="Aktiv Grotesk Light"/>
                        <a:cs typeface="Aktiv Grotesk Light"/>
                      </a:endParaRPr>
                    </a:p>
                  </a:txBody>
                  <a:tcPr marL="0" marR="0" marT="26034" marB="0"/>
                </a:tc>
                <a:tc>
                  <a:txBody>
                    <a:bodyPr/>
                    <a:lstStyle/>
                    <a:p>
                      <a:pPr>
                        <a:lnSpc>
                          <a:spcPct val="100000"/>
                        </a:lnSpc>
                      </a:pPr>
                      <a:endParaRPr sz="1000">
                        <a:latin typeface="Times New Roman"/>
                        <a:cs typeface="Times New Roman"/>
                      </a:endParaRPr>
                    </a:p>
                  </a:txBody>
                  <a:tcPr marL="0" marR="0" marT="0" marB="0"/>
                </a:tc>
                <a:extLst>
                  <a:ext uri="{0D108BD9-81ED-4DB2-BD59-A6C34878D82A}">
                    <a16:rowId xmlns:a16="http://schemas.microsoft.com/office/drawing/2014/main" val="10004"/>
                  </a:ext>
                </a:extLst>
              </a:tr>
              <a:tr h="422275">
                <a:tc>
                  <a:txBody>
                    <a:bodyPr/>
                    <a:lstStyle/>
                    <a:p>
                      <a:pPr marL="170815" marR="221615" indent="-106680">
                        <a:lnSpc>
                          <a:spcPts val="1260"/>
                        </a:lnSpc>
                        <a:spcBef>
                          <a:spcPts val="300"/>
                        </a:spcBef>
                      </a:pPr>
                      <a:r>
                        <a:rPr sz="1100" b="0" spc="-10" dirty="0">
                          <a:solidFill>
                            <a:srgbClr val="231F20"/>
                          </a:solidFill>
                          <a:latin typeface="Aktiv Grotesk Light"/>
                          <a:cs typeface="Aktiv Grotesk Light"/>
                        </a:rPr>
                        <a:t>Normalized </a:t>
                      </a:r>
                      <a:r>
                        <a:rPr sz="1100" b="0" dirty="0">
                          <a:solidFill>
                            <a:srgbClr val="231F20"/>
                          </a:solidFill>
                          <a:latin typeface="Aktiv Grotesk Light"/>
                          <a:cs typeface="Aktiv Grotesk Light"/>
                        </a:rPr>
                        <a:t>score</a:t>
                      </a:r>
                      <a:r>
                        <a:rPr sz="1100" b="0" spc="120" dirty="0">
                          <a:solidFill>
                            <a:srgbClr val="231F20"/>
                          </a:solidFill>
                          <a:latin typeface="Aktiv Grotesk Light"/>
                          <a:cs typeface="Aktiv Grotesk Light"/>
                        </a:rPr>
                        <a:t> </a:t>
                      </a:r>
                      <a:r>
                        <a:rPr sz="1100" dirty="0">
                          <a:solidFill>
                            <a:srgbClr val="231F20"/>
                          </a:solidFill>
                          <a:latin typeface="STIX Two Text"/>
                          <a:cs typeface="STIX Two Text"/>
                        </a:rPr>
                        <a:t>×</a:t>
                      </a:r>
                      <a:r>
                        <a:rPr sz="1100" spc="105" dirty="0">
                          <a:solidFill>
                            <a:srgbClr val="231F20"/>
                          </a:solidFill>
                          <a:latin typeface="STIX Two Text"/>
                          <a:cs typeface="STIX Two Text"/>
                        </a:rPr>
                        <a:t> </a:t>
                      </a:r>
                      <a:r>
                        <a:rPr sz="1100" b="0" spc="-25" dirty="0">
                          <a:solidFill>
                            <a:srgbClr val="231F20"/>
                          </a:solidFill>
                          <a:latin typeface="Aktiv Grotesk Light"/>
                          <a:cs typeface="Aktiv Grotesk Light"/>
                        </a:rPr>
                        <a:t>wt.</a:t>
                      </a:r>
                      <a:endParaRPr sz="1100">
                        <a:latin typeface="Aktiv Grotesk Light"/>
                        <a:cs typeface="Aktiv Grotesk Light"/>
                      </a:endParaRPr>
                    </a:p>
                  </a:txBody>
                  <a:tcPr marL="0" marR="0" marT="38100" marB="0">
                    <a:lnB w="19050">
                      <a:solidFill>
                        <a:srgbClr val="C2DCDF"/>
                      </a:solidFill>
                      <a:prstDash val="solid"/>
                    </a:lnB>
                  </a:tcPr>
                </a:tc>
                <a:tc>
                  <a:txBody>
                    <a:bodyPr/>
                    <a:lstStyle/>
                    <a:p>
                      <a:pPr marR="378460" algn="r">
                        <a:lnSpc>
                          <a:spcPct val="100000"/>
                        </a:lnSpc>
                        <a:spcBef>
                          <a:spcPts val="204"/>
                        </a:spcBef>
                      </a:pPr>
                      <a:r>
                        <a:rPr sz="1100" b="0" spc="-20" dirty="0">
                          <a:solidFill>
                            <a:srgbClr val="231F20"/>
                          </a:solidFill>
                          <a:latin typeface="Aktiv Grotesk Light"/>
                          <a:cs typeface="Aktiv Grotesk Light"/>
                        </a:rPr>
                        <a:t>0.00</a:t>
                      </a:r>
                      <a:endParaRPr sz="1100">
                        <a:latin typeface="Aktiv Grotesk Light"/>
                        <a:cs typeface="Aktiv Grotesk Light"/>
                      </a:endParaRPr>
                    </a:p>
                  </a:txBody>
                  <a:tcPr marL="0" marR="0" marT="26034" marB="0">
                    <a:lnB w="19050">
                      <a:solidFill>
                        <a:srgbClr val="C2DCDF"/>
                      </a:solidFill>
                      <a:prstDash val="solid"/>
                    </a:lnB>
                  </a:tcPr>
                </a:tc>
                <a:tc>
                  <a:txBody>
                    <a:bodyPr/>
                    <a:lstStyle/>
                    <a:p>
                      <a:pPr marL="62230" algn="ctr">
                        <a:lnSpc>
                          <a:spcPct val="100000"/>
                        </a:lnSpc>
                        <a:spcBef>
                          <a:spcPts val="204"/>
                        </a:spcBef>
                      </a:pPr>
                      <a:r>
                        <a:rPr sz="1100" b="0" spc="-20" dirty="0">
                          <a:solidFill>
                            <a:srgbClr val="231F20"/>
                          </a:solidFill>
                          <a:latin typeface="Aktiv Grotesk Light"/>
                          <a:cs typeface="Aktiv Grotesk Light"/>
                        </a:rPr>
                        <a:t>0.15</a:t>
                      </a:r>
                      <a:endParaRPr sz="1100">
                        <a:latin typeface="Aktiv Grotesk Light"/>
                        <a:cs typeface="Aktiv Grotesk Light"/>
                      </a:endParaRPr>
                    </a:p>
                  </a:txBody>
                  <a:tcPr marL="0" marR="0" marT="26034" marB="0">
                    <a:lnB w="19050">
                      <a:solidFill>
                        <a:srgbClr val="C2DCDF"/>
                      </a:solidFill>
                      <a:prstDash val="solid"/>
                    </a:lnB>
                  </a:tcPr>
                </a:tc>
                <a:tc>
                  <a:txBody>
                    <a:bodyPr/>
                    <a:lstStyle/>
                    <a:p>
                      <a:pPr marL="30480" algn="ctr">
                        <a:lnSpc>
                          <a:spcPct val="100000"/>
                        </a:lnSpc>
                        <a:spcBef>
                          <a:spcPts val="204"/>
                        </a:spcBef>
                      </a:pPr>
                      <a:r>
                        <a:rPr sz="1100" b="0" spc="-20" dirty="0">
                          <a:solidFill>
                            <a:srgbClr val="231F20"/>
                          </a:solidFill>
                          <a:latin typeface="Aktiv Grotesk Light"/>
                          <a:cs typeface="Aktiv Grotesk Light"/>
                        </a:rPr>
                        <a:t>0.14</a:t>
                      </a:r>
                      <a:endParaRPr sz="1100">
                        <a:latin typeface="Aktiv Grotesk Light"/>
                        <a:cs typeface="Aktiv Grotesk Light"/>
                      </a:endParaRPr>
                    </a:p>
                  </a:txBody>
                  <a:tcPr marL="0" marR="0" marT="26034" marB="0">
                    <a:lnB w="19050">
                      <a:solidFill>
                        <a:srgbClr val="C2DCDF"/>
                      </a:solidFill>
                      <a:prstDash val="solid"/>
                    </a:lnB>
                  </a:tcPr>
                </a:tc>
                <a:tc>
                  <a:txBody>
                    <a:bodyPr/>
                    <a:lstStyle/>
                    <a:p>
                      <a:pPr marL="20320" algn="ctr">
                        <a:lnSpc>
                          <a:spcPct val="100000"/>
                        </a:lnSpc>
                        <a:spcBef>
                          <a:spcPts val="204"/>
                        </a:spcBef>
                      </a:pPr>
                      <a:r>
                        <a:rPr sz="1100" b="0" spc="-20" dirty="0">
                          <a:solidFill>
                            <a:srgbClr val="231F20"/>
                          </a:solidFill>
                          <a:latin typeface="Aktiv Grotesk Light"/>
                          <a:cs typeface="Aktiv Grotesk Light"/>
                        </a:rPr>
                        <a:t>0.00</a:t>
                      </a:r>
                      <a:endParaRPr sz="1100">
                        <a:latin typeface="Aktiv Grotesk Light"/>
                        <a:cs typeface="Aktiv Grotesk Light"/>
                      </a:endParaRPr>
                    </a:p>
                  </a:txBody>
                  <a:tcPr marL="0" marR="0" marT="26034" marB="0">
                    <a:lnB w="19050">
                      <a:solidFill>
                        <a:srgbClr val="C2DCDF"/>
                      </a:solidFill>
                      <a:prstDash val="solid"/>
                    </a:lnB>
                  </a:tcPr>
                </a:tc>
                <a:tc>
                  <a:txBody>
                    <a:bodyPr/>
                    <a:lstStyle/>
                    <a:p>
                      <a:pPr marL="17145" algn="ctr">
                        <a:lnSpc>
                          <a:spcPct val="100000"/>
                        </a:lnSpc>
                        <a:spcBef>
                          <a:spcPts val="204"/>
                        </a:spcBef>
                      </a:pPr>
                      <a:r>
                        <a:rPr sz="1100" b="0" spc="-20" dirty="0">
                          <a:solidFill>
                            <a:srgbClr val="231F20"/>
                          </a:solidFill>
                          <a:latin typeface="Aktiv Grotesk Light"/>
                          <a:cs typeface="Aktiv Grotesk Light"/>
                        </a:rPr>
                        <a:t>0.00</a:t>
                      </a:r>
                      <a:endParaRPr sz="1100">
                        <a:latin typeface="Aktiv Grotesk Light"/>
                        <a:cs typeface="Aktiv Grotesk Light"/>
                      </a:endParaRPr>
                    </a:p>
                  </a:txBody>
                  <a:tcPr marL="0" marR="0" marT="26034" marB="0">
                    <a:lnB w="19050">
                      <a:solidFill>
                        <a:srgbClr val="C2DCDF"/>
                      </a:solidFill>
                      <a:prstDash val="solid"/>
                    </a:lnB>
                  </a:tcPr>
                </a:tc>
                <a:tc>
                  <a:txBody>
                    <a:bodyPr/>
                    <a:lstStyle/>
                    <a:p>
                      <a:pPr marL="72390" algn="ctr">
                        <a:lnSpc>
                          <a:spcPct val="100000"/>
                        </a:lnSpc>
                        <a:spcBef>
                          <a:spcPts val="204"/>
                        </a:spcBef>
                      </a:pPr>
                      <a:r>
                        <a:rPr sz="1100" b="0" spc="-20" dirty="0">
                          <a:solidFill>
                            <a:srgbClr val="231F20"/>
                          </a:solidFill>
                          <a:latin typeface="Aktiv Grotesk Light"/>
                          <a:cs typeface="Aktiv Grotesk Light"/>
                        </a:rPr>
                        <a:t>0.00</a:t>
                      </a:r>
                      <a:endParaRPr sz="1100">
                        <a:latin typeface="Aktiv Grotesk Light"/>
                        <a:cs typeface="Aktiv Grotesk Light"/>
                      </a:endParaRPr>
                    </a:p>
                  </a:txBody>
                  <a:tcPr marL="0" marR="0" marT="26034" marB="0">
                    <a:lnB w="19050">
                      <a:solidFill>
                        <a:srgbClr val="C2DCDF"/>
                      </a:solidFill>
                      <a:prstDash val="solid"/>
                    </a:lnB>
                  </a:tcPr>
                </a:tc>
                <a:tc>
                  <a:txBody>
                    <a:bodyPr/>
                    <a:lstStyle/>
                    <a:p>
                      <a:pPr marL="339725">
                        <a:lnSpc>
                          <a:spcPct val="100000"/>
                        </a:lnSpc>
                        <a:spcBef>
                          <a:spcPts val="204"/>
                        </a:spcBef>
                      </a:pPr>
                      <a:r>
                        <a:rPr sz="1100" b="0" spc="-20" dirty="0">
                          <a:solidFill>
                            <a:srgbClr val="231F20"/>
                          </a:solidFill>
                          <a:latin typeface="Aktiv Grotesk Light"/>
                          <a:cs typeface="Aktiv Grotesk Light"/>
                        </a:rPr>
                        <a:t>0.28</a:t>
                      </a:r>
                      <a:endParaRPr sz="1100">
                        <a:latin typeface="Aktiv Grotesk Light"/>
                        <a:cs typeface="Aktiv Grotesk Light"/>
                      </a:endParaRPr>
                    </a:p>
                  </a:txBody>
                  <a:tcPr marL="0" marR="0" marT="26034" marB="0">
                    <a:lnB w="19050">
                      <a:solidFill>
                        <a:srgbClr val="C2DCDF"/>
                      </a:solidFill>
                      <a:prstDash val="solid"/>
                    </a:lnB>
                  </a:tcPr>
                </a:tc>
                <a:extLst>
                  <a:ext uri="{0D108BD9-81ED-4DB2-BD59-A6C34878D82A}">
                    <a16:rowId xmlns:a16="http://schemas.microsoft.com/office/drawing/2014/main" val="10005"/>
                  </a:ext>
                </a:extLst>
              </a:tr>
            </a:tbl>
          </a:graphicData>
        </a:graphic>
      </p:graphicFrame>
      <p:sp>
        <p:nvSpPr>
          <p:cNvPr id="3" name="object 3" title="TABLE 13.1 Results of a decision-making analysis using a framework to evaluate and compare three management alternatives for reducing a potential outbreak of disease in a bighorn sheep populationa"/>
          <p:cNvSpPr txBox="1"/>
          <p:nvPr/>
        </p:nvSpPr>
        <p:spPr>
          <a:xfrm>
            <a:off x="1536462" y="4328816"/>
            <a:ext cx="9109075" cy="1003300"/>
          </a:xfrm>
          <a:prstGeom prst="rect">
            <a:avLst/>
          </a:prstGeom>
        </p:spPr>
        <p:txBody>
          <a:bodyPr vert="horz" wrap="square" lIns="0" tIns="22225" rIns="0" bIns="0" rtlCol="0">
            <a:spAutoFit/>
          </a:bodyPr>
          <a:lstStyle/>
          <a:p>
            <a:pPr marL="38100">
              <a:lnSpc>
                <a:spcPct val="100000"/>
              </a:lnSpc>
              <a:spcBef>
                <a:spcPts val="175"/>
              </a:spcBef>
            </a:pPr>
            <a:r>
              <a:rPr sz="850" b="0" i="1" spc="10" dirty="0">
                <a:solidFill>
                  <a:srgbClr val="231F20"/>
                </a:solidFill>
                <a:latin typeface="Aktiv Grotesk Light"/>
                <a:cs typeface="Aktiv Grotesk Light"/>
              </a:rPr>
              <a:t>Source</a:t>
            </a:r>
            <a:r>
              <a:rPr sz="850" b="0" spc="10" dirty="0">
                <a:solidFill>
                  <a:srgbClr val="231F20"/>
                </a:solidFill>
                <a:latin typeface="Aktiv Grotesk Light"/>
                <a:cs typeface="Aktiv Grotesk Light"/>
              </a:rPr>
              <a:t>:</a:t>
            </a:r>
            <a:r>
              <a:rPr sz="850" b="0" spc="114" dirty="0">
                <a:solidFill>
                  <a:srgbClr val="231F20"/>
                </a:solidFill>
                <a:latin typeface="Aktiv Grotesk Light"/>
                <a:cs typeface="Aktiv Grotesk Light"/>
              </a:rPr>
              <a:t> </a:t>
            </a:r>
            <a:r>
              <a:rPr sz="850" b="0" spc="10" dirty="0">
                <a:solidFill>
                  <a:srgbClr val="231F20"/>
                </a:solidFill>
                <a:latin typeface="Aktiv Grotesk Light"/>
                <a:cs typeface="Aktiv Grotesk Light"/>
              </a:rPr>
              <a:t>M.</a:t>
            </a:r>
            <a:r>
              <a:rPr sz="850" b="0" spc="120" dirty="0">
                <a:solidFill>
                  <a:srgbClr val="231F20"/>
                </a:solidFill>
                <a:latin typeface="Aktiv Grotesk Light"/>
                <a:cs typeface="Aktiv Grotesk Light"/>
              </a:rPr>
              <a:t> </a:t>
            </a:r>
            <a:r>
              <a:rPr sz="850" b="0" spc="10" dirty="0">
                <a:solidFill>
                  <a:srgbClr val="231F20"/>
                </a:solidFill>
                <a:latin typeface="Aktiv Grotesk Light"/>
                <a:cs typeface="Aktiv Grotesk Light"/>
              </a:rPr>
              <a:t>S.</a:t>
            </a:r>
            <a:r>
              <a:rPr sz="850" b="0" spc="120" dirty="0">
                <a:solidFill>
                  <a:srgbClr val="231F20"/>
                </a:solidFill>
                <a:latin typeface="Aktiv Grotesk Light"/>
                <a:cs typeface="Aktiv Grotesk Light"/>
              </a:rPr>
              <a:t> </a:t>
            </a:r>
            <a:r>
              <a:rPr sz="850" b="0" spc="10" dirty="0">
                <a:solidFill>
                  <a:srgbClr val="231F20"/>
                </a:solidFill>
                <a:latin typeface="Aktiv Grotesk Light"/>
                <a:cs typeface="Aktiv Grotesk Light"/>
              </a:rPr>
              <a:t>Mitchell</a:t>
            </a:r>
            <a:r>
              <a:rPr sz="850" b="0" spc="120" dirty="0">
                <a:solidFill>
                  <a:srgbClr val="231F20"/>
                </a:solidFill>
                <a:latin typeface="Aktiv Grotesk Light"/>
                <a:cs typeface="Aktiv Grotesk Light"/>
              </a:rPr>
              <a:t> </a:t>
            </a:r>
            <a:r>
              <a:rPr sz="850" b="0" spc="10" dirty="0">
                <a:solidFill>
                  <a:srgbClr val="231F20"/>
                </a:solidFill>
                <a:latin typeface="Aktiv Grotesk Light"/>
                <a:cs typeface="Aktiv Grotesk Light"/>
              </a:rPr>
              <a:t>et</a:t>
            </a:r>
            <a:r>
              <a:rPr sz="850" b="0" spc="120" dirty="0">
                <a:solidFill>
                  <a:srgbClr val="231F20"/>
                </a:solidFill>
                <a:latin typeface="Aktiv Grotesk Light"/>
                <a:cs typeface="Aktiv Grotesk Light"/>
              </a:rPr>
              <a:t> </a:t>
            </a:r>
            <a:r>
              <a:rPr sz="850" b="0" spc="10" dirty="0">
                <a:solidFill>
                  <a:srgbClr val="231F20"/>
                </a:solidFill>
                <a:latin typeface="Aktiv Grotesk Light"/>
                <a:cs typeface="Aktiv Grotesk Light"/>
              </a:rPr>
              <a:t>al.</a:t>
            </a:r>
            <a:r>
              <a:rPr sz="850" b="0" spc="120" dirty="0">
                <a:solidFill>
                  <a:srgbClr val="231F20"/>
                </a:solidFill>
                <a:latin typeface="Aktiv Grotesk Light"/>
                <a:cs typeface="Aktiv Grotesk Light"/>
              </a:rPr>
              <a:t> </a:t>
            </a:r>
            <a:r>
              <a:rPr sz="850" b="0" spc="10" dirty="0">
                <a:solidFill>
                  <a:srgbClr val="231F20"/>
                </a:solidFill>
                <a:latin typeface="Aktiv Grotesk Light"/>
                <a:cs typeface="Aktiv Grotesk Light"/>
              </a:rPr>
              <a:t>2013.</a:t>
            </a:r>
            <a:r>
              <a:rPr sz="850" b="0" spc="120" dirty="0">
                <a:solidFill>
                  <a:srgbClr val="231F20"/>
                </a:solidFill>
                <a:latin typeface="Aktiv Grotesk Light"/>
                <a:cs typeface="Aktiv Grotesk Light"/>
              </a:rPr>
              <a:t> </a:t>
            </a:r>
            <a:r>
              <a:rPr sz="850" b="0" i="1" spc="10" dirty="0">
                <a:solidFill>
                  <a:srgbClr val="231F20"/>
                </a:solidFill>
                <a:latin typeface="Aktiv Grotesk Light"/>
                <a:cs typeface="Aktiv Grotesk Light"/>
              </a:rPr>
              <a:t>Wild</a:t>
            </a:r>
            <a:r>
              <a:rPr sz="850" b="0" i="1" spc="114" dirty="0">
                <a:solidFill>
                  <a:srgbClr val="231F20"/>
                </a:solidFill>
                <a:latin typeface="Aktiv Grotesk Light"/>
                <a:cs typeface="Aktiv Grotesk Light"/>
              </a:rPr>
              <a:t> </a:t>
            </a:r>
            <a:r>
              <a:rPr sz="850" b="0" i="1" spc="50" dirty="0">
                <a:solidFill>
                  <a:srgbClr val="231F20"/>
                </a:solidFill>
                <a:latin typeface="Aktiv Grotesk Light"/>
                <a:cs typeface="Aktiv Grotesk Light"/>
              </a:rPr>
              <a:t>Soc</a:t>
            </a:r>
            <a:r>
              <a:rPr sz="850" b="0" i="1" spc="120" dirty="0">
                <a:solidFill>
                  <a:srgbClr val="231F20"/>
                </a:solidFill>
                <a:latin typeface="Aktiv Grotesk Light"/>
                <a:cs typeface="Aktiv Grotesk Light"/>
              </a:rPr>
              <a:t> </a:t>
            </a:r>
            <a:r>
              <a:rPr sz="850" b="0" i="1" spc="10" dirty="0">
                <a:solidFill>
                  <a:srgbClr val="231F20"/>
                </a:solidFill>
                <a:latin typeface="Aktiv Grotesk Light"/>
                <a:cs typeface="Aktiv Grotesk Light"/>
              </a:rPr>
              <a:t>Bull</a:t>
            </a:r>
            <a:r>
              <a:rPr sz="850" b="0" i="1" spc="120" dirty="0">
                <a:solidFill>
                  <a:srgbClr val="231F20"/>
                </a:solidFill>
                <a:latin typeface="Aktiv Grotesk Light"/>
                <a:cs typeface="Aktiv Grotesk Light"/>
              </a:rPr>
              <a:t> </a:t>
            </a:r>
            <a:r>
              <a:rPr sz="850" b="0" spc="10" dirty="0">
                <a:solidFill>
                  <a:srgbClr val="231F20"/>
                </a:solidFill>
                <a:latin typeface="Aktiv Grotesk Light"/>
                <a:cs typeface="Aktiv Grotesk Light"/>
              </a:rPr>
              <a:t>37:</a:t>
            </a:r>
            <a:r>
              <a:rPr sz="850" b="0" spc="120" dirty="0">
                <a:solidFill>
                  <a:srgbClr val="231F20"/>
                </a:solidFill>
                <a:latin typeface="Aktiv Grotesk Light"/>
                <a:cs typeface="Aktiv Grotesk Light"/>
              </a:rPr>
              <a:t> </a:t>
            </a:r>
            <a:r>
              <a:rPr sz="850" b="0" spc="-10" dirty="0">
                <a:solidFill>
                  <a:srgbClr val="231F20"/>
                </a:solidFill>
                <a:latin typeface="Aktiv Grotesk Light"/>
                <a:cs typeface="Aktiv Grotesk Light"/>
              </a:rPr>
              <a:t>107–114.</a:t>
            </a:r>
            <a:endParaRPr sz="850">
              <a:latin typeface="Aktiv Grotesk Light"/>
              <a:cs typeface="Aktiv Grotesk Light"/>
            </a:endParaRPr>
          </a:p>
          <a:p>
            <a:pPr marL="38100" marR="30480">
              <a:lnSpc>
                <a:spcPct val="107800"/>
              </a:lnSpc>
              <a:spcBef>
                <a:spcPts val="5"/>
              </a:spcBef>
            </a:pPr>
            <a:r>
              <a:rPr sz="900" b="0" i="1" spc="44" baseline="18518" dirty="0">
                <a:solidFill>
                  <a:srgbClr val="231F20"/>
                </a:solidFill>
                <a:latin typeface="Aktiv Grotesk Light"/>
                <a:cs typeface="Aktiv Grotesk Light"/>
              </a:rPr>
              <a:t>a</a:t>
            </a:r>
            <a:r>
              <a:rPr sz="850" b="0" spc="30" dirty="0">
                <a:solidFill>
                  <a:srgbClr val="231F20"/>
                </a:solidFill>
                <a:latin typeface="Aktiv Grotesk Light"/>
                <a:cs typeface="Aktiv Grotesk Light"/>
              </a:rPr>
              <a:t>The</a:t>
            </a:r>
            <a:r>
              <a:rPr sz="850" b="0" spc="70" dirty="0">
                <a:solidFill>
                  <a:srgbClr val="231F20"/>
                </a:solidFill>
                <a:latin typeface="Aktiv Grotesk Light"/>
                <a:cs typeface="Aktiv Grotesk Light"/>
              </a:rPr>
              <a:t> </a:t>
            </a:r>
            <a:r>
              <a:rPr sz="850" b="0" spc="30" dirty="0">
                <a:solidFill>
                  <a:srgbClr val="231F20"/>
                </a:solidFill>
                <a:latin typeface="Aktiv Grotesk Light"/>
                <a:cs typeface="Aktiv Grotesk Light"/>
              </a:rPr>
              <a:t>consequence</a:t>
            </a:r>
            <a:r>
              <a:rPr sz="850" b="0" spc="75" dirty="0">
                <a:solidFill>
                  <a:srgbClr val="231F20"/>
                </a:solidFill>
                <a:latin typeface="Aktiv Grotesk Light"/>
                <a:cs typeface="Aktiv Grotesk Light"/>
              </a:rPr>
              <a:t> </a:t>
            </a:r>
            <a:r>
              <a:rPr sz="850" b="0" spc="30" dirty="0">
                <a:solidFill>
                  <a:srgbClr val="231F20"/>
                </a:solidFill>
                <a:latin typeface="Aktiv Grotesk Light"/>
                <a:cs typeface="Aktiv Grotesk Light"/>
              </a:rPr>
              <a:t>of</a:t>
            </a:r>
            <a:r>
              <a:rPr sz="850" b="0" spc="75" dirty="0">
                <a:solidFill>
                  <a:srgbClr val="231F20"/>
                </a:solidFill>
                <a:latin typeface="Aktiv Grotesk Light"/>
                <a:cs typeface="Aktiv Grotesk Light"/>
              </a:rPr>
              <a:t> </a:t>
            </a:r>
            <a:r>
              <a:rPr sz="850" b="0" spc="30" dirty="0">
                <a:solidFill>
                  <a:srgbClr val="231F20"/>
                </a:solidFill>
                <a:latin typeface="Aktiv Grotesk Light"/>
                <a:cs typeface="Aktiv Grotesk Light"/>
              </a:rPr>
              <a:t>each</a:t>
            </a:r>
            <a:r>
              <a:rPr sz="850" b="0" spc="70" dirty="0">
                <a:solidFill>
                  <a:srgbClr val="231F20"/>
                </a:solidFill>
                <a:latin typeface="Aktiv Grotesk Light"/>
                <a:cs typeface="Aktiv Grotesk Light"/>
              </a:rPr>
              <a:t> </a:t>
            </a:r>
            <a:r>
              <a:rPr sz="850" b="0" spc="30" dirty="0">
                <a:solidFill>
                  <a:srgbClr val="231F20"/>
                </a:solidFill>
                <a:latin typeface="Aktiv Grotesk Light"/>
                <a:cs typeface="Aktiv Grotesk Light"/>
              </a:rPr>
              <a:t>alternative</a:t>
            </a:r>
            <a:r>
              <a:rPr sz="850" b="0" spc="75" dirty="0">
                <a:solidFill>
                  <a:srgbClr val="231F20"/>
                </a:solidFill>
                <a:latin typeface="Aktiv Grotesk Light"/>
                <a:cs typeface="Aktiv Grotesk Light"/>
              </a:rPr>
              <a:t> </a:t>
            </a:r>
            <a:r>
              <a:rPr sz="850" b="0" spc="30" dirty="0">
                <a:solidFill>
                  <a:srgbClr val="231F20"/>
                </a:solidFill>
                <a:latin typeface="Aktiv Grotesk Light"/>
                <a:cs typeface="Aktiv Grotesk Light"/>
              </a:rPr>
              <a:t>decision</a:t>
            </a:r>
            <a:r>
              <a:rPr sz="850" b="0" spc="75" dirty="0">
                <a:solidFill>
                  <a:srgbClr val="231F20"/>
                </a:solidFill>
                <a:latin typeface="Aktiv Grotesk Light"/>
                <a:cs typeface="Aktiv Grotesk Light"/>
              </a:rPr>
              <a:t> </a:t>
            </a:r>
            <a:r>
              <a:rPr sz="850" b="0" spc="30" dirty="0">
                <a:solidFill>
                  <a:srgbClr val="231F20"/>
                </a:solidFill>
                <a:latin typeface="Aktiv Grotesk Light"/>
                <a:cs typeface="Aktiv Grotesk Light"/>
              </a:rPr>
              <a:t>on</a:t>
            </a:r>
            <a:r>
              <a:rPr sz="850" b="0" spc="70" dirty="0">
                <a:solidFill>
                  <a:srgbClr val="231F20"/>
                </a:solidFill>
                <a:latin typeface="Aktiv Grotesk Light"/>
                <a:cs typeface="Aktiv Grotesk Light"/>
              </a:rPr>
              <a:t> </a:t>
            </a:r>
            <a:r>
              <a:rPr sz="850" b="0" spc="30" dirty="0">
                <a:solidFill>
                  <a:srgbClr val="231F20"/>
                </a:solidFill>
                <a:latin typeface="Aktiv Grotesk Light"/>
                <a:cs typeface="Aktiv Grotesk Light"/>
              </a:rPr>
              <a:t>each</a:t>
            </a:r>
            <a:r>
              <a:rPr sz="850" b="0" spc="75" dirty="0">
                <a:solidFill>
                  <a:srgbClr val="231F20"/>
                </a:solidFill>
                <a:latin typeface="Aktiv Grotesk Light"/>
                <a:cs typeface="Aktiv Grotesk Light"/>
              </a:rPr>
              <a:t> </a:t>
            </a:r>
            <a:r>
              <a:rPr sz="850" b="0" spc="30" dirty="0">
                <a:solidFill>
                  <a:srgbClr val="231F20"/>
                </a:solidFill>
                <a:latin typeface="Aktiv Grotesk Light"/>
                <a:cs typeface="Aktiv Grotesk Light"/>
              </a:rPr>
              <a:t>objective</a:t>
            </a:r>
            <a:r>
              <a:rPr sz="850" b="0" spc="75" dirty="0">
                <a:solidFill>
                  <a:srgbClr val="231F20"/>
                </a:solidFill>
                <a:latin typeface="Aktiv Grotesk Light"/>
                <a:cs typeface="Aktiv Grotesk Light"/>
              </a:rPr>
              <a:t> </a:t>
            </a:r>
            <a:r>
              <a:rPr sz="850" b="0" spc="30" dirty="0">
                <a:solidFill>
                  <a:srgbClr val="231F20"/>
                </a:solidFill>
                <a:latin typeface="Aktiv Grotesk Light"/>
                <a:cs typeface="Aktiv Grotesk Light"/>
              </a:rPr>
              <a:t>was</a:t>
            </a:r>
            <a:r>
              <a:rPr sz="850" b="0" spc="70" dirty="0">
                <a:solidFill>
                  <a:srgbClr val="231F20"/>
                </a:solidFill>
                <a:latin typeface="Aktiv Grotesk Light"/>
                <a:cs typeface="Aktiv Grotesk Light"/>
              </a:rPr>
              <a:t> </a:t>
            </a:r>
            <a:r>
              <a:rPr sz="850" b="0" spc="30" dirty="0">
                <a:solidFill>
                  <a:srgbClr val="231F20"/>
                </a:solidFill>
                <a:latin typeface="Aktiv Grotesk Light"/>
                <a:cs typeface="Aktiv Grotesk Light"/>
              </a:rPr>
              <a:t>estimated</a:t>
            </a:r>
            <a:r>
              <a:rPr sz="850" b="0" spc="75" dirty="0">
                <a:solidFill>
                  <a:srgbClr val="231F20"/>
                </a:solidFill>
                <a:latin typeface="Aktiv Grotesk Light"/>
                <a:cs typeface="Aktiv Grotesk Light"/>
              </a:rPr>
              <a:t> </a:t>
            </a:r>
            <a:r>
              <a:rPr sz="850" b="0" spc="30" dirty="0">
                <a:solidFill>
                  <a:srgbClr val="231F20"/>
                </a:solidFill>
                <a:latin typeface="Aktiv Grotesk Light"/>
                <a:cs typeface="Aktiv Grotesk Light"/>
              </a:rPr>
              <a:t>from</a:t>
            </a:r>
            <a:r>
              <a:rPr sz="850" b="0" spc="75" dirty="0">
                <a:solidFill>
                  <a:srgbClr val="231F20"/>
                </a:solidFill>
                <a:latin typeface="Aktiv Grotesk Light"/>
                <a:cs typeface="Aktiv Grotesk Light"/>
              </a:rPr>
              <a:t> </a:t>
            </a:r>
            <a:r>
              <a:rPr sz="850" b="0" spc="30" dirty="0">
                <a:solidFill>
                  <a:srgbClr val="231F20"/>
                </a:solidFill>
                <a:latin typeface="Aktiv Grotesk Light"/>
                <a:cs typeface="Aktiv Grotesk Light"/>
              </a:rPr>
              <a:t>models,</a:t>
            </a:r>
            <a:r>
              <a:rPr sz="850" b="0" spc="70" dirty="0">
                <a:solidFill>
                  <a:srgbClr val="231F20"/>
                </a:solidFill>
                <a:latin typeface="Aktiv Grotesk Light"/>
                <a:cs typeface="Aktiv Grotesk Light"/>
              </a:rPr>
              <a:t> </a:t>
            </a:r>
            <a:r>
              <a:rPr sz="850" b="0" spc="30" dirty="0">
                <a:solidFill>
                  <a:srgbClr val="231F20"/>
                </a:solidFill>
                <a:latin typeface="Aktiv Grotesk Light"/>
                <a:cs typeface="Aktiv Grotesk Light"/>
              </a:rPr>
              <a:t>data,</a:t>
            </a:r>
            <a:r>
              <a:rPr sz="850" b="0" spc="75" dirty="0">
                <a:solidFill>
                  <a:srgbClr val="231F20"/>
                </a:solidFill>
                <a:latin typeface="Aktiv Grotesk Light"/>
                <a:cs typeface="Aktiv Grotesk Light"/>
              </a:rPr>
              <a:t> </a:t>
            </a:r>
            <a:r>
              <a:rPr sz="850" b="0" spc="30" dirty="0">
                <a:solidFill>
                  <a:srgbClr val="231F20"/>
                </a:solidFill>
                <a:latin typeface="Aktiv Grotesk Light"/>
                <a:cs typeface="Aktiv Grotesk Light"/>
              </a:rPr>
              <a:t>and</a:t>
            </a:r>
            <a:r>
              <a:rPr sz="850" b="0" spc="75" dirty="0">
                <a:solidFill>
                  <a:srgbClr val="231F20"/>
                </a:solidFill>
                <a:latin typeface="Aktiv Grotesk Light"/>
                <a:cs typeface="Aktiv Grotesk Light"/>
              </a:rPr>
              <a:t> </a:t>
            </a:r>
            <a:r>
              <a:rPr sz="850" b="0" spc="30" dirty="0">
                <a:solidFill>
                  <a:srgbClr val="231F20"/>
                </a:solidFill>
                <a:latin typeface="Aktiv Grotesk Light"/>
                <a:cs typeface="Aktiv Grotesk Light"/>
              </a:rPr>
              <a:t>expert</a:t>
            </a:r>
            <a:r>
              <a:rPr sz="850" b="0" spc="70" dirty="0">
                <a:solidFill>
                  <a:srgbClr val="231F20"/>
                </a:solidFill>
                <a:latin typeface="Aktiv Grotesk Light"/>
                <a:cs typeface="Aktiv Grotesk Light"/>
              </a:rPr>
              <a:t> </a:t>
            </a:r>
            <a:r>
              <a:rPr sz="850" b="0" spc="30" dirty="0">
                <a:solidFill>
                  <a:srgbClr val="231F20"/>
                </a:solidFill>
                <a:latin typeface="Aktiv Grotesk Light"/>
                <a:cs typeface="Aktiv Grotesk Light"/>
              </a:rPr>
              <a:t>opinion.</a:t>
            </a:r>
            <a:r>
              <a:rPr sz="850" b="0" spc="75" dirty="0">
                <a:solidFill>
                  <a:srgbClr val="231F20"/>
                </a:solidFill>
                <a:latin typeface="Aktiv Grotesk Light"/>
                <a:cs typeface="Aktiv Grotesk Light"/>
              </a:rPr>
              <a:t> </a:t>
            </a:r>
            <a:r>
              <a:rPr sz="850" b="0" spc="30" dirty="0">
                <a:solidFill>
                  <a:srgbClr val="231F20"/>
                </a:solidFill>
                <a:latin typeface="Aktiv Grotesk Light"/>
                <a:cs typeface="Aktiv Grotesk Light"/>
              </a:rPr>
              <a:t>These</a:t>
            </a:r>
            <a:r>
              <a:rPr sz="850" b="0" spc="75" dirty="0">
                <a:solidFill>
                  <a:srgbClr val="231F20"/>
                </a:solidFill>
                <a:latin typeface="Aktiv Grotesk Light"/>
                <a:cs typeface="Aktiv Grotesk Light"/>
              </a:rPr>
              <a:t> </a:t>
            </a:r>
            <a:r>
              <a:rPr sz="850" b="0" spc="30" dirty="0">
                <a:solidFill>
                  <a:srgbClr val="231F20"/>
                </a:solidFill>
                <a:latin typeface="Aktiv Grotesk Light"/>
                <a:cs typeface="Aktiv Grotesk Light"/>
              </a:rPr>
              <a:t>values</a:t>
            </a:r>
            <a:r>
              <a:rPr sz="850" b="0" spc="70" dirty="0">
                <a:solidFill>
                  <a:srgbClr val="231F20"/>
                </a:solidFill>
                <a:latin typeface="Aktiv Grotesk Light"/>
                <a:cs typeface="Aktiv Grotesk Light"/>
              </a:rPr>
              <a:t> </a:t>
            </a:r>
            <a:r>
              <a:rPr sz="850" b="0" spc="30" dirty="0">
                <a:solidFill>
                  <a:srgbClr val="231F20"/>
                </a:solidFill>
                <a:latin typeface="Aktiv Grotesk Light"/>
                <a:cs typeface="Aktiv Grotesk Light"/>
              </a:rPr>
              <a:t>were</a:t>
            </a:r>
            <a:r>
              <a:rPr sz="850" b="0" spc="75" dirty="0">
                <a:solidFill>
                  <a:srgbClr val="231F20"/>
                </a:solidFill>
                <a:latin typeface="Aktiv Grotesk Light"/>
                <a:cs typeface="Aktiv Grotesk Light"/>
              </a:rPr>
              <a:t> </a:t>
            </a:r>
            <a:r>
              <a:rPr sz="850" b="0" spc="30" dirty="0">
                <a:solidFill>
                  <a:srgbClr val="231F20"/>
                </a:solidFill>
                <a:latin typeface="Aktiv Grotesk Light"/>
                <a:cs typeface="Aktiv Grotesk Light"/>
              </a:rPr>
              <a:t>normalized</a:t>
            </a:r>
            <a:r>
              <a:rPr sz="850" b="0" spc="75" dirty="0">
                <a:solidFill>
                  <a:srgbClr val="231F20"/>
                </a:solidFill>
                <a:latin typeface="Aktiv Grotesk Light"/>
                <a:cs typeface="Aktiv Grotesk Light"/>
              </a:rPr>
              <a:t> </a:t>
            </a:r>
            <a:r>
              <a:rPr sz="850" b="0" spc="30" dirty="0">
                <a:solidFill>
                  <a:srgbClr val="231F20"/>
                </a:solidFill>
                <a:latin typeface="Aktiv Grotesk Light"/>
                <a:cs typeface="Aktiv Grotesk Light"/>
              </a:rPr>
              <a:t>by</a:t>
            </a:r>
            <a:r>
              <a:rPr sz="850" b="0" spc="70" dirty="0">
                <a:solidFill>
                  <a:srgbClr val="231F20"/>
                </a:solidFill>
                <a:latin typeface="Aktiv Grotesk Light"/>
                <a:cs typeface="Aktiv Grotesk Light"/>
              </a:rPr>
              <a:t> </a:t>
            </a:r>
            <a:r>
              <a:rPr sz="850" b="0" spc="30" dirty="0">
                <a:solidFill>
                  <a:srgbClr val="231F20"/>
                </a:solidFill>
                <a:latin typeface="Aktiv Grotesk Light"/>
                <a:cs typeface="Aktiv Grotesk Light"/>
              </a:rPr>
              <a:t>objective</a:t>
            </a:r>
            <a:r>
              <a:rPr sz="850" b="0" spc="75" dirty="0">
                <a:solidFill>
                  <a:srgbClr val="231F20"/>
                </a:solidFill>
                <a:latin typeface="Aktiv Grotesk Light"/>
                <a:cs typeface="Aktiv Grotesk Light"/>
              </a:rPr>
              <a:t> </a:t>
            </a:r>
            <a:r>
              <a:rPr sz="850" b="0" spc="-10" dirty="0">
                <a:solidFill>
                  <a:srgbClr val="231F20"/>
                </a:solidFill>
                <a:latin typeface="Aktiv Grotesk Light"/>
                <a:cs typeface="Aktiv Grotesk Light"/>
              </a:rPr>
              <a:t>(i.e.,</a:t>
            </a:r>
            <a:r>
              <a:rPr sz="850" b="0" spc="500" dirty="0">
                <a:solidFill>
                  <a:srgbClr val="231F20"/>
                </a:solidFill>
                <a:latin typeface="Aktiv Grotesk Light"/>
                <a:cs typeface="Aktiv Grotesk Light"/>
              </a:rPr>
              <a:t> </a:t>
            </a:r>
            <a:r>
              <a:rPr sz="850" b="0" spc="20" dirty="0">
                <a:solidFill>
                  <a:srgbClr val="231F20"/>
                </a:solidFill>
                <a:latin typeface="Aktiv Grotesk Light"/>
                <a:cs typeface="Aktiv Grotesk Light"/>
              </a:rPr>
              <a:t>scaled</a:t>
            </a:r>
            <a:r>
              <a:rPr sz="850" b="0" spc="80" dirty="0">
                <a:solidFill>
                  <a:srgbClr val="231F20"/>
                </a:solidFill>
                <a:latin typeface="Aktiv Grotesk Light"/>
                <a:cs typeface="Aktiv Grotesk Light"/>
              </a:rPr>
              <a:t> </a:t>
            </a:r>
            <a:r>
              <a:rPr sz="850" b="0" spc="20" dirty="0">
                <a:solidFill>
                  <a:srgbClr val="231F20"/>
                </a:solidFill>
                <a:latin typeface="Aktiv Grotesk Light"/>
                <a:cs typeface="Aktiv Grotesk Light"/>
              </a:rPr>
              <a:t>from</a:t>
            </a:r>
            <a:r>
              <a:rPr sz="850" b="0" spc="85" dirty="0">
                <a:solidFill>
                  <a:srgbClr val="231F20"/>
                </a:solidFill>
                <a:latin typeface="Aktiv Grotesk Light"/>
                <a:cs typeface="Aktiv Grotesk Light"/>
              </a:rPr>
              <a:t> </a:t>
            </a:r>
            <a:r>
              <a:rPr sz="850" b="0" spc="55" dirty="0">
                <a:solidFill>
                  <a:srgbClr val="231F20"/>
                </a:solidFill>
                <a:latin typeface="Aktiv Grotesk Light"/>
                <a:cs typeface="Aktiv Grotesk Light"/>
              </a:rPr>
              <a:t>0</a:t>
            </a:r>
            <a:r>
              <a:rPr sz="850" b="0" spc="80" dirty="0">
                <a:solidFill>
                  <a:srgbClr val="231F20"/>
                </a:solidFill>
                <a:latin typeface="Aktiv Grotesk Light"/>
                <a:cs typeface="Aktiv Grotesk Light"/>
              </a:rPr>
              <a:t> </a:t>
            </a:r>
            <a:r>
              <a:rPr sz="850" b="0" spc="20" dirty="0">
                <a:solidFill>
                  <a:srgbClr val="231F20"/>
                </a:solidFill>
                <a:latin typeface="Aktiv Grotesk Light"/>
                <a:cs typeface="Aktiv Grotesk Light"/>
              </a:rPr>
              <a:t>to</a:t>
            </a:r>
            <a:r>
              <a:rPr sz="850" b="0" spc="85" dirty="0">
                <a:solidFill>
                  <a:srgbClr val="231F20"/>
                </a:solidFill>
                <a:latin typeface="Aktiv Grotesk Light"/>
                <a:cs typeface="Aktiv Grotesk Light"/>
              </a:rPr>
              <a:t> </a:t>
            </a:r>
            <a:r>
              <a:rPr sz="850" b="0" spc="20" dirty="0">
                <a:solidFill>
                  <a:srgbClr val="231F20"/>
                </a:solidFill>
                <a:latin typeface="Aktiv Grotesk Light"/>
                <a:cs typeface="Aktiv Grotesk Light"/>
              </a:rPr>
              <a:t>1.0,</a:t>
            </a:r>
            <a:r>
              <a:rPr sz="850" b="0" spc="80" dirty="0">
                <a:solidFill>
                  <a:srgbClr val="231F20"/>
                </a:solidFill>
                <a:latin typeface="Aktiv Grotesk Light"/>
                <a:cs typeface="Aktiv Grotesk Light"/>
              </a:rPr>
              <a:t> </a:t>
            </a:r>
            <a:r>
              <a:rPr sz="850" b="0" spc="20" dirty="0">
                <a:solidFill>
                  <a:srgbClr val="231F20"/>
                </a:solidFill>
                <a:latin typeface="Aktiv Grotesk Light"/>
                <a:cs typeface="Aktiv Grotesk Light"/>
              </a:rPr>
              <a:t>with</a:t>
            </a:r>
            <a:r>
              <a:rPr sz="850" b="0" spc="85" dirty="0">
                <a:solidFill>
                  <a:srgbClr val="231F20"/>
                </a:solidFill>
                <a:latin typeface="Aktiv Grotesk Light"/>
                <a:cs typeface="Aktiv Grotesk Light"/>
              </a:rPr>
              <a:t> </a:t>
            </a:r>
            <a:r>
              <a:rPr sz="850" b="0" spc="55" dirty="0">
                <a:solidFill>
                  <a:srgbClr val="231F20"/>
                </a:solidFill>
                <a:latin typeface="Aktiv Grotesk Light"/>
                <a:cs typeface="Aktiv Grotesk Light"/>
              </a:rPr>
              <a:t>0</a:t>
            </a:r>
            <a:r>
              <a:rPr sz="850" b="0" spc="80" dirty="0">
                <a:solidFill>
                  <a:srgbClr val="231F20"/>
                </a:solidFill>
                <a:latin typeface="Aktiv Grotesk Light"/>
                <a:cs typeface="Aktiv Grotesk Light"/>
              </a:rPr>
              <a:t> </a:t>
            </a:r>
            <a:r>
              <a:rPr sz="850" b="0" spc="20" dirty="0">
                <a:solidFill>
                  <a:srgbClr val="231F20"/>
                </a:solidFill>
                <a:latin typeface="Aktiv Grotesk Light"/>
                <a:cs typeface="Aktiv Grotesk Light"/>
              </a:rPr>
              <a:t>being</a:t>
            </a:r>
            <a:r>
              <a:rPr sz="850" b="0" spc="85" dirty="0">
                <a:solidFill>
                  <a:srgbClr val="231F20"/>
                </a:solidFill>
                <a:latin typeface="Aktiv Grotesk Light"/>
                <a:cs typeface="Aktiv Grotesk Light"/>
              </a:rPr>
              <a:t> </a:t>
            </a:r>
            <a:r>
              <a:rPr sz="850" b="0" spc="20" dirty="0">
                <a:solidFill>
                  <a:srgbClr val="231F20"/>
                </a:solidFill>
                <a:latin typeface="Aktiv Grotesk Light"/>
                <a:cs typeface="Aktiv Grotesk Light"/>
              </a:rPr>
              <a:t>the</a:t>
            </a:r>
            <a:r>
              <a:rPr sz="850" b="0" spc="85" dirty="0">
                <a:solidFill>
                  <a:srgbClr val="231F20"/>
                </a:solidFill>
                <a:latin typeface="Aktiv Grotesk Light"/>
                <a:cs typeface="Aktiv Grotesk Light"/>
              </a:rPr>
              <a:t> </a:t>
            </a:r>
            <a:r>
              <a:rPr sz="850" b="0" spc="20" dirty="0">
                <a:solidFill>
                  <a:srgbClr val="231F20"/>
                </a:solidFill>
                <a:latin typeface="Aktiv Grotesk Light"/>
                <a:cs typeface="Aktiv Grotesk Light"/>
              </a:rPr>
              <a:t>worst</a:t>
            </a:r>
            <a:r>
              <a:rPr sz="850" b="0" spc="80" dirty="0">
                <a:solidFill>
                  <a:srgbClr val="231F20"/>
                </a:solidFill>
                <a:latin typeface="Aktiv Grotesk Light"/>
                <a:cs typeface="Aktiv Grotesk Light"/>
              </a:rPr>
              <a:t> </a:t>
            </a:r>
            <a:r>
              <a:rPr sz="850" b="0" spc="20" dirty="0">
                <a:solidFill>
                  <a:srgbClr val="231F20"/>
                </a:solidFill>
                <a:latin typeface="Aktiv Grotesk Light"/>
                <a:cs typeface="Aktiv Grotesk Light"/>
              </a:rPr>
              <a:t>and</a:t>
            </a:r>
            <a:r>
              <a:rPr sz="850" b="0" spc="85" dirty="0">
                <a:solidFill>
                  <a:srgbClr val="231F20"/>
                </a:solidFill>
                <a:latin typeface="Aktiv Grotesk Light"/>
                <a:cs typeface="Aktiv Grotesk Light"/>
              </a:rPr>
              <a:t> </a:t>
            </a:r>
            <a:r>
              <a:rPr sz="850" b="0" spc="20" dirty="0">
                <a:solidFill>
                  <a:srgbClr val="231F20"/>
                </a:solidFill>
                <a:latin typeface="Aktiv Grotesk Light"/>
                <a:cs typeface="Aktiv Grotesk Light"/>
              </a:rPr>
              <a:t>1.0</a:t>
            </a:r>
            <a:r>
              <a:rPr sz="850" b="0" spc="80" dirty="0">
                <a:solidFill>
                  <a:srgbClr val="231F20"/>
                </a:solidFill>
                <a:latin typeface="Aktiv Grotesk Light"/>
                <a:cs typeface="Aktiv Grotesk Light"/>
              </a:rPr>
              <a:t> </a:t>
            </a:r>
            <a:r>
              <a:rPr sz="850" b="0" spc="20" dirty="0">
                <a:solidFill>
                  <a:srgbClr val="231F20"/>
                </a:solidFill>
                <a:latin typeface="Aktiv Grotesk Light"/>
                <a:cs typeface="Aktiv Grotesk Light"/>
              </a:rPr>
              <a:t>being</a:t>
            </a:r>
            <a:r>
              <a:rPr sz="850" b="0" spc="85" dirty="0">
                <a:solidFill>
                  <a:srgbClr val="231F20"/>
                </a:solidFill>
                <a:latin typeface="Aktiv Grotesk Light"/>
                <a:cs typeface="Aktiv Grotesk Light"/>
              </a:rPr>
              <a:t> </a:t>
            </a:r>
            <a:r>
              <a:rPr sz="850" b="0" spc="20" dirty="0">
                <a:solidFill>
                  <a:srgbClr val="231F20"/>
                </a:solidFill>
                <a:latin typeface="Aktiv Grotesk Light"/>
                <a:cs typeface="Aktiv Grotesk Light"/>
              </a:rPr>
              <a:t>the</a:t>
            </a:r>
            <a:r>
              <a:rPr sz="850" b="0" spc="80" dirty="0">
                <a:solidFill>
                  <a:srgbClr val="231F20"/>
                </a:solidFill>
                <a:latin typeface="Aktiv Grotesk Light"/>
                <a:cs typeface="Aktiv Grotesk Light"/>
              </a:rPr>
              <a:t> </a:t>
            </a:r>
            <a:r>
              <a:rPr sz="850" b="0" spc="20" dirty="0">
                <a:solidFill>
                  <a:srgbClr val="231F20"/>
                </a:solidFill>
                <a:latin typeface="Aktiv Grotesk Light"/>
                <a:cs typeface="Aktiv Grotesk Light"/>
              </a:rPr>
              <a:t>best;</a:t>
            </a:r>
            <a:r>
              <a:rPr sz="850" b="0" spc="85" dirty="0">
                <a:solidFill>
                  <a:srgbClr val="231F20"/>
                </a:solidFill>
                <a:latin typeface="Aktiv Grotesk Light"/>
                <a:cs typeface="Aktiv Grotesk Light"/>
              </a:rPr>
              <a:t> </a:t>
            </a:r>
            <a:r>
              <a:rPr sz="850" b="0" spc="20" dirty="0">
                <a:solidFill>
                  <a:srgbClr val="231F20"/>
                </a:solidFill>
                <a:latin typeface="Aktiv Grotesk Light"/>
                <a:cs typeface="Aktiv Grotesk Light"/>
              </a:rPr>
              <a:t>if</a:t>
            </a:r>
            <a:r>
              <a:rPr sz="850" b="0" spc="80" dirty="0">
                <a:solidFill>
                  <a:srgbClr val="231F20"/>
                </a:solidFill>
                <a:latin typeface="Aktiv Grotesk Light"/>
                <a:cs typeface="Aktiv Grotesk Light"/>
              </a:rPr>
              <a:t> </a:t>
            </a:r>
            <a:r>
              <a:rPr sz="850" b="0" spc="20" dirty="0">
                <a:solidFill>
                  <a:srgbClr val="231F20"/>
                </a:solidFill>
                <a:latin typeface="Aktiv Grotesk Light"/>
                <a:cs typeface="Aktiv Grotesk Light"/>
              </a:rPr>
              <a:t>the</a:t>
            </a:r>
            <a:r>
              <a:rPr sz="850" b="0" spc="85" dirty="0">
                <a:solidFill>
                  <a:srgbClr val="231F20"/>
                </a:solidFill>
                <a:latin typeface="Aktiv Grotesk Light"/>
                <a:cs typeface="Aktiv Grotesk Light"/>
              </a:rPr>
              <a:t> </a:t>
            </a:r>
            <a:r>
              <a:rPr sz="850" b="0" spc="20" dirty="0">
                <a:solidFill>
                  <a:srgbClr val="231F20"/>
                </a:solidFill>
                <a:latin typeface="Aktiv Grotesk Light"/>
                <a:cs typeface="Aktiv Grotesk Light"/>
              </a:rPr>
              <a:t>goal</a:t>
            </a:r>
            <a:r>
              <a:rPr sz="850" b="0" spc="85" dirty="0">
                <a:solidFill>
                  <a:srgbClr val="231F20"/>
                </a:solidFill>
                <a:latin typeface="Aktiv Grotesk Light"/>
                <a:cs typeface="Aktiv Grotesk Light"/>
              </a:rPr>
              <a:t> </a:t>
            </a:r>
            <a:r>
              <a:rPr sz="850" b="0" spc="20" dirty="0">
                <a:solidFill>
                  <a:srgbClr val="231F20"/>
                </a:solidFill>
                <a:latin typeface="Aktiv Grotesk Light"/>
                <a:cs typeface="Aktiv Grotesk Light"/>
              </a:rPr>
              <a:t>for</a:t>
            </a:r>
            <a:r>
              <a:rPr sz="850" b="0" spc="80" dirty="0">
                <a:solidFill>
                  <a:srgbClr val="231F20"/>
                </a:solidFill>
                <a:latin typeface="Aktiv Grotesk Light"/>
                <a:cs typeface="Aktiv Grotesk Light"/>
              </a:rPr>
              <a:t> </a:t>
            </a:r>
            <a:r>
              <a:rPr sz="850" b="0" spc="20" dirty="0">
                <a:solidFill>
                  <a:srgbClr val="231F20"/>
                </a:solidFill>
                <a:latin typeface="Aktiv Grotesk Light"/>
                <a:cs typeface="Aktiv Grotesk Light"/>
              </a:rPr>
              <a:t>an</a:t>
            </a:r>
            <a:r>
              <a:rPr sz="850" b="0" spc="85" dirty="0">
                <a:solidFill>
                  <a:srgbClr val="231F20"/>
                </a:solidFill>
                <a:latin typeface="Aktiv Grotesk Light"/>
                <a:cs typeface="Aktiv Grotesk Light"/>
              </a:rPr>
              <a:t> </a:t>
            </a:r>
            <a:r>
              <a:rPr sz="850" b="0" spc="20" dirty="0">
                <a:solidFill>
                  <a:srgbClr val="231F20"/>
                </a:solidFill>
                <a:latin typeface="Aktiv Grotesk Light"/>
                <a:cs typeface="Aktiv Grotesk Light"/>
              </a:rPr>
              <a:t>objective</a:t>
            </a:r>
            <a:r>
              <a:rPr sz="850" b="0" spc="80" dirty="0">
                <a:solidFill>
                  <a:srgbClr val="231F20"/>
                </a:solidFill>
                <a:latin typeface="Aktiv Grotesk Light"/>
                <a:cs typeface="Aktiv Grotesk Light"/>
              </a:rPr>
              <a:t> </a:t>
            </a:r>
            <a:r>
              <a:rPr sz="850" b="0" spc="20" dirty="0">
                <a:solidFill>
                  <a:srgbClr val="231F20"/>
                </a:solidFill>
                <a:latin typeface="Aktiv Grotesk Light"/>
                <a:cs typeface="Aktiv Grotesk Light"/>
              </a:rPr>
              <a:t>is</a:t>
            </a:r>
            <a:r>
              <a:rPr sz="850" b="0" spc="85" dirty="0">
                <a:solidFill>
                  <a:srgbClr val="231F20"/>
                </a:solidFill>
                <a:latin typeface="Aktiv Grotesk Light"/>
                <a:cs typeface="Aktiv Grotesk Light"/>
              </a:rPr>
              <a:t> </a:t>
            </a:r>
            <a:r>
              <a:rPr sz="850" b="0" spc="20" dirty="0">
                <a:solidFill>
                  <a:srgbClr val="231F20"/>
                </a:solidFill>
                <a:latin typeface="Aktiv Grotesk Light"/>
                <a:cs typeface="Aktiv Grotesk Light"/>
              </a:rPr>
              <a:t>to</a:t>
            </a:r>
            <a:r>
              <a:rPr sz="850" b="0" spc="80" dirty="0">
                <a:solidFill>
                  <a:srgbClr val="231F20"/>
                </a:solidFill>
                <a:latin typeface="Aktiv Grotesk Light"/>
                <a:cs typeface="Aktiv Grotesk Light"/>
              </a:rPr>
              <a:t> </a:t>
            </a:r>
            <a:r>
              <a:rPr sz="850" b="0" spc="20" dirty="0">
                <a:solidFill>
                  <a:srgbClr val="231F20"/>
                </a:solidFill>
                <a:latin typeface="Aktiv Grotesk Light"/>
                <a:cs typeface="Aktiv Grotesk Light"/>
              </a:rPr>
              <a:t>maximize,</a:t>
            </a:r>
            <a:r>
              <a:rPr sz="850" b="0" spc="85" dirty="0">
                <a:solidFill>
                  <a:srgbClr val="231F20"/>
                </a:solidFill>
                <a:latin typeface="Aktiv Grotesk Light"/>
                <a:cs typeface="Aktiv Grotesk Light"/>
              </a:rPr>
              <a:t> </a:t>
            </a:r>
            <a:r>
              <a:rPr sz="850" b="0" spc="20" dirty="0">
                <a:solidFill>
                  <a:srgbClr val="231F20"/>
                </a:solidFill>
                <a:latin typeface="Aktiv Grotesk Light"/>
                <a:cs typeface="Aktiv Grotesk Light"/>
              </a:rPr>
              <a:t>then</a:t>
            </a:r>
            <a:r>
              <a:rPr sz="850" b="0" spc="80" dirty="0">
                <a:solidFill>
                  <a:srgbClr val="231F20"/>
                </a:solidFill>
                <a:latin typeface="Aktiv Grotesk Light"/>
                <a:cs typeface="Aktiv Grotesk Light"/>
              </a:rPr>
              <a:t> </a:t>
            </a:r>
            <a:r>
              <a:rPr sz="850" b="0" spc="20" dirty="0">
                <a:solidFill>
                  <a:srgbClr val="231F20"/>
                </a:solidFill>
                <a:latin typeface="Aktiv Grotesk Light"/>
                <a:cs typeface="Aktiv Grotesk Light"/>
              </a:rPr>
              <a:t>the</a:t>
            </a:r>
            <a:r>
              <a:rPr sz="850" b="0" spc="85" dirty="0">
                <a:solidFill>
                  <a:srgbClr val="231F20"/>
                </a:solidFill>
                <a:latin typeface="Aktiv Grotesk Light"/>
                <a:cs typeface="Aktiv Grotesk Light"/>
              </a:rPr>
              <a:t> </a:t>
            </a:r>
            <a:r>
              <a:rPr sz="850" b="0" spc="20" dirty="0">
                <a:solidFill>
                  <a:srgbClr val="231F20"/>
                </a:solidFill>
                <a:latin typeface="Aktiv Grotesk Light"/>
                <a:cs typeface="Aktiv Grotesk Light"/>
              </a:rPr>
              <a:t>lowest</a:t>
            </a:r>
            <a:r>
              <a:rPr sz="850" b="0" spc="85" dirty="0">
                <a:solidFill>
                  <a:srgbClr val="231F20"/>
                </a:solidFill>
                <a:latin typeface="Aktiv Grotesk Light"/>
                <a:cs typeface="Aktiv Grotesk Light"/>
              </a:rPr>
              <a:t> </a:t>
            </a:r>
            <a:r>
              <a:rPr sz="850" b="0" spc="20" dirty="0">
                <a:solidFill>
                  <a:srgbClr val="231F20"/>
                </a:solidFill>
                <a:latin typeface="Aktiv Grotesk Light"/>
                <a:cs typeface="Aktiv Grotesk Light"/>
              </a:rPr>
              <a:t>value</a:t>
            </a:r>
            <a:r>
              <a:rPr sz="850" b="0" spc="80" dirty="0">
                <a:solidFill>
                  <a:srgbClr val="231F20"/>
                </a:solidFill>
                <a:latin typeface="Aktiv Grotesk Light"/>
                <a:cs typeface="Aktiv Grotesk Light"/>
              </a:rPr>
              <a:t> </a:t>
            </a:r>
            <a:r>
              <a:rPr sz="850" b="0" spc="50" dirty="0">
                <a:solidFill>
                  <a:srgbClr val="231F20"/>
                </a:solidFill>
                <a:latin typeface="Aktiv Grotesk Light"/>
                <a:cs typeface="Aktiv Grotesk Light"/>
              </a:rPr>
              <a:t>among</a:t>
            </a:r>
            <a:r>
              <a:rPr sz="850" b="0" spc="85" dirty="0">
                <a:solidFill>
                  <a:srgbClr val="231F20"/>
                </a:solidFill>
                <a:latin typeface="Aktiv Grotesk Light"/>
                <a:cs typeface="Aktiv Grotesk Light"/>
              </a:rPr>
              <a:t> </a:t>
            </a:r>
            <a:r>
              <a:rPr sz="850" b="0" spc="20" dirty="0">
                <a:solidFill>
                  <a:srgbClr val="231F20"/>
                </a:solidFill>
                <a:latin typeface="Aktiv Grotesk Light"/>
                <a:cs typeface="Aktiv Grotesk Light"/>
              </a:rPr>
              <a:t>the</a:t>
            </a:r>
            <a:r>
              <a:rPr sz="850" b="0" spc="80" dirty="0">
                <a:solidFill>
                  <a:srgbClr val="231F20"/>
                </a:solidFill>
                <a:latin typeface="Aktiv Grotesk Light"/>
                <a:cs typeface="Aktiv Grotesk Light"/>
              </a:rPr>
              <a:t> </a:t>
            </a:r>
            <a:r>
              <a:rPr sz="850" b="0" spc="20" dirty="0">
                <a:solidFill>
                  <a:srgbClr val="231F20"/>
                </a:solidFill>
                <a:latin typeface="Aktiv Grotesk Light"/>
                <a:cs typeface="Aktiv Grotesk Light"/>
              </a:rPr>
              <a:t>alternatives</a:t>
            </a:r>
            <a:r>
              <a:rPr sz="850" b="0" spc="85" dirty="0">
                <a:solidFill>
                  <a:srgbClr val="231F20"/>
                </a:solidFill>
                <a:latin typeface="Aktiv Grotesk Light"/>
                <a:cs typeface="Aktiv Grotesk Light"/>
              </a:rPr>
              <a:t> </a:t>
            </a:r>
            <a:r>
              <a:rPr sz="850" b="0" spc="50" dirty="0">
                <a:solidFill>
                  <a:srgbClr val="231F20"/>
                </a:solidFill>
                <a:latin typeface="Aktiv Grotesk Light"/>
                <a:cs typeface="Aktiv Grotesk Light"/>
              </a:rPr>
              <a:t>becomes</a:t>
            </a:r>
            <a:r>
              <a:rPr sz="850" b="0" spc="80" dirty="0">
                <a:solidFill>
                  <a:srgbClr val="231F20"/>
                </a:solidFill>
                <a:latin typeface="Aktiv Grotesk Light"/>
                <a:cs typeface="Aktiv Grotesk Light"/>
              </a:rPr>
              <a:t> </a:t>
            </a:r>
            <a:r>
              <a:rPr sz="850" b="0" spc="55" dirty="0">
                <a:solidFill>
                  <a:srgbClr val="231F20"/>
                </a:solidFill>
                <a:latin typeface="Aktiv Grotesk Light"/>
                <a:cs typeface="Aktiv Grotesk Light"/>
              </a:rPr>
              <a:t>0</a:t>
            </a:r>
            <a:r>
              <a:rPr sz="850" b="0" spc="85" dirty="0">
                <a:solidFill>
                  <a:srgbClr val="231F20"/>
                </a:solidFill>
                <a:latin typeface="Aktiv Grotesk Light"/>
                <a:cs typeface="Aktiv Grotesk Light"/>
              </a:rPr>
              <a:t> </a:t>
            </a:r>
            <a:r>
              <a:rPr sz="850" b="0" spc="-25" dirty="0">
                <a:solidFill>
                  <a:srgbClr val="231F20"/>
                </a:solidFill>
                <a:latin typeface="Aktiv Grotesk Light"/>
                <a:cs typeface="Aktiv Grotesk Light"/>
              </a:rPr>
              <a:t>and</a:t>
            </a:r>
            <a:r>
              <a:rPr sz="850" b="0" spc="500" dirty="0">
                <a:solidFill>
                  <a:srgbClr val="231F20"/>
                </a:solidFill>
                <a:latin typeface="Aktiv Grotesk Light"/>
                <a:cs typeface="Aktiv Grotesk Light"/>
              </a:rPr>
              <a:t> </a:t>
            </a:r>
            <a:r>
              <a:rPr sz="850" b="0" spc="20" dirty="0">
                <a:solidFill>
                  <a:srgbClr val="231F20"/>
                </a:solidFill>
                <a:latin typeface="Aktiv Grotesk Light"/>
                <a:cs typeface="Aktiv Grotesk Light"/>
              </a:rPr>
              <a:t>the</a:t>
            </a:r>
            <a:r>
              <a:rPr sz="850" b="0" spc="80" dirty="0">
                <a:solidFill>
                  <a:srgbClr val="231F20"/>
                </a:solidFill>
                <a:latin typeface="Aktiv Grotesk Light"/>
                <a:cs typeface="Aktiv Grotesk Light"/>
              </a:rPr>
              <a:t> </a:t>
            </a:r>
            <a:r>
              <a:rPr sz="850" b="0" spc="20" dirty="0">
                <a:solidFill>
                  <a:srgbClr val="231F20"/>
                </a:solidFill>
                <a:latin typeface="Aktiv Grotesk Light"/>
                <a:cs typeface="Aktiv Grotesk Light"/>
              </a:rPr>
              <a:t>highest</a:t>
            </a:r>
            <a:r>
              <a:rPr sz="850" b="0" spc="85" dirty="0">
                <a:solidFill>
                  <a:srgbClr val="231F20"/>
                </a:solidFill>
                <a:latin typeface="Aktiv Grotesk Light"/>
                <a:cs typeface="Aktiv Grotesk Light"/>
              </a:rPr>
              <a:t> </a:t>
            </a:r>
            <a:r>
              <a:rPr sz="850" b="0" spc="20" dirty="0">
                <a:solidFill>
                  <a:srgbClr val="231F20"/>
                </a:solidFill>
                <a:latin typeface="Aktiv Grotesk Light"/>
                <a:cs typeface="Aktiv Grotesk Light"/>
              </a:rPr>
              <a:t>value</a:t>
            </a:r>
            <a:r>
              <a:rPr sz="850" b="0" spc="85" dirty="0">
                <a:solidFill>
                  <a:srgbClr val="231F20"/>
                </a:solidFill>
                <a:latin typeface="Aktiv Grotesk Light"/>
                <a:cs typeface="Aktiv Grotesk Light"/>
              </a:rPr>
              <a:t> </a:t>
            </a:r>
            <a:r>
              <a:rPr sz="850" b="0" spc="50" dirty="0">
                <a:solidFill>
                  <a:srgbClr val="231F20"/>
                </a:solidFill>
                <a:latin typeface="Aktiv Grotesk Light"/>
                <a:cs typeface="Aktiv Grotesk Light"/>
              </a:rPr>
              <a:t>becomes</a:t>
            </a:r>
            <a:r>
              <a:rPr sz="850" b="0" spc="80" dirty="0">
                <a:solidFill>
                  <a:srgbClr val="231F20"/>
                </a:solidFill>
                <a:latin typeface="Aktiv Grotesk Light"/>
                <a:cs typeface="Aktiv Grotesk Light"/>
              </a:rPr>
              <a:t> </a:t>
            </a:r>
            <a:r>
              <a:rPr sz="850" b="0" spc="20" dirty="0">
                <a:solidFill>
                  <a:srgbClr val="231F20"/>
                </a:solidFill>
                <a:latin typeface="Aktiv Grotesk Light"/>
                <a:cs typeface="Aktiv Grotesk Light"/>
              </a:rPr>
              <a:t>1.0;</a:t>
            </a:r>
            <a:r>
              <a:rPr sz="850" b="0" spc="85" dirty="0">
                <a:solidFill>
                  <a:srgbClr val="231F20"/>
                </a:solidFill>
                <a:latin typeface="Aktiv Grotesk Light"/>
                <a:cs typeface="Aktiv Grotesk Light"/>
              </a:rPr>
              <a:t> </a:t>
            </a:r>
            <a:r>
              <a:rPr sz="850" b="0" spc="20" dirty="0">
                <a:solidFill>
                  <a:srgbClr val="231F20"/>
                </a:solidFill>
                <a:latin typeface="Aktiv Grotesk Light"/>
                <a:cs typeface="Aktiv Grotesk Light"/>
              </a:rPr>
              <a:t>if</a:t>
            </a:r>
            <a:r>
              <a:rPr sz="850" b="0" spc="85" dirty="0">
                <a:solidFill>
                  <a:srgbClr val="231F20"/>
                </a:solidFill>
                <a:latin typeface="Aktiv Grotesk Light"/>
                <a:cs typeface="Aktiv Grotesk Light"/>
              </a:rPr>
              <a:t> </a:t>
            </a:r>
            <a:r>
              <a:rPr sz="850" b="0" spc="20" dirty="0">
                <a:solidFill>
                  <a:srgbClr val="231F20"/>
                </a:solidFill>
                <a:latin typeface="Aktiv Grotesk Light"/>
                <a:cs typeface="Aktiv Grotesk Light"/>
              </a:rPr>
              <a:t>the</a:t>
            </a:r>
            <a:r>
              <a:rPr sz="850" b="0" spc="85" dirty="0">
                <a:solidFill>
                  <a:srgbClr val="231F20"/>
                </a:solidFill>
                <a:latin typeface="Aktiv Grotesk Light"/>
                <a:cs typeface="Aktiv Grotesk Light"/>
              </a:rPr>
              <a:t> </a:t>
            </a:r>
            <a:r>
              <a:rPr sz="850" b="0" spc="20" dirty="0">
                <a:solidFill>
                  <a:srgbClr val="231F20"/>
                </a:solidFill>
                <a:latin typeface="Aktiv Grotesk Light"/>
                <a:cs typeface="Aktiv Grotesk Light"/>
              </a:rPr>
              <a:t>goal</a:t>
            </a:r>
            <a:r>
              <a:rPr sz="850" b="0" spc="80" dirty="0">
                <a:solidFill>
                  <a:srgbClr val="231F20"/>
                </a:solidFill>
                <a:latin typeface="Aktiv Grotesk Light"/>
                <a:cs typeface="Aktiv Grotesk Light"/>
              </a:rPr>
              <a:t> </a:t>
            </a:r>
            <a:r>
              <a:rPr sz="850" b="0" spc="20" dirty="0">
                <a:solidFill>
                  <a:srgbClr val="231F20"/>
                </a:solidFill>
                <a:latin typeface="Aktiv Grotesk Light"/>
                <a:cs typeface="Aktiv Grotesk Light"/>
              </a:rPr>
              <a:t>is</a:t>
            </a:r>
            <a:r>
              <a:rPr sz="850" b="0" spc="85" dirty="0">
                <a:solidFill>
                  <a:srgbClr val="231F20"/>
                </a:solidFill>
                <a:latin typeface="Aktiv Grotesk Light"/>
                <a:cs typeface="Aktiv Grotesk Light"/>
              </a:rPr>
              <a:t> </a:t>
            </a:r>
            <a:r>
              <a:rPr sz="850" b="0" spc="20" dirty="0">
                <a:solidFill>
                  <a:srgbClr val="231F20"/>
                </a:solidFill>
                <a:latin typeface="Aktiv Grotesk Light"/>
                <a:cs typeface="Aktiv Grotesk Light"/>
              </a:rPr>
              <a:t>to</a:t>
            </a:r>
            <a:r>
              <a:rPr sz="850" b="0" spc="85" dirty="0">
                <a:solidFill>
                  <a:srgbClr val="231F20"/>
                </a:solidFill>
                <a:latin typeface="Aktiv Grotesk Light"/>
                <a:cs typeface="Aktiv Grotesk Light"/>
              </a:rPr>
              <a:t> </a:t>
            </a:r>
            <a:r>
              <a:rPr sz="850" b="0" spc="20" dirty="0">
                <a:solidFill>
                  <a:srgbClr val="231F20"/>
                </a:solidFill>
                <a:latin typeface="Aktiv Grotesk Light"/>
                <a:cs typeface="Aktiv Grotesk Light"/>
              </a:rPr>
              <a:t>minimize,</a:t>
            </a:r>
            <a:r>
              <a:rPr sz="850" b="0" spc="85" dirty="0">
                <a:solidFill>
                  <a:srgbClr val="231F20"/>
                </a:solidFill>
                <a:latin typeface="Aktiv Grotesk Light"/>
                <a:cs typeface="Aktiv Grotesk Light"/>
              </a:rPr>
              <a:t> </a:t>
            </a:r>
            <a:r>
              <a:rPr sz="850" b="0" spc="20" dirty="0">
                <a:solidFill>
                  <a:srgbClr val="231F20"/>
                </a:solidFill>
                <a:latin typeface="Aktiv Grotesk Light"/>
                <a:cs typeface="Aktiv Grotesk Light"/>
              </a:rPr>
              <a:t>the</a:t>
            </a:r>
            <a:r>
              <a:rPr sz="850" b="0" spc="80" dirty="0">
                <a:solidFill>
                  <a:srgbClr val="231F20"/>
                </a:solidFill>
                <a:latin typeface="Aktiv Grotesk Light"/>
                <a:cs typeface="Aktiv Grotesk Light"/>
              </a:rPr>
              <a:t> </a:t>
            </a:r>
            <a:r>
              <a:rPr sz="850" b="0" spc="20" dirty="0">
                <a:solidFill>
                  <a:srgbClr val="231F20"/>
                </a:solidFill>
                <a:latin typeface="Aktiv Grotesk Light"/>
                <a:cs typeface="Aktiv Grotesk Light"/>
              </a:rPr>
              <a:t>lowest</a:t>
            </a:r>
            <a:r>
              <a:rPr sz="850" b="0" spc="85" dirty="0">
                <a:solidFill>
                  <a:srgbClr val="231F20"/>
                </a:solidFill>
                <a:latin typeface="Aktiv Grotesk Light"/>
                <a:cs typeface="Aktiv Grotesk Light"/>
              </a:rPr>
              <a:t> </a:t>
            </a:r>
            <a:r>
              <a:rPr sz="850" b="0" spc="20" dirty="0">
                <a:solidFill>
                  <a:srgbClr val="231F20"/>
                </a:solidFill>
                <a:latin typeface="Aktiv Grotesk Light"/>
                <a:cs typeface="Aktiv Grotesk Light"/>
              </a:rPr>
              <a:t>value</a:t>
            </a:r>
            <a:r>
              <a:rPr sz="850" b="0" spc="85" dirty="0">
                <a:solidFill>
                  <a:srgbClr val="231F20"/>
                </a:solidFill>
                <a:latin typeface="Aktiv Grotesk Light"/>
                <a:cs typeface="Aktiv Grotesk Light"/>
              </a:rPr>
              <a:t> </a:t>
            </a:r>
            <a:r>
              <a:rPr sz="850" b="0" spc="20" dirty="0">
                <a:solidFill>
                  <a:srgbClr val="231F20"/>
                </a:solidFill>
                <a:latin typeface="Aktiv Grotesk Light"/>
                <a:cs typeface="Aktiv Grotesk Light"/>
              </a:rPr>
              <a:t>is</a:t>
            </a:r>
            <a:r>
              <a:rPr sz="850" b="0" spc="85" dirty="0">
                <a:solidFill>
                  <a:srgbClr val="231F20"/>
                </a:solidFill>
                <a:latin typeface="Aktiv Grotesk Light"/>
                <a:cs typeface="Aktiv Grotesk Light"/>
              </a:rPr>
              <a:t> </a:t>
            </a:r>
            <a:r>
              <a:rPr sz="850" b="0" spc="20" dirty="0">
                <a:solidFill>
                  <a:srgbClr val="231F20"/>
                </a:solidFill>
                <a:latin typeface="Aktiv Grotesk Light"/>
                <a:cs typeface="Aktiv Grotesk Light"/>
              </a:rPr>
              <a:t>the</a:t>
            </a:r>
            <a:r>
              <a:rPr sz="850" b="0" spc="80" dirty="0">
                <a:solidFill>
                  <a:srgbClr val="231F20"/>
                </a:solidFill>
                <a:latin typeface="Aktiv Grotesk Light"/>
                <a:cs typeface="Aktiv Grotesk Light"/>
              </a:rPr>
              <a:t> </a:t>
            </a:r>
            <a:r>
              <a:rPr sz="850" b="0" spc="20" dirty="0">
                <a:solidFill>
                  <a:srgbClr val="231F20"/>
                </a:solidFill>
                <a:latin typeface="Aktiv Grotesk Light"/>
                <a:cs typeface="Aktiv Grotesk Light"/>
              </a:rPr>
              <a:t>best</a:t>
            </a:r>
            <a:r>
              <a:rPr sz="850" b="0" spc="85" dirty="0">
                <a:solidFill>
                  <a:srgbClr val="231F20"/>
                </a:solidFill>
                <a:latin typeface="Aktiv Grotesk Light"/>
                <a:cs typeface="Aktiv Grotesk Light"/>
              </a:rPr>
              <a:t> </a:t>
            </a:r>
            <a:r>
              <a:rPr sz="850" b="0" spc="20" dirty="0">
                <a:solidFill>
                  <a:srgbClr val="231F20"/>
                </a:solidFill>
                <a:latin typeface="Aktiv Grotesk Light"/>
                <a:cs typeface="Aktiv Grotesk Light"/>
              </a:rPr>
              <a:t>and</a:t>
            </a:r>
            <a:r>
              <a:rPr sz="850" b="0" spc="85" dirty="0">
                <a:solidFill>
                  <a:srgbClr val="231F20"/>
                </a:solidFill>
                <a:latin typeface="Aktiv Grotesk Light"/>
                <a:cs typeface="Aktiv Grotesk Light"/>
              </a:rPr>
              <a:t> </a:t>
            </a:r>
            <a:r>
              <a:rPr sz="850" b="0" spc="50" dirty="0">
                <a:solidFill>
                  <a:srgbClr val="231F20"/>
                </a:solidFill>
                <a:latin typeface="Aktiv Grotesk Light"/>
                <a:cs typeface="Aktiv Grotesk Light"/>
              </a:rPr>
              <a:t>becomes</a:t>
            </a:r>
            <a:r>
              <a:rPr sz="850" b="0" spc="80" dirty="0">
                <a:solidFill>
                  <a:srgbClr val="231F20"/>
                </a:solidFill>
                <a:latin typeface="Aktiv Grotesk Light"/>
                <a:cs typeface="Aktiv Grotesk Light"/>
              </a:rPr>
              <a:t> </a:t>
            </a:r>
            <a:r>
              <a:rPr sz="850" b="0" spc="20" dirty="0">
                <a:solidFill>
                  <a:srgbClr val="231F20"/>
                </a:solidFill>
                <a:latin typeface="Aktiv Grotesk Light"/>
                <a:cs typeface="Aktiv Grotesk Light"/>
              </a:rPr>
              <a:t>1.0</a:t>
            </a:r>
            <a:r>
              <a:rPr sz="850" b="0" spc="85" dirty="0">
                <a:solidFill>
                  <a:srgbClr val="231F20"/>
                </a:solidFill>
                <a:latin typeface="Aktiv Grotesk Light"/>
                <a:cs typeface="Aktiv Grotesk Light"/>
              </a:rPr>
              <a:t> </a:t>
            </a:r>
            <a:r>
              <a:rPr sz="850" b="0" spc="20" dirty="0">
                <a:solidFill>
                  <a:srgbClr val="231F20"/>
                </a:solidFill>
                <a:latin typeface="Aktiv Grotesk Light"/>
                <a:cs typeface="Aktiv Grotesk Light"/>
              </a:rPr>
              <a:t>and</a:t>
            </a:r>
            <a:r>
              <a:rPr sz="850" b="0" spc="85" dirty="0">
                <a:solidFill>
                  <a:srgbClr val="231F20"/>
                </a:solidFill>
                <a:latin typeface="Aktiv Grotesk Light"/>
                <a:cs typeface="Aktiv Grotesk Light"/>
              </a:rPr>
              <a:t> </a:t>
            </a:r>
            <a:r>
              <a:rPr sz="850" b="0" spc="20" dirty="0">
                <a:solidFill>
                  <a:srgbClr val="231F20"/>
                </a:solidFill>
                <a:latin typeface="Aktiv Grotesk Light"/>
                <a:cs typeface="Aktiv Grotesk Light"/>
              </a:rPr>
              <a:t>the</a:t>
            </a:r>
            <a:r>
              <a:rPr sz="850" b="0" spc="85" dirty="0">
                <a:solidFill>
                  <a:srgbClr val="231F20"/>
                </a:solidFill>
                <a:latin typeface="Aktiv Grotesk Light"/>
                <a:cs typeface="Aktiv Grotesk Light"/>
              </a:rPr>
              <a:t> </a:t>
            </a:r>
            <a:r>
              <a:rPr sz="850" b="0" spc="20" dirty="0">
                <a:solidFill>
                  <a:srgbClr val="231F20"/>
                </a:solidFill>
                <a:latin typeface="Aktiv Grotesk Light"/>
                <a:cs typeface="Aktiv Grotesk Light"/>
              </a:rPr>
              <a:t>highest</a:t>
            </a:r>
            <a:r>
              <a:rPr sz="850" b="0" spc="80" dirty="0">
                <a:solidFill>
                  <a:srgbClr val="231F20"/>
                </a:solidFill>
                <a:latin typeface="Aktiv Grotesk Light"/>
                <a:cs typeface="Aktiv Grotesk Light"/>
              </a:rPr>
              <a:t> </a:t>
            </a:r>
            <a:r>
              <a:rPr sz="850" b="0" spc="20" dirty="0">
                <a:solidFill>
                  <a:srgbClr val="231F20"/>
                </a:solidFill>
                <a:latin typeface="Aktiv Grotesk Light"/>
                <a:cs typeface="Aktiv Grotesk Light"/>
              </a:rPr>
              <a:t>value</a:t>
            </a:r>
            <a:r>
              <a:rPr sz="850" b="0" spc="85" dirty="0">
                <a:solidFill>
                  <a:srgbClr val="231F20"/>
                </a:solidFill>
                <a:latin typeface="Aktiv Grotesk Light"/>
                <a:cs typeface="Aktiv Grotesk Light"/>
              </a:rPr>
              <a:t> </a:t>
            </a:r>
            <a:r>
              <a:rPr sz="850" b="0" spc="50" dirty="0">
                <a:solidFill>
                  <a:srgbClr val="231F20"/>
                </a:solidFill>
                <a:latin typeface="Aktiv Grotesk Light"/>
                <a:cs typeface="Aktiv Grotesk Light"/>
              </a:rPr>
              <a:t>becomes</a:t>
            </a:r>
            <a:r>
              <a:rPr sz="850" b="0" spc="85" dirty="0">
                <a:solidFill>
                  <a:srgbClr val="231F20"/>
                </a:solidFill>
                <a:latin typeface="Aktiv Grotesk Light"/>
                <a:cs typeface="Aktiv Grotesk Light"/>
              </a:rPr>
              <a:t> </a:t>
            </a:r>
            <a:r>
              <a:rPr sz="850" b="0" spc="20" dirty="0">
                <a:solidFill>
                  <a:srgbClr val="231F20"/>
                </a:solidFill>
                <a:latin typeface="Aktiv Grotesk Light"/>
                <a:cs typeface="Aktiv Grotesk Light"/>
              </a:rPr>
              <a:t>0).</a:t>
            </a:r>
            <a:r>
              <a:rPr sz="850" b="0" spc="85" dirty="0">
                <a:solidFill>
                  <a:srgbClr val="231F20"/>
                </a:solidFill>
                <a:latin typeface="Aktiv Grotesk Light"/>
                <a:cs typeface="Aktiv Grotesk Light"/>
              </a:rPr>
              <a:t> </a:t>
            </a:r>
            <a:r>
              <a:rPr sz="850" b="0" spc="20" dirty="0">
                <a:solidFill>
                  <a:srgbClr val="231F20"/>
                </a:solidFill>
                <a:latin typeface="Aktiv Grotesk Light"/>
                <a:cs typeface="Aktiv Grotesk Light"/>
              </a:rPr>
              <a:t>Finally,</a:t>
            </a:r>
            <a:r>
              <a:rPr sz="850" b="0" spc="80" dirty="0">
                <a:solidFill>
                  <a:srgbClr val="231F20"/>
                </a:solidFill>
                <a:latin typeface="Aktiv Grotesk Light"/>
                <a:cs typeface="Aktiv Grotesk Light"/>
              </a:rPr>
              <a:t> </a:t>
            </a:r>
            <a:r>
              <a:rPr sz="850" b="0" spc="20" dirty="0">
                <a:solidFill>
                  <a:srgbClr val="231F20"/>
                </a:solidFill>
                <a:latin typeface="Aktiv Grotesk Light"/>
                <a:cs typeface="Aktiv Grotesk Light"/>
              </a:rPr>
              <a:t>normalized</a:t>
            </a:r>
            <a:r>
              <a:rPr sz="850" b="0" spc="85" dirty="0">
                <a:solidFill>
                  <a:srgbClr val="231F20"/>
                </a:solidFill>
                <a:latin typeface="Aktiv Grotesk Light"/>
                <a:cs typeface="Aktiv Grotesk Light"/>
              </a:rPr>
              <a:t> </a:t>
            </a:r>
            <a:r>
              <a:rPr sz="850" b="0" spc="20" dirty="0">
                <a:solidFill>
                  <a:srgbClr val="231F20"/>
                </a:solidFill>
                <a:latin typeface="Aktiv Grotesk Light"/>
                <a:cs typeface="Aktiv Grotesk Light"/>
              </a:rPr>
              <a:t>scores</a:t>
            </a:r>
            <a:r>
              <a:rPr sz="850" b="0" spc="85" dirty="0">
                <a:solidFill>
                  <a:srgbClr val="231F20"/>
                </a:solidFill>
                <a:latin typeface="Aktiv Grotesk Light"/>
                <a:cs typeface="Aktiv Grotesk Light"/>
              </a:rPr>
              <a:t> </a:t>
            </a:r>
            <a:r>
              <a:rPr sz="850" b="0" spc="-20" dirty="0">
                <a:solidFill>
                  <a:srgbClr val="231F20"/>
                </a:solidFill>
                <a:latin typeface="Aktiv Grotesk Light"/>
                <a:cs typeface="Aktiv Grotesk Light"/>
              </a:rPr>
              <a:t>were</a:t>
            </a:r>
            <a:r>
              <a:rPr sz="850" b="0" spc="20" dirty="0">
                <a:solidFill>
                  <a:srgbClr val="231F20"/>
                </a:solidFill>
                <a:latin typeface="Aktiv Grotesk Light"/>
                <a:cs typeface="Aktiv Grotesk Light"/>
              </a:rPr>
              <a:t> multiplied</a:t>
            </a:r>
            <a:r>
              <a:rPr sz="850" b="0" spc="90" dirty="0">
                <a:solidFill>
                  <a:srgbClr val="231F20"/>
                </a:solidFill>
                <a:latin typeface="Aktiv Grotesk Light"/>
                <a:cs typeface="Aktiv Grotesk Light"/>
              </a:rPr>
              <a:t> </a:t>
            </a:r>
            <a:r>
              <a:rPr sz="850" b="0" spc="20" dirty="0">
                <a:solidFill>
                  <a:srgbClr val="231F20"/>
                </a:solidFill>
                <a:latin typeface="Aktiv Grotesk Light"/>
                <a:cs typeface="Aktiv Grotesk Light"/>
              </a:rPr>
              <a:t>by</a:t>
            </a:r>
            <a:r>
              <a:rPr sz="850" b="0" spc="90" dirty="0">
                <a:solidFill>
                  <a:srgbClr val="231F20"/>
                </a:solidFill>
                <a:latin typeface="Aktiv Grotesk Light"/>
                <a:cs typeface="Aktiv Grotesk Light"/>
              </a:rPr>
              <a:t> </a:t>
            </a:r>
            <a:r>
              <a:rPr sz="850" b="0" spc="20" dirty="0">
                <a:solidFill>
                  <a:srgbClr val="231F20"/>
                </a:solidFill>
                <a:latin typeface="Aktiv Grotesk Light"/>
                <a:cs typeface="Aktiv Grotesk Light"/>
              </a:rPr>
              <a:t>weights</a:t>
            </a:r>
            <a:r>
              <a:rPr sz="850" b="0" spc="95" dirty="0">
                <a:solidFill>
                  <a:srgbClr val="231F20"/>
                </a:solidFill>
                <a:latin typeface="Aktiv Grotesk Light"/>
                <a:cs typeface="Aktiv Grotesk Light"/>
              </a:rPr>
              <a:t> </a:t>
            </a:r>
            <a:r>
              <a:rPr sz="850" b="0" spc="20" dirty="0">
                <a:solidFill>
                  <a:srgbClr val="231F20"/>
                </a:solidFill>
                <a:latin typeface="Aktiv Grotesk Light"/>
                <a:cs typeface="Aktiv Grotesk Light"/>
              </a:rPr>
              <a:t>and</a:t>
            </a:r>
            <a:r>
              <a:rPr sz="850" b="0" spc="90" dirty="0">
                <a:solidFill>
                  <a:srgbClr val="231F20"/>
                </a:solidFill>
                <a:latin typeface="Aktiv Grotesk Light"/>
                <a:cs typeface="Aktiv Grotesk Light"/>
              </a:rPr>
              <a:t> </a:t>
            </a:r>
            <a:r>
              <a:rPr sz="850" b="0" spc="55" dirty="0">
                <a:solidFill>
                  <a:srgbClr val="231F20"/>
                </a:solidFill>
                <a:latin typeface="Aktiv Grotesk Light"/>
                <a:cs typeface="Aktiv Grotesk Light"/>
              </a:rPr>
              <a:t>summed</a:t>
            </a:r>
            <a:r>
              <a:rPr sz="850" b="0" spc="95" dirty="0">
                <a:solidFill>
                  <a:srgbClr val="231F20"/>
                </a:solidFill>
                <a:latin typeface="Aktiv Grotesk Light"/>
                <a:cs typeface="Aktiv Grotesk Light"/>
              </a:rPr>
              <a:t> </a:t>
            </a:r>
            <a:r>
              <a:rPr sz="850" b="0" spc="20" dirty="0">
                <a:solidFill>
                  <a:srgbClr val="231F20"/>
                </a:solidFill>
                <a:latin typeface="Aktiv Grotesk Light"/>
                <a:cs typeface="Aktiv Grotesk Light"/>
              </a:rPr>
              <a:t>across</a:t>
            </a:r>
            <a:r>
              <a:rPr sz="850" b="0" spc="90" dirty="0">
                <a:solidFill>
                  <a:srgbClr val="231F20"/>
                </a:solidFill>
                <a:latin typeface="Aktiv Grotesk Light"/>
                <a:cs typeface="Aktiv Grotesk Light"/>
              </a:rPr>
              <a:t> </a:t>
            </a:r>
            <a:r>
              <a:rPr sz="850" b="0" spc="20" dirty="0">
                <a:solidFill>
                  <a:srgbClr val="231F20"/>
                </a:solidFill>
                <a:latin typeface="Aktiv Grotesk Light"/>
                <a:cs typeface="Aktiv Grotesk Light"/>
              </a:rPr>
              <a:t>objectives</a:t>
            </a:r>
            <a:r>
              <a:rPr sz="850" b="0" spc="95" dirty="0">
                <a:solidFill>
                  <a:srgbClr val="231F20"/>
                </a:solidFill>
                <a:latin typeface="Aktiv Grotesk Light"/>
                <a:cs typeface="Aktiv Grotesk Light"/>
              </a:rPr>
              <a:t> </a:t>
            </a:r>
            <a:r>
              <a:rPr sz="850" b="0" spc="20" dirty="0">
                <a:solidFill>
                  <a:srgbClr val="231F20"/>
                </a:solidFill>
                <a:latin typeface="Aktiv Grotesk Light"/>
                <a:cs typeface="Aktiv Grotesk Light"/>
              </a:rPr>
              <a:t>to</a:t>
            </a:r>
            <a:r>
              <a:rPr sz="850" b="0" spc="90" dirty="0">
                <a:solidFill>
                  <a:srgbClr val="231F20"/>
                </a:solidFill>
                <a:latin typeface="Aktiv Grotesk Light"/>
                <a:cs typeface="Aktiv Grotesk Light"/>
              </a:rPr>
              <a:t> </a:t>
            </a:r>
            <a:r>
              <a:rPr sz="850" b="0" spc="20" dirty="0">
                <a:solidFill>
                  <a:srgbClr val="231F20"/>
                </a:solidFill>
                <a:latin typeface="Aktiv Grotesk Light"/>
                <a:cs typeface="Aktiv Grotesk Light"/>
              </a:rPr>
              <a:t>result</a:t>
            </a:r>
            <a:r>
              <a:rPr sz="850" b="0" spc="95" dirty="0">
                <a:solidFill>
                  <a:srgbClr val="231F20"/>
                </a:solidFill>
                <a:latin typeface="Aktiv Grotesk Light"/>
                <a:cs typeface="Aktiv Grotesk Light"/>
              </a:rPr>
              <a:t> </a:t>
            </a:r>
            <a:r>
              <a:rPr sz="850" b="0" spc="20" dirty="0">
                <a:solidFill>
                  <a:srgbClr val="231F20"/>
                </a:solidFill>
                <a:latin typeface="Aktiv Grotesk Light"/>
                <a:cs typeface="Aktiv Grotesk Light"/>
              </a:rPr>
              <a:t>in</a:t>
            </a:r>
            <a:r>
              <a:rPr sz="850" b="0" spc="90" dirty="0">
                <a:solidFill>
                  <a:srgbClr val="231F20"/>
                </a:solidFill>
                <a:latin typeface="Aktiv Grotesk Light"/>
                <a:cs typeface="Aktiv Grotesk Light"/>
              </a:rPr>
              <a:t> </a:t>
            </a:r>
            <a:r>
              <a:rPr sz="850" b="0" spc="20" dirty="0">
                <a:solidFill>
                  <a:srgbClr val="231F20"/>
                </a:solidFill>
                <a:latin typeface="Aktiv Grotesk Light"/>
                <a:cs typeface="Aktiv Grotesk Light"/>
              </a:rPr>
              <a:t>a</a:t>
            </a:r>
            <a:r>
              <a:rPr sz="850" b="0" spc="95" dirty="0">
                <a:solidFill>
                  <a:srgbClr val="231F20"/>
                </a:solidFill>
                <a:latin typeface="Aktiv Grotesk Light"/>
                <a:cs typeface="Aktiv Grotesk Light"/>
              </a:rPr>
              <a:t> </a:t>
            </a:r>
            <a:r>
              <a:rPr sz="850" b="0" spc="20" dirty="0">
                <a:solidFill>
                  <a:srgbClr val="231F20"/>
                </a:solidFill>
                <a:latin typeface="Aktiv Grotesk Light"/>
                <a:cs typeface="Aktiv Grotesk Light"/>
              </a:rPr>
              <a:t>final</a:t>
            </a:r>
            <a:r>
              <a:rPr sz="850" b="0" spc="90" dirty="0">
                <a:solidFill>
                  <a:srgbClr val="231F20"/>
                </a:solidFill>
                <a:latin typeface="Aktiv Grotesk Light"/>
                <a:cs typeface="Aktiv Grotesk Light"/>
              </a:rPr>
              <a:t> </a:t>
            </a:r>
            <a:r>
              <a:rPr sz="850" b="0" spc="20" dirty="0">
                <a:solidFill>
                  <a:srgbClr val="231F20"/>
                </a:solidFill>
                <a:latin typeface="Aktiv Grotesk Light"/>
                <a:cs typeface="Aktiv Grotesk Light"/>
              </a:rPr>
              <a:t>score</a:t>
            </a:r>
            <a:r>
              <a:rPr sz="850" b="0" spc="95" dirty="0">
                <a:solidFill>
                  <a:srgbClr val="231F20"/>
                </a:solidFill>
                <a:latin typeface="Aktiv Grotesk Light"/>
                <a:cs typeface="Aktiv Grotesk Light"/>
              </a:rPr>
              <a:t> </a:t>
            </a:r>
            <a:r>
              <a:rPr sz="850" b="0" spc="20" dirty="0">
                <a:solidFill>
                  <a:srgbClr val="231F20"/>
                </a:solidFill>
                <a:latin typeface="Aktiv Grotesk Light"/>
                <a:cs typeface="Aktiv Grotesk Light"/>
              </a:rPr>
              <a:t>for</a:t>
            </a:r>
            <a:r>
              <a:rPr sz="850" b="0" spc="90" dirty="0">
                <a:solidFill>
                  <a:srgbClr val="231F20"/>
                </a:solidFill>
                <a:latin typeface="Aktiv Grotesk Light"/>
                <a:cs typeface="Aktiv Grotesk Light"/>
              </a:rPr>
              <a:t> </a:t>
            </a:r>
            <a:r>
              <a:rPr sz="850" b="0" spc="20" dirty="0">
                <a:solidFill>
                  <a:srgbClr val="231F20"/>
                </a:solidFill>
                <a:latin typeface="Aktiv Grotesk Light"/>
                <a:cs typeface="Aktiv Grotesk Light"/>
              </a:rPr>
              <a:t>each</a:t>
            </a:r>
            <a:r>
              <a:rPr sz="850" b="0" spc="95" dirty="0">
                <a:solidFill>
                  <a:srgbClr val="231F20"/>
                </a:solidFill>
                <a:latin typeface="Aktiv Grotesk Light"/>
                <a:cs typeface="Aktiv Grotesk Light"/>
              </a:rPr>
              <a:t> </a:t>
            </a:r>
            <a:r>
              <a:rPr sz="850" b="0" spc="20" dirty="0">
                <a:solidFill>
                  <a:srgbClr val="231F20"/>
                </a:solidFill>
                <a:latin typeface="Aktiv Grotesk Light"/>
                <a:cs typeface="Aktiv Grotesk Light"/>
              </a:rPr>
              <a:t>alternative</a:t>
            </a:r>
            <a:r>
              <a:rPr sz="850" b="0" spc="90" dirty="0">
                <a:solidFill>
                  <a:srgbClr val="231F20"/>
                </a:solidFill>
                <a:latin typeface="Aktiv Grotesk Light"/>
                <a:cs typeface="Aktiv Grotesk Light"/>
              </a:rPr>
              <a:t> </a:t>
            </a:r>
            <a:r>
              <a:rPr sz="850" b="0" spc="50" dirty="0">
                <a:solidFill>
                  <a:srgbClr val="231F20"/>
                </a:solidFill>
                <a:latin typeface="Aktiv Grotesk Light"/>
                <a:cs typeface="Aktiv Grotesk Light"/>
              </a:rPr>
              <a:t>management</a:t>
            </a:r>
            <a:r>
              <a:rPr sz="850" b="0" spc="95" dirty="0">
                <a:solidFill>
                  <a:srgbClr val="231F20"/>
                </a:solidFill>
                <a:latin typeface="Aktiv Grotesk Light"/>
                <a:cs typeface="Aktiv Grotesk Light"/>
              </a:rPr>
              <a:t> </a:t>
            </a:r>
            <a:r>
              <a:rPr sz="850" b="0" spc="20" dirty="0">
                <a:solidFill>
                  <a:srgbClr val="231F20"/>
                </a:solidFill>
                <a:latin typeface="Aktiv Grotesk Light"/>
                <a:cs typeface="Aktiv Grotesk Light"/>
              </a:rPr>
              <a:t>decision.</a:t>
            </a:r>
            <a:r>
              <a:rPr sz="850" b="0" spc="90" dirty="0">
                <a:solidFill>
                  <a:srgbClr val="231F20"/>
                </a:solidFill>
                <a:latin typeface="Aktiv Grotesk Light"/>
                <a:cs typeface="Aktiv Grotesk Light"/>
              </a:rPr>
              <a:t> </a:t>
            </a:r>
            <a:r>
              <a:rPr sz="850" b="0" spc="20" dirty="0">
                <a:solidFill>
                  <a:srgbClr val="231F20"/>
                </a:solidFill>
                <a:latin typeface="Aktiv Grotesk Light"/>
                <a:cs typeface="Aktiv Grotesk Light"/>
              </a:rPr>
              <a:t>The</a:t>
            </a:r>
            <a:r>
              <a:rPr sz="850" b="0" spc="90" dirty="0">
                <a:solidFill>
                  <a:srgbClr val="231F20"/>
                </a:solidFill>
                <a:latin typeface="Aktiv Grotesk Light"/>
                <a:cs typeface="Aktiv Grotesk Light"/>
              </a:rPr>
              <a:t> </a:t>
            </a:r>
            <a:r>
              <a:rPr sz="850" b="0" spc="20" dirty="0">
                <a:solidFill>
                  <a:srgbClr val="231F20"/>
                </a:solidFill>
                <a:latin typeface="Aktiv Grotesk Light"/>
                <a:cs typeface="Aktiv Grotesk Light"/>
              </a:rPr>
              <a:t>higher</a:t>
            </a:r>
            <a:r>
              <a:rPr sz="850" b="0" spc="95" dirty="0">
                <a:solidFill>
                  <a:srgbClr val="231F20"/>
                </a:solidFill>
                <a:latin typeface="Aktiv Grotesk Light"/>
                <a:cs typeface="Aktiv Grotesk Light"/>
              </a:rPr>
              <a:t> </a:t>
            </a:r>
            <a:r>
              <a:rPr sz="850" b="0" spc="20" dirty="0">
                <a:solidFill>
                  <a:srgbClr val="231F20"/>
                </a:solidFill>
                <a:latin typeface="Aktiv Grotesk Light"/>
                <a:cs typeface="Aktiv Grotesk Light"/>
              </a:rPr>
              <a:t>the</a:t>
            </a:r>
            <a:r>
              <a:rPr sz="850" b="0" spc="90" dirty="0">
                <a:solidFill>
                  <a:srgbClr val="231F20"/>
                </a:solidFill>
                <a:latin typeface="Aktiv Grotesk Light"/>
                <a:cs typeface="Aktiv Grotesk Light"/>
              </a:rPr>
              <a:t> </a:t>
            </a:r>
            <a:r>
              <a:rPr sz="850" b="0" spc="20" dirty="0">
                <a:solidFill>
                  <a:srgbClr val="231F20"/>
                </a:solidFill>
                <a:latin typeface="Aktiv Grotesk Light"/>
                <a:cs typeface="Aktiv Grotesk Light"/>
              </a:rPr>
              <a:t>score,</a:t>
            </a:r>
            <a:r>
              <a:rPr sz="850" b="0" spc="95" dirty="0">
                <a:solidFill>
                  <a:srgbClr val="231F20"/>
                </a:solidFill>
                <a:latin typeface="Aktiv Grotesk Light"/>
                <a:cs typeface="Aktiv Grotesk Light"/>
              </a:rPr>
              <a:t> </a:t>
            </a:r>
            <a:r>
              <a:rPr sz="850" b="0" spc="20" dirty="0">
                <a:solidFill>
                  <a:srgbClr val="231F20"/>
                </a:solidFill>
                <a:latin typeface="Aktiv Grotesk Light"/>
                <a:cs typeface="Aktiv Grotesk Light"/>
              </a:rPr>
              <a:t>the</a:t>
            </a:r>
            <a:r>
              <a:rPr sz="850" b="0" spc="90" dirty="0">
                <a:solidFill>
                  <a:srgbClr val="231F20"/>
                </a:solidFill>
                <a:latin typeface="Aktiv Grotesk Light"/>
                <a:cs typeface="Aktiv Grotesk Light"/>
              </a:rPr>
              <a:t> </a:t>
            </a:r>
            <a:r>
              <a:rPr sz="850" b="0" spc="20" dirty="0">
                <a:solidFill>
                  <a:srgbClr val="231F20"/>
                </a:solidFill>
                <a:latin typeface="Aktiv Grotesk Light"/>
                <a:cs typeface="Aktiv Grotesk Light"/>
              </a:rPr>
              <a:t>better</a:t>
            </a:r>
            <a:r>
              <a:rPr sz="850" b="0" spc="95" dirty="0">
                <a:solidFill>
                  <a:srgbClr val="231F20"/>
                </a:solidFill>
                <a:latin typeface="Aktiv Grotesk Light"/>
                <a:cs typeface="Aktiv Grotesk Light"/>
              </a:rPr>
              <a:t> </a:t>
            </a:r>
            <a:r>
              <a:rPr sz="850" b="0" spc="20" dirty="0">
                <a:solidFill>
                  <a:srgbClr val="231F20"/>
                </a:solidFill>
                <a:latin typeface="Aktiv Grotesk Light"/>
                <a:cs typeface="Aktiv Grotesk Light"/>
              </a:rPr>
              <a:t>the</a:t>
            </a:r>
            <a:r>
              <a:rPr sz="850" b="0" spc="90" dirty="0">
                <a:solidFill>
                  <a:srgbClr val="231F20"/>
                </a:solidFill>
                <a:latin typeface="Aktiv Grotesk Light"/>
                <a:cs typeface="Aktiv Grotesk Light"/>
              </a:rPr>
              <a:t> </a:t>
            </a:r>
            <a:r>
              <a:rPr sz="850" b="0" spc="-10" dirty="0">
                <a:solidFill>
                  <a:srgbClr val="231F20"/>
                </a:solidFill>
                <a:latin typeface="Aktiv Grotesk Light"/>
                <a:cs typeface="Aktiv Grotesk Light"/>
              </a:rPr>
              <a:t>decision.</a:t>
            </a:r>
            <a:r>
              <a:rPr sz="850" b="0" spc="20" dirty="0">
                <a:solidFill>
                  <a:srgbClr val="231F20"/>
                </a:solidFill>
                <a:latin typeface="Aktiv Grotesk Light"/>
                <a:cs typeface="Aktiv Grotesk Light"/>
              </a:rPr>
              <a:t> </a:t>
            </a:r>
            <a:r>
              <a:rPr sz="900" b="0" i="1" spc="30" baseline="18518" dirty="0">
                <a:solidFill>
                  <a:srgbClr val="231F20"/>
                </a:solidFill>
                <a:latin typeface="Aktiv Grotesk Light"/>
                <a:cs typeface="Aktiv Grotesk Light"/>
              </a:rPr>
              <a:t>b</a:t>
            </a:r>
            <a:r>
              <a:rPr sz="850" b="0" spc="20" dirty="0">
                <a:solidFill>
                  <a:srgbClr val="231F20"/>
                </a:solidFill>
                <a:latin typeface="Aktiv Grotesk Light"/>
                <a:cs typeface="Aktiv Grotesk Light"/>
              </a:rPr>
              <a:t>Equations</a:t>
            </a:r>
            <a:r>
              <a:rPr sz="850" b="0" spc="65" dirty="0">
                <a:solidFill>
                  <a:srgbClr val="231F20"/>
                </a:solidFill>
                <a:latin typeface="Aktiv Grotesk Light"/>
                <a:cs typeface="Aktiv Grotesk Light"/>
              </a:rPr>
              <a:t> </a:t>
            </a:r>
            <a:r>
              <a:rPr sz="850" b="0" spc="20" dirty="0">
                <a:solidFill>
                  <a:srgbClr val="231F20"/>
                </a:solidFill>
                <a:latin typeface="Aktiv Grotesk Light"/>
                <a:cs typeface="Aktiv Grotesk Light"/>
              </a:rPr>
              <a:t>for</a:t>
            </a:r>
            <a:r>
              <a:rPr sz="850" b="0" spc="65" dirty="0">
                <a:solidFill>
                  <a:srgbClr val="231F20"/>
                </a:solidFill>
                <a:latin typeface="Aktiv Grotesk Light"/>
                <a:cs typeface="Aktiv Grotesk Light"/>
              </a:rPr>
              <a:t> </a:t>
            </a:r>
            <a:r>
              <a:rPr sz="850" b="0" spc="20" dirty="0">
                <a:solidFill>
                  <a:srgbClr val="231F20"/>
                </a:solidFill>
                <a:latin typeface="Aktiv Grotesk Light"/>
                <a:cs typeface="Aktiv Grotesk Light"/>
              </a:rPr>
              <a:t>normalizing</a:t>
            </a:r>
            <a:r>
              <a:rPr sz="850" b="0" spc="65" dirty="0">
                <a:solidFill>
                  <a:srgbClr val="231F20"/>
                </a:solidFill>
                <a:latin typeface="Aktiv Grotesk Light"/>
                <a:cs typeface="Aktiv Grotesk Light"/>
              </a:rPr>
              <a:t> </a:t>
            </a:r>
            <a:r>
              <a:rPr sz="850" b="0" spc="20" dirty="0">
                <a:solidFill>
                  <a:srgbClr val="231F20"/>
                </a:solidFill>
                <a:latin typeface="Aktiv Grotesk Light"/>
                <a:cs typeface="Aktiv Grotesk Light"/>
              </a:rPr>
              <a:t>values</a:t>
            </a:r>
            <a:r>
              <a:rPr sz="850" b="0" spc="65" dirty="0">
                <a:solidFill>
                  <a:srgbClr val="231F20"/>
                </a:solidFill>
                <a:latin typeface="Aktiv Grotesk Light"/>
                <a:cs typeface="Aktiv Grotesk Light"/>
              </a:rPr>
              <a:t> </a:t>
            </a:r>
            <a:r>
              <a:rPr sz="850" b="0" spc="20" dirty="0">
                <a:solidFill>
                  <a:srgbClr val="231F20"/>
                </a:solidFill>
                <a:latin typeface="Aktiv Grotesk Light"/>
                <a:cs typeface="Aktiv Grotesk Light"/>
              </a:rPr>
              <a:t>in</a:t>
            </a:r>
            <a:r>
              <a:rPr sz="850" b="0" spc="60" dirty="0">
                <a:solidFill>
                  <a:srgbClr val="231F20"/>
                </a:solidFill>
                <a:latin typeface="Aktiv Grotesk Light"/>
                <a:cs typeface="Aktiv Grotesk Light"/>
              </a:rPr>
              <a:t> </a:t>
            </a:r>
            <a:r>
              <a:rPr sz="850" b="0" spc="20" dirty="0">
                <a:solidFill>
                  <a:srgbClr val="231F20"/>
                </a:solidFill>
                <a:latin typeface="Aktiv Grotesk Light"/>
                <a:cs typeface="Aktiv Grotesk Light"/>
              </a:rPr>
              <a:t>an</a:t>
            </a:r>
            <a:r>
              <a:rPr sz="850" b="0" spc="65" dirty="0">
                <a:solidFill>
                  <a:srgbClr val="231F20"/>
                </a:solidFill>
                <a:latin typeface="Aktiv Grotesk Light"/>
                <a:cs typeface="Aktiv Grotesk Light"/>
              </a:rPr>
              <a:t> </a:t>
            </a:r>
            <a:r>
              <a:rPr sz="850" b="0" spc="20" dirty="0">
                <a:solidFill>
                  <a:srgbClr val="231F20"/>
                </a:solidFill>
                <a:latin typeface="Aktiv Grotesk Light"/>
                <a:cs typeface="Aktiv Grotesk Light"/>
              </a:rPr>
              <a:t>objective:</a:t>
            </a:r>
            <a:r>
              <a:rPr sz="850" b="0" spc="65" dirty="0">
                <a:solidFill>
                  <a:srgbClr val="231F20"/>
                </a:solidFill>
                <a:latin typeface="Aktiv Grotesk Light"/>
                <a:cs typeface="Aktiv Grotesk Light"/>
              </a:rPr>
              <a:t> </a:t>
            </a:r>
            <a:r>
              <a:rPr sz="850" b="0" spc="20" dirty="0">
                <a:solidFill>
                  <a:srgbClr val="231F20"/>
                </a:solidFill>
                <a:latin typeface="Aktiv Grotesk Light"/>
                <a:cs typeface="Aktiv Grotesk Light"/>
              </a:rPr>
              <a:t>(1)</a:t>
            </a:r>
            <a:r>
              <a:rPr sz="850" b="0" spc="65" dirty="0">
                <a:solidFill>
                  <a:srgbClr val="231F20"/>
                </a:solidFill>
                <a:latin typeface="Aktiv Grotesk Light"/>
                <a:cs typeface="Aktiv Grotesk Light"/>
              </a:rPr>
              <a:t> </a:t>
            </a:r>
            <a:r>
              <a:rPr sz="850" b="0" spc="20" dirty="0">
                <a:solidFill>
                  <a:srgbClr val="231F20"/>
                </a:solidFill>
                <a:latin typeface="Aktiv Grotesk Light"/>
                <a:cs typeface="Aktiv Grotesk Light"/>
              </a:rPr>
              <a:t>if</a:t>
            </a:r>
            <a:r>
              <a:rPr sz="850" b="0" spc="65" dirty="0">
                <a:solidFill>
                  <a:srgbClr val="231F20"/>
                </a:solidFill>
                <a:latin typeface="Aktiv Grotesk Light"/>
                <a:cs typeface="Aktiv Grotesk Light"/>
              </a:rPr>
              <a:t> </a:t>
            </a:r>
            <a:r>
              <a:rPr sz="850" b="0" spc="20" dirty="0">
                <a:solidFill>
                  <a:srgbClr val="231F20"/>
                </a:solidFill>
                <a:latin typeface="Aktiv Grotesk Light"/>
                <a:cs typeface="Aktiv Grotesk Light"/>
              </a:rPr>
              <a:t>the</a:t>
            </a:r>
            <a:r>
              <a:rPr sz="850" b="0" spc="65" dirty="0">
                <a:solidFill>
                  <a:srgbClr val="231F20"/>
                </a:solidFill>
                <a:latin typeface="Aktiv Grotesk Light"/>
                <a:cs typeface="Aktiv Grotesk Light"/>
              </a:rPr>
              <a:t> </a:t>
            </a:r>
            <a:r>
              <a:rPr sz="850" b="0" spc="20" dirty="0">
                <a:solidFill>
                  <a:srgbClr val="231F20"/>
                </a:solidFill>
                <a:latin typeface="Aktiv Grotesk Light"/>
                <a:cs typeface="Aktiv Grotesk Light"/>
              </a:rPr>
              <a:t>goal</a:t>
            </a:r>
            <a:r>
              <a:rPr sz="850" b="0" spc="65" dirty="0">
                <a:solidFill>
                  <a:srgbClr val="231F20"/>
                </a:solidFill>
                <a:latin typeface="Aktiv Grotesk Light"/>
                <a:cs typeface="Aktiv Grotesk Light"/>
              </a:rPr>
              <a:t> </a:t>
            </a:r>
            <a:r>
              <a:rPr sz="850" b="0" spc="20" dirty="0">
                <a:solidFill>
                  <a:srgbClr val="231F20"/>
                </a:solidFill>
                <a:latin typeface="Aktiv Grotesk Light"/>
                <a:cs typeface="Aktiv Grotesk Light"/>
              </a:rPr>
              <a:t>is</a:t>
            </a:r>
            <a:r>
              <a:rPr sz="850" b="0" spc="65" dirty="0">
                <a:solidFill>
                  <a:srgbClr val="231F20"/>
                </a:solidFill>
                <a:latin typeface="Aktiv Grotesk Light"/>
                <a:cs typeface="Aktiv Grotesk Light"/>
              </a:rPr>
              <a:t> </a:t>
            </a:r>
            <a:r>
              <a:rPr sz="850" b="0" spc="20" dirty="0">
                <a:solidFill>
                  <a:srgbClr val="231F20"/>
                </a:solidFill>
                <a:latin typeface="Aktiv Grotesk Light"/>
                <a:cs typeface="Aktiv Grotesk Light"/>
              </a:rPr>
              <a:t>to</a:t>
            </a:r>
            <a:r>
              <a:rPr sz="850" b="0" spc="65" dirty="0">
                <a:solidFill>
                  <a:srgbClr val="231F20"/>
                </a:solidFill>
                <a:latin typeface="Aktiv Grotesk Light"/>
                <a:cs typeface="Aktiv Grotesk Light"/>
              </a:rPr>
              <a:t> </a:t>
            </a:r>
            <a:r>
              <a:rPr sz="850" b="0" spc="20" dirty="0">
                <a:solidFill>
                  <a:srgbClr val="231F20"/>
                </a:solidFill>
                <a:latin typeface="Aktiv Grotesk Light"/>
                <a:cs typeface="Aktiv Grotesk Light"/>
              </a:rPr>
              <a:t>maximize,</a:t>
            </a:r>
            <a:r>
              <a:rPr sz="850" b="0" spc="65" dirty="0">
                <a:solidFill>
                  <a:srgbClr val="231F20"/>
                </a:solidFill>
                <a:latin typeface="Aktiv Grotesk Light"/>
                <a:cs typeface="Aktiv Grotesk Light"/>
              </a:rPr>
              <a:t> </a:t>
            </a:r>
            <a:r>
              <a:rPr sz="850" b="0" spc="20" dirty="0">
                <a:solidFill>
                  <a:srgbClr val="231F20"/>
                </a:solidFill>
                <a:latin typeface="Aktiv Grotesk Light"/>
                <a:cs typeface="Aktiv Grotesk Light"/>
              </a:rPr>
              <a:t>then:</a:t>
            </a:r>
            <a:r>
              <a:rPr sz="850" b="0" spc="65" dirty="0">
                <a:solidFill>
                  <a:srgbClr val="231F20"/>
                </a:solidFill>
                <a:latin typeface="Aktiv Grotesk Light"/>
                <a:cs typeface="Aktiv Grotesk Light"/>
              </a:rPr>
              <a:t> </a:t>
            </a:r>
            <a:r>
              <a:rPr sz="850" b="0" spc="20" dirty="0">
                <a:solidFill>
                  <a:srgbClr val="231F20"/>
                </a:solidFill>
                <a:latin typeface="Aktiv Grotesk Light"/>
                <a:cs typeface="Aktiv Grotesk Light"/>
              </a:rPr>
              <a:t>(value</a:t>
            </a:r>
            <a:r>
              <a:rPr sz="850" b="0" spc="65" dirty="0">
                <a:solidFill>
                  <a:srgbClr val="231F20"/>
                </a:solidFill>
                <a:latin typeface="Aktiv Grotesk Light"/>
                <a:cs typeface="Aktiv Grotesk Light"/>
              </a:rPr>
              <a:t> </a:t>
            </a:r>
            <a:r>
              <a:rPr sz="850" b="0" spc="20" dirty="0">
                <a:solidFill>
                  <a:srgbClr val="231F20"/>
                </a:solidFill>
                <a:latin typeface="Aktiv Grotesk Light"/>
                <a:cs typeface="Aktiv Grotesk Light"/>
              </a:rPr>
              <a:t>–</a:t>
            </a:r>
            <a:r>
              <a:rPr sz="850" b="0" spc="65" dirty="0">
                <a:solidFill>
                  <a:srgbClr val="231F20"/>
                </a:solidFill>
                <a:latin typeface="Aktiv Grotesk Light"/>
                <a:cs typeface="Aktiv Grotesk Light"/>
              </a:rPr>
              <a:t> </a:t>
            </a:r>
            <a:r>
              <a:rPr sz="850" b="0" spc="20" dirty="0">
                <a:solidFill>
                  <a:srgbClr val="231F20"/>
                </a:solidFill>
                <a:latin typeface="Aktiv Grotesk Light"/>
                <a:cs typeface="Aktiv Grotesk Light"/>
              </a:rPr>
              <a:t>min)/(max</a:t>
            </a:r>
            <a:r>
              <a:rPr sz="850" b="0" spc="65" dirty="0">
                <a:solidFill>
                  <a:srgbClr val="231F20"/>
                </a:solidFill>
                <a:latin typeface="Aktiv Grotesk Light"/>
                <a:cs typeface="Aktiv Grotesk Light"/>
              </a:rPr>
              <a:t> </a:t>
            </a:r>
            <a:r>
              <a:rPr sz="850" b="0" spc="20" dirty="0">
                <a:solidFill>
                  <a:srgbClr val="231F20"/>
                </a:solidFill>
                <a:latin typeface="Aktiv Grotesk Light"/>
                <a:cs typeface="Aktiv Grotesk Light"/>
              </a:rPr>
              <a:t>–</a:t>
            </a:r>
            <a:r>
              <a:rPr sz="850" b="0" spc="65" dirty="0">
                <a:solidFill>
                  <a:srgbClr val="231F20"/>
                </a:solidFill>
                <a:latin typeface="Aktiv Grotesk Light"/>
                <a:cs typeface="Aktiv Grotesk Light"/>
              </a:rPr>
              <a:t> </a:t>
            </a:r>
            <a:r>
              <a:rPr sz="850" b="0" spc="20" dirty="0">
                <a:solidFill>
                  <a:srgbClr val="231F20"/>
                </a:solidFill>
                <a:latin typeface="Aktiv Grotesk Light"/>
                <a:cs typeface="Aktiv Grotesk Light"/>
              </a:rPr>
              <a:t>min);</a:t>
            </a:r>
            <a:r>
              <a:rPr sz="850" b="0" spc="65" dirty="0">
                <a:solidFill>
                  <a:srgbClr val="231F20"/>
                </a:solidFill>
                <a:latin typeface="Aktiv Grotesk Light"/>
                <a:cs typeface="Aktiv Grotesk Light"/>
              </a:rPr>
              <a:t> </a:t>
            </a:r>
            <a:r>
              <a:rPr sz="850" b="0" spc="20" dirty="0">
                <a:solidFill>
                  <a:srgbClr val="231F20"/>
                </a:solidFill>
                <a:latin typeface="Aktiv Grotesk Light"/>
                <a:cs typeface="Aktiv Grotesk Light"/>
              </a:rPr>
              <a:t>(2)</a:t>
            </a:r>
            <a:r>
              <a:rPr sz="850" b="0" spc="65" dirty="0">
                <a:solidFill>
                  <a:srgbClr val="231F20"/>
                </a:solidFill>
                <a:latin typeface="Aktiv Grotesk Light"/>
                <a:cs typeface="Aktiv Grotesk Light"/>
              </a:rPr>
              <a:t> </a:t>
            </a:r>
            <a:r>
              <a:rPr sz="850" b="0" spc="20" dirty="0">
                <a:solidFill>
                  <a:srgbClr val="231F20"/>
                </a:solidFill>
                <a:latin typeface="Aktiv Grotesk Light"/>
                <a:cs typeface="Aktiv Grotesk Light"/>
              </a:rPr>
              <a:t>if</a:t>
            </a:r>
            <a:r>
              <a:rPr sz="850" b="0" spc="65" dirty="0">
                <a:solidFill>
                  <a:srgbClr val="231F20"/>
                </a:solidFill>
                <a:latin typeface="Aktiv Grotesk Light"/>
                <a:cs typeface="Aktiv Grotesk Light"/>
              </a:rPr>
              <a:t> </a:t>
            </a:r>
            <a:r>
              <a:rPr sz="850" b="0" spc="20" dirty="0">
                <a:solidFill>
                  <a:srgbClr val="231F20"/>
                </a:solidFill>
                <a:latin typeface="Aktiv Grotesk Light"/>
                <a:cs typeface="Aktiv Grotesk Light"/>
              </a:rPr>
              <a:t>the</a:t>
            </a:r>
            <a:r>
              <a:rPr sz="850" b="0" spc="65" dirty="0">
                <a:solidFill>
                  <a:srgbClr val="231F20"/>
                </a:solidFill>
                <a:latin typeface="Aktiv Grotesk Light"/>
                <a:cs typeface="Aktiv Grotesk Light"/>
              </a:rPr>
              <a:t> </a:t>
            </a:r>
            <a:r>
              <a:rPr sz="850" b="0" spc="20" dirty="0">
                <a:solidFill>
                  <a:srgbClr val="231F20"/>
                </a:solidFill>
                <a:latin typeface="Aktiv Grotesk Light"/>
                <a:cs typeface="Aktiv Grotesk Light"/>
              </a:rPr>
              <a:t>goal</a:t>
            </a:r>
            <a:r>
              <a:rPr sz="850" b="0" spc="65" dirty="0">
                <a:solidFill>
                  <a:srgbClr val="231F20"/>
                </a:solidFill>
                <a:latin typeface="Aktiv Grotesk Light"/>
                <a:cs typeface="Aktiv Grotesk Light"/>
              </a:rPr>
              <a:t> </a:t>
            </a:r>
            <a:r>
              <a:rPr sz="850" b="0" spc="20" dirty="0">
                <a:solidFill>
                  <a:srgbClr val="231F20"/>
                </a:solidFill>
                <a:latin typeface="Aktiv Grotesk Light"/>
                <a:cs typeface="Aktiv Grotesk Light"/>
              </a:rPr>
              <a:t>is</a:t>
            </a:r>
            <a:r>
              <a:rPr sz="850" b="0" spc="65" dirty="0">
                <a:solidFill>
                  <a:srgbClr val="231F20"/>
                </a:solidFill>
                <a:latin typeface="Aktiv Grotesk Light"/>
                <a:cs typeface="Aktiv Grotesk Light"/>
              </a:rPr>
              <a:t> </a:t>
            </a:r>
            <a:r>
              <a:rPr sz="850" b="0" spc="20" dirty="0">
                <a:solidFill>
                  <a:srgbClr val="231F20"/>
                </a:solidFill>
                <a:latin typeface="Aktiv Grotesk Light"/>
                <a:cs typeface="Aktiv Grotesk Light"/>
              </a:rPr>
              <a:t>to</a:t>
            </a:r>
            <a:r>
              <a:rPr sz="850" b="0" spc="65" dirty="0">
                <a:solidFill>
                  <a:srgbClr val="231F20"/>
                </a:solidFill>
                <a:latin typeface="Aktiv Grotesk Light"/>
                <a:cs typeface="Aktiv Grotesk Light"/>
              </a:rPr>
              <a:t> </a:t>
            </a:r>
            <a:r>
              <a:rPr sz="850" b="0" spc="20" dirty="0">
                <a:solidFill>
                  <a:srgbClr val="231F20"/>
                </a:solidFill>
                <a:latin typeface="Aktiv Grotesk Light"/>
                <a:cs typeface="Aktiv Grotesk Light"/>
              </a:rPr>
              <a:t>minimize,</a:t>
            </a:r>
            <a:r>
              <a:rPr sz="850" b="0" spc="65" dirty="0">
                <a:solidFill>
                  <a:srgbClr val="231F20"/>
                </a:solidFill>
                <a:latin typeface="Aktiv Grotesk Light"/>
                <a:cs typeface="Aktiv Grotesk Light"/>
              </a:rPr>
              <a:t> </a:t>
            </a:r>
            <a:r>
              <a:rPr sz="850" b="0" spc="20" dirty="0">
                <a:solidFill>
                  <a:srgbClr val="231F20"/>
                </a:solidFill>
                <a:latin typeface="Aktiv Grotesk Light"/>
                <a:cs typeface="Aktiv Grotesk Light"/>
              </a:rPr>
              <a:t>then:</a:t>
            </a:r>
            <a:r>
              <a:rPr sz="850" b="0" spc="65" dirty="0">
                <a:solidFill>
                  <a:srgbClr val="231F20"/>
                </a:solidFill>
                <a:latin typeface="Aktiv Grotesk Light"/>
                <a:cs typeface="Aktiv Grotesk Light"/>
              </a:rPr>
              <a:t> </a:t>
            </a:r>
            <a:r>
              <a:rPr sz="850" b="0" spc="20" dirty="0">
                <a:solidFill>
                  <a:srgbClr val="231F20"/>
                </a:solidFill>
                <a:latin typeface="Aktiv Grotesk Light"/>
                <a:cs typeface="Aktiv Grotesk Light"/>
              </a:rPr>
              <a:t>(value</a:t>
            </a:r>
            <a:r>
              <a:rPr sz="850" b="0" spc="65" dirty="0">
                <a:solidFill>
                  <a:srgbClr val="231F20"/>
                </a:solidFill>
                <a:latin typeface="Aktiv Grotesk Light"/>
                <a:cs typeface="Aktiv Grotesk Light"/>
              </a:rPr>
              <a:t> </a:t>
            </a:r>
            <a:r>
              <a:rPr sz="850" b="0" spc="20" dirty="0">
                <a:solidFill>
                  <a:srgbClr val="231F20"/>
                </a:solidFill>
                <a:latin typeface="Aktiv Grotesk Light"/>
                <a:cs typeface="Aktiv Grotesk Light"/>
              </a:rPr>
              <a:t>–</a:t>
            </a:r>
            <a:r>
              <a:rPr sz="850" b="0" spc="65" dirty="0">
                <a:solidFill>
                  <a:srgbClr val="231F20"/>
                </a:solidFill>
                <a:latin typeface="Aktiv Grotesk Light"/>
                <a:cs typeface="Aktiv Grotesk Light"/>
              </a:rPr>
              <a:t> </a:t>
            </a:r>
            <a:r>
              <a:rPr sz="850" b="0" spc="20" dirty="0">
                <a:solidFill>
                  <a:srgbClr val="231F20"/>
                </a:solidFill>
                <a:latin typeface="Aktiv Grotesk Light"/>
                <a:cs typeface="Aktiv Grotesk Light"/>
              </a:rPr>
              <a:t>max)/(min</a:t>
            </a:r>
            <a:r>
              <a:rPr sz="850" b="0" spc="65" dirty="0">
                <a:solidFill>
                  <a:srgbClr val="231F20"/>
                </a:solidFill>
                <a:latin typeface="Aktiv Grotesk Light"/>
                <a:cs typeface="Aktiv Grotesk Light"/>
              </a:rPr>
              <a:t> </a:t>
            </a:r>
            <a:r>
              <a:rPr sz="850" b="0" spc="20" dirty="0">
                <a:solidFill>
                  <a:srgbClr val="231F20"/>
                </a:solidFill>
                <a:latin typeface="Aktiv Grotesk Light"/>
                <a:cs typeface="Aktiv Grotesk Light"/>
              </a:rPr>
              <a:t>–</a:t>
            </a:r>
            <a:r>
              <a:rPr sz="850" b="0" spc="65" dirty="0">
                <a:solidFill>
                  <a:srgbClr val="231F20"/>
                </a:solidFill>
                <a:latin typeface="Aktiv Grotesk Light"/>
                <a:cs typeface="Aktiv Grotesk Light"/>
              </a:rPr>
              <a:t> </a:t>
            </a:r>
            <a:r>
              <a:rPr sz="850" b="0" spc="20" dirty="0">
                <a:solidFill>
                  <a:srgbClr val="231F20"/>
                </a:solidFill>
                <a:latin typeface="Aktiv Grotesk Light"/>
                <a:cs typeface="Aktiv Grotesk Light"/>
              </a:rPr>
              <a:t>max).</a:t>
            </a:r>
            <a:r>
              <a:rPr sz="850" b="0" spc="65" dirty="0">
                <a:solidFill>
                  <a:srgbClr val="231F20"/>
                </a:solidFill>
                <a:latin typeface="Aktiv Grotesk Light"/>
                <a:cs typeface="Aktiv Grotesk Light"/>
              </a:rPr>
              <a:t> </a:t>
            </a:r>
            <a:r>
              <a:rPr sz="850" b="0" spc="20" dirty="0">
                <a:solidFill>
                  <a:srgbClr val="231F20"/>
                </a:solidFill>
                <a:latin typeface="Aktiv Grotesk Light"/>
                <a:cs typeface="Aktiv Grotesk Light"/>
              </a:rPr>
              <a:t>For</a:t>
            </a:r>
            <a:r>
              <a:rPr sz="850" b="0" spc="65" dirty="0">
                <a:solidFill>
                  <a:srgbClr val="231F20"/>
                </a:solidFill>
                <a:latin typeface="Aktiv Grotesk Light"/>
                <a:cs typeface="Aktiv Grotesk Light"/>
              </a:rPr>
              <a:t> </a:t>
            </a:r>
            <a:r>
              <a:rPr sz="850" b="0" spc="-25" dirty="0">
                <a:solidFill>
                  <a:srgbClr val="231F20"/>
                </a:solidFill>
                <a:latin typeface="Aktiv Grotesk Light"/>
                <a:cs typeface="Aktiv Grotesk Light"/>
              </a:rPr>
              <a:t>ex-</a:t>
            </a:r>
            <a:r>
              <a:rPr sz="850" b="0" spc="20" dirty="0">
                <a:solidFill>
                  <a:srgbClr val="231F20"/>
                </a:solidFill>
                <a:latin typeface="Aktiv Grotesk Light"/>
                <a:cs typeface="Aktiv Grotesk Light"/>
              </a:rPr>
              <a:t> ample,</a:t>
            </a:r>
            <a:r>
              <a:rPr sz="850" b="0" spc="70" dirty="0">
                <a:solidFill>
                  <a:srgbClr val="231F20"/>
                </a:solidFill>
                <a:latin typeface="Aktiv Grotesk Light"/>
                <a:cs typeface="Aktiv Grotesk Light"/>
              </a:rPr>
              <a:t> </a:t>
            </a:r>
            <a:r>
              <a:rPr sz="850" b="0" spc="20" dirty="0">
                <a:solidFill>
                  <a:srgbClr val="231F20"/>
                </a:solidFill>
                <a:latin typeface="Aktiv Grotesk Light"/>
                <a:cs typeface="Aktiv Grotesk Light"/>
              </a:rPr>
              <a:t>the</a:t>
            </a:r>
            <a:r>
              <a:rPr sz="850" b="0" spc="70" dirty="0">
                <a:solidFill>
                  <a:srgbClr val="231F20"/>
                </a:solidFill>
                <a:latin typeface="Aktiv Grotesk Light"/>
                <a:cs typeface="Aktiv Grotesk Light"/>
              </a:rPr>
              <a:t> </a:t>
            </a:r>
            <a:r>
              <a:rPr sz="850" b="0" spc="20" dirty="0">
                <a:solidFill>
                  <a:srgbClr val="231F20"/>
                </a:solidFill>
                <a:latin typeface="Aktiv Grotesk Light"/>
                <a:cs typeface="Aktiv Grotesk Light"/>
              </a:rPr>
              <a:t>normalized</a:t>
            </a:r>
            <a:r>
              <a:rPr sz="850" b="0" spc="70" dirty="0">
                <a:solidFill>
                  <a:srgbClr val="231F20"/>
                </a:solidFill>
                <a:latin typeface="Aktiv Grotesk Light"/>
                <a:cs typeface="Aktiv Grotesk Light"/>
              </a:rPr>
              <a:t> </a:t>
            </a:r>
            <a:r>
              <a:rPr sz="850" b="0" spc="20" dirty="0">
                <a:solidFill>
                  <a:srgbClr val="231F20"/>
                </a:solidFill>
                <a:latin typeface="Aktiv Grotesk Light"/>
                <a:cs typeface="Aktiv Grotesk Light"/>
              </a:rPr>
              <a:t>value</a:t>
            </a:r>
            <a:r>
              <a:rPr sz="850" b="0" spc="70" dirty="0">
                <a:solidFill>
                  <a:srgbClr val="231F20"/>
                </a:solidFill>
                <a:latin typeface="Aktiv Grotesk Light"/>
                <a:cs typeface="Aktiv Grotesk Light"/>
              </a:rPr>
              <a:t> </a:t>
            </a:r>
            <a:r>
              <a:rPr sz="850" b="0" spc="20" dirty="0">
                <a:solidFill>
                  <a:srgbClr val="231F20"/>
                </a:solidFill>
                <a:latin typeface="Aktiv Grotesk Light"/>
                <a:cs typeface="Aktiv Grotesk Light"/>
              </a:rPr>
              <a:t>for</a:t>
            </a:r>
            <a:r>
              <a:rPr sz="850" b="0" spc="70" dirty="0">
                <a:solidFill>
                  <a:srgbClr val="231F20"/>
                </a:solidFill>
                <a:latin typeface="Aktiv Grotesk Light"/>
                <a:cs typeface="Aktiv Grotesk Light"/>
              </a:rPr>
              <a:t> </a:t>
            </a:r>
            <a:r>
              <a:rPr sz="850" b="0" spc="20" dirty="0">
                <a:solidFill>
                  <a:srgbClr val="231F20"/>
                </a:solidFill>
                <a:latin typeface="Aktiv Grotesk Light"/>
                <a:cs typeface="Aktiv Grotesk Light"/>
              </a:rPr>
              <a:t>the</a:t>
            </a:r>
            <a:r>
              <a:rPr sz="850" b="0" spc="70" dirty="0">
                <a:solidFill>
                  <a:srgbClr val="231F20"/>
                </a:solidFill>
                <a:latin typeface="Aktiv Grotesk Light"/>
                <a:cs typeface="Aktiv Grotesk Light"/>
              </a:rPr>
              <a:t> </a:t>
            </a:r>
            <a:r>
              <a:rPr sz="850" b="0" spc="20" dirty="0">
                <a:solidFill>
                  <a:srgbClr val="231F20"/>
                </a:solidFill>
                <a:latin typeface="Aktiv Grotesk Light"/>
                <a:cs typeface="Aktiv Grotesk Light"/>
              </a:rPr>
              <a:t>moderate</a:t>
            </a:r>
            <a:r>
              <a:rPr sz="850" b="0" spc="70" dirty="0">
                <a:solidFill>
                  <a:srgbClr val="231F20"/>
                </a:solidFill>
                <a:latin typeface="Aktiv Grotesk Light"/>
                <a:cs typeface="Aktiv Grotesk Light"/>
              </a:rPr>
              <a:t> </a:t>
            </a:r>
            <a:r>
              <a:rPr sz="850" b="0" spc="20" dirty="0">
                <a:solidFill>
                  <a:srgbClr val="231F20"/>
                </a:solidFill>
                <a:latin typeface="Aktiv Grotesk Light"/>
                <a:cs typeface="Aktiv Grotesk Light"/>
              </a:rPr>
              <a:t>alternative</a:t>
            </a:r>
            <a:r>
              <a:rPr sz="850" b="0" spc="70" dirty="0">
                <a:solidFill>
                  <a:srgbClr val="231F20"/>
                </a:solidFill>
                <a:latin typeface="Aktiv Grotesk Light"/>
                <a:cs typeface="Aktiv Grotesk Light"/>
              </a:rPr>
              <a:t> </a:t>
            </a:r>
            <a:r>
              <a:rPr sz="850" b="0" spc="20" dirty="0">
                <a:solidFill>
                  <a:srgbClr val="231F20"/>
                </a:solidFill>
                <a:latin typeface="Aktiv Grotesk Light"/>
                <a:cs typeface="Aktiv Grotesk Light"/>
              </a:rPr>
              <a:t>in</a:t>
            </a:r>
            <a:r>
              <a:rPr sz="850" b="0" spc="70" dirty="0">
                <a:solidFill>
                  <a:srgbClr val="231F20"/>
                </a:solidFill>
                <a:latin typeface="Aktiv Grotesk Light"/>
                <a:cs typeface="Aktiv Grotesk Light"/>
              </a:rPr>
              <a:t> </a:t>
            </a:r>
            <a:r>
              <a:rPr sz="850" b="0" spc="20" dirty="0">
                <a:solidFill>
                  <a:srgbClr val="231F20"/>
                </a:solidFill>
                <a:latin typeface="Aktiv Grotesk Light"/>
                <a:cs typeface="Aktiv Grotesk Light"/>
              </a:rPr>
              <a:t>the</a:t>
            </a:r>
            <a:r>
              <a:rPr sz="850" b="0" spc="70" dirty="0">
                <a:solidFill>
                  <a:srgbClr val="231F20"/>
                </a:solidFill>
                <a:latin typeface="Aktiv Grotesk Light"/>
                <a:cs typeface="Aktiv Grotesk Light"/>
              </a:rPr>
              <a:t> </a:t>
            </a:r>
            <a:r>
              <a:rPr sz="850" b="0" spc="20" dirty="0">
                <a:solidFill>
                  <a:srgbClr val="231F20"/>
                </a:solidFill>
                <a:latin typeface="Aktiv Grotesk Light"/>
                <a:cs typeface="Aktiv Grotesk Light"/>
              </a:rPr>
              <a:t>probability</a:t>
            </a:r>
            <a:r>
              <a:rPr sz="850" b="0" spc="70" dirty="0">
                <a:solidFill>
                  <a:srgbClr val="231F20"/>
                </a:solidFill>
                <a:latin typeface="Aktiv Grotesk Light"/>
                <a:cs typeface="Aktiv Grotesk Light"/>
              </a:rPr>
              <a:t> </a:t>
            </a:r>
            <a:r>
              <a:rPr sz="850" b="0" spc="20" dirty="0">
                <a:solidFill>
                  <a:srgbClr val="231F20"/>
                </a:solidFill>
                <a:latin typeface="Aktiv Grotesk Light"/>
                <a:cs typeface="Aktiv Grotesk Light"/>
              </a:rPr>
              <a:t>of</a:t>
            </a:r>
            <a:r>
              <a:rPr sz="850" b="0" spc="70" dirty="0">
                <a:solidFill>
                  <a:srgbClr val="231F20"/>
                </a:solidFill>
                <a:latin typeface="Aktiv Grotesk Light"/>
                <a:cs typeface="Aktiv Grotesk Light"/>
              </a:rPr>
              <a:t> </a:t>
            </a:r>
            <a:r>
              <a:rPr sz="850" b="0" spc="20" dirty="0">
                <a:solidFill>
                  <a:srgbClr val="231F20"/>
                </a:solidFill>
                <a:latin typeface="Aktiv Grotesk Light"/>
                <a:cs typeface="Aktiv Grotesk Light"/>
              </a:rPr>
              <a:t>persistence</a:t>
            </a:r>
            <a:r>
              <a:rPr sz="850" b="0" spc="70" dirty="0">
                <a:solidFill>
                  <a:srgbClr val="231F20"/>
                </a:solidFill>
                <a:latin typeface="Aktiv Grotesk Light"/>
                <a:cs typeface="Aktiv Grotesk Light"/>
              </a:rPr>
              <a:t> </a:t>
            </a:r>
            <a:r>
              <a:rPr sz="850" b="0" spc="20" dirty="0">
                <a:solidFill>
                  <a:srgbClr val="231F20"/>
                </a:solidFill>
                <a:latin typeface="Aktiv Grotesk Light"/>
                <a:cs typeface="Aktiv Grotesk Light"/>
              </a:rPr>
              <a:t>objective</a:t>
            </a:r>
            <a:r>
              <a:rPr sz="850" b="0" spc="70" dirty="0">
                <a:solidFill>
                  <a:srgbClr val="231F20"/>
                </a:solidFill>
                <a:latin typeface="Aktiv Grotesk Light"/>
                <a:cs typeface="Aktiv Grotesk Light"/>
              </a:rPr>
              <a:t> </a:t>
            </a:r>
            <a:r>
              <a:rPr sz="850" spc="60" dirty="0">
                <a:solidFill>
                  <a:srgbClr val="231F20"/>
                </a:solidFill>
                <a:latin typeface="STIX Two Text"/>
                <a:cs typeface="STIX Two Text"/>
              </a:rPr>
              <a:t>= </a:t>
            </a:r>
            <a:r>
              <a:rPr sz="850" b="0" spc="20" dirty="0">
                <a:solidFill>
                  <a:srgbClr val="231F20"/>
                </a:solidFill>
                <a:latin typeface="Aktiv Grotesk Light"/>
                <a:cs typeface="Aktiv Grotesk Light"/>
              </a:rPr>
              <a:t>(0.8</a:t>
            </a:r>
            <a:r>
              <a:rPr sz="850" b="0" spc="70" dirty="0">
                <a:solidFill>
                  <a:srgbClr val="231F20"/>
                </a:solidFill>
                <a:latin typeface="Aktiv Grotesk Light"/>
                <a:cs typeface="Aktiv Grotesk Light"/>
              </a:rPr>
              <a:t> </a:t>
            </a:r>
            <a:r>
              <a:rPr sz="850" b="0" spc="20" dirty="0">
                <a:solidFill>
                  <a:srgbClr val="231F20"/>
                </a:solidFill>
                <a:latin typeface="Aktiv Grotesk Light"/>
                <a:cs typeface="Aktiv Grotesk Light"/>
              </a:rPr>
              <a:t>–</a:t>
            </a:r>
            <a:r>
              <a:rPr sz="850" b="0" spc="70" dirty="0">
                <a:solidFill>
                  <a:srgbClr val="231F20"/>
                </a:solidFill>
                <a:latin typeface="Aktiv Grotesk Light"/>
                <a:cs typeface="Aktiv Grotesk Light"/>
              </a:rPr>
              <a:t> </a:t>
            </a:r>
            <a:r>
              <a:rPr sz="850" b="0" spc="20" dirty="0">
                <a:solidFill>
                  <a:srgbClr val="231F20"/>
                </a:solidFill>
                <a:latin typeface="Aktiv Grotesk Light"/>
                <a:cs typeface="Aktiv Grotesk Light"/>
              </a:rPr>
              <a:t>0.4)/(0.9</a:t>
            </a:r>
            <a:r>
              <a:rPr sz="850" b="0" spc="70" dirty="0">
                <a:solidFill>
                  <a:srgbClr val="231F20"/>
                </a:solidFill>
                <a:latin typeface="Aktiv Grotesk Light"/>
                <a:cs typeface="Aktiv Grotesk Light"/>
              </a:rPr>
              <a:t> </a:t>
            </a:r>
            <a:r>
              <a:rPr sz="850" b="0" spc="20" dirty="0">
                <a:solidFill>
                  <a:srgbClr val="231F20"/>
                </a:solidFill>
                <a:latin typeface="Aktiv Grotesk Light"/>
                <a:cs typeface="Aktiv Grotesk Light"/>
              </a:rPr>
              <a:t>–</a:t>
            </a:r>
            <a:r>
              <a:rPr sz="850" b="0" spc="70" dirty="0">
                <a:solidFill>
                  <a:srgbClr val="231F20"/>
                </a:solidFill>
                <a:latin typeface="Aktiv Grotesk Light"/>
                <a:cs typeface="Aktiv Grotesk Light"/>
              </a:rPr>
              <a:t> </a:t>
            </a:r>
            <a:r>
              <a:rPr sz="850" b="0" spc="20" dirty="0">
                <a:solidFill>
                  <a:srgbClr val="231F20"/>
                </a:solidFill>
                <a:latin typeface="Aktiv Grotesk Light"/>
                <a:cs typeface="Aktiv Grotesk Light"/>
              </a:rPr>
              <a:t>0.4)</a:t>
            </a:r>
            <a:r>
              <a:rPr sz="850" b="0" spc="70" dirty="0">
                <a:solidFill>
                  <a:srgbClr val="231F20"/>
                </a:solidFill>
                <a:latin typeface="Aktiv Grotesk Light"/>
                <a:cs typeface="Aktiv Grotesk Light"/>
              </a:rPr>
              <a:t> </a:t>
            </a:r>
            <a:r>
              <a:rPr sz="850" spc="60" dirty="0">
                <a:solidFill>
                  <a:srgbClr val="231F20"/>
                </a:solidFill>
                <a:latin typeface="STIX Two Text"/>
                <a:cs typeface="STIX Two Text"/>
              </a:rPr>
              <a:t>= </a:t>
            </a:r>
            <a:r>
              <a:rPr sz="850" b="0" spc="-20" dirty="0">
                <a:solidFill>
                  <a:srgbClr val="231F20"/>
                </a:solidFill>
                <a:latin typeface="Aktiv Grotesk Light"/>
                <a:cs typeface="Aktiv Grotesk Light"/>
              </a:rPr>
              <a:t>0.8.</a:t>
            </a:r>
            <a:endParaRPr sz="850">
              <a:latin typeface="Aktiv Grotesk Light"/>
              <a:cs typeface="Aktiv Grotesk Light"/>
            </a:endParaRPr>
          </a:p>
        </p:txBody>
      </p:sp>
      <p:sp>
        <p:nvSpPr>
          <p:cNvPr id="4" name="Title 3"/>
          <p:cNvSpPr>
            <a:spLocks noGrp="1"/>
          </p:cNvSpPr>
          <p:nvPr>
            <p:ph type="title"/>
          </p:nvPr>
        </p:nvSpPr>
        <p:spPr>
          <a:xfrm>
            <a:off x="0" y="0"/>
            <a:ext cx="12192000" cy="369332"/>
          </a:xfrm>
        </p:spPr>
        <p:txBody>
          <a:bodyPr/>
          <a:lstStyle/>
          <a:p>
            <a:r>
              <a:rPr lang="en-IN" b="1" dirty="0"/>
              <a:t>TABLE 13.1 </a:t>
            </a:r>
            <a:r>
              <a:rPr lang="en-US" dirty="0" smtClean="0"/>
              <a:t>(Continued)</a:t>
            </a:r>
            <a:endParaRPr lang="en-IN" baseline="30000" dirty="0"/>
          </a:p>
        </p:txBody>
      </p:sp>
    </p:spTree>
    <p:extLst>
      <p:ext uri="{BB962C8B-B14F-4D97-AF65-F5344CB8AC3E}">
        <p14:creationId xmlns:p14="http://schemas.microsoft.com/office/powerpoint/2010/main" val="24432357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0"/>
            <a:ext cx="12192000" cy="646331"/>
          </a:xfrm>
        </p:spPr>
        <p:txBody>
          <a:bodyPr/>
          <a:lstStyle/>
          <a:p>
            <a:r>
              <a:rPr lang="en-US" b="1" dirty="0"/>
              <a:t>Figure 13.18 </a:t>
            </a:r>
            <a:r>
              <a:rPr lang="en-US" dirty="0"/>
              <a:t>Scores for three management alternatives for two populations of </a:t>
            </a:r>
            <a:r>
              <a:rPr lang="en-US" dirty="0" smtClean="0"/>
              <a:t>bighorn sheep </a:t>
            </a:r>
            <a:r>
              <a:rPr lang="en-US" dirty="0"/>
              <a:t>in Montana, calculated using a decision-making framework (see Table 13.1).</a:t>
            </a:r>
          </a:p>
        </p:txBody>
      </p:sp>
      <p:pic>
        <p:nvPicPr>
          <p:cNvPr id="2" name="Picture 1" descr="A shows a map showing the Petty Creek herd, Missouri River Breaks herd, and Montana. B shows a graph which shows the Decision analysis score for Management alternatives in Petty Creek. The horizontal axis shows the Management alternatives. The vertical axis shows the Decision analysis score from 0 to 1.0. The approximate data in the format, Management alternatives: Decision analysis score is as follows. Aggressive, proactive: 0.7. Moderate, proactive: 0.5, and Reactive: 0.3. C shows a graph which shows the Decision analysis score for Management alternatives in Missouri Breaks. The horizontal axis shows the Management alternatives. The vertical axis shows the Decision analysis score from 0 to 1.0. The approximate data in the format, Management alternatives: Decision analysis score is as follows. Aggressive, proactive: 0.7. Moderate, proactive: 0.7, and Reactive: 0.3. &#10;" title="Figure 13.18 Scores for three management alternatives for two populations of bighorn sheep in Montana, calculated using a decision-making framework (see Table 13.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84118" y="802225"/>
            <a:ext cx="6823765" cy="5657311"/>
          </a:xfrm>
          <a:prstGeom prst="rect">
            <a:avLst/>
          </a:prstGeom>
        </p:spPr>
      </p:pic>
    </p:spTree>
    <p:extLst>
      <p:ext uri="{BB962C8B-B14F-4D97-AF65-F5344CB8AC3E}">
        <p14:creationId xmlns:p14="http://schemas.microsoft.com/office/powerpoint/2010/main" val="2911966646"/>
      </p:ext>
    </p:extLst>
  </p:cSld>
  <p:clrMapOvr>
    <a:masterClrMapping/>
  </p:clrMapOvr>
</p:sld>
</file>

<file path=ppt/theme/theme1.xml><?xml version="1.0" encoding="utf-8"?>
<a:theme xmlns:a="http://schemas.openxmlformats.org/drawingml/2006/main" name="Text Content Templat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xford Template 2020-05-05" id="{B78F6A64-C076-4E15-90E5-9A59F0E29698}" vid="{18DFF3BF-7F46-4B14-BD35-A03A29764567}"/>
    </a:ext>
  </a:extLst>
</a:theme>
</file>

<file path=ppt/theme/theme2.xml><?xml version="1.0" encoding="utf-8"?>
<a:theme xmlns:a="http://schemas.openxmlformats.org/drawingml/2006/main" name="Figure-Only Templat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xford Template 2020-05-05" id="{B78F6A64-C076-4E15-90E5-9A59F0E29698}" vid="{18DFF3BF-7F46-4B14-BD35-A03A29764567}"/>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CanthisbeconvertedbyStraive xmlns="37b7e42e-eaac-4c0c-b7ab-65d932e301c3">No</CanthisbeconvertedbyStraive>
    <Date xmlns="37b7e42e-eaac-4c0c-b7ab-65d932e301c3" xsi:nil="true"/>
    <TaxCatchAll xmlns="7c20e60f-09c9-4b20-a5fa-550b7d980542" xsi:nil="true"/>
    <_ip_UnifiedCompliancePolicyProperties xmlns="http://schemas.microsoft.com/sharepoint/v3" xsi:nil="true"/>
    <LearnosityQuestionTypeCategory xmlns="37b7e42e-eaac-4c0c-b7ab-65d932e301c3" xsi:nil="true"/>
    <ForpracticeorgradableforLMS_x003f_ xmlns="37b7e42e-eaac-4c0c-b7ab-65d932e301c3" xsi:nil="true"/>
    <lcf76f155ced4ddcb4097134ff3c332f xmlns="37b7e42e-eaac-4c0c-b7ab-65d932e301c3">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E8900F5E31C89A48940A57403082843D" ma:contentTypeVersion="21" ma:contentTypeDescription="Create a new document." ma:contentTypeScope="" ma:versionID="e01f1bea4eea15a4ab808c7b93f055c4">
  <xsd:schema xmlns:xsd="http://www.w3.org/2001/XMLSchema" xmlns:xs="http://www.w3.org/2001/XMLSchema" xmlns:p="http://schemas.microsoft.com/office/2006/metadata/properties" xmlns:ns1="http://schemas.microsoft.com/sharepoint/v3" xmlns:ns2="37b7e42e-eaac-4c0c-b7ab-65d932e301c3" xmlns:ns3="7c20e60f-09c9-4b20-a5fa-550b7d980542" targetNamespace="http://schemas.microsoft.com/office/2006/metadata/properties" ma:root="true" ma:fieldsID="28466d567d11318e3f496e19d5c5c29c" ns1:_="" ns2:_="" ns3:_="">
    <xsd:import namespace="http://schemas.microsoft.com/sharepoint/v3"/>
    <xsd:import namespace="37b7e42e-eaac-4c0c-b7ab-65d932e301c3"/>
    <xsd:import namespace="7c20e60f-09c9-4b20-a5fa-550b7d980542"/>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ForpracticeorgradableforLMS_x003f_" minOccurs="0"/>
                <xsd:element ref="ns2:MediaServiceObjectDetectorVersions" minOccurs="0"/>
                <xsd:element ref="ns2:MediaServiceLocation" minOccurs="0"/>
                <xsd:element ref="ns1:_ip_UnifiedCompliancePolicyProperties" minOccurs="0"/>
                <xsd:element ref="ns1:_ip_UnifiedCompliancePolicyUIAction" minOccurs="0"/>
                <xsd:element ref="ns2:CanthisbeconvertedbyStraive" minOccurs="0"/>
                <xsd:element ref="ns2:Date" minOccurs="0"/>
                <xsd:element ref="ns2:MediaServiceSearchProperties" minOccurs="0"/>
                <xsd:element ref="ns2:LearnosityQuestionTypeCategor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3" nillable="true" ma:displayName="Unified Compliance Policy Properties" ma:hidden="true" ma:internalName="_ip_UnifiedCompliancePolicyProperties">
      <xsd:simpleType>
        <xsd:restriction base="dms:Note"/>
      </xsd:simpleType>
    </xsd:element>
    <xsd:element name="_ip_UnifiedCompliancePolicyUIAction" ma:index="24"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7b7e42e-eaac-4c0c-b7ab-65d932e301c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ff217fd5-6bb5-4de3-bf71-ef5eb62cb525"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ForpracticeorgradableforLMS_x003f_" ma:index="20" nillable="true" ma:displayName="For practice or gradable for LMS?" ma:format="Dropdown" ma:internalName="ForpracticeorgradableforLMS_x003f_">
      <xsd:simpleType>
        <xsd:restriction base="dms:Choice">
          <xsd:enumeration value="For Practice"/>
          <xsd:enumeration value="For Grading"/>
          <xsd:enumeration value="For Practice OR Grading"/>
        </xsd:restriction>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Location" ma:index="22" nillable="true" ma:displayName="Location" ma:indexed="true" ma:internalName="MediaServiceLocation" ma:readOnly="true">
      <xsd:simpleType>
        <xsd:restriction base="dms:Text"/>
      </xsd:simpleType>
    </xsd:element>
    <xsd:element name="CanthisbeconvertedbyStraive" ma:index="25" nillable="true" ma:displayName="Can be converted by Straive" ma:default="No" ma:format="Dropdown" ma:internalName="CanthisbeconvertedbyStraive">
      <xsd:simpleType>
        <xsd:restriction base="dms:Choice">
          <xsd:enumeration value="Yes"/>
          <xsd:enumeration value="No"/>
        </xsd:restriction>
      </xsd:simpleType>
    </xsd:element>
    <xsd:element name="Date" ma:index="26" nillable="true" ma:displayName="Date" ma:format="DateOnly" ma:internalName="Date">
      <xsd:simpleType>
        <xsd:restriction base="dms:DateTime"/>
      </xsd:simpleType>
    </xsd:element>
    <xsd:element name="MediaServiceSearchProperties" ma:index="27" nillable="true" ma:displayName="MediaServiceSearchProperties" ma:hidden="true" ma:internalName="MediaServiceSearchProperties" ma:readOnly="true">
      <xsd:simpleType>
        <xsd:restriction base="dms:Note"/>
      </xsd:simpleType>
    </xsd:element>
    <xsd:element name="LearnosityQuestionTypeCategory" ma:index="28" nillable="true" ma:displayName="Learnosity Question Type Category" ma:description="Category/Grouping as per Learnosity documentation here: https://authorguide.learnosity.com/hc/en-us/categories/360000074917-Question-Types" ma:format="Dropdown" ma:internalName="LearnosityQuestionTypeCategory">
      <xsd:complexType>
        <xsd:complexContent>
          <xsd:extension base="dms:MultiChoice">
            <xsd:sequence>
              <xsd:element name="Value" maxOccurs="unbounded" minOccurs="0" nillable="true">
                <xsd:simpleType>
                  <xsd:restriction base="dms:Choice">
                    <xsd:enumeration value="Multiple choice"/>
                    <xsd:enumeration value="Fill in the blanks"/>
                    <xsd:enumeration value="Classify, match &amp; order"/>
                    <xsd:enumeration value="Written &amp; recorded"/>
                    <xsd:enumeration value="Math"/>
                    <xsd:enumeration value="N/A"/>
                    <xsd:enumeration value="Other"/>
                    <xsd:enumeration value="Highlight"/>
                  </xsd:restriction>
                </xsd:simple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7c20e60f-09c9-4b20-a5fa-550b7d980542"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6927d970-8a6b-4b37-beb7-fd1884633f11}" ma:internalName="TaxCatchAll" ma:showField="CatchAllData" ma:web="7c20e60f-09c9-4b20-a5fa-550b7d98054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856919D-3723-464B-9967-427A087CBD61}">
  <ds:schemaRefs>
    <ds:schemaRef ds:uri="http://purl.org/dc/terms/"/>
    <ds:schemaRef ds:uri="http://schemas.openxmlformats.org/package/2006/metadata/core-properties"/>
    <ds:schemaRef ds:uri="a6c716b4-9090-4de7-aadc-2aa5f812ad24"/>
    <ds:schemaRef ds:uri="http://schemas.microsoft.com/office/2006/documentManagement/types"/>
    <ds:schemaRef ds:uri="http://schemas.microsoft.com/office/infopath/2007/PartnerControls"/>
    <ds:schemaRef ds:uri="http://purl.org/dc/elements/1.1/"/>
    <ds:schemaRef ds:uri="http://schemas.microsoft.com/office/2006/metadata/properties"/>
    <ds:schemaRef ds:uri="fd39d560-5c7d-4158-98a0-f420f8fdebce"/>
    <ds:schemaRef ds:uri="http://www.w3.org/XML/1998/namespace"/>
    <ds:schemaRef ds:uri="http://purl.org/dc/dcmitype/"/>
  </ds:schemaRefs>
</ds:datastoreItem>
</file>

<file path=customXml/itemProps2.xml><?xml version="1.0" encoding="utf-8"?>
<ds:datastoreItem xmlns:ds="http://schemas.openxmlformats.org/officeDocument/2006/customXml" ds:itemID="{F320A519-077C-4D61-BC80-C5E7FBD03F0C}"/>
</file>

<file path=customXml/itemProps3.xml><?xml version="1.0" encoding="utf-8"?>
<ds:datastoreItem xmlns:ds="http://schemas.openxmlformats.org/officeDocument/2006/customXml" ds:itemID="{6B57C1AB-C2BF-4446-AECB-681D5785527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Oxford Template 2020-05-05</Template>
  <TotalTime>720</TotalTime>
  <Words>3092</Words>
  <Application>Microsoft Office PowerPoint</Application>
  <PresentationFormat>Widescreen</PresentationFormat>
  <Paragraphs>193</Paragraphs>
  <Slides>26</Slides>
  <Notes>26</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26</vt:i4>
      </vt:variant>
    </vt:vector>
  </HeadingPairs>
  <TitlesOfParts>
    <vt:vector size="35" baseType="lpstr">
      <vt:lpstr>MS PGothic</vt:lpstr>
      <vt:lpstr>Aktiv Grotesk Light</vt:lpstr>
      <vt:lpstr>Aktiv Grotesk Medium</vt:lpstr>
      <vt:lpstr>Arial</vt:lpstr>
      <vt:lpstr>Calibri</vt:lpstr>
      <vt:lpstr>STIX Two Text</vt:lpstr>
      <vt:lpstr>Times New Roman</vt:lpstr>
      <vt:lpstr>Text Content Templates</vt:lpstr>
      <vt:lpstr>Figure-Only Templates</vt:lpstr>
      <vt:lpstr>CONSERVATION BIOLOGY</vt:lpstr>
      <vt:lpstr>2</vt:lpstr>
      <vt:lpstr>3</vt:lpstr>
      <vt:lpstr>4</vt:lpstr>
      <vt:lpstr>Figure 13.1 Population changes in Spanish imperial eagles (Aquila adalberti). Small population size resulted in changes in the sex ratio of eagles in the population partly due to demographic stochasticity. </vt:lpstr>
      <vt:lpstr>Figure 13.2 Population size and number of newborn Przewalski’s horse (Equus ferus przewalskii) in a reintroduced population in Mongolia. </vt:lpstr>
      <vt:lpstr>Figure 13.3 Genetic variability is lost randomly through genetic drift. This graph shows the average percentage of genetic variability remaining after 10 generations in theoretical populations of various effective population sizes (Ne).</vt:lpstr>
      <vt:lpstr>Figure 13.4 The effective population size (Ne) declines when the number of males and females in a breeding population (N) of 100 individuals is increasingly unequal.</vt:lpstr>
      <vt:lpstr>Figure 13.5 The Ngorongoro Crater lion population in Tanzania consisted of about 90 individuals in 1961 before it crashed in 1962.</vt:lpstr>
      <vt:lpstr>Figure 13.6 Once a population drops below a certain size, it can enter an extinction vortex in which the factors that affect small populations tend to drive its size progressively lower. This downward spiral can lead to local extinction of the species.</vt:lpstr>
      <vt:lpstr>Figure 13.7 A census of the Hawaiian monk seal (Monachus schauinslandi) populations on Green Island, Kure Atoll; and Tern Island, French Frigate Shoals, revealed that this species was in danger of extinction. </vt:lpstr>
      <vt:lpstr>12</vt:lpstr>
      <vt:lpstr>Figure 13.8 The capture–mark–recapture (CMR) approach to estimating population size. In this case, CMR is used to estimate the population of jerboas (N), which is unknown. </vt:lpstr>
      <vt:lpstr>14</vt:lpstr>
      <vt:lpstr>Figure 13.9 Population growth calculated using the geometric growth model (A) and logistic growth model (B). </vt:lpstr>
      <vt:lpstr>Figure 13.10 Using a Leslie matrix to estimate the size and growth rate of a population when there is age structure. </vt:lpstr>
      <vt:lpstr>Figure 13.11 A stage-based model of loggerhead turtles (Caretta caretta) was used to simulate of the effects of 10%, 50%, and 90% reductions in mortality on the intrinsic population growth rate (r) of different life stages. </vt:lpstr>
      <vt:lpstr>Figure 13.12 (A) If the goal is persistence for a greater number of years, then a larger minimum viable population size is needed. </vt:lpstr>
      <vt:lpstr>Figure 13.13 Extinction rates of bird species like the loggerhead shrike, Lanius ludovicianus anthonyi, on the Channel Islands of Southern California. </vt:lpstr>
      <vt:lpstr>Figure 13.14 Projecting a population forward in a basic population viability analysis using a geometric growth model; each projection is referred to as a trial. </vt:lpstr>
      <vt:lpstr>Figure 13.15 A population viability analysis based on 10 population projections, or trials. </vt:lpstr>
      <vt:lpstr>Figure 13.16 Population viability analyses predict that it takes 100 hectares of habitat to ensure (at 95% likelihood) the persistence of a marsh fritillary butterfly (Euphydryas aurinia) population for 100 years. </vt:lpstr>
      <vt:lpstr>Figure 13.17 PrOACT is a transparent, data-driven approach to evaluate decisions. PrOACT stands for problem, objectives, alternatives, consequences, and trade-offs. </vt:lpstr>
      <vt:lpstr>TABLE 13.1 Results of a decision-making analysis using a framework to evaluate and compare three management alternatives for reducing a potential outbreak of disease in a bighorn sheep populationa</vt:lpstr>
      <vt:lpstr>TABLE 13.1 (Continued)</vt:lpstr>
      <vt:lpstr>Figure 13.18 Scores for three management alternatives for two populations of bighorn sheep in Montana, calculated using a decision-making framework (see Table 13.1).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Interplay</dc:title>
  <dc:creator>Oxford University Press</dc:creator>
  <cp:lastModifiedBy>MaleappaneSahayaraj Candidassane</cp:lastModifiedBy>
  <cp:revision>114</cp:revision>
  <dcterms:created xsi:type="dcterms:W3CDTF">2021-01-21T20:31:29Z</dcterms:created>
  <dcterms:modified xsi:type="dcterms:W3CDTF">2024-11-22T06:45:13Z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9f61502-7731-4690-a118-333634878cc9_Enabled">
    <vt:lpwstr>true</vt:lpwstr>
  </property>
  <property fmtid="{D5CDD505-2E9C-101B-9397-08002B2CF9AE}" pid="3" name="MSIP_Label_89f61502-7731-4690-a118-333634878cc9_SetDate">
    <vt:lpwstr>2020-04-27T21:10:48Z</vt:lpwstr>
  </property>
  <property fmtid="{D5CDD505-2E9C-101B-9397-08002B2CF9AE}" pid="4" name="MSIP_Label_89f61502-7731-4690-a118-333634878cc9_Method">
    <vt:lpwstr>Standard</vt:lpwstr>
  </property>
  <property fmtid="{D5CDD505-2E9C-101B-9397-08002B2CF9AE}" pid="5" name="MSIP_Label_89f61502-7731-4690-a118-333634878cc9_Name">
    <vt:lpwstr>Internal</vt:lpwstr>
  </property>
  <property fmtid="{D5CDD505-2E9C-101B-9397-08002B2CF9AE}" pid="6" name="MSIP_Label_89f61502-7731-4690-a118-333634878cc9_SiteId">
    <vt:lpwstr>91761b62-4c45-43f5-9f0e-be8ad9b551ff</vt:lpwstr>
  </property>
  <property fmtid="{D5CDD505-2E9C-101B-9397-08002B2CF9AE}" pid="7" name="MSIP_Label_89f61502-7731-4690-a118-333634878cc9_ActionId">
    <vt:lpwstr>69912cf1-8f32-4f1f-9ade-00009ae8a75a</vt:lpwstr>
  </property>
  <property fmtid="{D5CDD505-2E9C-101B-9397-08002B2CF9AE}" pid="8" name="MSIP_Label_89f61502-7731-4690-a118-333634878cc9_ContentBits">
    <vt:lpwstr>0</vt:lpwstr>
  </property>
  <property fmtid="{D5CDD505-2E9C-101B-9397-08002B2CF9AE}" pid="9" name="ContentTypeId">
    <vt:lpwstr>0x010100E8900F5E31C89A48940A57403082843D</vt:lpwstr>
  </property>
</Properties>
</file>