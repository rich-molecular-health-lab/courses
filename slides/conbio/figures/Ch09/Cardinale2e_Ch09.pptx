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 id="2147483675" r:id="rId5"/>
  </p:sldMasterIdLst>
  <p:notesMasterIdLst>
    <p:notesMasterId r:id="rId32"/>
  </p:notesMasterIdLst>
  <p:handoutMasterIdLst>
    <p:handoutMasterId r:id="rId33"/>
  </p:handoutMasterIdLst>
  <p:sldIdLst>
    <p:sldId id="301" r:id="rId6"/>
    <p:sldId id="304" r:id="rId7"/>
    <p:sldId id="310" r:id="rId8"/>
    <p:sldId id="311" r:id="rId9"/>
    <p:sldId id="305" r:id="rId10"/>
    <p:sldId id="312" r:id="rId11"/>
    <p:sldId id="306" r:id="rId12"/>
    <p:sldId id="313" r:id="rId13"/>
    <p:sldId id="314" r:id="rId14"/>
    <p:sldId id="315" r:id="rId15"/>
    <p:sldId id="307" r:id="rId16"/>
    <p:sldId id="308" r:id="rId17"/>
    <p:sldId id="316" r:id="rId18"/>
    <p:sldId id="317" r:id="rId19"/>
    <p:sldId id="318" r:id="rId20"/>
    <p:sldId id="319" r:id="rId21"/>
    <p:sldId id="320" r:id="rId22"/>
    <p:sldId id="321" r:id="rId23"/>
    <p:sldId id="322" r:id="rId24"/>
    <p:sldId id="323" r:id="rId25"/>
    <p:sldId id="324" r:id="rId26"/>
    <p:sldId id="325" r:id="rId27"/>
    <p:sldId id="326" r:id="rId28"/>
    <p:sldId id="327" r:id="rId29"/>
    <p:sldId id="328" r:id="rId30"/>
    <p:sldId id="309" r:id="rId31"/>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guide id="3" orient="horz" pos="41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A47"/>
    <a:srgbClr val="014478"/>
    <a:srgbClr val="001B47"/>
    <a:srgbClr val="1F497D"/>
    <a:srgbClr val="0021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74" autoAdjust="0"/>
    <p:restoredTop sz="82303" autoAdjust="0"/>
  </p:normalViewPr>
  <p:slideViewPr>
    <p:cSldViewPr snapToGrid="0" snapToObjects="1" showGuides="1">
      <p:cViewPr varScale="1">
        <p:scale>
          <a:sx n="80" d="100"/>
          <a:sy n="80" d="100"/>
        </p:scale>
        <p:origin x="108" y="246"/>
      </p:cViewPr>
      <p:guideLst>
        <p:guide orient="horz" pos="2160"/>
        <p:guide pos="3840"/>
        <p:guide orient="horz" pos="415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showGuides="1">
      <p:cViewPr varScale="1">
        <p:scale>
          <a:sx n="85" d="100"/>
          <a:sy n="85" d="100"/>
        </p:scale>
        <p:origin x="3132"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33484EFE-59B9-4DD1-9E31-555AF443E27A}" type="datetimeFigureOut">
              <a:rPr lang="en-US"/>
              <a:pPr>
                <a:defRPr/>
              </a:pPr>
              <a:t>11/22/2024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F0E10CF-C023-475F-8DBA-2466A9B4A087}"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0FC2DBE2-B7F6-4C15-91C1-319B21052016}" type="datetimeFigureOut">
              <a:rPr lang="en-US"/>
              <a:pPr>
                <a:defRPr/>
              </a:pPr>
              <a:t>11/22/2024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F6F973A6-1012-42FB-8183-4D3C37B2EBC3}"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IN" altLang="en-US" smtClean="0"/>
          </a:p>
        </p:txBody>
      </p:sp>
      <p:sp>
        <p:nvSpPr>
          <p:cNvPr id="4" name="Slide Number Placeholder 3"/>
          <p:cNvSpPr>
            <a:spLocks noGrp="1"/>
          </p:cNvSpPr>
          <p:nvPr>
            <p:ph type="sldNum" sz="quarter" idx="5"/>
          </p:nvPr>
        </p:nvSpPr>
        <p:spPr/>
        <p:txBody>
          <a:bodyPr/>
          <a:lstStyle/>
          <a:p>
            <a:pPr>
              <a:defRPr/>
            </a:pPr>
            <a:fld id="{9612BA8A-E8E9-4511-909B-839A2B6A42FB}" type="slidenum">
              <a:rPr lang="en-US" smtClean="0"/>
              <a:pPr>
                <a:defRPr/>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0" i="0" u="none" strike="noStrike" kern="1200" baseline="0" dirty="0" smtClean="0">
                <a:solidFill>
                  <a:schemeClr val="tx1"/>
                </a:solidFill>
                <a:latin typeface="+mn-lt"/>
                <a:ea typeface="+mn-ea"/>
                <a:cs typeface="+mn-cs"/>
              </a:rPr>
              <a:t>The terrestrial arboreal alligator lizard (</a:t>
            </a:r>
            <a:r>
              <a:rPr lang="en-IN" sz="1200" b="0" i="1" u="none" strike="noStrike" kern="1200" baseline="0" dirty="0" err="1" smtClean="0">
                <a:solidFill>
                  <a:schemeClr val="tx1"/>
                </a:solidFill>
                <a:latin typeface="+mn-lt"/>
                <a:ea typeface="+mn-ea"/>
                <a:cs typeface="+mn-cs"/>
              </a:rPr>
              <a:t>Abronia</a:t>
            </a:r>
            <a:r>
              <a:rPr lang="en-IN" sz="1200" b="0" i="1" u="none" strike="noStrike" kern="1200" baseline="0" dirty="0" smtClean="0">
                <a:solidFill>
                  <a:schemeClr val="tx1"/>
                </a:solidFill>
                <a:latin typeface="+mn-lt"/>
                <a:ea typeface="+mn-ea"/>
                <a:cs typeface="+mn-cs"/>
              </a:rPr>
              <a:t> </a:t>
            </a:r>
            <a:r>
              <a:rPr lang="en-US" sz="1200" b="0" i="1" u="none" strike="noStrike" kern="1200" baseline="0" dirty="0" err="1" smtClean="0">
                <a:solidFill>
                  <a:schemeClr val="tx1"/>
                </a:solidFill>
                <a:latin typeface="+mn-lt"/>
                <a:ea typeface="+mn-ea"/>
                <a:cs typeface="+mn-cs"/>
              </a:rPr>
              <a:t>graminea</a:t>
            </a:r>
            <a:r>
              <a:rPr lang="en-US" sz="1200" b="0" i="0" u="none" strike="noStrike" kern="1200" baseline="0" dirty="0" smtClean="0">
                <a:solidFill>
                  <a:schemeClr val="tx1"/>
                </a:solidFill>
                <a:latin typeface="+mn-lt"/>
                <a:ea typeface="+mn-ea"/>
                <a:cs typeface="+mn-cs"/>
              </a:rPr>
              <a:t>), also known as the Mexican alligator lizard, is endemic to the highlands of Mexico, where it is commonly found inhabiting cloud and pin-oak forest canopies. The species is endangered by habitat loss and fragmentation.</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2</a:t>
            </a:fld>
            <a:endParaRPr lang="en-US"/>
          </a:p>
        </p:txBody>
      </p:sp>
    </p:spTree>
    <p:extLst>
      <p:ext uri="{BB962C8B-B14F-4D97-AF65-F5344CB8AC3E}">
        <p14:creationId xmlns:p14="http://schemas.microsoft.com/office/powerpoint/2010/main" val="3912734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9.1 </a:t>
            </a:r>
            <a:r>
              <a:rPr lang="en-US" sz="1200" b="0" i="0" u="none" strike="noStrike" kern="1200" baseline="0" dirty="0" smtClean="0">
                <a:solidFill>
                  <a:schemeClr val="tx1"/>
                </a:solidFill>
                <a:latin typeface="+mn-lt"/>
                <a:ea typeface="+mn-ea"/>
                <a:cs typeface="+mn-cs"/>
              </a:rPr>
              <a:t>An idealized sequence of land-use transitions. As societies progress </a:t>
            </a:r>
            <a:r>
              <a:rPr lang="en-IN" sz="1200" b="0" i="0" u="none" strike="noStrike" kern="1200" baseline="0" dirty="0" smtClean="0">
                <a:solidFill>
                  <a:schemeClr val="tx1"/>
                </a:solidFill>
                <a:latin typeface="+mn-lt"/>
                <a:ea typeface="+mn-ea"/>
                <a:cs typeface="+mn-cs"/>
              </a:rPr>
              <a:t>through demographic and economic </a:t>
            </a:r>
            <a:r>
              <a:rPr lang="en-US" sz="1200" b="0" i="0" u="none" strike="noStrike" kern="1200" baseline="0" dirty="0" smtClean="0">
                <a:solidFill>
                  <a:schemeClr val="tx1"/>
                </a:solidFill>
                <a:latin typeface="+mn-lt"/>
                <a:ea typeface="+mn-ea"/>
                <a:cs typeface="+mn-cs"/>
              </a:rPr>
              <a:t>transitions, they tend to follow a predictable sequence of land-use change: natural ecosystems that are dominant during </a:t>
            </a:r>
            <a:r>
              <a:rPr lang="en-US" sz="1200" b="0" i="0" u="none" strike="noStrike" kern="1200" baseline="0" dirty="0" err="1" smtClean="0">
                <a:solidFill>
                  <a:schemeClr val="tx1"/>
                </a:solidFill>
                <a:latin typeface="+mn-lt"/>
                <a:ea typeface="+mn-ea"/>
                <a:cs typeface="+mn-cs"/>
              </a:rPr>
              <a:t>presettlement</a:t>
            </a:r>
            <a:r>
              <a:rPr lang="en-US" sz="1200" b="0" i="0" u="none" strike="noStrike" kern="1200" baseline="0" dirty="0" smtClean="0">
                <a:solidFill>
                  <a:schemeClr val="tx1"/>
                </a:solidFill>
                <a:latin typeface="+mn-lt"/>
                <a:ea typeface="+mn-ea"/>
                <a:cs typeface="+mn-cs"/>
              </a:rPr>
              <a:t> give way to frontier clearings, which then transition to subsistence agriculture and small-scale farms, which then give way to intensive urban development and protected or recreational lands. Various parts of the world are in </a:t>
            </a:r>
            <a:r>
              <a:rPr lang="en-US" sz="1200" b="0" i="0" u="none" strike="noStrike" kern="1200" baseline="0" dirty="0" smtClean="0">
                <a:solidFill>
                  <a:schemeClr val="tx1"/>
                </a:solidFill>
                <a:latin typeface="+mn-lt"/>
                <a:ea typeface="+mn-ea"/>
                <a:cs typeface="+mn-cs"/>
              </a:rPr>
              <a:t>different stages </a:t>
            </a:r>
            <a:r>
              <a:rPr lang="en-US" sz="1200" b="0" i="0" u="none" strike="noStrike" kern="1200" baseline="0" dirty="0" smtClean="0">
                <a:solidFill>
                  <a:schemeClr val="tx1"/>
                </a:solidFill>
                <a:latin typeface="+mn-lt"/>
                <a:ea typeface="+mn-ea"/>
                <a:cs typeface="+mn-cs"/>
              </a:rPr>
              <a:t>of these transitions depending on </a:t>
            </a:r>
            <a:r>
              <a:rPr lang="en-IN" sz="1200" b="0" i="0" u="none" strike="noStrike" kern="1200" baseline="0" dirty="0" smtClean="0">
                <a:solidFill>
                  <a:schemeClr val="tx1"/>
                </a:solidFill>
                <a:latin typeface="+mn-lt"/>
                <a:ea typeface="+mn-ea"/>
                <a:cs typeface="+mn-cs"/>
              </a:rPr>
              <a:t>their history, socioeconomic conditions, and ecological histories. Furthermore, </a:t>
            </a:r>
            <a:r>
              <a:rPr lang="en-US" sz="1200" b="0" i="0" u="none" strike="noStrike" kern="1200" baseline="0" dirty="0" smtClean="0">
                <a:solidFill>
                  <a:schemeClr val="tx1"/>
                </a:solidFill>
                <a:latin typeface="+mn-lt"/>
                <a:ea typeface="+mn-ea"/>
                <a:cs typeface="+mn-cs"/>
              </a:rPr>
              <a:t>some places remain in one stage of </a:t>
            </a:r>
            <a:r>
              <a:rPr lang="en-US" sz="1200" b="0" i="0" u="none" strike="noStrike" kern="1200" baseline="0" dirty="0" err="1" smtClean="0">
                <a:solidFill>
                  <a:schemeClr val="tx1"/>
                </a:solidFill>
                <a:latin typeface="+mn-lt"/>
                <a:ea typeface="+mn-ea"/>
                <a:cs typeface="+mn-cs"/>
              </a:rPr>
              <a:t>landuse</a:t>
            </a:r>
            <a:r>
              <a:rPr lang="en-US" sz="1200" b="0" i="0" u="none" strike="noStrike" kern="1200" baseline="0" dirty="0" smtClean="0">
                <a:solidFill>
                  <a:schemeClr val="tx1"/>
                </a:solidFill>
                <a:latin typeface="+mn-lt"/>
                <a:ea typeface="+mn-ea"/>
                <a:cs typeface="+mn-cs"/>
              </a:rPr>
              <a:t> transition </a:t>
            </a:r>
            <a:r>
              <a:rPr lang="en-US" sz="1200" b="0" i="0" u="none" strike="noStrike" kern="1200" baseline="0" dirty="0" smtClean="0">
                <a:solidFill>
                  <a:schemeClr val="tx1"/>
                </a:solidFill>
                <a:latin typeface="+mn-lt"/>
                <a:ea typeface="+mn-ea"/>
                <a:cs typeface="+mn-cs"/>
              </a:rPr>
              <a:t>for a long time while others </a:t>
            </a:r>
            <a:r>
              <a:rPr lang="en-IN" sz="1200" b="0" i="0" u="none" strike="noStrike" kern="1200" baseline="0" dirty="0" smtClean="0">
                <a:solidFill>
                  <a:schemeClr val="tx1"/>
                </a:solidFill>
                <a:latin typeface="+mn-lt"/>
                <a:ea typeface="+mn-ea"/>
                <a:cs typeface="+mn-cs"/>
              </a:rPr>
              <a:t>move rapidly between stages.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3</a:t>
            </a:fld>
            <a:endParaRPr lang="en-US"/>
          </a:p>
        </p:txBody>
      </p:sp>
    </p:spTree>
    <p:extLst>
      <p:ext uri="{BB962C8B-B14F-4D97-AF65-F5344CB8AC3E}">
        <p14:creationId xmlns:p14="http://schemas.microsoft.com/office/powerpoint/2010/main" val="605387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9.2 </a:t>
            </a:r>
            <a:r>
              <a:rPr lang="en-US" sz="1200" b="0" i="0" u="none" strike="noStrike" kern="1200" baseline="0" dirty="0" smtClean="0">
                <a:solidFill>
                  <a:schemeClr val="tx1"/>
                </a:solidFill>
                <a:latin typeface="+mn-lt"/>
                <a:ea typeface="+mn-ea"/>
                <a:cs typeface="+mn-cs"/>
              </a:rPr>
              <a:t>Global habitat loss due to expansion of agriculture. (A) As of 2017, the world has 18.7 million km2 of cropland and 33.8 million km2 of pasture lands. Altogether, agriculture occupies about 46% of Earth’s inhabitable land surface, representing the single largest use of land on the planet (green area in map). (B) Smith and colleagues18 summarized several integrated assessments of future land-use change (each assessment represents a different blue line; gray shading indicates 20th to 80th percentiles of literature estimates) and projected that the amount of agricultural land on Earth will need to increase 10% to 20% by 2050 (compared with 2005 levels) to feed the growing human population. This will correspond to a future loss of up to 20% of the natural habitats remaining on Earth.</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4</a:t>
            </a:fld>
            <a:endParaRPr lang="en-US"/>
          </a:p>
        </p:txBody>
      </p:sp>
    </p:spTree>
    <p:extLst>
      <p:ext uri="{BB962C8B-B14F-4D97-AF65-F5344CB8AC3E}">
        <p14:creationId xmlns:p14="http://schemas.microsoft.com/office/powerpoint/2010/main" val="18258033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left side of this figure depicts the distribution of natural habitat (black) and agricultural habitat (white) for land sparing (top) and land sharing (bottom). The right side presents examples of what real landscapes might look like under these two alternative land uses.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5</a:t>
            </a:fld>
            <a:endParaRPr lang="en-US"/>
          </a:p>
        </p:txBody>
      </p:sp>
    </p:spTree>
    <p:extLst>
      <p:ext uri="{BB962C8B-B14F-4D97-AF65-F5344CB8AC3E}">
        <p14:creationId xmlns:p14="http://schemas.microsoft.com/office/powerpoint/2010/main" val="38372066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9.3 </a:t>
            </a:r>
            <a:r>
              <a:rPr lang="en-US" sz="1200" b="0" i="0" u="none" strike="noStrike" kern="1200" baseline="0" dirty="0" smtClean="0">
                <a:solidFill>
                  <a:schemeClr val="tx1"/>
                </a:solidFill>
                <a:latin typeface="+mn-lt"/>
                <a:ea typeface="+mn-ea"/>
                <a:cs typeface="+mn-cs"/>
              </a:rPr>
              <a:t>Urbanization. (A) The world is in the middle of a dramatic transition where the majority of the human population is moving into urban habitats. By 2050, almost 7 of every 10 people will live in a megacity. The large population shifts from rural to urban habitat are taking place in Asia and Africa. (B) Tokyo, Japan, is currently the world’s most populous city, with 38 million inhabitants.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6</a:t>
            </a:fld>
            <a:endParaRPr lang="en-US"/>
          </a:p>
        </p:txBody>
      </p:sp>
    </p:spTree>
    <p:extLst>
      <p:ext uri="{BB962C8B-B14F-4D97-AF65-F5344CB8AC3E}">
        <p14:creationId xmlns:p14="http://schemas.microsoft.com/office/powerpoint/2010/main" val="18226976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In the 1950s–1970s, Detroit was heavily polluted by industry, and its waterways, like the Detroit River, were filled with oil, chemicals, and raw sewage (left). In the early twenty-first century, the urban environments of Detroit are being reinvented to be cleaner and greener. Much of the Detroit River waterfront has been renovated and revitalized and now supports hundreds of species of fish, birds, and mammals, as well as recreational activities that draw tourists and provide opportunities for residents </a:t>
            </a:r>
            <a:r>
              <a:rPr lang="en-IN" sz="1200" b="0" i="0" u="none" strike="noStrike" kern="1200" baseline="0" dirty="0" smtClean="0">
                <a:solidFill>
                  <a:schemeClr val="tx1"/>
                </a:solidFill>
                <a:latin typeface="+mn-lt"/>
                <a:ea typeface="+mn-ea"/>
                <a:cs typeface="+mn-cs"/>
              </a:rPr>
              <a:t>of the city.</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7</a:t>
            </a:fld>
            <a:endParaRPr lang="en-US"/>
          </a:p>
        </p:txBody>
      </p:sp>
    </p:spTree>
    <p:extLst>
      <p:ext uri="{BB962C8B-B14F-4D97-AF65-F5344CB8AC3E}">
        <p14:creationId xmlns:p14="http://schemas.microsoft.com/office/powerpoint/2010/main" val="42873627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9.4 </a:t>
            </a:r>
            <a:r>
              <a:rPr lang="en-US" sz="1200" b="0" i="0" u="none" strike="noStrike" kern="1200" baseline="0" dirty="0" smtClean="0">
                <a:solidFill>
                  <a:schemeClr val="tx1"/>
                </a:solidFill>
                <a:latin typeface="+mn-lt"/>
                <a:ea typeface="+mn-ea"/>
                <a:cs typeface="+mn-cs"/>
              </a:rPr>
              <a:t>Habitat loss caused by extractive industries. (A) A large surface copper mine destroys all local plant and animal life and leaves behind pollution in the form of acid mine drainage. (B, C) Fishermen use illegal methods of cyanide poisoning and dynamite blasting to collect fish from coral reefs. These methods simultaneously kill the coral habitat. (D) A coastal mangrove forest in Thailand is clear-cut to make way for shrimp farms. (E) A rain forest in the Amazon is slashed and burned to prepare for cattle ranching.</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8</a:t>
            </a:fld>
            <a:endParaRPr lang="en-US"/>
          </a:p>
        </p:txBody>
      </p:sp>
    </p:spTree>
    <p:extLst>
      <p:ext uri="{BB962C8B-B14F-4D97-AF65-F5344CB8AC3E}">
        <p14:creationId xmlns:p14="http://schemas.microsoft.com/office/powerpoint/2010/main" val="12576483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9.5 </a:t>
            </a:r>
            <a:r>
              <a:rPr lang="en-US" sz="1200" b="0" i="0" u="none" strike="noStrike" kern="1200" baseline="0" dirty="0" smtClean="0">
                <a:solidFill>
                  <a:schemeClr val="tx1"/>
                </a:solidFill>
                <a:latin typeface="+mn-lt"/>
                <a:ea typeface="+mn-ea"/>
                <a:cs typeface="+mn-cs"/>
              </a:rPr>
              <a:t>Decadal losses and gains in global forest cover over the past three centuries. Decadal forest loss is measured as the average net loss every 10 years, in square kilometers. Bars above zero represent net deforestation, while bars below zero represent net afforestation </a:t>
            </a:r>
            <a:r>
              <a:rPr lang="en-IN" sz="1200" b="0" i="0" u="none" strike="noStrike" kern="1200" baseline="0" dirty="0" smtClean="0">
                <a:solidFill>
                  <a:schemeClr val="tx1"/>
                </a:solidFill>
                <a:latin typeface="+mn-lt"/>
                <a:ea typeface="+mn-ea"/>
                <a:cs typeface="+mn-cs"/>
              </a:rPr>
              <a:t>(e.g., 1990–2020 in temperate forests).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9</a:t>
            </a:fld>
            <a:endParaRPr lang="en-US"/>
          </a:p>
        </p:txBody>
      </p:sp>
    </p:spTree>
    <p:extLst>
      <p:ext uri="{BB962C8B-B14F-4D97-AF65-F5344CB8AC3E}">
        <p14:creationId xmlns:p14="http://schemas.microsoft.com/office/powerpoint/2010/main" val="11428372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9.6 </a:t>
            </a:r>
            <a:r>
              <a:rPr lang="en-US" sz="1200" b="0" i="0" u="none" strike="noStrike" kern="1200" baseline="0" dirty="0" smtClean="0">
                <a:solidFill>
                  <a:schemeClr val="tx1"/>
                </a:solidFill>
                <a:latin typeface="+mn-lt"/>
                <a:ea typeface="+mn-ea"/>
                <a:cs typeface="+mn-cs"/>
              </a:rPr>
              <a:t>With 60% of the Amazon rain forest (green) lying within its borders, Brazil is home to a large fraction of the world’s rain forests. But Brazil is also responsible for a large fraction of the world’s loss of rain forest habitat. Although new policies have tried to slow deforestation in Brazil, the country has lost an average of 12,160 km2 per year since 2000, and rates of deforestation have been increasing since 2012.</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10</a:t>
            </a:fld>
            <a:endParaRPr lang="en-US"/>
          </a:p>
        </p:txBody>
      </p:sp>
    </p:spTree>
    <p:extLst>
      <p:ext uri="{BB962C8B-B14F-4D97-AF65-F5344CB8AC3E}">
        <p14:creationId xmlns:p14="http://schemas.microsoft.com/office/powerpoint/2010/main" val="23153723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The supply chain for palm oil, which shows how purchasing decisions in developed </a:t>
            </a:r>
            <a:r>
              <a:rPr lang="en-IN" sz="1200" b="0" i="0" u="none" strike="noStrike" kern="1200" baseline="0" dirty="0" smtClean="0">
                <a:solidFill>
                  <a:schemeClr val="tx1"/>
                </a:solidFill>
                <a:latin typeface="+mn-lt"/>
                <a:ea typeface="+mn-ea"/>
                <a:cs typeface="+mn-cs"/>
              </a:rPr>
              <a:t>nations cause tropical deforestation in developing nations.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11</a:t>
            </a:fld>
            <a:endParaRPr lang="en-US"/>
          </a:p>
        </p:txBody>
      </p:sp>
    </p:spTree>
    <p:extLst>
      <p:ext uri="{BB962C8B-B14F-4D97-AF65-F5344CB8AC3E}">
        <p14:creationId xmlns:p14="http://schemas.microsoft.com/office/powerpoint/2010/main" val="34465230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Examples of species that are threatened with extinction by the rapid expansion of palm oil plantations in Southeast Asia: (B) the orangutan, (C) the Sumatran tiger, and (D) the Borneo elephant.</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12</a:t>
            </a:fld>
            <a:endParaRPr lang="en-US"/>
          </a:p>
        </p:txBody>
      </p:sp>
    </p:spTree>
    <p:extLst>
      <p:ext uri="{BB962C8B-B14F-4D97-AF65-F5344CB8AC3E}">
        <p14:creationId xmlns:p14="http://schemas.microsoft.com/office/powerpoint/2010/main" val="35830141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9.7 </a:t>
            </a:r>
            <a:r>
              <a:rPr lang="en-US" sz="1200" b="0" i="0" u="none" strike="noStrike" kern="1200" baseline="0" dirty="0" smtClean="0">
                <a:solidFill>
                  <a:schemeClr val="tx1"/>
                </a:solidFill>
                <a:latin typeface="+mn-lt"/>
                <a:ea typeface="+mn-ea"/>
                <a:cs typeface="+mn-cs"/>
              </a:rPr>
              <a:t>Impacts of global climate change on coral reefs. (A) In 2016, rising water temperatures led to heat stress that caused severe bleaching (the loss of symbiotic algae) in Australia’s Great Barrier Reef. One in every three corals died during the mass mortality event, and large portions of the reef were killed. (B) Prior</a:t>
            </a:r>
          </a:p>
          <a:p>
            <a:r>
              <a:rPr lang="en-US" sz="1200" b="0" i="0" u="none" strike="noStrike" kern="1200" baseline="0" dirty="0" smtClean="0">
                <a:solidFill>
                  <a:schemeClr val="tx1"/>
                </a:solidFill>
                <a:latin typeface="+mn-lt"/>
                <a:ea typeface="+mn-ea"/>
                <a:cs typeface="+mn-cs"/>
              </a:rPr>
              <a:t>to 1998, few reefs had experienced severe bleaching. Since 1998, however, every reef region has experienced severe bleaching, with many areas suffering </a:t>
            </a:r>
            <a:r>
              <a:rPr lang="en-US" sz="1200" b="0" i="0" u="none" strike="noStrike" kern="1200" baseline="0" dirty="0" smtClean="0">
                <a:solidFill>
                  <a:schemeClr val="tx1"/>
                </a:solidFill>
                <a:latin typeface="+mn-lt"/>
                <a:ea typeface="+mn-ea"/>
                <a:cs typeface="+mn-cs"/>
              </a:rPr>
              <a:t>significant bleaching-induced </a:t>
            </a:r>
            <a:r>
              <a:rPr lang="en-US" sz="1200" b="0" i="0" u="none" strike="noStrike" kern="1200" baseline="0" dirty="0" smtClean="0">
                <a:solidFill>
                  <a:schemeClr val="tx1"/>
                </a:solidFill>
                <a:latin typeface="+mn-lt"/>
                <a:ea typeface="+mn-ea"/>
                <a:cs typeface="+mn-cs"/>
              </a:rPr>
              <a:t>mortality. In this figure, the prevalence of coral bleaching is presented as a percentage of the coral assemblage that has bleached, </a:t>
            </a:r>
            <a:r>
              <a:rPr lang="en-US" sz="1200" b="0" i="0" u="none" strike="noStrike" kern="1200" baseline="0" dirty="0" smtClean="0">
                <a:solidFill>
                  <a:schemeClr val="tx1"/>
                </a:solidFill>
                <a:latin typeface="+mn-lt"/>
                <a:ea typeface="+mn-ea"/>
                <a:cs typeface="+mn-cs"/>
              </a:rPr>
              <a:t>measured at </a:t>
            </a:r>
            <a:r>
              <a:rPr lang="en-US" sz="1200" b="0" i="0" u="none" strike="noStrike" kern="1200" baseline="0" dirty="0" smtClean="0">
                <a:solidFill>
                  <a:schemeClr val="tx1"/>
                </a:solidFill>
                <a:latin typeface="+mn-lt"/>
                <a:ea typeface="+mn-ea"/>
                <a:cs typeface="+mn-cs"/>
              </a:rPr>
              <a:t>3,351 sites in 81 countries, from 1998 to 2017. White circles indicate no bleaching. Colored circles indicate 1% bleaching (blue) through 100% bleaching </a:t>
            </a:r>
            <a:r>
              <a:rPr lang="en-IN" sz="1200" b="0" i="0" u="none" strike="noStrike" kern="1200" baseline="0" dirty="0" smtClean="0">
                <a:solidFill>
                  <a:schemeClr val="tx1"/>
                </a:solidFill>
                <a:latin typeface="+mn-lt"/>
                <a:ea typeface="+mn-ea"/>
                <a:cs typeface="+mn-cs"/>
              </a:rPr>
              <a:t>(yellow).</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13</a:t>
            </a:fld>
            <a:endParaRPr lang="en-US"/>
          </a:p>
        </p:txBody>
      </p:sp>
    </p:spTree>
    <p:extLst>
      <p:ext uri="{BB962C8B-B14F-4D97-AF65-F5344CB8AC3E}">
        <p14:creationId xmlns:p14="http://schemas.microsoft.com/office/powerpoint/2010/main" val="35617040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9.8 </a:t>
            </a:r>
            <a:r>
              <a:rPr lang="en-US" sz="1200" b="0" i="0" u="none" strike="noStrike" kern="1200" baseline="0" dirty="0" smtClean="0">
                <a:solidFill>
                  <a:schemeClr val="tx1"/>
                </a:solidFill>
                <a:latin typeface="+mn-lt"/>
                <a:ea typeface="+mn-ea"/>
                <a:cs typeface="+mn-cs"/>
              </a:rPr>
              <a:t>Land conversion at present and in the future. The proportion of land in each geopolitical region (A) and biome (B) that is currently converted (dark purple) and at high risk of future development (light purple). Vertical dashed lines show the 50% threshold for land conversion. The proportion of strictly protected </a:t>
            </a:r>
            <a:r>
              <a:rPr lang="en-US" sz="1200" b="0" i="0" u="none" strike="noStrike" kern="1200" baseline="0" dirty="0" smtClean="0">
                <a:solidFill>
                  <a:schemeClr val="tx1"/>
                </a:solidFill>
                <a:latin typeface="+mn-lt"/>
                <a:ea typeface="+mn-ea"/>
                <a:cs typeface="+mn-cs"/>
              </a:rPr>
              <a:t>natural lands </a:t>
            </a:r>
            <a:r>
              <a:rPr lang="en-US" sz="1200" b="0" i="0" u="none" strike="noStrike" kern="1200" baseline="0" dirty="0" smtClean="0">
                <a:solidFill>
                  <a:schemeClr val="tx1"/>
                </a:solidFill>
                <a:latin typeface="+mn-lt"/>
                <a:ea typeface="+mn-ea"/>
                <a:cs typeface="+mn-cs"/>
              </a:rPr>
              <a:t>(dots) is given for comparison. The maps on the bottom (C and D) show the distribution of terrestrial ecoregions that have 75%, 50%–75%, 25%–50%, and less than 25% of their lands currently converted (C) and potentially converted in the future (D) due to areas </a:t>
            </a:r>
            <a:r>
              <a:rPr lang="en-IN" sz="1200" b="0" i="0" u="none" strike="noStrike" kern="1200" baseline="0" dirty="0" smtClean="0">
                <a:solidFill>
                  <a:schemeClr val="tx1"/>
                </a:solidFill>
                <a:latin typeface="+mn-lt"/>
                <a:ea typeface="+mn-ea"/>
                <a:cs typeface="+mn-cs"/>
              </a:rPr>
              <a:t>with high development risk.</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14</a:t>
            </a:fld>
            <a:endParaRPr lang="en-US"/>
          </a:p>
        </p:txBody>
      </p:sp>
    </p:spTree>
    <p:extLst>
      <p:ext uri="{BB962C8B-B14F-4D97-AF65-F5344CB8AC3E}">
        <p14:creationId xmlns:p14="http://schemas.microsoft.com/office/powerpoint/2010/main" val="19659362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9.9 </a:t>
            </a:r>
            <a:r>
              <a:rPr lang="en-US" sz="1200" b="0" i="0" u="none" strike="noStrike" kern="1200" baseline="0" dirty="0" smtClean="0">
                <a:solidFill>
                  <a:schemeClr val="tx1"/>
                </a:solidFill>
                <a:latin typeface="+mn-lt"/>
                <a:ea typeface="+mn-ea"/>
                <a:cs typeface="+mn-cs"/>
              </a:rPr>
              <a:t>The relationship between habitat loss and habitat fragmentation. This diagram depicts a time series showing the loss and fragmentation of habitat from a natural landscape. Between time steps 1 and 4, the landscape is altered from being composed entirely of habitat type 1 (blue or red) to being composed entirely of habitat type 2 (white). Note that while habitat loss and fragmentation are both associated with a loss of area of habitat type 1, fragmentation in time steps 2 and 3 also changes the configuration of patches, including the number of patches in the landscape, the mean size of patches, the distance between and isolation of patches, and the amount of edge habitat in the landscape.</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15</a:t>
            </a:fld>
            <a:endParaRPr lang="en-US"/>
          </a:p>
        </p:txBody>
      </p:sp>
    </p:spTree>
    <p:extLst>
      <p:ext uri="{BB962C8B-B14F-4D97-AF65-F5344CB8AC3E}">
        <p14:creationId xmlns:p14="http://schemas.microsoft.com/office/powerpoint/2010/main" val="25512624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9.10 </a:t>
            </a:r>
            <a:r>
              <a:rPr lang="en-US" sz="1200" b="0" i="0" u="none" strike="noStrike" kern="1200" baseline="0" dirty="0" smtClean="0">
                <a:solidFill>
                  <a:schemeClr val="tx1"/>
                </a:solidFill>
                <a:latin typeface="+mn-lt"/>
                <a:ea typeface="+mn-ea"/>
                <a:cs typeface="+mn-cs"/>
              </a:rPr>
              <a:t>Habitat loss and patch configuration. (A) Illustration of how four aspects of patch configuration relate to habitat loss in a landscape. Note that the four aspects of patch configuration change differently as the amount of habitat is reduced, and several change nonlinearly. This variety of effects allows fragmentation to produce a wide variety of patterns in a landscape. To illustrate, consider (B), which shows examples of real fragmented landscapes that have different patterns of patch configuration. Note that some landscapes have many small patches and others have only a few large patches. Some have patches close together; others are far apart. Some have elongated patches with high </a:t>
            </a:r>
            <a:r>
              <a:rPr lang="en-US" sz="1200" b="0" i="0" u="none" strike="noStrike" kern="1200" baseline="0" dirty="0" err="1" smtClean="0">
                <a:solidFill>
                  <a:schemeClr val="tx1"/>
                </a:solidFill>
                <a:latin typeface="+mn-lt"/>
                <a:ea typeface="+mn-ea"/>
                <a:cs typeface="+mn-cs"/>
              </a:rPr>
              <a:t>edge:interior</a:t>
            </a:r>
            <a:r>
              <a:rPr lang="en-US" sz="1200" b="0" i="0" u="none" strike="noStrike" kern="1200" baseline="0" dirty="0" smtClean="0">
                <a:solidFill>
                  <a:schemeClr val="tx1"/>
                </a:solidFill>
                <a:latin typeface="+mn-lt"/>
                <a:ea typeface="+mn-ea"/>
                <a:cs typeface="+mn-cs"/>
              </a:rPr>
              <a:t> ratios; others are round with low </a:t>
            </a:r>
            <a:r>
              <a:rPr lang="en-US" sz="1200" b="0" i="0" u="none" strike="noStrike" kern="1200" baseline="0" dirty="0" err="1" smtClean="0">
                <a:solidFill>
                  <a:schemeClr val="tx1"/>
                </a:solidFill>
                <a:latin typeface="+mn-lt"/>
                <a:ea typeface="+mn-ea"/>
                <a:cs typeface="+mn-cs"/>
              </a:rPr>
              <a:t>edge:interior</a:t>
            </a:r>
            <a:r>
              <a:rPr lang="en-US" sz="1200" b="0" i="0" u="none" strike="noStrike" kern="1200" baseline="0" dirty="0" smtClean="0">
                <a:solidFill>
                  <a:schemeClr val="tx1"/>
                </a:solidFill>
                <a:latin typeface="+mn-lt"/>
                <a:ea typeface="+mn-ea"/>
                <a:cs typeface="+mn-cs"/>
              </a:rPr>
              <a:t> ratios. Fragmentation will influence biodiversity very differently in these landscapes.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16</a:t>
            </a:fld>
            <a:endParaRPr lang="en-US"/>
          </a:p>
        </p:txBody>
      </p:sp>
    </p:spTree>
    <p:extLst>
      <p:ext uri="{BB962C8B-B14F-4D97-AF65-F5344CB8AC3E}">
        <p14:creationId xmlns:p14="http://schemas.microsoft.com/office/powerpoint/2010/main" val="254831787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9.11 </a:t>
            </a:r>
            <a:r>
              <a:rPr lang="en-US" sz="1200" b="0" i="0" u="none" strike="noStrike" kern="1200" baseline="0" dirty="0" smtClean="0">
                <a:solidFill>
                  <a:schemeClr val="tx1"/>
                </a:solidFill>
                <a:latin typeface="+mn-lt"/>
                <a:ea typeface="+mn-ea"/>
                <a:cs typeface="+mn-cs"/>
              </a:rPr>
              <a:t>As patch sizes are reduced in a landscape, the proportion of core (interior) habitat declines and the proportion of edge habitat increases. As a result, edge effects have a greater influence on the dynamics of small patches.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17</a:t>
            </a:fld>
            <a:endParaRPr lang="en-US"/>
          </a:p>
        </p:txBody>
      </p:sp>
    </p:spTree>
    <p:extLst>
      <p:ext uri="{BB962C8B-B14F-4D97-AF65-F5344CB8AC3E}">
        <p14:creationId xmlns:p14="http://schemas.microsoft.com/office/powerpoint/2010/main" val="16395507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9.12 </a:t>
            </a:r>
            <a:r>
              <a:rPr lang="en-US" sz="1200" b="0" i="0" u="none" strike="noStrike" kern="1200" baseline="0" dirty="0" smtClean="0">
                <a:solidFill>
                  <a:schemeClr val="tx1"/>
                </a:solidFill>
                <a:latin typeface="+mn-lt"/>
                <a:ea typeface="+mn-ea"/>
                <a:cs typeface="+mn-cs"/>
              </a:rPr>
              <a:t>Changes in the forest edge microenvironment include exposure to more wind, drought, fire, light, and nitrogen deposition. The positive (+) and negative (–) signs indicate favorable and adverse conditions, respectively, for growth and biomass.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18</a:t>
            </a:fld>
            <a:endParaRPr lang="en-US"/>
          </a:p>
        </p:txBody>
      </p:sp>
    </p:spTree>
    <p:extLst>
      <p:ext uri="{BB962C8B-B14F-4D97-AF65-F5344CB8AC3E}">
        <p14:creationId xmlns:p14="http://schemas.microsoft.com/office/powerpoint/2010/main" val="40644670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9.13 </a:t>
            </a:r>
            <a:r>
              <a:rPr lang="en-US" sz="1200" b="0" i="0" u="none" strike="noStrike" kern="1200" baseline="0" dirty="0" err="1" smtClean="0">
                <a:solidFill>
                  <a:schemeClr val="tx1"/>
                </a:solidFill>
                <a:latin typeface="+mn-lt"/>
                <a:ea typeface="+mn-ea"/>
                <a:cs typeface="+mn-cs"/>
              </a:rPr>
              <a:t>Biomagnification</a:t>
            </a:r>
            <a:r>
              <a:rPr lang="en-US" sz="1200" b="0" i="0" u="none" strike="noStrike" kern="1200" baseline="0" dirty="0" smtClean="0">
                <a:solidFill>
                  <a:schemeClr val="tx1"/>
                </a:solidFill>
                <a:latin typeface="+mn-lt"/>
                <a:ea typeface="+mn-ea"/>
                <a:cs typeface="+mn-cs"/>
              </a:rPr>
              <a:t> of dichlorodiphenyltrichloroethane </a:t>
            </a:r>
            <a:r>
              <a:rPr lang="en-IN" sz="1200" b="0" i="0" u="none" strike="noStrike" kern="1200" baseline="0" dirty="0" smtClean="0">
                <a:solidFill>
                  <a:schemeClr val="tx1"/>
                </a:solidFill>
                <a:latin typeface="+mn-lt"/>
                <a:ea typeface="+mn-ea"/>
                <a:cs typeface="+mn-cs"/>
              </a:rPr>
              <a:t>(DDT). (Left) The </a:t>
            </a:r>
            <a:r>
              <a:rPr lang="en-US" sz="1200" b="0" i="0" u="none" strike="noStrike" kern="1200" baseline="0" dirty="0" smtClean="0">
                <a:solidFill>
                  <a:schemeClr val="tx1"/>
                </a:solidFill>
                <a:latin typeface="+mn-lt"/>
                <a:ea typeface="+mn-ea"/>
                <a:cs typeface="+mn-cs"/>
              </a:rPr>
              <a:t>actual concentration of DDT in various components of the food web in parts per million (ppm). (Right) The relative magnification of DDT at successive trophic levels </a:t>
            </a:r>
            <a:r>
              <a:rPr lang="en-IN" sz="1200" b="0" i="0" u="none" strike="noStrike" kern="1200" baseline="0" dirty="0" smtClean="0">
                <a:solidFill>
                  <a:schemeClr val="tx1"/>
                </a:solidFill>
                <a:latin typeface="+mn-lt"/>
                <a:ea typeface="+mn-ea"/>
                <a:cs typeface="+mn-cs"/>
              </a:rPr>
              <a:t>of the food web.</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19</a:t>
            </a:fld>
            <a:endParaRPr lang="en-US"/>
          </a:p>
        </p:txBody>
      </p:sp>
    </p:spTree>
    <p:extLst>
      <p:ext uri="{BB962C8B-B14F-4D97-AF65-F5344CB8AC3E}">
        <p14:creationId xmlns:p14="http://schemas.microsoft.com/office/powerpoint/2010/main" val="7006167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9.14 </a:t>
            </a:r>
            <a:r>
              <a:rPr lang="en-US" sz="1200" b="0" i="0" u="none" strike="noStrike" kern="1200" baseline="0" dirty="0" smtClean="0">
                <a:solidFill>
                  <a:schemeClr val="tx1"/>
                </a:solidFill>
                <a:latin typeface="+mn-lt"/>
                <a:ea typeface="+mn-ea"/>
                <a:cs typeface="+mn-cs"/>
              </a:rPr>
              <a:t>(A) Birds, marine mammals, and many other ocean animals sicken and die when they are covered by oil following spills. This brown pelican was found following the </a:t>
            </a:r>
            <a:r>
              <a:rPr lang="en-US" sz="1200" b="0" i="1" u="none" strike="noStrike" kern="1200" baseline="0" dirty="0" smtClean="0">
                <a:solidFill>
                  <a:schemeClr val="tx1"/>
                </a:solidFill>
                <a:latin typeface="+mn-lt"/>
                <a:ea typeface="+mn-ea"/>
                <a:cs typeface="+mn-cs"/>
              </a:rPr>
              <a:t>Deepwater Horizon </a:t>
            </a:r>
            <a:r>
              <a:rPr lang="en-US" sz="1200" b="0" i="0" u="none" strike="noStrike" kern="1200" baseline="0" dirty="0" smtClean="0">
                <a:solidFill>
                  <a:schemeClr val="tx1"/>
                </a:solidFill>
                <a:latin typeface="+mn-lt"/>
                <a:ea typeface="+mn-ea"/>
                <a:cs typeface="+mn-cs"/>
              </a:rPr>
              <a:t>oil spill in the Gulf of Mexico in 2010, which, at 4.9 million barrels, is the largest marine oil spill in history. (B) Coastal hypoxia. Fish in the Rodrigo de Freitas Lagoon in Rio de Janeiro died off because of pollution. High nitrogen and phosphorus levels from human activity resulted in excessive algal growth, followed by algal death and decay, leading to oxygen levels so low that fish could not survive. (C) Acid rain leads to the death of trees over large expanses of forest area in New England.</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20</a:t>
            </a:fld>
            <a:endParaRPr lang="en-US"/>
          </a:p>
        </p:txBody>
      </p:sp>
    </p:spTree>
    <p:extLst>
      <p:ext uri="{BB962C8B-B14F-4D97-AF65-F5344CB8AC3E}">
        <p14:creationId xmlns:p14="http://schemas.microsoft.com/office/powerpoint/2010/main" val="27935090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b="1" i="0" u="none" strike="noStrike" kern="1200" baseline="0" dirty="0" smtClean="0">
                <a:solidFill>
                  <a:schemeClr val="tx1"/>
                </a:solidFill>
                <a:latin typeface="+mn-lt"/>
                <a:ea typeface="+mn-ea"/>
                <a:cs typeface="+mn-cs"/>
              </a:rPr>
              <a:t>Figure 9.15 </a:t>
            </a:r>
            <a:r>
              <a:rPr lang="en-IN" sz="1200" b="0" i="0" u="none" strike="noStrike" kern="1200" baseline="0" dirty="0" smtClean="0">
                <a:solidFill>
                  <a:schemeClr val="tx1"/>
                </a:solidFill>
                <a:latin typeface="+mn-lt"/>
                <a:ea typeface="+mn-ea"/>
                <a:cs typeface="+mn-cs"/>
              </a:rPr>
              <a:t>Pharmaceutical pollution </a:t>
            </a:r>
            <a:r>
              <a:rPr lang="en-US" sz="1200" b="0" i="0" u="none" strike="noStrike" kern="1200" baseline="0" dirty="0" smtClean="0">
                <a:solidFill>
                  <a:schemeClr val="tx1"/>
                </a:solidFill>
                <a:latin typeface="+mn-lt"/>
                <a:ea typeface="+mn-ea"/>
                <a:cs typeface="+mn-cs"/>
              </a:rPr>
              <a:t>was measured in 258 of the world’s rivers spanning 104 countries. (A) The frequency of detections </a:t>
            </a:r>
            <a:r>
              <a:rPr lang="en-IN" sz="1200" b="0" i="0" u="none" strike="noStrike" kern="1200" baseline="0" dirty="0" smtClean="0">
                <a:solidFill>
                  <a:schemeClr val="tx1"/>
                </a:solidFill>
                <a:latin typeface="+mn-lt"/>
                <a:ea typeface="+mn-ea"/>
                <a:cs typeface="+mn-cs"/>
              </a:rPr>
              <a:t>(</a:t>
            </a:r>
            <a:r>
              <a:rPr lang="en-IN" sz="1200" b="0" i="1" u="none" strike="noStrike" kern="1200" baseline="0" dirty="0" smtClean="0">
                <a:solidFill>
                  <a:schemeClr val="tx1"/>
                </a:solidFill>
                <a:latin typeface="+mn-lt"/>
                <a:ea typeface="+mn-ea"/>
                <a:cs typeface="+mn-cs"/>
              </a:rPr>
              <a:t>x</a:t>
            </a:r>
            <a:r>
              <a:rPr lang="en-IN" sz="1200" b="0" i="0" u="none" strike="noStrike" kern="1200" baseline="0" dirty="0" smtClean="0">
                <a:solidFill>
                  <a:schemeClr val="tx1"/>
                </a:solidFill>
                <a:latin typeface="+mn-lt"/>
                <a:ea typeface="+mn-ea"/>
                <a:cs typeface="+mn-cs"/>
              </a:rPr>
              <a:t>-axis) for each </a:t>
            </a:r>
            <a:r>
              <a:rPr lang="en-IN" sz="1200" b="0" i="0" u="none" strike="noStrike" kern="1200" baseline="0" dirty="0" smtClean="0">
                <a:solidFill>
                  <a:schemeClr val="tx1"/>
                </a:solidFill>
                <a:latin typeface="+mn-lt"/>
                <a:ea typeface="+mn-ea"/>
                <a:cs typeface="+mn-cs"/>
              </a:rPr>
              <a:t>compound measured </a:t>
            </a:r>
            <a:r>
              <a:rPr lang="en-IN" sz="1200" b="0" i="0" u="none" strike="noStrike" kern="1200" baseline="0" dirty="0" smtClean="0">
                <a:solidFill>
                  <a:schemeClr val="tx1"/>
                </a:solidFill>
                <a:latin typeface="+mn-lt"/>
                <a:ea typeface="+mn-ea"/>
                <a:cs typeface="+mn-cs"/>
              </a:rPr>
              <a:t>(</a:t>
            </a:r>
            <a:r>
              <a:rPr lang="en-IN" sz="1200" b="0" i="1" u="none" strike="noStrike" kern="1200" baseline="0" dirty="0" smtClean="0">
                <a:solidFill>
                  <a:schemeClr val="tx1"/>
                </a:solidFill>
                <a:latin typeface="+mn-lt"/>
                <a:ea typeface="+mn-ea"/>
                <a:cs typeface="+mn-cs"/>
              </a:rPr>
              <a:t>y</a:t>
            </a:r>
            <a:r>
              <a:rPr lang="en-IN" sz="1200" b="0" i="0" u="none" strike="noStrike" kern="1200" baseline="0" dirty="0" smtClean="0">
                <a:solidFill>
                  <a:schemeClr val="tx1"/>
                </a:solidFill>
                <a:latin typeface="+mn-lt"/>
                <a:ea typeface="+mn-ea"/>
                <a:cs typeface="+mn-cs"/>
              </a:rPr>
              <a:t>-axis). The frequency </a:t>
            </a:r>
            <a:r>
              <a:rPr lang="en-US" sz="1200" b="0" i="0" u="none" strike="noStrike" kern="1200" baseline="0" dirty="0" smtClean="0">
                <a:solidFill>
                  <a:schemeClr val="tx1"/>
                </a:solidFill>
                <a:latin typeface="+mn-lt"/>
                <a:ea typeface="+mn-ea"/>
                <a:cs typeface="+mn-cs"/>
              </a:rPr>
              <a:t>of detection is measured as the percentage of rivers in which the compound was detected. (B) The number of river sites (</a:t>
            </a:r>
            <a:r>
              <a:rPr lang="en-US" sz="1200" b="0" i="1" u="none" strike="noStrike" kern="1200" baseline="0" dirty="0" smtClean="0">
                <a:solidFill>
                  <a:schemeClr val="tx1"/>
                </a:solidFill>
                <a:latin typeface="+mn-lt"/>
                <a:ea typeface="+mn-ea"/>
                <a:cs typeface="+mn-cs"/>
              </a:rPr>
              <a:t>y </a:t>
            </a:r>
            <a:r>
              <a:rPr lang="en-US" sz="1200" b="0" i="0" u="none" strike="noStrike" kern="1200" baseline="0" dirty="0" smtClean="0">
                <a:solidFill>
                  <a:schemeClr val="tx1"/>
                </a:solidFill>
                <a:latin typeface="+mn-lt"/>
                <a:ea typeface="+mn-ea"/>
                <a:cs typeface="+mn-cs"/>
              </a:rPr>
              <a:t>axis) in which an increasing number of </a:t>
            </a:r>
            <a:r>
              <a:rPr lang="en-IN" sz="1200" b="0" i="0" u="none" strike="noStrike" kern="1200" baseline="0" dirty="0" smtClean="0">
                <a:solidFill>
                  <a:schemeClr val="tx1"/>
                </a:solidFill>
                <a:latin typeface="+mn-lt"/>
                <a:ea typeface="+mn-ea"/>
                <a:cs typeface="+mn-cs"/>
              </a:rPr>
              <a:t>active pharmaceutical ingredients </a:t>
            </a:r>
            <a:r>
              <a:rPr lang="en-US" sz="1200" b="0" i="0" u="none" strike="noStrike" kern="1200" baseline="0" dirty="0" smtClean="0">
                <a:solidFill>
                  <a:schemeClr val="tx1"/>
                </a:solidFill>
                <a:latin typeface="+mn-lt"/>
                <a:ea typeface="+mn-ea"/>
                <a:cs typeface="+mn-cs"/>
              </a:rPr>
              <a:t>(APIs) were measured at detectable </a:t>
            </a:r>
            <a:r>
              <a:rPr lang="en-IN" sz="1200" b="0" i="0" u="none" strike="noStrike" kern="1200" baseline="0" dirty="0" smtClean="0">
                <a:solidFill>
                  <a:schemeClr val="tx1"/>
                </a:solidFill>
                <a:latin typeface="+mn-lt"/>
                <a:ea typeface="+mn-ea"/>
                <a:cs typeface="+mn-cs"/>
              </a:rPr>
              <a:t>levels (</a:t>
            </a:r>
            <a:r>
              <a:rPr lang="en-IN" sz="1200" b="0" i="1" u="none" strike="noStrike" kern="1200" baseline="0" dirty="0" smtClean="0">
                <a:solidFill>
                  <a:schemeClr val="tx1"/>
                </a:solidFill>
                <a:latin typeface="+mn-lt"/>
                <a:ea typeface="+mn-ea"/>
                <a:cs typeface="+mn-cs"/>
              </a:rPr>
              <a:t>x </a:t>
            </a:r>
            <a:r>
              <a:rPr lang="en-IN" sz="1200" b="0" i="0" u="none" strike="noStrike" kern="1200" baseline="0" dirty="0" smtClean="0">
                <a:solidFill>
                  <a:schemeClr val="tx1"/>
                </a:solidFill>
                <a:latin typeface="+mn-lt"/>
                <a:ea typeface="+mn-ea"/>
                <a:cs typeface="+mn-cs"/>
              </a:rPr>
              <a:t>axis).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21</a:t>
            </a:fld>
            <a:endParaRPr lang="en-US"/>
          </a:p>
        </p:txBody>
      </p:sp>
    </p:spTree>
    <p:extLst>
      <p:ext uri="{BB962C8B-B14F-4D97-AF65-F5344CB8AC3E}">
        <p14:creationId xmlns:p14="http://schemas.microsoft.com/office/powerpoint/2010/main" val="39028854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9.16 </a:t>
            </a:r>
            <a:r>
              <a:rPr lang="en-US" sz="1200" b="0" i="0" u="none" strike="noStrike" kern="1200" baseline="0" dirty="0" smtClean="0">
                <a:solidFill>
                  <a:schemeClr val="tx1"/>
                </a:solidFill>
                <a:latin typeface="+mn-lt"/>
                <a:ea typeface="+mn-ea"/>
                <a:cs typeface="+mn-cs"/>
              </a:rPr>
              <a:t>In 2018, a small male pilot whale was found near the Thai border with Malaysia, unable to swim or breathe and vomiting plastic bags. After the whale died, a necropsy revealed 80 plastic bags weighing 7.7 kg, which the whale likely mistook for food, clogging its stomach.</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22</a:t>
            </a:fld>
            <a:endParaRPr lang="en-US"/>
          </a:p>
        </p:txBody>
      </p:sp>
    </p:spTree>
    <p:extLst>
      <p:ext uri="{BB962C8B-B14F-4D97-AF65-F5344CB8AC3E}">
        <p14:creationId xmlns:p14="http://schemas.microsoft.com/office/powerpoint/2010/main" val="158305615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9.17 </a:t>
            </a:r>
            <a:r>
              <a:rPr lang="en-US" sz="1200" b="0" i="0" u="none" strike="noStrike" kern="1200" baseline="0" dirty="0" smtClean="0">
                <a:solidFill>
                  <a:schemeClr val="tx1"/>
                </a:solidFill>
                <a:latin typeface="+mn-lt"/>
                <a:ea typeface="+mn-ea"/>
                <a:cs typeface="+mn-cs"/>
              </a:rPr>
              <a:t>(A) Arid areas of the world are experiencing encroaching desertification, with increasing aridity and expanding deserts. The regions shaded in red, orange, and yellow are vulnerable to desertification and are potentially at risk of becoming desert over the next several decades. (B) Deserts are expanding in the Sahel region south of the Sahara as human </a:t>
            </a:r>
            <a:r>
              <a:rPr lang="en-IN" sz="1200" b="0" i="0" u="none" strike="noStrike" kern="1200" baseline="0" dirty="0" smtClean="0">
                <a:solidFill>
                  <a:schemeClr val="tx1"/>
                </a:solidFill>
                <a:latin typeface="+mn-lt"/>
                <a:ea typeface="+mn-ea"/>
                <a:cs typeface="+mn-cs"/>
              </a:rPr>
              <a:t>activities stress semiarid ecosystems.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23</a:t>
            </a:fld>
            <a:endParaRPr lang="en-US"/>
          </a:p>
        </p:txBody>
      </p:sp>
    </p:spTree>
    <p:extLst>
      <p:ext uri="{BB962C8B-B14F-4D97-AF65-F5344CB8AC3E}">
        <p14:creationId xmlns:p14="http://schemas.microsoft.com/office/powerpoint/2010/main" val="17415865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9.18 </a:t>
            </a:r>
            <a:r>
              <a:rPr lang="en-US" sz="1200" b="0" i="0" u="none" strike="noStrike" kern="1200" baseline="0" dirty="0" smtClean="0">
                <a:solidFill>
                  <a:schemeClr val="tx1"/>
                </a:solidFill>
                <a:latin typeface="+mn-lt"/>
                <a:ea typeface="+mn-ea"/>
                <a:cs typeface="+mn-cs"/>
              </a:rPr>
              <a:t>(A) Modern landscapes increasingly look like patchy mosaics where some habitats have been lost and converted to human uses, others have been degraded by human activities, and those that remain are small, fragmented, and disconnected from each other. (B) Species populations in landscape mosaics are</a:t>
            </a:r>
          </a:p>
          <a:p>
            <a:r>
              <a:rPr lang="en-US" sz="1200" b="0" i="0" u="none" strike="noStrike" kern="1200" baseline="0" dirty="0" smtClean="0">
                <a:solidFill>
                  <a:schemeClr val="tx1"/>
                </a:solidFill>
                <a:latin typeface="+mn-lt"/>
                <a:ea typeface="+mn-ea"/>
                <a:cs typeface="+mn-cs"/>
              </a:rPr>
              <a:t>often subdivided and behave like a </a:t>
            </a:r>
            <a:r>
              <a:rPr lang="en-US" sz="1200" b="0" i="0" u="none" strike="noStrike" kern="1200" baseline="0" dirty="0" err="1" smtClean="0">
                <a:solidFill>
                  <a:schemeClr val="tx1"/>
                </a:solidFill>
                <a:latin typeface="+mn-lt"/>
                <a:ea typeface="+mn-ea"/>
                <a:cs typeface="+mn-cs"/>
              </a:rPr>
              <a:t>metapopulation</a:t>
            </a:r>
            <a:r>
              <a:rPr lang="en-US" sz="1200" b="0" i="0" u="none" strike="noStrike" kern="1200" baseline="0" dirty="0" smtClean="0">
                <a:solidFill>
                  <a:schemeClr val="tx1"/>
                </a:solidFill>
                <a:latin typeface="+mn-lt"/>
                <a:ea typeface="+mn-ea"/>
                <a:cs typeface="+mn-cs"/>
              </a:rPr>
              <a:t> where some populations are sources and others are sinks.</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24</a:t>
            </a:fld>
            <a:endParaRPr lang="en-US"/>
          </a:p>
        </p:txBody>
      </p:sp>
    </p:spTree>
    <p:extLst>
      <p:ext uri="{BB962C8B-B14F-4D97-AF65-F5344CB8AC3E}">
        <p14:creationId xmlns:p14="http://schemas.microsoft.com/office/powerpoint/2010/main" val="11584812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9.19 </a:t>
            </a:r>
            <a:r>
              <a:rPr lang="en-US" sz="1200" b="0" i="0" u="none" strike="noStrike" kern="1200" baseline="0" dirty="0" smtClean="0">
                <a:solidFill>
                  <a:schemeClr val="tx1"/>
                </a:solidFill>
                <a:latin typeface="+mn-lt"/>
                <a:ea typeface="+mn-ea"/>
                <a:cs typeface="+mn-cs"/>
              </a:rPr>
              <a:t>(A) The bay </a:t>
            </a:r>
            <a:r>
              <a:rPr lang="en-US" sz="1200" b="0" i="0" u="none" strike="noStrike" kern="1200" baseline="0" dirty="0" err="1" smtClean="0">
                <a:solidFill>
                  <a:schemeClr val="tx1"/>
                </a:solidFill>
                <a:latin typeface="+mn-lt"/>
                <a:ea typeface="+mn-ea"/>
                <a:cs typeface="+mn-cs"/>
              </a:rPr>
              <a:t>checkerspot</a:t>
            </a:r>
            <a:r>
              <a:rPr lang="en-US" sz="1200" b="0" i="0" u="none" strike="noStrike" kern="1200" baseline="0" dirty="0" smtClean="0">
                <a:solidFill>
                  <a:schemeClr val="tx1"/>
                </a:solidFill>
                <a:latin typeface="+mn-lt"/>
                <a:ea typeface="+mn-ea"/>
                <a:cs typeface="+mn-cs"/>
              </a:rPr>
              <a:t> butterfly (</a:t>
            </a:r>
            <a:r>
              <a:rPr lang="en-US" sz="1200" b="0" i="1" u="none" strike="noStrike" kern="1200" baseline="0" dirty="0" err="1" smtClean="0">
                <a:solidFill>
                  <a:schemeClr val="tx1"/>
                </a:solidFill>
                <a:latin typeface="+mn-lt"/>
                <a:ea typeface="+mn-ea"/>
                <a:cs typeface="+mn-cs"/>
              </a:rPr>
              <a:t>Euphydryas</a:t>
            </a:r>
            <a:r>
              <a:rPr lang="en-US" sz="1200" b="0" i="1" u="none" strike="noStrike" kern="1200" baseline="0" dirty="0" smtClean="0">
                <a:solidFill>
                  <a:schemeClr val="tx1"/>
                </a:solidFill>
                <a:latin typeface="+mn-lt"/>
                <a:ea typeface="+mn-ea"/>
                <a:cs typeface="+mn-cs"/>
              </a:rPr>
              <a:t> </a:t>
            </a:r>
            <a:r>
              <a:rPr lang="en-US" sz="1200" b="0" i="1" u="none" strike="noStrike" kern="1200" baseline="0" dirty="0" err="1" smtClean="0">
                <a:solidFill>
                  <a:schemeClr val="tx1"/>
                </a:solidFill>
                <a:latin typeface="+mn-lt"/>
                <a:ea typeface="+mn-ea"/>
                <a:cs typeface="+mn-cs"/>
              </a:rPr>
              <a:t>editha</a:t>
            </a:r>
            <a:r>
              <a:rPr lang="en-US" sz="1200" b="0" i="1" u="none" strike="noStrike" kern="1200" baseline="0" dirty="0" smtClean="0">
                <a:solidFill>
                  <a:schemeClr val="tx1"/>
                </a:solidFill>
                <a:latin typeface="+mn-lt"/>
                <a:ea typeface="+mn-ea"/>
                <a:cs typeface="+mn-cs"/>
              </a:rPr>
              <a:t> </a:t>
            </a:r>
            <a:r>
              <a:rPr lang="en-US" sz="1200" b="0" i="1" u="none" strike="noStrike" kern="1200" baseline="0" dirty="0" err="1" smtClean="0">
                <a:solidFill>
                  <a:schemeClr val="tx1"/>
                </a:solidFill>
                <a:latin typeface="+mn-lt"/>
                <a:ea typeface="+mn-ea"/>
                <a:cs typeface="+mn-cs"/>
              </a:rPr>
              <a:t>bayensis</a:t>
            </a:r>
            <a:r>
              <a:rPr lang="en-US" sz="1200" b="0" i="0" u="none" strike="noStrike" kern="1200" baseline="0" dirty="0" smtClean="0">
                <a:solidFill>
                  <a:schemeClr val="tx1"/>
                </a:solidFill>
                <a:latin typeface="+mn-lt"/>
                <a:ea typeface="+mn-ea"/>
                <a:cs typeface="+mn-cs"/>
              </a:rPr>
              <a:t>) was once distributed throughout the western United States. However, habitat loss, fragmentation, and degradation have severely reduced its population size and restricted its range to the San Francisco Bay region of California. (B) In its current habitat, the bay </a:t>
            </a:r>
            <a:r>
              <a:rPr lang="en-US" sz="1200" b="0" i="0" u="none" strike="noStrike" kern="1200" baseline="0" dirty="0" err="1" smtClean="0">
                <a:solidFill>
                  <a:schemeClr val="tx1"/>
                </a:solidFill>
                <a:latin typeface="+mn-lt"/>
                <a:ea typeface="+mn-ea"/>
                <a:cs typeface="+mn-cs"/>
              </a:rPr>
              <a:t>checkerspot</a:t>
            </a:r>
            <a:r>
              <a:rPr lang="en-US" sz="1200" b="0" i="0" u="none" strike="noStrike" kern="1200" baseline="0" dirty="0" smtClean="0">
                <a:solidFill>
                  <a:schemeClr val="tx1"/>
                </a:solidFill>
                <a:latin typeface="+mn-lt"/>
                <a:ea typeface="+mn-ea"/>
                <a:cs typeface="+mn-cs"/>
              </a:rPr>
              <a:t> butterfly exists as a </a:t>
            </a:r>
            <a:r>
              <a:rPr lang="en-US" sz="1200" b="0" i="0" u="none" strike="noStrike" kern="1200" baseline="0" dirty="0" err="1" smtClean="0">
                <a:solidFill>
                  <a:schemeClr val="tx1"/>
                </a:solidFill>
                <a:latin typeface="+mn-lt"/>
                <a:ea typeface="+mn-ea"/>
                <a:cs typeface="+mn-cs"/>
              </a:rPr>
              <a:t>metapopulation</a:t>
            </a:r>
            <a:r>
              <a:rPr lang="en-US" sz="1200" b="0" i="0" u="none" strike="noStrike" kern="1200" baseline="0" dirty="0" smtClean="0">
                <a:solidFill>
                  <a:schemeClr val="tx1"/>
                </a:solidFill>
                <a:latin typeface="+mn-lt"/>
                <a:ea typeface="+mn-ea"/>
                <a:cs typeface="+mn-cs"/>
              </a:rPr>
              <a:t> composed of many distinct subpopulations that inhabit shallow serpentine soils where its host plant (the dwarf plantain, </a:t>
            </a:r>
            <a:r>
              <a:rPr lang="en-US" sz="1200" b="0" i="1" u="none" strike="noStrike" kern="1200" baseline="0" dirty="0" err="1" smtClean="0">
                <a:solidFill>
                  <a:schemeClr val="tx1"/>
                </a:solidFill>
                <a:latin typeface="+mn-lt"/>
                <a:ea typeface="+mn-ea"/>
                <a:cs typeface="+mn-cs"/>
              </a:rPr>
              <a:t>Plantago</a:t>
            </a:r>
            <a:r>
              <a:rPr lang="en-US" sz="1200" b="0" i="1" u="none" strike="noStrike" kern="1200" baseline="0" dirty="0" smtClean="0">
                <a:solidFill>
                  <a:schemeClr val="tx1"/>
                </a:solidFill>
                <a:latin typeface="+mn-lt"/>
                <a:ea typeface="+mn-ea"/>
                <a:cs typeface="+mn-cs"/>
              </a:rPr>
              <a:t> </a:t>
            </a:r>
            <a:r>
              <a:rPr lang="en-US" sz="1200" b="0" i="1" u="none" strike="noStrike" kern="1200" baseline="0" dirty="0" err="1" smtClean="0">
                <a:solidFill>
                  <a:schemeClr val="tx1"/>
                </a:solidFill>
                <a:latin typeface="+mn-lt"/>
                <a:ea typeface="+mn-ea"/>
                <a:cs typeface="+mn-cs"/>
              </a:rPr>
              <a:t>erecta</a:t>
            </a:r>
            <a:r>
              <a:rPr lang="en-US" sz="1200" b="0" i="0" u="none" strike="noStrike" kern="1200" baseline="0" dirty="0" smtClean="0">
                <a:solidFill>
                  <a:schemeClr val="tx1"/>
                </a:solidFill>
                <a:latin typeface="+mn-lt"/>
                <a:ea typeface="+mn-ea"/>
                <a:cs typeface="+mn-cs"/>
              </a:rPr>
              <a:t>) is found. Biologists have used </a:t>
            </a:r>
            <a:r>
              <a:rPr lang="en-US" sz="1200" b="0" i="0" u="none" strike="noStrike" kern="1200" baseline="0" dirty="0" err="1" smtClean="0">
                <a:solidFill>
                  <a:schemeClr val="tx1"/>
                </a:solidFill>
                <a:latin typeface="+mn-lt"/>
                <a:ea typeface="+mn-ea"/>
                <a:cs typeface="+mn-cs"/>
              </a:rPr>
              <a:t>metapopulation</a:t>
            </a:r>
            <a:r>
              <a:rPr lang="en-US" sz="1200" b="0" i="0" u="none" strike="noStrike" kern="1200" baseline="0" dirty="0" smtClean="0">
                <a:solidFill>
                  <a:schemeClr val="tx1"/>
                </a:solidFill>
                <a:latin typeface="+mn-lt"/>
                <a:ea typeface="+mn-ea"/>
                <a:cs typeface="+mn-cs"/>
              </a:rPr>
              <a:t> models to estimate the probability of extinction of the species and the number of habitat patches required for the butterfly to persist in the landscape and to determine </a:t>
            </a:r>
            <a:r>
              <a:rPr lang="en-IN" sz="1200" b="0" i="0" u="none" strike="noStrike" kern="1200" baseline="0" dirty="0" smtClean="0">
                <a:solidFill>
                  <a:schemeClr val="tx1"/>
                </a:solidFill>
                <a:latin typeface="+mn-lt"/>
                <a:ea typeface="+mn-ea"/>
                <a:cs typeface="+mn-cs"/>
              </a:rPr>
              <a:t>high-priority habitats for conservation.</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25</a:t>
            </a:fld>
            <a:endParaRPr lang="en-US"/>
          </a:p>
        </p:txBody>
      </p:sp>
    </p:spTree>
    <p:extLst>
      <p:ext uri="{BB962C8B-B14F-4D97-AF65-F5344CB8AC3E}">
        <p14:creationId xmlns:p14="http://schemas.microsoft.com/office/powerpoint/2010/main" val="35649876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mn-lt"/>
                <a:ea typeface="+mn-ea"/>
                <a:cs typeface="+mn-cs"/>
              </a:rPr>
              <a:t>Stylistic representation of two kinds of </a:t>
            </a:r>
            <a:r>
              <a:rPr lang="en-US" sz="1200" b="0" i="0" u="none" strike="noStrike" kern="1200" baseline="0" dirty="0" err="1" smtClean="0">
                <a:solidFill>
                  <a:schemeClr val="tx1"/>
                </a:solidFill>
                <a:latin typeface="+mn-lt"/>
                <a:ea typeface="+mn-ea"/>
                <a:cs typeface="+mn-cs"/>
              </a:rPr>
              <a:t>metapopulations</a:t>
            </a:r>
            <a:r>
              <a:rPr lang="en-US" sz="1200" b="0" i="0" u="none" strike="noStrike" kern="1200" baseline="0" dirty="0" smtClean="0">
                <a:solidFill>
                  <a:schemeClr val="tx1"/>
                </a:solidFill>
                <a:latin typeface="+mn-lt"/>
                <a:ea typeface="+mn-ea"/>
                <a:cs typeface="+mn-cs"/>
              </a:rPr>
              <a:t>. Ovals represent habitat patches: filled ovals represent occupied patches; open ovals represent vacant patches. Arrows indicate migration, and dashed lines indicate the boundaries of local populations. (A) </a:t>
            </a:r>
            <a:r>
              <a:rPr lang="en-US" sz="1200" b="0" i="0" u="none" strike="noStrike" kern="1200" baseline="0" dirty="0" err="1" smtClean="0">
                <a:solidFill>
                  <a:schemeClr val="tx1"/>
                </a:solidFill>
                <a:latin typeface="+mn-lt"/>
                <a:ea typeface="+mn-ea"/>
                <a:cs typeface="+mn-cs"/>
              </a:rPr>
              <a:t>Metapopulation</a:t>
            </a:r>
            <a:r>
              <a:rPr lang="en-US" sz="1200" b="0" i="0" u="none" strike="noStrike" kern="1200" baseline="0" dirty="0" smtClean="0">
                <a:solidFill>
                  <a:schemeClr val="tx1"/>
                </a:solidFill>
                <a:latin typeface="+mn-lt"/>
                <a:ea typeface="+mn-ea"/>
                <a:cs typeface="+mn-cs"/>
              </a:rPr>
              <a:t> model. (B) Mainland–island (or source–sink) </a:t>
            </a:r>
            <a:r>
              <a:rPr lang="en-US" sz="1200" b="0" i="0" u="none" strike="noStrike" kern="1200" baseline="0" dirty="0" err="1" smtClean="0">
                <a:solidFill>
                  <a:schemeClr val="tx1"/>
                </a:solidFill>
                <a:latin typeface="+mn-lt"/>
                <a:ea typeface="+mn-ea"/>
                <a:cs typeface="+mn-cs"/>
              </a:rPr>
              <a:t>metapopulation</a:t>
            </a:r>
            <a:r>
              <a:rPr lang="en-US" sz="1200" b="0" i="0" u="none" strike="noStrike" kern="1200" baseline="0" dirty="0" smtClean="0">
                <a:solidFill>
                  <a:schemeClr val="tx1"/>
                </a:solidFill>
                <a:latin typeface="+mn-lt"/>
                <a:ea typeface="+mn-ea"/>
                <a:cs typeface="+mn-cs"/>
              </a:rPr>
              <a:t>.</a:t>
            </a:r>
            <a:endParaRPr lang="en-IN" dirty="0"/>
          </a:p>
        </p:txBody>
      </p:sp>
      <p:sp>
        <p:nvSpPr>
          <p:cNvPr id="4" name="Slide Number Placeholder 3"/>
          <p:cNvSpPr>
            <a:spLocks noGrp="1"/>
          </p:cNvSpPr>
          <p:nvPr>
            <p:ph type="sldNum" sz="quarter" idx="10"/>
          </p:nvPr>
        </p:nvSpPr>
        <p:spPr/>
        <p:txBody>
          <a:bodyPr/>
          <a:lstStyle/>
          <a:p>
            <a:pPr>
              <a:defRPr/>
            </a:pPr>
            <a:fld id="{F6F973A6-1012-42FB-8183-4D3C37B2EBC3}" type="slidenum">
              <a:rPr lang="en-US" smtClean="0"/>
              <a:pPr>
                <a:defRPr/>
              </a:pPr>
              <a:t>26</a:t>
            </a:fld>
            <a:endParaRPr lang="en-US"/>
          </a:p>
        </p:txBody>
      </p:sp>
    </p:spTree>
    <p:extLst>
      <p:ext uri="{BB962C8B-B14F-4D97-AF65-F5344CB8AC3E}">
        <p14:creationId xmlns:p14="http://schemas.microsoft.com/office/powerpoint/2010/main" val="27691011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pic>
        <p:nvPicPr>
          <p:cNvPr id="5" name="Picture 5" descr="Oxford University Press logo"/>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5976938"/>
            <a:ext cx="2505075" cy="881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Placeholder 1"/>
          <p:cNvSpPr>
            <a:spLocks noGrp="1"/>
          </p:cNvSpPr>
          <p:nvPr>
            <p:ph type="title"/>
          </p:nvPr>
        </p:nvSpPr>
        <p:spPr>
          <a:xfrm>
            <a:off x="450575" y="586409"/>
            <a:ext cx="11317356" cy="566530"/>
          </a:xfrm>
          <a:prstGeom prst="rect">
            <a:avLst/>
          </a:prstGeom>
        </p:spPr>
        <p:txBody>
          <a:bodyPr rtlCol="0" anchor="t">
            <a:normAutofit/>
          </a:bodyPr>
          <a:lstStyle>
            <a:lvl1pPr algn="ctr">
              <a:defRPr sz="3600" b="1" i="1"/>
            </a:lvl1pPr>
          </a:lstStyle>
          <a:p>
            <a:r>
              <a:rPr lang="en-US" smtClean="0"/>
              <a:t>Click to edit Master title style</a:t>
            </a:r>
            <a:endParaRPr lang="en-US" dirty="0"/>
          </a:p>
        </p:txBody>
      </p:sp>
      <p:sp>
        <p:nvSpPr>
          <p:cNvPr id="11" name="Text Placeholder 10"/>
          <p:cNvSpPr>
            <a:spLocks noGrp="1"/>
          </p:cNvSpPr>
          <p:nvPr>
            <p:ph type="body" sz="quarter" idx="11"/>
          </p:nvPr>
        </p:nvSpPr>
        <p:spPr>
          <a:xfrm>
            <a:off x="450851" y="1152525"/>
            <a:ext cx="11317816" cy="477838"/>
          </a:xfrm>
          <a:prstGeom prst="rect">
            <a:avLst/>
          </a:prstGeom>
        </p:spPr>
        <p:txBody>
          <a:bodyPr/>
          <a:lstStyle>
            <a:lvl1pPr marL="0" indent="0" algn="ctr">
              <a:buNone/>
              <a:defRPr sz="2400">
                <a:solidFill>
                  <a:srgbClr val="1F497D"/>
                </a:solidFill>
              </a:defRPr>
            </a:lvl1pPr>
          </a:lstStyle>
          <a:p>
            <a:pPr lvl="0"/>
            <a:r>
              <a:rPr lang="en-US"/>
              <a:t>Edit Master text styles</a:t>
            </a:r>
          </a:p>
        </p:txBody>
      </p:sp>
      <p:sp>
        <p:nvSpPr>
          <p:cNvPr id="6" name="Picture Placeholder 5"/>
          <p:cNvSpPr>
            <a:spLocks noGrp="1"/>
          </p:cNvSpPr>
          <p:nvPr>
            <p:ph type="pic" sz="quarter" idx="10"/>
          </p:nvPr>
        </p:nvSpPr>
        <p:spPr>
          <a:xfrm>
            <a:off x="3710609" y="1808921"/>
            <a:ext cx="4770784" cy="4283766"/>
          </a:xfrm>
          <a:prstGeom prst="rect">
            <a:avLst/>
          </a:prstGeom>
        </p:spPr>
        <p:txBody>
          <a:bodyPr rtlCol="0">
            <a:normAutofit/>
          </a:bodyPr>
          <a:lstStyle/>
          <a:p>
            <a:pPr lvl="0"/>
            <a:r>
              <a:rPr lang="en-US" noProof="0"/>
              <a:t>Click icon to add picture</a:t>
            </a:r>
            <a:endParaRPr lang="en-US" noProof="0" dirty="0"/>
          </a:p>
        </p:txBody>
      </p:sp>
    </p:spTree>
    <p:extLst>
      <p:ext uri="{BB962C8B-B14F-4D97-AF65-F5344CB8AC3E}">
        <p14:creationId xmlns:p14="http://schemas.microsoft.com/office/powerpoint/2010/main" val="3890316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154626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p:txBody>
      </p:sp>
    </p:spTree>
    <p:extLst>
      <p:ext uri="{BB962C8B-B14F-4D97-AF65-F5344CB8AC3E}">
        <p14:creationId xmlns:p14="http://schemas.microsoft.com/office/powerpoint/2010/main" val="38035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8EB49-10B0-434E-B9A9-AEEABF0BE468}"/>
              </a:ext>
            </a:extLst>
          </p:cNvPr>
          <p:cNvSpPr>
            <a:spLocks noGrp="1"/>
          </p:cNvSpPr>
          <p:nvPr>
            <p:ph type="title"/>
          </p:nvPr>
        </p:nvSpPr>
        <p:spPr/>
        <p:txBody>
          <a:bodyPr/>
          <a:lstStyle>
            <a:lvl1pPr>
              <a:defRPr>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397363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igur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1A7EB-3577-43FD-9B2D-BCEA4F83C945}"/>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1546028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88EB49-10B0-434E-B9A9-AEEABF0BE468}"/>
              </a:ext>
            </a:extLst>
          </p:cNvPr>
          <p:cNvSpPr>
            <a:spLocks noGrp="1"/>
          </p:cNvSpPr>
          <p:nvPr>
            <p:ph type="title"/>
          </p:nvPr>
        </p:nvSpPr>
        <p:spPr/>
        <p:txBody>
          <a:bodyPr/>
          <a:lstStyle/>
          <a:p>
            <a:r>
              <a:rPr lang="en-US"/>
              <a:t>Click to edit Master title style</a:t>
            </a:r>
          </a:p>
        </p:txBody>
      </p:sp>
      <p:sp>
        <p:nvSpPr>
          <p:cNvPr id="4" name="Table Placeholder 3">
            <a:extLst>
              <a:ext uri="{FF2B5EF4-FFF2-40B4-BE49-F238E27FC236}">
                <a16:creationId xmlns:a16="http://schemas.microsoft.com/office/drawing/2014/main" id="{143F8EF5-4C16-48DE-A586-E7CCF94F9F03}"/>
              </a:ext>
            </a:extLst>
          </p:cNvPr>
          <p:cNvSpPr>
            <a:spLocks noGrp="1"/>
          </p:cNvSpPr>
          <p:nvPr>
            <p:ph type="tbl" sz="quarter" idx="10"/>
          </p:nvPr>
        </p:nvSpPr>
        <p:spPr>
          <a:xfrm>
            <a:off x="1366838" y="808037"/>
            <a:ext cx="9759950" cy="5045832"/>
          </a:xfrm>
        </p:spPr>
        <p:txBody>
          <a:bodyPr rtlCol="0">
            <a:normAutofit/>
          </a:bodyPr>
          <a:lstStyle/>
          <a:p>
            <a:pPr lvl="0"/>
            <a:endParaRPr lang="en-US" noProof="0"/>
          </a:p>
        </p:txBody>
      </p:sp>
      <p:sp>
        <p:nvSpPr>
          <p:cNvPr id="6" name="Text Placeholder 5">
            <a:extLst>
              <a:ext uri="{FF2B5EF4-FFF2-40B4-BE49-F238E27FC236}">
                <a16:creationId xmlns:a16="http://schemas.microsoft.com/office/drawing/2014/main" id="{F24482F5-5C68-40F1-BAC8-3387D676EB94}"/>
              </a:ext>
            </a:extLst>
          </p:cNvPr>
          <p:cNvSpPr>
            <a:spLocks noGrp="1"/>
          </p:cNvSpPr>
          <p:nvPr>
            <p:ph type="body" sz="quarter" idx="11"/>
          </p:nvPr>
        </p:nvSpPr>
        <p:spPr>
          <a:xfrm>
            <a:off x="1366838" y="5973510"/>
            <a:ext cx="9759950" cy="503490"/>
          </a:xfrm>
        </p:spPr>
        <p:txBody>
          <a:bodyPr>
            <a:noAutofit/>
          </a:bodyPr>
          <a:lstStyle>
            <a:lvl1pPr marL="0" indent="0">
              <a:buNone/>
              <a:defRPr sz="1400"/>
            </a:lvl1pPr>
            <a:lvl2pPr marL="457200" indent="0">
              <a:buNone/>
              <a:defRPr/>
            </a:lvl2pPr>
            <a:lvl3pPr marL="914400" indent="0">
              <a:buNone/>
              <a:defRPr/>
            </a:lvl3pPr>
            <a:lvl4pPr marL="1371600" indent="0">
              <a:buNone/>
              <a:defRPr/>
            </a:lvl4pPr>
            <a:lvl5pPr marL="1828800" indent="0">
              <a:buNone/>
              <a:defRPr/>
            </a:lvl5pPr>
          </a:lstStyle>
          <a:p>
            <a:pPr lvl="0"/>
            <a:r>
              <a:rPr lang="en-US" dirty="0"/>
              <a:t>Edit Master text styles</a:t>
            </a:r>
          </a:p>
        </p:txBody>
      </p:sp>
    </p:spTree>
    <p:extLst>
      <p:ext uri="{BB962C8B-B14F-4D97-AF65-F5344CB8AC3E}">
        <p14:creationId xmlns:p14="http://schemas.microsoft.com/office/powerpoint/2010/main" val="4034427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11/22/2024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523572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588" y="3175"/>
            <a:ext cx="12190412"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8" name="Text Placeholder 2"/>
          <p:cNvSpPr>
            <a:spLocks noGrp="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0"/>
            <a:r>
              <a:rPr lang="en-US" altLang="en-US" smtClean="0"/>
              <a:t>Click to edit Master text styles</a:t>
            </a:r>
          </a:p>
        </p:txBody>
      </p:sp>
      <p:sp>
        <p:nvSpPr>
          <p:cNvPr id="9" name="TextBox 8"/>
          <p:cNvSpPr txBox="1">
            <a:spLocks noChangeArrowheads="1"/>
          </p:cNvSpPr>
          <p:nvPr userDrawn="1"/>
        </p:nvSpPr>
        <p:spPr bwMode="auto">
          <a:xfrm>
            <a:off x="10363200" y="6605588"/>
            <a:ext cx="1827213" cy="246062"/>
          </a:xfrm>
          <a:prstGeom prst="rect">
            <a:avLst/>
          </a:prstGeom>
          <a:noFill/>
          <a:ln>
            <a:noFill/>
          </a:ln>
        </p:spPr>
        <p:txBody>
          <a:bodyPr wrap="none">
            <a:spAutoFit/>
          </a:bodyPr>
          <a:lstStyle>
            <a:lvl1pPr>
              <a:defRPr sz="2400" b="1">
                <a:solidFill>
                  <a:schemeClr val="bg2"/>
                </a:solidFill>
                <a:latin typeface="Times New Roman" panose="02020603050405020304" pitchFamily="18" charset="0"/>
                <a:ea typeface="ＭＳ Ｐゴシック" panose="020B0600070205080204" pitchFamily="34" charset="-128"/>
              </a:defRPr>
            </a:lvl1pPr>
            <a:lvl2pPr marL="742950" indent="-285750">
              <a:defRPr sz="2400" b="1">
                <a:solidFill>
                  <a:schemeClr val="bg2"/>
                </a:solidFill>
                <a:latin typeface="Times New Roman" panose="02020603050405020304" pitchFamily="18" charset="0"/>
                <a:ea typeface="ＭＳ Ｐゴシック" panose="020B0600070205080204" pitchFamily="34" charset="-128"/>
              </a:defRPr>
            </a:lvl2pPr>
            <a:lvl3pPr marL="1143000" indent="-228600">
              <a:defRPr sz="2400" b="1">
                <a:solidFill>
                  <a:schemeClr val="bg2"/>
                </a:solidFill>
                <a:latin typeface="Times New Roman" panose="02020603050405020304" pitchFamily="18" charset="0"/>
                <a:ea typeface="ＭＳ Ｐゴシック" panose="020B0600070205080204" pitchFamily="34" charset="-128"/>
              </a:defRPr>
            </a:lvl3pPr>
            <a:lvl4pPr marL="1600200" indent="-228600">
              <a:defRPr sz="2400" b="1">
                <a:solidFill>
                  <a:schemeClr val="bg2"/>
                </a:solidFill>
                <a:latin typeface="Times New Roman" panose="02020603050405020304" pitchFamily="18" charset="0"/>
                <a:ea typeface="ＭＳ Ｐゴシック" panose="020B0600070205080204" pitchFamily="34" charset="-128"/>
              </a:defRPr>
            </a:lvl4pPr>
            <a:lvl5pPr marL="2057400" indent="-228600">
              <a:defRPr sz="2400" b="1">
                <a:solidFill>
                  <a:schemeClr val="bg2"/>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9pPr>
          </a:lstStyle>
          <a:p>
            <a:pPr algn="r" eaLnBrk="1" fontAlgn="auto" hangingPunct="1">
              <a:spcBef>
                <a:spcPts val="0"/>
              </a:spcBef>
              <a:spcAft>
                <a:spcPts val="0"/>
              </a:spcAft>
              <a:defRPr/>
            </a:pPr>
            <a:r>
              <a:rPr lang="en-US" altLang="en-US" sz="1000" b="0" dirty="0">
                <a:solidFill>
                  <a:schemeClr val="tx1"/>
                </a:solidFill>
                <a:latin typeface="+mj-lt"/>
                <a:cs typeface="Arial" panose="020B0604020202020204" pitchFamily="34" charset="0"/>
              </a:rPr>
              <a:t>© </a:t>
            </a:r>
            <a:r>
              <a:rPr lang="en-US" altLang="en-US" sz="1000" b="0" dirty="0" smtClean="0">
                <a:solidFill>
                  <a:schemeClr val="tx1"/>
                </a:solidFill>
                <a:latin typeface="+mj-lt"/>
                <a:cs typeface="Arial" panose="020B0604020202020204" pitchFamily="34" charset="0"/>
              </a:rPr>
              <a:t>2024 </a:t>
            </a:r>
            <a:r>
              <a:rPr lang="en-US" altLang="en-US" sz="1000" b="0" dirty="0">
                <a:solidFill>
                  <a:schemeClr val="tx1"/>
                </a:solidFill>
                <a:latin typeface="+mj-lt"/>
                <a:cs typeface="Arial" panose="020B0604020202020204" pitchFamily="34" charset="0"/>
              </a:rPr>
              <a:t>Oxford University Press</a:t>
            </a:r>
          </a:p>
        </p:txBody>
      </p:sp>
    </p:spTree>
  </p:cSld>
  <p:clrMap bg1="lt1" tx1="dk1" bg2="lt2" tx2="dk2" accent1="accent1" accent2="accent2" accent3="accent3" accent4="accent4" accent5="accent5" accent6="accent6" hlink="hlink" folHlink="folHlink"/>
  <p:sldLayoutIdLst>
    <p:sldLayoutId id="2147483692" r:id="rId1"/>
    <p:sldLayoutId id="2147483687" r:id="rId2"/>
    <p:sldLayoutId id="2147483688" r:id="rId3"/>
    <p:sldLayoutId id="2147483689" r:id="rId4"/>
  </p:sldLayoutIdLst>
  <p:txStyles>
    <p:titleStyle>
      <a:lvl1pPr algn="ctr" rtl="0" eaLnBrk="0" fontAlgn="base" hangingPunct="0">
        <a:spcBef>
          <a:spcPct val="0"/>
        </a:spcBef>
        <a:spcAft>
          <a:spcPct val="0"/>
        </a:spcAft>
        <a:defRPr sz="3600" kern="1200">
          <a:solidFill>
            <a:schemeClr val="tx2"/>
          </a:solidFill>
          <a:latin typeface="+mj-lt"/>
          <a:ea typeface="+mj-ea"/>
          <a:cs typeface="+mj-cs"/>
        </a:defRPr>
      </a:lvl1pPr>
      <a:lvl2pPr algn="ctr" rtl="0" eaLnBrk="0" fontAlgn="base" hangingPunct="0">
        <a:spcBef>
          <a:spcPct val="0"/>
        </a:spcBef>
        <a:spcAft>
          <a:spcPct val="0"/>
        </a:spcAft>
        <a:defRPr sz="3600">
          <a:solidFill>
            <a:schemeClr val="tx2"/>
          </a:solidFill>
          <a:latin typeface="Calibri" panose="020F0502020204030204" pitchFamily="34" charset="0"/>
        </a:defRPr>
      </a:lvl2pPr>
      <a:lvl3pPr algn="ctr" rtl="0" eaLnBrk="0" fontAlgn="base" hangingPunct="0">
        <a:spcBef>
          <a:spcPct val="0"/>
        </a:spcBef>
        <a:spcAft>
          <a:spcPct val="0"/>
        </a:spcAft>
        <a:defRPr sz="3600">
          <a:solidFill>
            <a:schemeClr val="tx2"/>
          </a:solidFill>
          <a:latin typeface="Calibri" panose="020F0502020204030204" pitchFamily="34" charset="0"/>
        </a:defRPr>
      </a:lvl3pPr>
      <a:lvl4pPr algn="ctr" rtl="0" eaLnBrk="0" fontAlgn="base" hangingPunct="0">
        <a:spcBef>
          <a:spcPct val="0"/>
        </a:spcBef>
        <a:spcAft>
          <a:spcPct val="0"/>
        </a:spcAft>
        <a:defRPr sz="3600">
          <a:solidFill>
            <a:schemeClr val="tx2"/>
          </a:solidFill>
          <a:latin typeface="Calibri" panose="020F0502020204030204" pitchFamily="34" charset="0"/>
        </a:defRPr>
      </a:lvl4pPr>
      <a:lvl5pPr algn="ctr" rtl="0" eaLnBrk="0" fontAlgn="base" hangingPunct="0">
        <a:spcBef>
          <a:spcPct val="0"/>
        </a:spcBef>
        <a:spcAft>
          <a:spcPct val="0"/>
        </a:spcAft>
        <a:defRPr sz="3600">
          <a:solidFill>
            <a:schemeClr val="tx2"/>
          </a:solidFill>
          <a:latin typeface="Calibri" panose="020F0502020204030204" pitchFamily="34" charset="0"/>
        </a:defRPr>
      </a:lvl5pPr>
      <a:lvl6pPr marL="457200" algn="ctr" rtl="0" fontAlgn="base">
        <a:spcBef>
          <a:spcPct val="0"/>
        </a:spcBef>
        <a:spcAft>
          <a:spcPct val="0"/>
        </a:spcAft>
        <a:defRPr sz="3600">
          <a:solidFill>
            <a:schemeClr val="tx2"/>
          </a:solidFill>
          <a:latin typeface="Calibri" panose="020F0502020204030204" pitchFamily="34" charset="0"/>
        </a:defRPr>
      </a:lvl6pPr>
      <a:lvl7pPr marL="914400" algn="ctr" rtl="0" fontAlgn="base">
        <a:spcBef>
          <a:spcPct val="0"/>
        </a:spcBef>
        <a:spcAft>
          <a:spcPct val="0"/>
        </a:spcAft>
        <a:defRPr sz="3600">
          <a:solidFill>
            <a:schemeClr val="tx2"/>
          </a:solidFill>
          <a:latin typeface="Calibri" panose="020F0502020204030204" pitchFamily="34" charset="0"/>
        </a:defRPr>
      </a:lvl7pPr>
      <a:lvl8pPr marL="1371600" algn="ctr" rtl="0" fontAlgn="base">
        <a:spcBef>
          <a:spcPct val="0"/>
        </a:spcBef>
        <a:spcAft>
          <a:spcPct val="0"/>
        </a:spcAft>
        <a:defRPr sz="3600">
          <a:solidFill>
            <a:schemeClr val="tx2"/>
          </a:solidFill>
          <a:latin typeface="Calibri" panose="020F0502020204030204" pitchFamily="34" charset="0"/>
        </a:defRPr>
      </a:lvl8pPr>
      <a:lvl9pPr marL="1828800" algn="ctr" rtl="0" fontAlgn="base">
        <a:spcBef>
          <a:spcPct val="0"/>
        </a:spcBef>
        <a:spcAft>
          <a:spcPct val="0"/>
        </a:spcAft>
        <a:defRPr sz="3600">
          <a:solidFill>
            <a:schemeClr val="tx2"/>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0" y="0"/>
            <a:ext cx="12192000" cy="369888"/>
          </a:xfrm>
          <a:prstGeom prst="rect">
            <a:avLst/>
          </a:prstGeom>
          <a:solidFill>
            <a:srgbClr val="001A4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p>
            <a:pPr lvl="0"/>
            <a:r>
              <a:rPr lang="en-US" altLang="en-US" smtClean="0"/>
              <a:t>Click to edit Master title style</a:t>
            </a:r>
          </a:p>
        </p:txBody>
      </p:sp>
      <p:sp>
        <p:nvSpPr>
          <p:cNvPr id="2051" name="Text Placeholder 3"/>
          <p:cNvSpPr>
            <a:spLocks noGrp="1"/>
          </p:cNvSpPr>
          <p:nvPr>
            <p:ph type="body" idx="1"/>
          </p:nvPr>
        </p:nvSpPr>
        <p:spPr bwMode="auto">
          <a:xfrm>
            <a:off x="838200" y="952500"/>
            <a:ext cx="10515600" cy="5224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6" name="TextBox 5">
            <a:extLst>
              <a:ext uri="{FF2B5EF4-FFF2-40B4-BE49-F238E27FC236}">
                <a16:creationId xmlns:a16="http://schemas.microsoft.com/office/drawing/2014/main" id="{B9A352A1-3B59-4F46-8B27-7104614BE002}"/>
              </a:ext>
            </a:extLst>
          </p:cNvPr>
          <p:cNvSpPr txBox="1">
            <a:spLocks noChangeArrowheads="1"/>
          </p:cNvSpPr>
          <p:nvPr userDrawn="1"/>
        </p:nvSpPr>
        <p:spPr bwMode="auto">
          <a:xfrm>
            <a:off x="10363200" y="6605588"/>
            <a:ext cx="1827213" cy="246062"/>
          </a:xfrm>
          <a:prstGeom prst="rect">
            <a:avLst/>
          </a:prstGeom>
          <a:noFill/>
          <a:ln>
            <a:noFill/>
          </a:ln>
        </p:spPr>
        <p:txBody>
          <a:bodyPr wrap="none">
            <a:spAutoFit/>
          </a:bodyPr>
          <a:lstStyle>
            <a:lvl1pPr>
              <a:defRPr sz="2400" b="1">
                <a:solidFill>
                  <a:schemeClr val="bg2"/>
                </a:solidFill>
                <a:latin typeface="Times New Roman" panose="02020603050405020304" pitchFamily="18" charset="0"/>
                <a:ea typeface="ＭＳ Ｐゴシック" panose="020B0600070205080204" pitchFamily="34" charset="-128"/>
              </a:defRPr>
            </a:lvl1pPr>
            <a:lvl2pPr marL="742950" indent="-285750">
              <a:defRPr sz="2400" b="1">
                <a:solidFill>
                  <a:schemeClr val="bg2"/>
                </a:solidFill>
                <a:latin typeface="Times New Roman" panose="02020603050405020304" pitchFamily="18" charset="0"/>
                <a:ea typeface="ＭＳ Ｐゴシック" panose="020B0600070205080204" pitchFamily="34" charset="-128"/>
              </a:defRPr>
            </a:lvl2pPr>
            <a:lvl3pPr marL="1143000" indent="-228600">
              <a:defRPr sz="2400" b="1">
                <a:solidFill>
                  <a:schemeClr val="bg2"/>
                </a:solidFill>
                <a:latin typeface="Times New Roman" panose="02020603050405020304" pitchFamily="18" charset="0"/>
                <a:ea typeface="ＭＳ Ｐゴシック" panose="020B0600070205080204" pitchFamily="34" charset="-128"/>
              </a:defRPr>
            </a:lvl3pPr>
            <a:lvl4pPr marL="1600200" indent="-228600">
              <a:defRPr sz="2400" b="1">
                <a:solidFill>
                  <a:schemeClr val="bg2"/>
                </a:solidFill>
                <a:latin typeface="Times New Roman" panose="02020603050405020304" pitchFamily="18" charset="0"/>
                <a:ea typeface="ＭＳ Ｐゴシック" panose="020B0600070205080204" pitchFamily="34" charset="-128"/>
              </a:defRPr>
            </a:lvl4pPr>
            <a:lvl5pPr marL="2057400" indent="-228600">
              <a:defRPr sz="2400" b="1">
                <a:solidFill>
                  <a:schemeClr val="bg2"/>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b="1">
                <a:solidFill>
                  <a:schemeClr val="bg2"/>
                </a:solidFill>
                <a:latin typeface="Times New Roman" panose="02020603050405020304" pitchFamily="18" charset="0"/>
                <a:ea typeface="ＭＳ Ｐゴシック" panose="020B0600070205080204" pitchFamily="34" charset="-128"/>
              </a:defRPr>
            </a:lvl9pPr>
          </a:lstStyle>
          <a:p>
            <a:pPr algn="r" eaLnBrk="1" fontAlgn="auto" hangingPunct="1">
              <a:spcBef>
                <a:spcPts val="0"/>
              </a:spcBef>
              <a:spcAft>
                <a:spcPts val="0"/>
              </a:spcAft>
              <a:defRPr/>
            </a:pPr>
            <a:r>
              <a:rPr lang="en-US" altLang="en-US" sz="1000" b="0" dirty="0">
                <a:solidFill>
                  <a:schemeClr val="tx1"/>
                </a:solidFill>
                <a:latin typeface="+mj-lt"/>
                <a:cs typeface="Arial" panose="020B0604020202020204" pitchFamily="34" charset="0"/>
              </a:rPr>
              <a:t>© </a:t>
            </a:r>
            <a:r>
              <a:rPr lang="en-US" altLang="en-US" sz="1000" b="0" dirty="0" smtClean="0">
                <a:solidFill>
                  <a:schemeClr val="tx1"/>
                </a:solidFill>
                <a:latin typeface="+mj-lt"/>
                <a:cs typeface="Arial" panose="020B0604020202020204" pitchFamily="34" charset="0"/>
              </a:rPr>
              <a:t>2024 </a:t>
            </a:r>
            <a:r>
              <a:rPr lang="en-US" altLang="en-US" sz="1000" b="0" dirty="0">
                <a:solidFill>
                  <a:schemeClr val="tx1"/>
                </a:solidFill>
                <a:latin typeface="+mj-lt"/>
                <a:cs typeface="Arial" panose="020B0604020202020204" pitchFamily="34" charset="0"/>
              </a:rPr>
              <a:t>Oxford University Press</a:t>
            </a:r>
          </a:p>
        </p:txBody>
      </p:sp>
    </p:spTree>
  </p:cSld>
  <p:clrMap bg1="lt1" tx1="dk1" bg2="lt2" tx2="dk2" accent1="accent1" accent2="accent2" accent3="accent3" accent4="accent4" accent5="accent5" accent6="accent6" hlink="hlink" folHlink="folHlink"/>
  <p:sldLayoutIdLst>
    <p:sldLayoutId id="2147483690" r:id="rId1"/>
    <p:sldLayoutId id="2147483691" r:id="rId2"/>
    <p:sldLayoutId id="2147483693" r:id="rId3"/>
  </p:sldLayoutIdLst>
  <p:txStyles>
    <p:titleStyle>
      <a:lvl1pPr algn="l" rtl="0" eaLnBrk="0" fontAlgn="base" hangingPunct="0">
        <a:spcBef>
          <a:spcPct val="0"/>
        </a:spcBef>
        <a:spcAft>
          <a:spcPct val="0"/>
        </a:spcAft>
        <a:defRPr kern="1200">
          <a:solidFill>
            <a:schemeClr val="bg1"/>
          </a:solidFill>
          <a:latin typeface="+mj-lt"/>
          <a:ea typeface="+mj-ea"/>
          <a:cs typeface="+mj-cs"/>
        </a:defRPr>
      </a:lvl1pPr>
      <a:lvl2pPr algn="l" rtl="0" eaLnBrk="0" fontAlgn="base" hangingPunct="0">
        <a:spcBef>
          <a:spcPct val="0"/>
        </a:spcBef>
        <a:spcAft>
          <a:spcPct val="0"/>
        </a:spcAft>
        <a:defRPr>
          <a:solidFill>
            <a:schemeClr val="bg1"/>
          </a:solidFill>
          <a:latin typeface="Calibri" panose="020F0502020204030204" pitchFamily="34" charset="0"/>
        </a:defRPr>
      </a:lvl2pPr>
      <a:lvl3pPr algn="l" rtl="0" eaLnBrk="0" fontAlgn="base" hangingPunct="0">
        <a:spcBef>
          <a:spcPct val="0"/>
        </a:spcBef>
        <a:spcAft>
          <a:spcPct val="0"/>
        </a:spcAft>
        <a:defRPr>
          <a:solidFill>
            <a:schemeClr val="bg1"/>
          </a:solidFill>
          <a:latin typeface="Calibri" panose="020F0502020204030204" pitchFamily="34" charset="0"/>
        </a:defRPr>
      </a:lvl3pPr>
      <a:lvl4pPr algn="l" rtl="0" eaLnBrk="0" fontAlgn="base" hangingPunct="0">
        <a:spcBef>
          <a:spcPct val="0"/>
        </a:spcBef>
        <a:spcAft>
          <a:spcPct val="0"/>
        </a:spcAft>
        <a:defRPr>
          <a:solidFill>
            <a:schemeClr val="bg1"/>
          </a:solidFill>
          <a:latin typeface="Calibri" panose="020F0502020204030204" pitchFamily="34" charset="0"/>
        </a:defRPr>
      </a:lvl4pPr>
      <a:lvl5pPr algn="l" rtl="0" eaLnBrk="0" fontAlgn="base" hangingPunct="0">
        <a:spcBef>
          <a:spcPct val="0"/>
        </a:spcBef>
        <a:spcAft>
          <a:spcPct val="0"/>
        </a:spcAft>
        <a:defRPr>
          <a:solidFill>
            <a:schemeClr val="bg1"/>
          </a:solidFill>
          <a:latin typeface="Calibri" panose="020F0502020204030204" pitchFamily="34" charset="0"/>
        </a:defRPr>
      </a:lvl5pPr>
      <a:lvl6pPr marL="457200" algn="l" rtl="0" fontAlgn="base">
        <a:spcBef>
          <a:spcPct val="0"/>
        </a:spcBef>
        <a:spcAft>
          <a:spcPct val="0"/>
        </a:spcAft>
        <a:defRPr>
          <a:solidFill>
            <a:schemeClr val="bg1"/>
          </a:solidFill>
          <a:latin typeface="Calibri" panose="020F0502020204030204" pitchFamily="34" charset="0"/>
        </a:defRPr>
      </a:lvl6pPr>
      <a:lvl7pPr marL="914400" algn="l" rtl="0" fontAlgn="base">
        <a:spcBef>
          <a:spcPct val="0"/>
        </a:spcBef>
        <a:spcAft>
          <a:spcPct val="0"/>
        </a:spcAft>
        <a:defRPr>
          <a:solidFill>
            <a:schemeClr val="bg1"/>
          </a:solidFill>
          <a:latin typeface="Calibri" panose="020F0502020204030204" pitchFamily="34" charset="0"/>
        </a:defRPr>
      </a:lvl7pPr>
      <a:lvl8pPr marL="1371600" algn="l" rtl="0" fontAlgn="base">
        <a:spcBef>
          <a:spcPct val="0"/>
        </a:spcBef>
        <a:spcAft>
          <a:spcPct val="0"/>
        </a:spcAft>
        <a:defRPr>
          <a:solidFill>
            <a:schemeClr val="bg1"/>
          </a:solidFill>
          <a:latin typeface="Calibri" panose="020F0502020204030204" pitchFamily="34" charset="0"/>
        </a:defRPr>
      </a:lvl8pPr>
      <a:lvl9pPr marL="1828800" algn="l" rtl="0" fontAlgn="base">
        <a:spcBef>
          <a:spcPct val="0"/>
        </a:spcBef>
        <a:spcAft>
          <a:spcPct val="0"/>
        </a:spcAft>
        <a:defRPr>
          <a:solidFill>
            <a:schemeClr val="bg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3"/>
          <p:cNvSpPr>
            <a:spLocks noGrp="1"/>
          </p:cNvSpPr>
          <p:nvPr>
            <p:ph type="title"/>
          </p:nvPr>
        </p:nvSpPr>
        <p:spPr>
          <a:xfrm>
            <a:off x="439738" y="585788"/>
            <a:ext cx="11317287" cy="593017"/>
          </a:xfrm>
        </p:spPr>
        <p:txBody>
          <a:bodyPr>
            <a:noAutofit/>
          </a:bodyPr>
          <a:lstStyle/>
          <a:p>
            <a:pPr eaLnBrk="1" hangingPunct="1"/>
            <a:r>
              <a:rPr lang="en-US" altLang="en-US" sz="3500" dirty="0"/>
              <a:t>CONSERVATION </a:t>
            </a:r>
            <a:r>
              <a:rPr lang="en-US" altLang="en-US" sz="3500" dirty="0" smtClean="0"/>
              <a:t>BIOLOGY</a:t>
            </a:r>
            <a:endParaRPr lang="en-IN" altLang="en-US" sz="2600" dirty="0" smtClean="0"/>
          </a:p>
        </p:txBody>
      </p:sp>
      <p:sp>
        <p:nvSpPr>
          <p:cNvPr id="6147" name="Text Placeholder 5"/>
          <p:cNvSpPr>
            <a:spLocks noGrp="1"/>
          </p:cNvSpPr>
          <p:nvPr>
            <p:ph type="body" sz="quarter" idx="11"/>
          </p:nvPr>
        </p:nvSpPr>
        <p:spPr>
          <a:xfrm>
            <a:off x="450850" y="1178805"/>
            <a:ext cx="11317288" cy="450850"/>
          </a:xfrm>
        </p:spPr>
        <p:txBody>
          <a:bodyPr/>
          <a:lstStyle/>
          <a:p>
            <a:pPr eaLnBrk="1" hangingPunct="1"/>
            <a:r>
              <a:rPr lang="en-US" altLang="en-US" kern="1000" dirty="0" smtClean="0"/>
              <a:t>By </a:t>
            </a:r>
            <a:r>
              <a:rPr lang="en-US" altLang="en-US" kern="1000" dirty="0"/>
              <a:t>Bradley J. </a:t>
            </a:r>
            <a:r>
              <a:rPr lang="en-US" altLang="en-US" kern="1000" dirty="0" err="1"/>
              <a:t>Cardinale</a:t>
            </a:r>
            <a:r>
              <a:rPr lang="de-DE" dirty="0" smtClean="0"/>
              <a:t> and </a:t>
            </a:r>
            <a:r>
              <a:rPr lang="de-DE" dirty="0"/>
              <a:t>James D. Murdoch</a:t>
            </a:r>
            <a:endParaRPr lang="en-IN" altLang="en-US" kern="1000" dirty="0" smtClean="0"/>
          </a:p>
        </p:txBody>
      </p:sp>
      <p:pic>
        <p:nvPicPr>
          <p:cNvPr id="3" name="Picture 2" title="Cove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08482" y="1762127"/>
            <a:ext cx="3775037" cy="483204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2</a:t>
            </a:r>
            <a:endParaRPr lang="en-IN" dirty="0"/>
          </a:p>
        </p:txBody>
      </p:sp>
      <p:pic>
        <p:nvPicPr>
          <p:cNvPr id="2" name="Picture 1" descr="A closeup of The terrestrial arboreal alligator lizard on a branch.&#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04850" y="825086"/>
            <a:ext cx="6582301" cy="5207828"/>
          </a:xfrm>
          <a:prstGeom prst="rect">
            <a:avLst/>
          </a:prstGeom>
        </p:spPr>
      </p:pic>
    </p:spTree>
    <p:extLst>
      <p:ext uri="{BB962C8B-B14F-4D97-AF65-F5344CB8AC3E}">
        <p14:creationId xmlns:p14="http://schemas.microsoft.com/office/powerpoint/2010/main" val="1162091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369332"/>
          </a:xfrm>
        </p:spPr>
        <p:txBody>
          <a:bodyPr/>
          <a:lstStyle/>
          <a:p>
            <a:r>
              <a:rPr lang="en-US" b="1" dirty="0"/>
              <a:t>Figure 9.1 </a:t>
            </a:r>
            <a:r>
              <a:rPr lang="en-US" dirty="0"/>
              <a:t>An idealized sequence of land-use transitions. </a:t>
            </a:r>
          </a:p>
        </p:txBody>
      </p:sp>
      <p:pic>
        <p:nvPicPr>
          <p:cNvPr id="2" name="Picture 1" descr="A graph shows the stages in land use transition. The transitions were through natural ecosystems during pre-settlement period, frontier clearings, subsistence agriculture and small-scale farms that were intensifying, and intensive agriculture. For a short period, only frontier clearing existed. Subsistence stage moved rapidly to intensive stage. Urban areas were developed during subsistence, intensifying, and intensive stages, and protected and or recreational lands were developed during intensifying and intensive stages. Natural ecosystems exist by a small proportion. &#10;" title="Figure 9.1 An idealized sequence of land-use transition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99998" y="704843"/>
            <a:ext cx="7592004" cy="5448315"/>
          </a:xfrm>
          <a:prstGeom prst="rect">
            <a:avLst/>
          </a:prstGeom>
        </p:spPr>
      </p:pic>
    </p:spTree>
    <p:extLst>
      <p:ext uri="{BB962C8B-B14F-4D97-AF65-F5344CB8AC3E}">
        <p14:creationId xmlns:p14="http://schemas.microsoft.com/office/powerpoint/2010/main" val="4143971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369332"/>
          </a:xfrm>
        </p:spPr>
        <p:txBody>
          <a:bodyPr/>
          <a:lstStyle/>
          <a:p>
            <a:r>
              <a:rPr lang="en-US" b="1" dirty="0"/>
              <a:t>Figure 9.2 </a:t>
            </a:r>
            <a:r>
              <a:rPr lang="en-US" dirty="0"/>
              <a:t>Global habitat loss due to expansion of agriculture. </a:t>
            </a:r>
          </a:p>
        </p:txBody>
      </p:sp>
      <p:pic>
        <p:nvPicPr>
          <p:cNvPr id="2" name="Picture 1" descr="A map, A, shows the agricultural area on the Earth’s surface, and two graphs, B, show the crop area and the natural area. A. Except for the western US, western South America, northern Africa, parts of central Asia, and central and northern Australia, the lands are agricultural. B. In the first graph, the horizontal axis is labeled year, and ranges from 1970 to 2050 in increments of 10. The vertical axis is labeled crop area in million kilometers squared, and ranges from 0 to 25 in increments of 5. The lines show an increasing trend, starting from 14 in 1970, and ending between 16 and 21 for 2050. The cropland increase is by 10 to 20 percent. Text in the graph reads, estimates from numerous models project an increase of cropland by 10 to 20 percent by 2050 compared to 2005, depending on how yields advance. In the second graph, the horizontal axis is labeled year, and ranges from 1970 to 2050 in increments of 10. The vertical axis is labeled crop area in million kilometers squared, and ranges from 0 to 70 in increments of 10. The lines show a decreasing trend, starting from 68 in 1970, and ending between 66 and 52 for 2050. The natural habitat decrease is by 0 to negative 20 percent. Text in the graph reads, multiple models predict that continued expansion of agricultural habitat will lead to loss of as much as 20 percent of Earth’s remaining natural habitats across the globe.&#10;" title="Figure 9.2 Global habitat loss due to expansion of agriculture.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6232" y="605493"/>
            <a:ext cx="9999536" cy="5647015"/>
          </a:xfrm>
          <a:prstGeom prst="rect">
            <a:avLst/>
          </a:prstGeom>
        </p:spPr>
      </p:pic>
    </p:spTree>
    <p:extLst>
      <p:ext uri="{BB962C8B-B14F-4D97-AF65-F5344CB8AC3E}">
        <p14:creationId xmlns:p14="http://schemas.microsoft.com/office/powerpoint/2010/main" val="3845428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5</a:t>
            </a:r>
            <a:endParaRPr lang="en-IN" dirty="0"/>
          </a:p>
        </p:txBody>
      </p:sp>
      <p:pic>
        <p:nvPicPr>
          <p:cNvPr id="2" name="Picture 1" descr="Two illustrations, each accompanied by a photo, illustrate land sparing and land sharing. Both illustrations show a rectangle. In land sparing, natural habitat is in one side, and agricultural habitat is in the other side. In land sharing, patches of natural and agricultural habitats are integrated with each other.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88939" y="1093166"/>
            <a:ext cx="8414123" cy="4671669"/>
          </a:xfrm>
          <a:prstGeom prst="rect">
            <a:avLst/>
          </a:prstGeom>
        </p:spPr>
      </p:pic>
    </p:spTree>
    <p:extLst>
      <p:ext uri="{BB962C8B-B14F-4D97-AF65-F5344CB8AC3E}">
        <p14:creationId xmlns:p14="http://schemas.microsoft.com/office/powerpoint/2010/main" val="79639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369332"/>
          </a:xfrm>
        </p:spPr>
        <p:txBody>
          <a:bodyPr/>
          <a:lstStyle/>
          <a:p>
            <a:r>
              <a:rPr lang="en-US" b="1" dirty="0"/>
              <a:t>Figure 9.3 </a:t>
            </a:r>
            <a:r>
              <a:rPr lang="en-US" dirty="0"/>
              <a:t>Urbanization. </a:t>
            </a:r>
          </a:p>
        </p:txBody>
      </p:sp>
      <p:pic>
        <p:nvPicPr>
          <p:cNvPr id="2" name="Picture 1" descr="A bar graph, A, shows the percent of population living in urban areas in 1990, 2014, and 2050, and is accompanied by a photo B. A. Data from the graph, presented in the format, continent: percent of population in 1990, percent of population in 2014, percent of population in 2050, are as follows. North America: 75, 81, 87. Latin America: 71, 80, 86. Europe: 70, 73, 82. Oceania: 71, 71, 74. Asia: 32, 48, 64. Africa: 31, 40, 56. Worldwide: 43, 54, 66. B. A photo shows a bird’s eye view of Tokyo. &#10;" title="Figure 9.3 Urbanization.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4256" y="561256"/>
            <a:ext cx="5803488" cy="5877988"/>
          </a:xfrm>
          <a:prstGeom prst="rect">
            <a:avLst/>
          </a:prstGeom>
        </p:spPr>
      </p:pic>
    </p:spTree>
    <p:extLst>
      <p:ext uri="{BB962C8B-B14F-4D97-AF65-F5344CB8AC3E}">
        <p14:creationId xmlns:p14="http://schemas.microsoft.com/office/powerpoint/2010/main" val="1031702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7</a:t>
            </a:r>
            <a:endParaRPr lang="en-IN" dirty="0"/>
          </a:p>
        </p:txBody>
      </p:sp>
      <p:pic>
        <p:nvPicPr>
          <p:cNvPr id="2" name="Picture 1" descr="A series of photos shows the conditions in Detroit then and now. Two photos show that before, the waterways in Detroit were polluted by factories emitting waste into the water bodies and thick plumes of smoke into the air, causing the Riverside Park to be closed. Three photos show that now, people rowing across the Detroit River and traveling by ferry, flowers blooming near the river, and a man holding a live, healthy fish.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07883" y="853614"/>
            <a:ext cx="9976234" cy="5150773"/>
          </a:xfrm>
          <a:prstGeom prst="rect">
            <a:avLst/>
          </a:prstGeom>
        </p:spPr>
      </p:pic>
    </p:spTree>
    <p:extLst>
      <p:ext uri="{BB962C8B-B14F-4D97-AF65-F5344CB8AC3E}">
        <p14:creationId xmlns:p14="http://schemas.microsoft.com/office/powerpoint/2010/main" val="39952700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369332"/>
          </a:xfrm>
        </p:spPr>
        <p:txBody>
          <a:bodyPr/>
          <a:lstStyle/>
          <a:p>
            <a:r>
              <a:rPr lang="en-US" b="1" dirty="0"/>
              <a:t>Figure 9.4 </a:t>
            </a:r>
            <a:r>
              <a:rPr lang="en-US" dirty="0"/>
              <a:t>Habitat loss caused by extractive industries. </a:t>
            </a:r>
          </a:p>
        </p:txBody>
      </p:sp>
      <p:pic>
        <p:nvPicPr>
          <p:cNvPr id="2" name="Picture 1" descr="Five photos, A through E, show habitat loss by extractive industries. A. A deep coal mine is surrounded by barren land. B. A fisherman spreads poison on coral reefs. C. A couple of fishermen blast dynamite in the ocean, causing the water to spray in the air. D. A shrimp farm is located in shallow coastal waters. E. A burning portion of the forest produces thick plumes of smoke. &#10;" title="Figure 9.4 Habitat loss caused by extractive industrie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0523" y="943459"/>
            <a:ext cx="10190955" cy="4971082"/>
          </a:xfrm>
          <a:prstGeom prst="rect">
            <a:avLst/>
          </a:prstGeom>
        </p:spPr>
      </p:pic>
    </p:spTree>
    <p:extLst>
      <p:ext uri="{BB962C8B-B14F-4D97-AF65-F5344CB8AC3E}">
        <p14:creationId xmlns:p14="http://schemas.microsoft.com/office/powerpoint/2010/main" val="3484799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369332"/>
          </a:xfrm>
        </p:spPr>
        <p:txBody>
          <a:bodyPr/>
          <a:lstStyle/>
          <a:p>
            <a:r>
              <a:rPr lang="en-US" b="1" dirty="0"/>
              <a:t>Figure 9.5 </a:t>
            </a:r>
            <a:r>
              <a:rPr lang="en-US" dirty="0"/>
              <a:t>Decadal losses and gains in global forest cover over the past three centuries. </a:t>
            </a:r>
          </a:p>
        </p:txBody>
      </p:sp>
      <p:pic>
        <p:nvPicPr>
          <p:cNvPr id="2" name="Picture 1" descr="A world map shows the Temperate forests and Tropical forests of the world. Temperate forests include Canada and U S A, Russia, Australia, and Papa New Guinea. Tropical forests include Mexico, South America, Africa, and South Asia. A bar graph shows the Forest gain and Forest loss from 1700 to 1995. 1700 to 1840: 190000 k m 2 net loss per decade. 1860 to 1920: 300000 k m 2 net loss per decade.This is equivalent to an area the size of Italy. 1920: Temperate deforestation peaked in the first half of the twentieth century. 1920 to 1950: 1.15 million k m 2 net loss per decade. 1980: Global and tropical forest loss peaked in the 1980s and early 1990s. By Williams’s methodology, this was a 1.51 million k m 2 net loss. 1.02 million km2 net loss in the 1980s. 780000 km2 net loss in the 1990s. 510000 km2 net loss from 2000 to 2009. 470000 km2 net loss in the past decadeWe lost 530000 k m 2 in the tropics, an area twice the size of New Zealand. We gained 60,000 km 2 in temperate regions, an area twice the size of Belgium. Global loss = 530000 –60000 = 470000 k m 2, an area the size of Sweden.&#10;" title="Figure 9.5 Decadal losses and gains in global forest cover over the past three centurie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2383" y="544519"/>
            <a:ext cx="9167234" cy="5768962"/>
          </a:xfrm>
          <a:prstGeom prst="rect">
            <a:avLst/>
          </a:prstGeom>
        </p:spPr>
      </p:pic>
    </p:spTree>
    <p:extLst>
      <p:ext uri="{BB962C8B-B14F-4D97-AF65-F5344CB8AC3E}">
        <p14:creationId xmlns:p14="http://schemas.microsoft.com/office/powerpoint/2010/main" val="3429003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9.6 </a:t>
            </a:r>
            <a:r>
              <a:rPr lang="en-US" dirty="0"/>
              <a:t>With 60% of the Amazon rain forest (green) lying within its borders, Brazil is home to a large fraction of the world’s rain forests. </a:t>
            </a:r>
          </a:p>
        </p:txBody>
      </p:sp>
      <p:pic>
        <p:nvPicPr>
          <p:cNvPr id="2" name="Picture 1" descr="A bar graph shows the Area in thousand square kilometres versus the years from 2000 to 2022. All data are approximate. 2000: 18.23, 2001: 18.17, 2002: 21.65, 2003: 25.4, 2004: 27.77, 2005: 19.01, 2006: 14.29, 2007: 11.65, 2008: 12.91, 2009: 7.46, 2010: 7, 2011: 6.42, 2012: 4.57, 2013: 5.89, 2014: 5.01, 2015: 6.21, 2016: 7.89, 2017: 6.95, 2180: 7.54, 2019: 10.13, 2020: 10.85, 2021: 13.04. The map shows the Amazon rainforest in northern South America. Most of the rainforest is in northwestern Brazil, while the remaining area is in the surrounding countries. Nicaragua in Central America is shaded and labelled, the loss between 2004 and 2015 equals about the size of Nicaragua. &#10;" title="Figure 9.6 With 60% of the Amazon rain forest (green) lying within its borders, Brazil is home to a large fraction of the world’s rain forest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2516" y="714714"/>
            <a:ext cx="9946968" cy="5428573"/>
          </a:xfrm>
          <a:prstGeom prst="rect">
            <a:avLst/>
          </a:prstGeom>
        </p:spPr>
      </p:pic>
    </p:spTree>
    <p:extLst>
      <p:ext uri="{BB962C8B-B14F-4D97-AF65-F5344CB8AC3E}">
        <p14:creationId xmlns:p14="http://schemas.microsoft.com/office/powerpoint/2010/main" val="2258089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11</a:t>
            </a:r>
            <a:endParaRPr lang="en-IN" dirty="0"/>
          </a:p>
        </p:txBody>
      </p:sp>
      <p:pic>
        <p:nvPicPr>
          <p:cNvPr id="2" name="Picture 1" descr="A cyclical diagram shows the unsustainable use of palm oil. The cycle flows as follows: palm oil plantation, oil mill, primary refinement, shipping by sea and land, oil processing and refinement, final product, and distribution. Primary refinement is also carried out by small-scale farmers or small holders. Distribution in supermarkets causes overproduction of palm trees.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2656" y="699416"/>
            <a:ext cx="8626689" cy="5459169"/>
          </a:xfrm>
          <a:prstGeom prst="rect">
            <a:avLst/>
          </a:prstGeom>
        </p:spPr>
      </p:pic>
    </p:spTree>
    <p:extLst>
      <p:ext uri="{BB962C8B-B14F-4D97-AF65-F5344CB8AC3E}">
        <p14:creationId xmlns:p14="http://schemas.microsoft.com/office/powerpoint/2010/main" val="17882234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12</a:t>
            </a:r>
            <a:endParaRPr lang="en-IN" dirty="0"/>
          </a:p>
        </p:txBody>
      </p:sp>
      <p:pic>
        <p:nvPicPr>
          <p:cNvPr id="2" name="Picture 1" descr="Three photos, B through D, show the orang-utan, the Sumatran tiger, and the Borneo elephant.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46321" y="2152089"/>
            <a:ext cx="9699359" cy="2553822"/>
          </a:xfrm>
          <a:prstGeom prst="rect">
            <a:avLst/>
          </a:prstGeom>
        </p:spPr>
      </p:pic>
    </p:spTree>
    <p:extLst>
      <p:ext uri="{BB962C8B-B14F-4D97-AF65-F5344CB8AC3E}">
        <p14:creationId xmlns:p14="http://schemas.microsoft.com/office/powerpoint/2010/main" val="23566769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369332"/>
          </a:xfrm>
        </p:spPr>
        <p:txBody>
          <a:bodyPr/>
          <a:lstStyle/>
          <a:p>
            <a:r>
              <a:rPr lang="en-US" b="1" dirty="0"/>
              <a:t>Figure 9.7 </a:t>
            </a:r>
            <a:r>
              <a:rPr lang="en-US" dirty="0"/>
              <a:t>Impacts of global climate change on coral reefs. </a:t>
            </a:r>
          </a:p>
        </p:txBody>
      </p:sp>
      <p:pic>
        <p:nvPicPr>
          <p:cNvPr id="2" name="Picture 1" descr="A. A photo shows wide spread of bleached coral reef underwater. B. A world map shows the prevalence of coral bleaching from 1998 to 2017across various reef regions. Each site is represented by a circle. Unshadedcircles represent no bleaching and colored circles indicate bleaching severityon a gradient from 1% to 100%. The color scale, provided at the bottom right. Circlesare densely clustered around islands and coastal areas of southern Asia,Central America, eastern Africa, as well as along the coastlines of Australiaand New Zealand.  &#10;" title="Figure 9.7 Impacts of global climate change on coral reef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0224" y="560221"/>
            <a:ext cx="8151552" cy="5737558"/>
          </a:xfrm>
          <a:prstGeom prst="rect">
            <a:avLst/>
          </a:prstGeom>
        </p:spPr>
      </p:pic>
    </p:spTree>
    <p:extLst>
      <p:ext uri="{BB962C8B-B14F-4D97-AF65-F5344CB8AC3E}">
        <p14:creationId xmlns:p14="http://schemas.microsoft.com/office/powerpoint/2010/main" val="35873948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369332"/>
          </a:xfrm>
        </p:spPr>
        <p:txBody>
          <a:bodyPr/>
          <a:lstStyle/>
          <a:p>
            <a:r>
              <a:rPr lang="en-US" b="1" dirty="0"/>
              <a:t>Figure 9.8 </a:t>
            </a:r>
            <a:r>
              <a:rPr lang="en-US" dirty="0"/>
              <a:t>Land conversion at present and in the future. </a:t>
            </a:r>
          </a:p>
        </p:txBody>
      </p:sp>
      <p:pic>
        <p:nvPicPr>
          <p:cNvPr id="2" name="Picture 1" descr="Two graphs, A and B, show regions and biomes of the current and the future, and two maps, C and D, show ecoregions under current and future development. A. Approximate data from the graph, presented in the format, geopolitical region: proportion of region converted, proportion of region under development risk, proportion of region strictly protected are as follows. Europe: 0.7, 0.03, 0.09. South Asia: 0.65, 0.05, 0.09. Central America: 0.45, 0.35, 0.08. Southeast Asia: 0.38, 0.09, 0.06. Middle East: 0.35, 0.05, 0.02. North America: 0.2, 0.15, 0.06. South America: 0.2, 0.25, 0.06. Central Asia: 0.2, 0.03, 0.01. Africa: 0.14, 0.26, 0.07. Oceania: 0.14, 0.04, 1.0. B. Approximate data from the graph, presented in the format, biome: proportion of biome converted, proportion of biome under development risk, proportion of biome strictly protected are as follows. Temperate broadleaf and mixed forests: 0.65, 0.1, 0.09. Tropical and subtropical dry broadleaf forests: 0.6, 0.2, 0.09. Mediterranean forests, woodlands, and scrubs: 0.55, 0.15, 0.07. Temperate grasslands, savannas, and shrublands: 0.45, 0.15, 0.02. Mangroves: 0.45, 0.35, 0.13. Tropical and subtropical coniferous forests: 0.35, 0.3, 0.03. Tropical and subtropical moist broadleaf forests: 0.3, 0.15, 0.4. Temperate coniferous forests: 0.25, 0.15, 0.15. Flooded grasslands and savannas: 0.23, 0.32, 0.15. Tropical and subtropical grasslands, savannas, and shrublands: 0.18, 0.3, 0.05. Montane grasslands and shrublands: 0.15, 0.23, 0.03. Deserts and xeric shrublands: 0.15, 0.15, 0.03. Boreal forests or taiga: 0.08, 0.02, 0.01. Tundra: 0.01, 0.02, 1.0. C. Ecoregions current development. More than 0.75 or 117 ecoregions are converted in eastern North America, parts of southeastern South America, Europe, and southern and southeastern Asia. 0.50 to 0.75 or 118 ecoregions are converted in the east central United States, and parts of eastern South America, Middle East, eastern, and southeastern Asia, and southern Australia. 0.25 to 0.50 or 143 ecoregions are converted in Central America, southern Brazil, parts of central and southeastern Africa, parts of southern, east central, and southeastern Asia, and southern Australia. Less than 0.25 or 359 ecoregions are converted in the rest of the world. D. Ecoregions future development. More than 0.75 or 259 ecoregions will be converted in most parts of the United States, Central America, southeastern South America, Europe, central belt of Africa, southeastern Africa, southern, southeastern, and eastern Asia, and southeastern Australia. 0.50 to 0.75 or 160 will be converted in southern Canada, northern Mexico, parts of the United States, most parts of southern South America, southeastern Africa, parts of Europe, and eastern Asia. 0.25 to 0.50 or 108 ecoregions will be converted in parts of the western United States, southern South America, central and northwestern Africa, northern and central Asia, and southeastern Australia. Less than 0.25 or 210 ecoregions will be converted in the rest of the world.&#10;" title="Figure 9.8 Land conversion at present and in the future.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3887" y="572508"/>
            <a:ext cx="6384227" cy="5950491"/>
          </a:xfrm>
          <a:prstGeom prst="rect">
            <a:avLst/>
          </a:prstGeom>
        </p:spPr>
      </p:pic>
    </p:spTree>
    <p:extLst>
      <p:ext uri="{BB962C8B-B14F-4D97-AF65-F5344CB8AC3E}">
        <p14:creationId xmlns:p14="http://schemas.microsoft.com/office/powerpoint/2010/main" val="619776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9.9 </a:t>
            </a:r>
            <a:r>
              <a:rPr lang="en-US" dirty="0"/>
              <a:t>The relationship between habitat loss and habitat fragmentation. This diagram depicts a time series showing the loss and fragmentation of habitat from a natural landscape. </a:t>
            </a:r>
          </a:p>
        </p:txBody>
      </p:sp>
      <p:pic>
        <p:nvPicPr>
          <p:cNvPr id="2" name="Picture 1" descr="An illustration shows habitat loss and habitat fragmentation in four time steps. During habitat loss and fragmentation, 100 percent habitat type 1 is at time step 1, 50 percent habitat type 1 and 50 percent habitat type 2 are at time step 2, 25 percent habitat type 1 and 75 percent habitat type 2 are at time step 3, and 100 percent habitat type 2 is at time step 4. The loss is represented by clear demarcation, while the fragmentation consists of irregular patches of the habitat types. &#10;" title="Figure 9.9 The relationship between habitat loss and habitat fragmentation. This diagram depicts a time series showing the loss and fragmentation of habitat from a natural landscape.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0398" y="1008577"/>
            <a:ext cx="8351204" cy="4840847"/>
          </a:xfrm>
          <a:prstGeom prst="rect">
            <a:avLst/>
          </a:prstGeom>
        </p:spPr>
      </p:pic>
    </p:spTree>
    <p:extLst>
      <p:ext uri="{BB962C8B-B14F-4D97-AF65-F5344CB8AC3E}">
        <p14:creationId xmlns:p14="http://schemas.microsoft.com/office/powerpoint/2010/main" val="36870031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369332"/>
          </a:xfrm>
        </p:spPr>
        <p:txBody>
          <a:bodyPr/>
          <a:lstStyle/>
          <a:p>
            <a:r>
              <a:rPr lang="en-US" b="1" dirty="0"/>
              <a:t>Figure 9.10 </a:t>
            </a:r>
            <a:r>
              <a:rPr lang="en-US" dirty="0"/>
              <a:t>Habitat loss and patch configuration. </a:t>
            </a:r>
          </a:p>
        </p:txBody>
      </p:sp>
      <p:pic>
        <p:nvPicPr>
          <p:cNvPr id="2" name="Picture 1" descr="Four scatterplots, A, show the habitat loss as a percent of landscape, and six photos, B, show examples of fragmented landscapes. A. In all scatterplots, the horizontal axis is labeled habitat loss in percent of landscape, and ranges from 0 to 100 in increments of 20. In the first graph, the vertical axis is labeled mean patch size. The best fit line slopes downward. In the second graph, the vertical axis is labeled number of patches. The best fit curve is a parabola that opens downward. In the third graph, the vertical axis is labeled mean nearest neighbor distance. A concave up curve decreases. In the fourth graph, the vertical axis is labeled total edge habitat. The best fit curve is a parabola that opens downward. B. The photos show bird’s eye views of different types of fragmented landscapes. The fragments are of regular or irregular sizes, regular or irregular shapes, and tightly or loosely packed. &#10;" title="Figure 9.10 Habitat loss and patch configuration.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0729" y="797865"/>
            <a:ext cx="10470543" cy="5262270"/>
          </a:xfrm>
          <a:prstGeom prst="rect">
            <a:avLst/>
          </a:prstGeom>
        </p:spPr>
      </p:pic>
    </p:spTree>
    <p:extLst>
      <p:ext uri="{BB962C8B-B14F-4D97-AF65-F5344CB8AC3E}">
        <p14:creationId xmlns:p14="http://schemas.microsoft.com/office/powerpoint/2010/main" val="26243890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9.11 </a:t>
            </a:r>
            <a:r>
              <a:rPr lang="en-US" dirty="0"/>
              <a:t>As patch sizes are reduced in a landscape, the proportion of core (interior) habitat declines and the proportion of edge habitat increases. As a result, edge effects have a greater influence on the dynamics of small patches.</a:t>
            </a:r>
            <a:endParaRPr lang="en-IN" dirty="0"/>
          </a:p>
        </p:txBody>
      </p:sp>
      <p:pic>
        <p:nvPicPr>
          <p:cNvPr id="2" name="Picture 1" descr="An illustration shows the increasing percentage of habitat patch influenced by edge effects. The central area of the patch with vegetation is surrounded by a barren edge. The vegetation is labeled, this area is not influenced by edge effects. The edge is labeled, this area is influenced by edge effects. Initially 30.55 percent of the patch is influenced by edge effects. Over time 43.75 percent, 64 percent, and 88.8 percent are influenced by edge effects. Text reads, because the width of the edge is relatively constant, as the total area becomes smaller, the edge becomes proportionately larger.&#10;" title="Figure 9.11 As patch sizes are reduced in a landscape, the proportion of core (interior) habitat declines and the proportion of edge habitat increases. As a result, edge effects have a greater influence on the dynamics of small patche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8299" y="751743"/>
            <a:ext cx="8595402" cy="5354515"/>
          </a:xfrm>
          <a:prstGeom prst="rect">
            <a:avLst/>
          </a:prstGeom>
        </p:spPr>
      </p:pic>
    </p:spTree>
    <p:extLst>
      <p:ext uri="{BB962C8B-B14F-4D97-AF65-F5344CB8AC3E}">
        <p14:creationId xmlns:p14="http://schemas.microsoft.com/office/powerpoint/2010/main" val="4988732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9.12 </a:t>
            </a:r>
            <a:r>
              <a:rPr lang="en-US" dirty="0"/>
              <a:t>Changes in the forest edge microenvironment include exposure to more wind, drought, fire, light, and nitrogen deposition. </a:t>
            </a:r>
            <a:endParaRPr lang="en-IN" dirty="0"/>
          </a:p>
        </p:txBody>
      </p:sp>
      <p:pic>
        <p:nvPicPr>
          <p:cNvPr id="2" name="Picture 1" descr="An illustration shows the edge of an intact forest affected by various factors. Trees at the edge of the forest fall due to wind, dry up due to drought, and are burnt during fire. The growth or biomass response for these factors is negative. Due to light and nitrogen, the trees at the forest edge are greener. The growth or biomass response for these factors is positive. &#10;" title="Figure 9.12 Changes in the forest edge microenvironment include exposure to more wind, drought, fire, light, and nitrogen deposition. The positive (+) and negative (–) signs indicate favorable and adverse conditions, respectively, for growth and biomas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3252" y="773349"/>
            <a:ext cx="7005496" cy="5668494"/>
          </a:xfrm>
          <a:prstGeom prst="rect">
            <a:avLst/>
          </a:prstGeom>
        </p:spPr>
      </p:pic>
    </p:spTree>
    <p:extLst>
      <p:ext uri="{BB962C8B-B14F-4D97-AF65-F5344CB8AC3E}">
        <p14:creationId xmlns:p14="http://schemas.microsoft.com/office/powerpoint/2010/main" val="7634797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923330"/>
          </a:xfrm>
        </p:spPr>
        <p:txBody>
          <a:bodyPr/>
          <a:lstStyle/>
          <a:p>
            <a:r>
              <a:rPr lang="en-US" b="1" dirty="0"/>
              <a:t>Figure 9.13 </a:t>
            </a:r>
            <a:r>
              <a:rPr lang="en-US" dirty="0" err="1"/>
              <a:t>Biomagnification</a:t>
            </a:r>
            <a:r>
              <a:rPr lang="en-US" dirty="0"/>
              <a:t> of dichlorodiphenyltrichloroethane </a:t>
            </a:r>
            <a:r>
              <a:rPr lang="en-IN" dirty="0"/>
              <a:t>(DDT). (Left) The </a:t>
            </a:r>
            <a:r>
              <a:rPr lang="en-US" dirty="0"/>
              <a:t>actual concentration of DDT in various components of the food web in parts per million (ppm). (Right) The relative magnification of DDT at successive trophic levels </a:t>
            </a:r>
            <a:r>
              <a:rPr lang="en-IN" dirty="0"/>
              <a:t>of the food web.</a:t>
            </a:r>
          </a:p>
        </p:txBody>
      </p:sp>
      <p:pic>
        <p:nvPicPr>
          <p:cNvPr id="2" name="Picture 1" descr="An illustration shows the actual concentration of DDT in various components of the food web, and its relative magnification at the successive trophic levels. The concentration of DDT in ppm is as follows. Water: 0.000003, zooplankton: 0.04, small fish: 0.5, large fish: 2, and fish-eating birds of prey: 25. The relative magnification of DDT is as follows. Water: 1, producers: 1,000, zooplankton: 10,000, small fish: 100,000, large fish: 1,000,000, fish-eating birds: 10,000,000. &#10;" title="Figure 9.13 Biomagnification of dichlorodiphenyltrichloroethane (DDT). (Left) The actual concentration of DDT in various components of the food web in parts per million (ppm). (Right) The relative magnification of DDT at successive trophic levels of the food web."/>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3838" y="1019777"/>
            <a:ext cx="6804325" cy="5492061"/>
          </a:xfrm>
          <a:prstGeom prst="rect">
            <a:avLst/>
          </a:prstGeom>
        </p:spPr>
      </p:pic>
    </p:spTree>
    <p:extLst>
      <p:ext uri="{BB962C8B-B14F-4D97-AF65-F5344CB8AC3E}">
        <p14:creationId xmlns:p14="http://schemas.microsoft.com/office/powerpoint/2010/main" val="1669467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9.14 </a:t>
            </a:r>
            <a:r>
              <a:rPr lang="en-US" dirty="0"/>
              <a:t>(A) Birds, marine mammals, and many other ocean animals sicken and die when they are covered by oil following spills. </a:t>
            </a:r>
          </a:p>
        </p:txBody>
      </p:sp>
      <p:pic>
        <p:nvPicPr>
          <p:cNvPr id="2" name="Picture 1" descr="Three photos, A through C, show species affected due to contamination. A. A man pulls a dead brown pelican from a shallow water body consisting of a thin film of oil on its surface. B. Dead fish line up the banks of a river. C. Dead trees cover an expanse of a forest.&#10;" title="Figure 9.14 (A) Birds, marine mammals, and many other ocean animals sicken and die when they are covered by oil following spill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7498" y="2177249"/>
            <a:ext cx="10717005" cy="2503502"/>
          </a:xfrm>
          <a:prstGeom prst="rect">
            <a:avLst/>
          </a:prstGeom>
        </p:spPr>
      </p:pic>
    </p:spTree>
    <p:extLst>
      <p:ext uri="{BB962C8B-B14F-4D97-AF65-F5344CB8AC3E}">
        <p14:creationId xmlns:p14="http://schemas.microsoft.com/office/powerpoint/2010/main" val="35601267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369332"/>
          </a:xfrm>
        </p:spPr>
        <p:txBody>
          <a:bodyPr/>
          <a:lstStyle/>
          <a:p>
            <a:r>
              <a:rPr lang="en-IN" b="1" dirty="0"/>
              <a:t>Figure 9.15 </a:t>
            </a:r>
            <a:r>
              <a:rPr lang="en-IN" dirty="0"/>
              <a:t>Pharmaceutical pollution </a:t>
            </a:r>
            <a:r>
              <a:rPr lang="en-US" dirty="0"/>
              <a:t>was measured in 258 of the world’s rivers spanning 104 countries. </a:t>
            </a:r>
          </a:p>
        </p:txBody>
      </p:sp>
      <p:pic>
        <p:nvPicPr>
          <p:cNvPr id="2" name="Picture 1" descr="&quot;A set of two graphs analyzing pharmaceutical compound detection. Graph A shows a horizontal bar chart of compounds versus detection frequency, ranging from 0% to 60%. It plots bars in a decreasing trend for various compounds like (top to bottom): Carbamazepine; Metformin; Caffeine; Gabapentin; Trimethoprim; Sulfamethoxazole; Nicotine; Paracetamol; Lidocaine; Cotinine; Fexofenadine; Atenolol; Ceterizine; Sitagliptin; Desvenlafaxine; Naproxen; Ranitidine; Citalopram; Cimetidine; Codeine; Venlafaxine; Diltiazem; Ciprofloxacin; and Propranolol. Carbamazepine has the highest value of 62% and Propranolol has the lowest value of 12%. The values are estimated. Graph B is a stacked bar chart depicting the number of sites, versus number of A P Is detected from 1 to 34. The y-axis ranges from 0 to 100. The stacked bars are grouped by continents: Africa, Asia, Europe, Antarctica, North America, Oceania, and South America. Continents with highest number of sites in number of A P Is detected are as follows: Africa in 1; Asia in 3; Europe in 1; Antarctica in 4; North America in 1; Oceania in 4; and South America in 1. &#10;&quot;&#10;" title="Figure 9.15 Pharmaceutical pollution was measured in 258 of the world’s rivers spanning 104 countrie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23279" y="598806"/>
            <a:ext cx="3345440" cy="5897902"/>
          </a:xfrm>
          <a:prstGeom prst="rect">
            <a:avLst/>
          </a:prstGeom>
        </p:spPr>
      </p:pic>
    </p:spTree>
    <p:extLst>
      <p:ext uri="{BB962C8B-B14F-4D97-AF65-F5344CB8AC3E}">
        <p14:creationId xmlns:p14="http://schemas.microsoft.com/office/powerpoint/2010/main" val="625824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9.16 </a:t>
            </a:r>
            <a:r>
              <a:rPr lang="en-US" dirty="0"/>
              <a:t>In 2018, a small male pilot whale was found near the Thai border with Malaysia, unable to swim or breathe and vomiting plastic bags. </a:t>
            </a:r>
            <a:endParaRPr lang="en-IN" dirty="0"/>
          </a:p>
        </p:txBody>
      </p:sp>
      <p:pic>
        <p:nvPicPr>
          <p:cNvPr id="2" name="Picture 1" descr="A photo shows two technicians arranging plastic bags on the floor taken from the stomach of a pilot whale.&#10;" title="Figure 9.16 In 2018, a small male pilot whale was found near the Thai border with Malaysia, unable to swim or breathe and vomiting plastic bag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1533" y="816397"/>
            <a:ext cx="6988934" cy="5225207"/>
          </a:xfrm>
          <a:prstGeom prst="rect">
            <a:avLst/>
          </a:prstGeom>
        </p:spPr>
      </p:pic>
    </p:spTree>
    <p:extLst>
      <p:ext uri="{BB962C8B-B14F-4D97-AF65-F5344CB8AC3E}">
        <p14:creationId xmlns:p14="http://schemas.microsoft.com/office/powerpoint/2010/main" val="22398854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9.17 </a:t>
            </a:r>
            <a:r>
              <a:rPr lang="en-US" dirty="0"/>
              <a:t>(A) Arid areas of the world are experiencing encroaching desertification, with increasing aridity and expanding deserts. </a:t>
            </a:r>
          </a:p>
        </p:txBody>
      </p:sp>
      <p:pic>
        <p:nvPicPr>
          <p:cNvPr id="2" name="Picture 1" descr="A world map, A, shows divisions based on vulnerability and aridity, and a photo, B, shows a desert. A. The regions with low vulnerability are parts of central North America, eastern South America, eastern Europe, central Africa, and south-central Asia. The regions with moderate vulnerability are the central United States, northern and central South America, central belt of Africa, southern Africa, western Europe, eastern, central, and southern Asia, and southeastern Asia. The regions with high vulnerability are the western United States, eastern South America, western and southeastern Europe, northern, central, and parts of southern Africa, southern Asia, and northern and western Australia. The regions with very high vulnerability are the northern United States, parts of eastern and southern South America, a thin belt along northern and central Africa, central Asia, and eastern Australia. The dry regions are parts of central North America, southern South America, northern and southern Africa, Middle East and north central Asia, and central Australia. The cold regions are northern North America, Europe, and Asia. The humid and not vulnerable regions are the eastern United States, northern, eastern, and southwestern South America, Europe, central Africa, eastern and southeastern Asia, and New Zealand. Ice or glacier is Greenland and Antarctica. B. A photo shows two mules in a desert. &#10;" title="Figure 9.17 (A) Arid areas of the world are experiencing encroaching desertification, with increasing aridity and expanding desert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58079" y="834116"/>
            <a:ext cx="7075842" cy="5680409"/>
          </a:xfrm>
          <a:prstGeom prst="rect">
            <a:avLst/>
          </a:prstGeom>
        </p:spPr>
      </p:pic>
    </p:spTree>
    <p:extLst>
      <p:ext uri="{BB962C8B-B14F-4D97-AF65-F5344CB8AC3E}">
        <p14:creationId xmlns:p14="http://schemas.microsoft.com/office/powerpoint/2010/main" val="3324186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9.18 </a:t>
            </a:r>
            <a:r>
              <a:rPr lang="en-US" dirty="0"/>
              <a:t>(A) Modern landscapes increasingly look like patchy mosaics where some habitats have been lost and converted to human uses, </a:t>
            </a:r>
          </a:p>
        </p:txBody>
      </p:sp>
      <p:pic>
        <p:nvPicPr>
          <p:cNvPr id="2" name="Picture 1" descr="A photo shows an aerial view of a river snaking through a vegetation. The vegetation is surrounded by a water body, a farmland, and a grassland. An accompanying illustration shows interconnections among sink population, subpopulations, and source population. Sing population consists of low-quality habitat and negative population growth, while source population consists of high-quality habitat and positive population growth. Rescue effects from sink population goes through subpop l, subpop j, subpop i, and source population. &#10;" title="Figure 9.18 (A) Modern landscapes increasingly look like patchy mosaics where some habitats have been lost and converted to human use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6351" y="1469189"/>
            <a:ext cx="10479299" cy="3919622"/>
          </a:xfrm>
          <a:prstGeom prst="rect">
            <a:avLst/>
          </a:prstGeom>
        </p:spPr>
      </p:pic>
    </p:spTree>
    <p:extLst>
      <p:ext uri="{BB962C8B-B14F-4D97-AF65-F5344CB8AC3E}">
        <p14:creationId xmlns:p14="http://schemas.microsoft.com/office/powerpoint/2010/main" val="23666211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0"/>
            <a:ext cx="12192000" cy="646331"/>
          </a:xfrm>
        </p:spPr>
        <p:txBody>
          <a:bodyPr/>
          <a:lstStyle/>
          <a:p>
            <a:r>
              <a:rPr lang="en-US" b="1" dirty="0"/>
              <a:t>Figure 9.19 </a:t>
            </a:r>
            <a:r>
              <a:rPr lang="en-US" dirty="0"/>
              <a:t>(A) The bay </a:t>
            </a:r>
            <a:r>
              <a:rPr lang="en-US" dirty="0" err="1"/>
              <a:t>checkerspot</a:t>
            </a:r>
            <a:r>
              <a:rPr lang="en-US" dirty="0"/>
              <a:t> butterfly (</a:t>
            </a:r>
            <a:r>
              <a:rPr lang="en-US" i="1" dirty="0" err="1"/>
              <a:t>Euphydryas</a:t>
            </a:r>
            <a:r>
              <a:rPr lang="en-US" i="1" dirty="0"/>
              <a:t> </a:t>
            </a:r>
            <a:r>
              <a:rPr lang="en-US" i="1" dirty="0" err="1"/>
              <a:t>editha</a:t>
            </a:r>
            <a:r>
              <a:rPr lang="en-US" i="1" dirty="0"/>
              <a:t> </a:t>
            </a:r>
            <a:r>
              <a:rPr lang="en-US" i="1" dirty="0" err="1"/>
              <a:t>bayensis</a:t>
            </a:r>
            <a:r>
              <a:rPr lang="en-US" dirty="0"/>
              <a:t>) was once distributed throughout the western United States. </a:t>
            </a:r>
          </a:p>
        </p:txBody>
      </p:sp>
      <p:pic>
        <p:nvPicPr>
          <p:cNvPr id="2" name="Picture 1" descr="Two maps, A and B, show the geographic range and serpentine outcrops of bay checkerspot butterfly. Map A is titled geographic range of Euphydryas editha. Its population is across most regions in the western United States. San Francisco Bay area is highlighted. Map B is titled Serpentine outcrops or potential butter­y habitat in Santa Clara Valley. The map shows the butterfly and a large patch, surrounded by smaller patches, labeled colonization. Text reads, the Morgan Hill population patch was probably the source of individuals for recolonization of other patches.&#10;" title="Figure 9.19 (A) The bay checkerspot butterfly (Euphydryas editha bayensis) was once distributed throughout the western United State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2549" y="737267"/>
            <a:ext cx="3126903" cy="5836887"/>
          </a:xfrm>
          <a:prstGeom prst="rect">
            <a:avLst/>
          </a:prstGeom>
        </p:spPr>
      </p:pic>
    </p:spTree>
    <p:extLst>
      <p:ext uri="{BB962C8B-B14F-4D97-AF65-F5344CB8AC3E}">
        <p14:creationId xmlns:p14="http://schemas.microsoft.com/office/powerpoint/2010/main" val="38349982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26</a:t>
            </a:r>
            <a:endParaRPr lang="en-IN" dirty="0"/>
          </a:p>
        </p:txBody>
      </p:sp>
      <p:pic>
        <p:nvPicPr>
          <p:cNvPr id="2" name="Picture 1" descr="An illustration, A, shows migrations among different metapopulation patches. An illustration, B, shows migrations from a large population patch to three smaller population patches around it. The larger patch is also surrounded by three vacant patches.&#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94936" y="1671470"/>
            <a:ext cx="7202128" cy="3515060"/>
          </a:xfrm>
          <a:prstGeom prst="rect">
            <a:avLst/>
          </a:prstGeom>
        </p:spPr>
      </p:pic>
    </p:spTree>
    <p:extLst>
      <p:ext uri="{BB962C8B-B14F-4D97-AF65-F5344CB8AC3E}">
        <p14:creationId xmlns:p14="http://schemas.microsoft.com/office/powerpoint/2010/main" val="4136068693"/>
      </p:ext>
    </p:extLst>
  </p:cSld>
  <p:clrMapOvr>
    <a:masterClrMapping/>
  </p:clrMapOvr>
</p:sld>
</file>

<file path=ppt/theme/theme1.xml><?xml version="1.0" encoding="utf-8"?>
<a:theme xmlns:a="http://schemas.openxmlformats.org/drawingml/2006/main" name="Text Content Templat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xford Template 2020-05-05" id="{B78F6A64-C076-4E15-90E5-9A59F0E29698}" vid="{18DFF3BF-7F46-4B14-BD35-A03A29764567}"/>
    </a:ext>
  </a:extLst>
</a:theme>
</file>

<file path=ppt/theme/theme2.xml><?xml version="1.0" encoding="utf-8"?>
<a:theme xmlns:a="http://schemas.openxmlformats.org/drawingml/2006/main" name="Figure-Only Templat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xford Template 2020-05-05" id="{B78F6A64-C076-4E15-90E5-9A59F0E29698}" vid="{18DFF3BF-7F46-4B14-BD35-A03A2976456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CanthisbeconvertedbyStraive xmlns="37b7e42e-eaac-4c0c-b7ab-65d932e301c3">No</CanthisbeconvertedbyStraive>
    <Date xmlns="37b7e42e-eaac-4c0c-b7ab-65d932e301c3" xsi:nil="true"/>
    <TaxCatchAll xmlns="7c20e60f-09c9-4b20-a5fa-550b7d980542" xsi:nil="true"/>
    <_ip_UnifiedCompliancePolicyProperties xmlns="http://schemas.microsoft.com/sharepoint/v3" xsi:nil="true"/>
    <LearnosityQuestionTypeCategory xmlns="37b7e42e-eaac-4c0c-b7ab-65d932e301c3" xsi:nil="true"/>
    <ForpracticeorgradableforLMS_x003f_ xmlns="37b7e42e-eaac-4c0c-b7ab-65d932e301c3" xsi:nil="true"/>
    <lcf76f155ced4ddcb4097134ff3c332f xmlns="37b7e42e-eaac-4c0c-b7ab-65d932e301c3">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8900F5E31C89A48940A57403082843D" ma:contentTypeVersion="21" ma:contentTypeDescription="Create a new document." ma:contentTypeScope="" ma:versionID="e01f1bea4eea15a4ab808c7b93f055c4">
  <xsd:schema xmlns:xsd="http://www.w3.org/2001/XMLSchema" xmlns:xs="http://www.w3.org/2001/XMLSchema" xmlns:p="http://schemas.microsoft.com/office/2006/metadata/properties" xmlns:ns1="http://schemas.microsoft.com/sharepoint/v3" xmlns:ns2="37b7e42e-eaac-4c0c-b7ab-65d932e301c3" xmlns:ns3="7c20e60f-09c9-4b20-a5fa-550b7d980542" targetNamespace="http://schemas.microsoft.com/office/2006/metadata/properties" ma:root="true" ma:fieldsID="28466d567d11318e3f496e19d5c5c29c" ns1:_="" ns2:_="" ns3:_="">
    <xsd:import namespace="http://schemas.microsoft.com/sharepoint/v3"/>
    <xsd:import namespace="37b7e42e-eaac-4c0c-b7ab-65d932e301c3"/>
    <xsd:import namespace="7c20e60f-09c9-4b20-a5fa-550b7d98054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ForpracticeorgradableforLMS_x003f_" minOccurs="0"/>
                <xsd:element ref="ns2:MediaServiceObjectDetectorVersions" minOccurs="0"/>
                <xsd:element ref="ns2:MediaServiceLocation" minOccurs="0"/>
                <xsd:element ref="ns1:_ip_UnifiedCompliancePolicyProperties" minOccurs="0"/>
                <xsd:element ref="ns1:_ip_UnifiedCompliancePolicyUIAction" minOccurs="0"/>
                <xsd:element ref="ns2:CanthisbeconvertedbyStraive" minOccurs="0"/>
                <xsd:element ref="ns2:Date" minOccurs="0"/>
                <xsd:element ref="ns2:MediaServiceSearchProperties" minOccurs="0"/>
                <xsd:element ref="ns2:LearnosityQuestionTypeCategor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xsd:simpleType>
        <xsd:restriction base="dms:Note"/>
      </xsd:simpleType>
    </xsd:element>
    <xsd:element name="_ip_UnifiedCompliancePolicyUIAction" ma:index="24"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7b7e42e-eaac-4c0c-b7ab-65d932e301c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f217fd5-6bb5-4de3-bf71-ef5eb62cb525"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ForpracticeorgradableforLMS_x003f_" ma:index="20" nillable="true" ma:displayName="For practice or gradable for LMS?" ma:format="Dropdown" ma:internalName="ForpracticeorgradableforLMS_x003f_">
      <xsd:simpleType>
        <xsd:restriction base="dms:Choice">
          <xsd:enumeration value="For Practice"/>
          <xsd:enumeration value="For Grading"/>
          <xsd:enumeration value="For Practice OR Grading"/>
        </xsd:restriction>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CanthisbeconvertedbyStraive" ma:index="25" nillable="true" ma:displayName="Can be converted by Straive" ma:default="No" ma:format="Dropdown" ma:internalName="CanthisbeconvertedbyStraive">
      <xsd:simpleType>
        <xsd:restriction base="dms:Choice">
          <xsd:enumeration value="Yes"/>
          <xsd:enumeration value="No"/>
        </xsd:restriction>
      </xsd:simpleType>
    </xsd:element>
    <xsd:element name="Date" ma:index="26" nillable="true" ma:displayName="Date" ma:format="DateOnly" ma:internalName="Date">
      <xsd:simpleType>
        <xsd:restriction base="dms:DateTime"/>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LearnosityQuestionTypeCategory" ma:index="28" nillable="true" ma:displayName="Learnosity Question Type Category" ma:description="Category/Grouping as per Learnosity documentation here: https://authorguide.learnosity.com/hc/en-us/categories/360000074917-Question-Types" ma:format="Dropdown" ma:internalName="LearnosityQuestionTypeCategory">
      <xsd:complexType>
        <xsd:complexContent>
          <xsd:extension base="dms:MultiChoice">
            <xsd:sequence>
              <xsd:element name="Value" maxOccurs="unbounded" minOccurs="0" nillable="true">
                <xsd:simpleType>
                  <xsd:restriction base="dms:Choice">
                    <xsd:enumeration value="Multiple choice"/>
                    <xsd:enumeration value="Fill in the blanks"/>
                    <xsd:enumeration value="Classify, match &amp; order"/>
                    <xsd:enumeration value="Written &amp; recorded"/>
                    <xsd:enumeration value="Math"/>
                    <xsd:enumeration value="N/A"/>
                    <xsd:enumeration value="Other"/>
                    <xsd:enumeration value="Highlight"/>
                  </xsd:restriction>
                </xsd:simple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c20e60f-09c9-4b20-a5fa-550b7d98054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6927d970-8a6b-4b37-beb7-fd1884633f11}" ma:internalName="TaxCatchAll" ma:showField="CatchAllData" ma:web="7c20e60f-09c9-4b20-a5fa-550b7d9805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856919D-3723-464B-9967-427A087CBD61}">
  <ds:schemaRefs>
    <ds:schemaRef ds:uri="http://schemas.microsoft.com/office/2006/metadata/properties"/>
    <ds:schemaRef ds:uri="fd39d560-5c7d-4158-98a0-f420f8fdebce"/>
    <ds:schemaRef ds:uri="http://purl.org/dc/terms/"/>
    <ds:schemaRef ds:uri="http://schemas.openxmlformats.org/package/2006/metadata/core-properties"/>
    <ds:schemaRef ds:uri="a6c716b4-9090-4de7-aadc-2aa5f812ad24"/>
    <ds:schemaRef ds:uri="http://schemas.microsoft.com/office/2006/documentManagement/types"/>
    <ds:schemaRef ds:uri="http://schemas.microsoft.com/office/infopath/2007/PartnerControls"/>
    <ds:schemaRef ds:uri="http://purl.org/dc/elements/1.1/"/>
    <ds:schemaRef ds:uri="http://www.w3.org/XML/1998/namespace"/>
    <ds:schemaRef ds:uri="http://purl.org/dc/dcmitype/"/>
  </ds:schemaRefs>
</ds:datastoreItem>
</file>

<file path=customXml/itemProps2.xml><?xml version="1.0" encoding="utf-8"?>
<ds:datastoreItem xmlns:ds="http://schemas.openxmlformats.org/officeDocument/2006/customXml" ds:itemID="{BD7A6A59-445D-45AA-99E3-9CCECCFD5F0B}"/>
</file>

<file path=customXml/itemProps3.xml><?xml version="1.0" encoding="utf-8"?>
<ds:datastoreItem xmlns:ds="http://schemas.openxmlformats.org/officeDocument/2006/customXml" ds:itemID="{6B57C1AB-C2BF-4446-AECB-681D5785527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Oxford Template 2020-05-05</Template>
  <TotalTime>717</TotalTime>
  <Words>2588</Words>
  <Application>Microsoft Office PowerPoint</Application>
  <PresentationFormat>Widescreen</PresentationFormat>
  <Paragraphs>80</Paragraphs>
  <Slides>26</Slides>
  <Notes>26</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26</vt:i4>
      </vt:variant>
    </vt:vector>
  </HeadingPairs>
  <TitlesOfParts>
    <vt:vector size="31" baseType="lpstr">
      <vt:lpstr>MS PGothic</vt:lpstr>
      <vt:lpstr>Arial</vt:lpstr>
      <vt:lpstr>Calibri</vt:lpstr>
      <vt:lpstr>Text Content Templates</vt:lpstr>
      <vt:lpstr>Figure-Only Templates</vt:lpstr>
      <vt:lpstr>CONSERVATION BIOLOGY</vt:lpstr>
      <vt:lpstr>2</vt:lpstr>
      <vt:lpstr>Figure 9.1 An idealized sequence of land-use transitions. </vt:lpstr>
      <vt:lpstr>Figure 9.2 Global habitat loss due to expansion of agriculture. </vt:lpstr>
      <vt:lpstr>5</vt:lpstr>
      <vt:lpstr>Figure 9.3 Urbanization. </vt:lpstr>
      <vt:lpstr>7</vt:lpstr>
      <vt:lpstr>Figure 9.4 Habitat loss caused by extractive industries. </vt:lpstr>
      <vt:lpstr>Figure 9.5 Decadal losses and gains in global forest cover over the past three centuries. </vt:lpstr>
      <vt:lpstr>Figure 9.6 With 60% of the Amazon rain forest (green) lying within its borders, Brazil is home to a large fraction of the world’s rain forests. </vt:lpstr>
      <vt:lpstr>11</vt:lpstr>
      <vt:lpstr>12</vt:lpstr>
      <vt:lpstr>Figure 9.7 Impacts of global climate change on coral reefs. </vt:lpstr>
      <vt:lpstr>Figure 9.8 Land conversion at present and in the future. </vt:lpstr>
      <vt:lpstr>Figure 9.9 The relationship between habitat loss and habitat fragmentation. This diagram depicts a time series showing the loss and fragmentation of habitat from a natural landscape. </vt:lpstr>
      <vt:lpstr>Figure 9.10 Habitat loss and patch configuration. </vt:lpstr>
      <vt:lpstr>Figure 9.11 As patch sizes are reduced in a landscape, the proportion of core (interior) habitat declines and the proportion of edge habitat increases. As a result, edge effects have a greater influence on the dynamics of small patches.</vt:lpstr>
      <vt:lpstr>Figure 9.12 Changes in the forest edge microenvironment include exposure to more wind, drought, fire, light, and nitrogen deposition. </vt:lpstr>
      <vt:lpstr>Figure 9.13 Biomagnification of dichlorodiphenyltrichloroethane (DDT). (Left) The actual concentration of DDT in various components of the food web in parts per million (ppm). (Right) The relative magnification of DDT at successive trophic levels of the food web.</vt:lpstr>
      <vt:lpstr>Figure 9.14 (A) Birds, marine mammals, and many other ocean animals sicken and die when they are covered by oil following spills. </vt:lpstr>
      <vt:lpstr>Figure 9.15 Pharmaceutical pollution was measured in 258 of the world’s rivers spanning 104 countries. </vt:lpstr>
      <vt:lpstr>Figure 9.16 In 2018, a small male pilot whale was found near the Thai border with Malaysia, unable to swim or breathe and vomiting plastic bags. </vt:lpstr>
      <vt:lpstr>Figure 9.17 (A) Arid areas of the world are experiencing encroaching desertification, with increasing aridity and expanding deserts. </vt:lpstr>
      <vt:lpstr>Figure 9.18 (A) Modern landscapes increasingly look like patchy mosaics where some habitats have been lost and converted to human uses, </vt:lpstr>
      <vt:lpstr>Figure 9.19 (A) The bay checkerspot butterfly (Euphydryas editha bayensis) was once distributed throughout the western United States. </vt:lpstr>
      <vt:lpstr>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Interplay</dc:title>
  <dc:creator>Oxford University Press</dc:creator>
  <cp:lastModifiedBy>MaleappaneSahayaraj Candidassane</cp:lastModifiedBy>
  <cp:revision>120</cp:revision>
  <dcterms:created xsi:type="dcterms:W3CDTF">2021-01-21T20:31:29Z</dcterms:created>
  <dcterms:modified xsi:type="dcterms:W3CDTF">2024-11-22T03:27:41Z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f61502-7731-4690-a118-333634878cc9_Enabled">
    <vt:lpwstr>true</vt:lpwstr>
  </property>
  <property fmtid="{D5CDD505-2E9C-101B-9397-08002B2CF9AE}" pid="3" name="MSIP_Label_89f61502-7731-4690-a118-333634878cc9_SetDate">
    <vt:lpwstr>2020-04-27T21:10:48Z</vt:lpwstr>
  </property>
  <property fmtid="{D5CDD505-2E9C-101B-9397-08002B2CF9AE}" pid="4" name="MSIP_Label_89f61502-7731-4690-a118-333634878cc9_Method">
    <vt:lpwstr>Standard</vt:lpwstr>
  </property>
  <property fmtid="{D5CDD505-2E9C-101B-9397-08002B2CF9AE}" pid="5" name="MSIP_Label_89f61502-7731-4690-a118-333634878cc9_Name">
    <vt:lpwstr>Internal</vt:lpwstr>
  </property>
  <property fmtid="{D5CDD505-2E9C-101B-9397-08002B2CF9AE}" pid="6" name="MSIP_Label_89f61502-7731-4690-a118-333634878cc9_SiteId">
    <vt:lpwstr>91761b62-4c45-43f5-9f0e-be8ad9b551ff</vt:lpwstr>
  </property>
  <property fmtid="{D5CDD505-2E9C-101B-9397-08002B2CF9AE}" pid="7" name="MSIP_Label_89f61502-7731-4690-a118-333634878cc9_ActionId">
    <vt:lpwstr>69912cf1-8f32-4f1f-9ade-00009ae8a75a</vt:lpwstr>
  </property>
  <property fmtid="{D5CDD505-2E9C-101B-9397-08002B2CF9AE}" pid="8" name="MSIP_Label_89f61502-7731-4690-a118-333634878cc9_ContentBits">
    <vt:lpwstr>0</vt:lpwstr>
  </property>
  <property fmtid="{D5CDD505-2E9C-101B-9397-08002B2CF9AE}" pid="9" name="ContentTypeId">
    <vt:lpwstr>0x010100E8900F5E31C89A48940A57403082843D</vt:lpwstr>
  </property>
</Properties>
</file>