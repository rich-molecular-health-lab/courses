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Cooper BT Bold" charset="1" panose="0208080404030B020404"/>
      <p:regular r:id="rId14"/>
    </p:embeddedFont>
    <p:embeddedFont>
      <p:font typeface="Canva Sans Bold" charset="1" panose="020B0803030501040103"/>
      <p:regular r:id="rId15"/>
    </p:embeddedFont>
    <p:embeddedFont>
      <p:font typeface="DM Sans" charset="1" panose="00000000000000000000"/>
      <p:regular r:id="rId16"/>
    </p:embeddedFont>
    <p:embeddedFont>
      <p:font typeface="Bobby Jones" charset="1" panose="00000000000000000000"/>
      <p:regular r:id="rId17"/>
    </p:embeddedFont>
    <p:embeddedFont>
      <p:font typeface="Poppins Bold" charset="1" panose="00000800000000000000"/>
      <p:regular r:id="rId18"/>
    </p:embeddedFont>
    <p:embeddedFont>
      <p:font typeface="Poppins" charset="1" panose="00000500000000000000"/>
      <p:regular r:id="rId19"/>
    </p:embeddedFont>
    <p:embeddedFont>
      <p:font typeface="Kapsalon" charset="1" panose="00000000000000000000"/>
      <p:regular r:id="rId20"/>
    </p:embeddedFont>
    <p:embeddedFont>
      <p:font typeface="Pangolin"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2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2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2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https://onlinelibrary.wiley.com/doi/10.1111/ddi.13024" TargetMode="External" Type="http://schemas.openxmlformats.org/officeDocument/2006/relationships/hyperlink"/><Relationship Id="rId4" Target="https://onlinelibrary.wiley.com/doi/10.1111/ddi.13024"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6EA"/>
        </a:solidFill>
      </p:bgPr>
    </p:bg>
    <p:spTree>
      <p:nvGrpSpPr>
        <p:cNvPr id="1" name=""/>
        <p:cNvGrpSpPr/>
        <p:nvPr/>
      </p:nvGrpSpPr>
      <p:grpSpPr>
        <a:xfrm>
          <a:off x="0" y="0"/>
          <a:ext cx="0" cy="0"/>
          <a:chOff x="0" y="0"/>
          <a:chExt cx="0" cy="0"/>
        </a:xfrm>
      </p:grpSpPr>
      <p:grpSp>
        <p:nvGrpSpPr>
          <p:cNvPr name="Group 2" id="2"/>
          <p:cNvGrpSpPr/>
          <p:nvPr/>
        </p:nvGrpSpPr>
        <p:grpSpPr>
          <a:xfrm rot="0">
            <a:off x="-27106" y="0"/>
            <a:ext cx="18342213" cy="10287000"/>
            <a:chOff x="0" y="0"/>
            <a:chExt cx="24456283" cy="13716000"/>
          </a:xfrm>
        </p:grpSpPr>
        <p:sp>
          <p:nvSpPr>
            <p:cNvPr name="Freeform 3" id="3"/>
            <p:cNvSpPr/>
            <p:nvPr/>
          </p:nvSpPr>
          <p:spPr>
            <a:xfrm flipH="false" flipV="false" rot="-10800000">
              <a:off x="2782211"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 id="4"/>
            <p:cNvSpPr/>
            <p:nvPr/>
          </p:nvSpPr>
          <p:spPr>
            <a:xfrm flipH="false" flipV="false" rot="0">
              <a:off x="0" y="0"/>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10800000">
              <a:off x="5491470"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6" id="6"/>
            <p:cNvSpPr/>
            <p:nvPr/>
          </p:nvSpPr>
          <p:spPr>
            <a:xfrm flipH="false" flipV="false" rot="-10800000">
              <a:off x="8200729"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7" id="7"/>
            <p:cNvSpPr/>
            <p:nvPr/>
          </p:nvSpPr>
          <p:spPr>
            <a:xfrm flipH="false" flipV="false" rot="-10800000">
              <a:off x="10909988"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8" id="8"/>
            <p:cNvSpPr/>
            <p:nvPr/>
          </p:nvSpPr>
          <p:spPr>
            <a:xfrm flipH="false" flipV="false" rot="-10800000">
              <a:off x="13619247"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9" id="9"/>
            <p:cNvSpPr/>
            <p:nvPr/>
          </p:nvSpPr>
          <p:spPr>
            <a:xfrm flipH="false" flipV="false" rot="-10800000">
              <a:off x="16328506"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0" id="10"/>
            <p:cNvSpPr/>
            <p:nvPr/>
          </p:nvSpPr>
          <p:spPr>
            <a:xfrm flipH="false" flipV="false" rot="-10800000">
              <a:off x="19037765"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1" id="11"/>
            <p:cNvSpPr/>
            <p:nvPr/>
          </p:nvSpPr>
          <p:spPr>
            <a:xfrm flipH="false" flipV="false" rot="-10800000">
              <a:off x="21747024" y="0"/>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2" id="12"/>
            <p:cNvSpPr/>
            <p:nvPr/>
          </p:nvSpPr>
          <p:spPr>
            <a:xfrm flipH="false" flipV="false" rot="-10800000">
              <a:off x="2782211"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3" id="13"/>
            <p:cNvSpPr/>
            <p:nvPr/>
          </p:nvSpPr>
          <p:spPr>
            <a:xfrm flipH="false" flipV="false" rot="0">
              <a:off x="0" y="2736056"/>
              <a:ext cx="2782211" cy="2771778"/>
            </a:xfrm>
            <a:custGeom>
              <a:avLst/>
              <a:gdLst/>
              <a:ahLst/>
              <a:cxnLst/>
              <a:rect r="r" b="b" t="t" l="l"/>
              <a:pathLst>
                <a:path h="2771778" w="2782211">
                  <a:moveTo>
                    <a:pt x="0" y="0"/>
                  </a:moveTo>
                  <a:lnTo>
                    <a:pt x="2782211" y="0"/>
                  </a:lnTo>
                  <a:lnTo>
                    <a:pt x="2782211"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4" id="14"/>
            <p:cNvSpPr/>
            <p:nvPr/>
          </p:nvSpPr>
          <p:spPr>
            <a:xfrm flipH="false" flipV="false" rot="-10800000">
              <a:off x="5491470"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5" id="15"/>
            <p:cNvSpPr/>
            <p:nvPr/>
          </p:nvSpPr>
          <p:spPr>
            <a:xfrm flipH="false" flipV="false" rot="-10800000">
              <a:off x="8200729"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6" id="16"/>
            <p:cNvSpPr/>
            <p:nvPr/>
          </p:nvSpPr>
          <p:spPr>
            <a:xfrm flipH="false" flipV="false" rot="-10800000">
              <a:off x="10909988"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7" id="17"/>
            <p:cNvSpPr/>
            <p:nvPr/>
          </p:nvSpPr>
          <p:spPr>
            <a:xfrm flipH="false" flipV="false" rot="-10800000">
              <a:off x="13619247"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8" id="18"/>
            <p:cNvSpPr/>
            <p:nvPr/>
          </p:nvSpPr>
          <p:spPr>
            <a:xfrm flipH="false" flipV="false" rot="-10800000">
              <a:off x="16328506"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19" id="19"/>
            <p:cNvSpPr/>
            <p:nvPr/>
          </p:nvSpPr>
          <p:spPr>
            <a:xfrm flipH="false" flipV="false" rot="-10800000">
              <a:off x="19037765"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0" id="20"/>
            <p:cNvSpPr/>
            <p:nvPr/>
          </p:nvSpPr>
          <p:spPr>
            <a:xfrm flipH="false" flipV="false" rot="-10800000">
              <a:off x="21747024" y="2736056"/>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1" id="21"/>
            <p:cNvSpPr/>
            <p:nvPr/>
          </p:nvSpPr>
          <p:spPr>
            <a:xfrm flipH="false" flipV="false" rot="-10800000">
              <a:off x="2782211"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2" id="22"/>
            <p:cNvSpPr/>
            <p:nvPr/>
          </p:nvSpPr>
          <p:spPr>
            <a:xfrm flipH="false" flipV="false" rot="0">
              <a:off x="0" y="5472111"/>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3" id="23"/>
            <p:cNvSpPr/>
            <p:nvPr/>
          </p:nvSpPr>
          <p:spPr>
            <a:xfrm flipH="false" flipV="false" rot="-10800000">
              <a:off x="5491470"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4" id="24"/>
            <p:cNvSpPr/>
            <p:nvPr/>
          </p:nvSpPr>
          <p:spPr>
            <a:xfrm flipH="false" flipV="false" rot="-10800000">
              <a:off x="8200729"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5" id="25"/>
            <p:cNvSpPr/>
            <p:nvPr/>
          </p:nvSpPr>
          <p:spPr>
            <a:xfrm flipH="false" flipV="false" rot="-10800000">
              <a:off x="10909988"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6" id="26"/>
            <p:cNvSpPr/>
            <p:nvPr/>
          </p:nvSpPr>
          <p:spPr>
            <a:xfrm flipH="false" flipV="false" rot="-10800000">
              <a:off x="13619247"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7" id="27"/>
            <p:cNvSpPr/>
            <p:nvPr/>
          </p:nvSpPr>
          <p:spPr>
            <a:xfrm flipH="false" flipV="false" rot="-10800000">
              <a:off x="16328506"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8" id="28"/>
            <p:cNvSpPr/>
            <p:nvPr/>
          </p:nvSpPr>
          <p:spPr>
            <a:xfrm flipH="false" flipV="false" rot="-10800000">
              <a:off x="19037765"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29" id="29"/>
            <p:cNvSpPr/>
            <p:nvPr/>
          </p:nvSpPr>
          <p:spPr>
            <a:xfrm flipH="false" flipV="false" rot="-10800000">
              <a:off x="21747024" y="5472111"/>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0" id="30"/>
            <p:cNvSpPr/>
            <p:nvPr/>
          </p:nvSpPr>
          <p:spPr>
            <a:xfrm flipH="false" flipV="false" rot="-10800000">
              <a:off x="2782211"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1" id="31"/>
            <p:cNvSpPr/>
            <p:nvPr/>
          </p:nvSpPr>
          <p:spPr>
            <a:xfrm flipH="false" flipV="false" rot="0">
              <a:off x="0" y="8208167"/>
              <a:ext cx="2782211" cy="2771778"/>
            </a:xfrm>
            <a:custGeom>
              <a:avLst/>
              <a:gdLst/>
              <a:ahLst/>
              <a:cxnLst/>
              <a:rect r="r" b="b" t="t" l="l"/>
              <a:pathLst>
                <a:path h="2771778" w="2782211">
                  <a:moveTo>
                    <a:pt x="0" y="0"/>
                  </a:moveTo>
                  <a:lnTo>
                    <a:pt x="2782211" y="0"/>
                  </a:lnTo>
                  <a:lnTo>
                    <a:pt x="2782211"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2" id="32"/>
            <p:cNvSpPr/>
            <p:nvPr/>
          </p:nvSpPr>
          <p:spPr>
            <a:xfrm flipH="false" flipV="false" rot="-10800000">
              <a:off x="5491470"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3" id="33"/>
            <p:cNvSpPr/>
            <p:nvPr/>
          </p:nvSpPr>
          <p:spPr>
            <a:xfrm flipH="false" flipV="false" rot="-10800000">
              <a:off x="8200729"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4" id="34"/>
            <p:cNvSpPr/>
            <p:nvPr/>
          </p:nvSpPr>
          <p:spPr>
            <a:xfrm flipH="false" flipV="false" rot="-10800000">
              <a:off x="10909988"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5" id="35"/>
            <p:cNvSpPr/>
            <p:nvPr/>
          </p:nvSpPr>
          <p:spPr>
            <a:xfrm flipH="false" flipV="false" rot="-10800000">
              <a:off x="13619247"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6" id="36"/>
            <p:cNvSpPr/>
            <p:nvPr/>
          </p:nvSpPr>
          <p:spPr>
            <a:xfrm flipH="false" flipV="false" rot="-10800000">
              <a:off x="16328506"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7" id="37"/>
            <p:cNvSpPr/>
            <p:nvPr/>
          </p:nvSpPr>
          <p:spPr>
            <a:xfrm flipH="false" flipV="false" rot="-10800000">
              <a:off x="19037765"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8" id="38"/>
            <p:cNvSpPr/>
            <p:nvPr/>
          </p:nvSpPr>
          <p:spPr>
            <a:xfrm flipH="false" flipV="false" rot="-10800000">
              <a:off x="21747024" y="8208167"/>
              <a:ext cx="2709259" cy="2771778"/>
            </a:xfrm>
            <a:custGeom>
              <a:avLst/>
              <a:gdLst/>
              <a:ahLst/>
              <a:cxnLst/>
              <a:rect r="r" b="b" t="t" l="l"/>
              <a:pathLst>
                <a:path h="2771778" w="2709259">
                  <a:moveTo>
                    <a:pt x="0" y="0"/>
                  </a:moveTo>
                  <a:lnTo>
                    <a:pt x="2709259" y="0"/>
                  </a:lnTo>
                  <a:lnTo>
                    <a:pt x="2709259" y="2771777"/>
                  </a:lnTo>
                  <a:lnTo>
                    <a:pt x="0" y="2771777"/>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39" id="39"/>
            <p:cNvSpPr/>
            <p:nvPr/>
          </p:nvSpPr>
          <p:spPr>
            <a:xfrm flipH="false" flipV="false" rot="-10800000">
              <a:off x="2782211"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0" id="40"/>
            <p:cNvSpPr/>
            <p:nvPr/>
          </p:nvSpPr>
          <p:spPr>
            <a:xfrm flipH="false" flipV="false" rot="0">
              <a:off x="0" y="10944222"/>
              <a:ext cx="2782211" cy="2771778"/>
            </a:xfrm>
            <a:custGeom>
              <a:avLst/>
              <a:gdLst/>
              <a:ahLst/>
              <a:cxnLst/>
              <a:rect r="r" b="b" t="t" l="l"/>
              <a:pathLst>
                <a:path h="2771778" w="2782211">
                  <a:moveTo>
                    <a:pt x="0" y="0"/>
                  </a:moveTo>
                  <a:lnTo>
                    <a:pt x="2782211" y="0"/>
                  </a:lnTo>
                  <a:lnTo>
                    <a:pt x="2782211"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1" id="41"/>
            <p:cNvSpPr/>
            <p:nvPr/>
          </p:nvSpPr>
          <p:spPr>
            <a:xfrm flipH="false" flipV="false" rot="-10800000">
              <a:off x="5491470"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2" id="42"/>
            <p:cNvSpPr/>
            <p:nvPr/>
          </p:nvSpPr>
          <p:spPr>
            <a:xfrm flipH="false" flipV="false" rot="-10800000">
              <a:off x="8200729"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3" id="43"/>
            <p:cNvSpPr/>
            <p:nvPr/>
          </p:nvSpPr>
          <p:spPr>
            <a:xfrm flipH="false" flipV="false" rot="-10800000">
              <a:off x="10909988"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4" id="44"/>
            <p:cNvSpPr/>
            <p:nvPr/>
          </p:nvSpPr>
          <p:spPr>
            <a:xfrm flipH="false" flipV="false" rot="-10800000">
              <a:off x="13619247"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5" id="45"/>
            <p:cNvSpPr/>
            <p:nvPr/>
          </p:nvSpPr>
          <p:spPr>
            <a:xfrm flipH="false" flipV="false" rot="-10800000">
              <a:off x="16328506"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6" id="46"/>
            <p:cNvSpPr/>
            <p:nvPr/>
          </p:nvSpPr>
          <p:spPr>
            <a:xfrm flipH="false" flipV="false" rot="-10800000">
              <a:off x="19037765"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sp>
          <p:nvSpPr>
            <p:cNvPr name="Freeform 47" id="47"/>
            <p:cNvSpPr/>
            <p:nvPr/>
          </p:nvSpPr>
          <p:spPr>
            <a:xfrm flipH="false" flipV="false" rot="-10800000">
              <a:off x="21747024" y="10944222"/>
              <a:ext cx="2709259" cy="2771778"/>
            </a:xfrm>
            <a:custGeom>
              <a:avLst/>
              <a:gdLst/>
              <a:ahLst/>
              <a:cxnLst/>
              <a:rect r="r" b="b" t="t" l="l"/>
              <a:pathLst>
                <a:path h="2771778" w="2709259">
                  <a:moveTo>
                    <a:pt x="0" y="0"/>
                  </a:moveTo>
                  <a:lnTo>
                    <a:pt x="2709259" y="0"/>
                  </a:lnTo>
                  <a:lnTo>
                    <a:pt x="2709259" y="2771778"/>
                  </a:lnTo>
                  <a:lnTo>
                    <a:pt x="0" y="2771778"/>
                  </a:lnTo>
                  <a:lnTo>
                    <a:pt x="0" y="0"/>
                  </a:lnTo>
                  <a:close/>
                </a:path>
              </a:pathLst>
            </a:custGeom>
            <a:blipFill>
              <a:blip r:embed="rId2">
                <a:alphaModFix amt="70000"/>
                <a:extLst>
                  <a:ext uri="{96DAC541-7B7A-43D3-8B79-37D633B846F1}">
                    <asvg:svgBlip xmlns:asvg="http://schemas.microsoft.com/office/drawing/2016/SVG/main" r:embed="rId3"/>
                  </a:ext>
                </a:extLst>
              </a:blip>
              <a:stretch>
                <a:fillRect l="0" t="0" r="-2692" b="0"/>
              </a:stretch>
            </a:blipFill>
            <a:ln cap="sq">
              <a:noFill/>
              <a:prstDash val="solid"/>
              <a:miter/>
            </a:ln>
          </p:spPr>
        </p:sp>
      </p:grpSp>
      <p:sp>
        <p:nvSpPr>
          <p:cNvPr name="Freeform 48" id="48"/>
          <p:cNvSpPr/>
          <p:nvPr/>
        </p:nvSpPr>
        <p:spPr>
          <a:xfrm flipH="false" flipV="false" rot="-395974">
            <a:off x="5567665" y="6908415"/>
            <a:ext cx="7851202" cy="8584813"/>
          </a:xfrm>
          <a:custGeom>
            <a:avLst/>
            <a:gdLst/>
            <a:ahLst/>
            <a:cxnLst/>
            <a:rect r="r" b="b" t="t" l="l"/>
            <a:pathLst>
              <a:path h="8584813" w="7851202">
                <a:moveTo>
                  <a:pt x="0" y="0"/>
                </a:moveTo>
                <a:lnTo>
                  <a:pt x="7851201" y="0"/>
                </a:lnTo>
                <a:lnTo>
                  <a:pt x="7851201" y="8584813"/>
                </a:lnTo>
                <a:lnTo>
                  <a:pt x="0" y="85848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9" id="49"/>
          <p:cNvSpPr/>
          <p:nvPr/>
        </p:nvSpPr>
        <p:spPr>
          <a:xfrm flipH="false" flipV="false" rot="0">
            <a:off x="-666583" y="4665252"/>
            <a:ext cx="6746241" cy="1226589"/>
          </a:xfrm>
          <a:custGeom>
            <a:avLst/>
            <a:gdLst/>
            <a:ahLst/>
            <a:cxnLst/>
            <a:rect r="r" b="b" t="t" l="l"/>
            <a:pathLst>
              <a:path h="1226589" w="6746241">
                <a:moveTo>
                  <a:pt x="0" y="0"/>
                </a:moveTo>
                <a:lnTo>
                  <a:pt x="6746241" y="0"/>
                </a:lnTo>
                <a:lnTo>
                  <a:pt x="6746241" y="1226589"/>
                </a:lnTo>
                <a:lnTo>
                  <a:pt x="0" y="1226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0" id="50"/>
          <p:cNvSpPr/>
          <p:nvPr/>
        </p:nvSpPr>
        <p:spPr>
          <a:xfrm flipH="true" flipV="false" rot="0">
            <a:off x="-1669062" y="2238045"/>
            <a:ext cx="5615726" cy="4053533"/>
          </a:xfrm>
          <a:custGeom>
            <a:avLst/>
            <a:gdLst/>
            <a:ahLst/>
            <a:cxnLst/>
            <a:rect r="r" b="b" t="t" l="l"/>
            <a:pathLst>
              <a:path h="4053533" w="5615726">
                <a:moveTo>
                  <a:pt x="5615727" y="0"/>
                </a:moveTo>
                <a:lnTo>
                  <a:pt x="0" y="0"/>
                </a:lnTo>
                <a:lnTo>
                  <a:pt x="0" y="4053533"/>
                </a:lnTo>
                <a:lnTo>
                  <a:pt x="5615727" y="4053533"/>
                </a:lnTo>
                <a:lnTo>
                  <a:pt x="5615727"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51" id="51"/>
          <p:cNvSpPr/>
          <p:nvPr/>
        </p:nvSpPr>
        <p:spPr>
          <a:xfrm flipH="false" flipV="false" rot="933903">
            <a:off x="-1763910" y="6435193"/>
            <a:ext cx="7851202" cy="8584813"/>
          </a:xfrm>
          <a:custGeom>
            <a:avLst/>
            <a:gdLst/>
            <a:ahLst/>
            <a:cxnLst/>
            <a:rect r="r" b="b" t="t" l="l"/>
            <a:pathLst>
              <a:path h="8584813" w="7851202">
                <a:moveTo>
                  <a:pt x="0" y="0"/>
                </a:moveTo>
                <a:lnTo>
                  <a:pt x="7851201" y="0"/>
                </a:lnTo>
                <a:lnTo>
                  <a:pt x="7851201" y="8584813"/>
                </a:lnTo>
                <a:lnTo>
                  <a:pt x="0" y="85848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2" id="52"/>
          <p:cNvSpPr/>
          <p:nvPr/>
        </p:nvSpPr>
        <p:spPr>
          <a:xfrm flipH="false" flipV="false" rot="0">
            <a:off x="13886179" y="4665252"/>
            <a:ext cx="6746241" cy="1226589"/>
          </a:xfrm>
          <a:custGeom>
            <a:avLst/>
            <a:gdLst/>
            <a:ahLst/>
            <a:cxnLst/>
            <a:rect r="r" b="b" t="t" l="l"/>
            <a:pathLst>
              <a:path h="1226589" w="6746241">
                <a:moveTo>
                  <a:pt x="0" y="0"/>
                </a:moveTo>
                <a:lnTo>
                  <a:pt x="6746242" y="0"/>
                </a:lnTo>
                <a:lnTo>
                  <a:pt x="6746242" y="1226589"/>
                </a:lnTo>
                <a:lnTo>
                  <a:pt x="0" y="1226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4222890" y="2300321"/>
            <a:ext cx="9842220" cy="6186627"/>
            <a:chOff x="0" y="0"/>
            <a:chExt cx="2592190" cy="1629400"/>
          </a:xfrm>
        </p:grpSpPr>
        <p:sp>
          <p:nvSpPr>
            <p:cNvPr name="Freeform 54" id="54"/>
            <p:cNvSpPr/>
            <p:nvPr/>
          </p:nvSpPr>
          <p:spPr>
            <a:xfrm flipH="false" flipV="false" rot="0">
              <a:off x="0" y="0"/>
              <a:ext cx="2592190" cy="1629400"/>
            </a:xfrm>
            <a:custGeom>
              <a:avLst/>
              <a:gdLst/>
              <a:ahLst/>
              <a:cxnLst/>
              <a:rect r="r" b="b" t="t" l="l"/>
              <a:pathLst>
                <a:path h="1629400" w="2592190">
                  <a:moveTo>
                    <a:pt x="0" y="0"/>
                  </a:moveTo>
                  <a:lnTo>
                    <a:pt x="2592190" y="0"/>
                  </a:lnTo>
                  <a:lnTo>
                    <a:pt x="2592190" y="1629400"/>
                  </a:lnTo>
                  <a:lnTo>
                    <a:pt x="0" y="1629400"/>
                  </a:lnTo>
                  <a:close/>
                </a:path>
              </a:pathLst>
            </a:custGeom>
            <a:solidFill>
              <a:srgbClr val="F6C063"/>
            </a:solidFill>
            <a:ln w="28575" cap="sq">
              <a:solidFill>
                <a:srgbClr val="000000"/>
              </a:solidFill>
              <a:prstDash val="solid"/>
              <a:miter/>
            </a:ln>
          </p:spPr>
        </p:sp>
        <p:sp>
          <p:nvSpPr>
            <p:cNvPr name="TextBox 55" id="55"/>
            <p:cNvSpPr txBox="true"/>
            <p:nvPr/>
          </p:nvSpPr>
          <p:spPr>
            <a:xfrm>
              <a:off x="0" y="-38100"/>
              <a:ext cx="2592190" cy="1667500"/>
            </a:xfrm>
            <a:prstGeom prst="rect">
              <a:avLst/>
            </a:prstGeom>
          </p:spPr>
          <p:txBody>
            <a:bodyPr anchor="ctr" rtlCol="false" tIns="50800" lIns="50800" bIns="50800" rIns="50800"/>
            <a:lstStyle/>
            <a:p>
              <a:pPr algn="ctr">
                <a:lnSpc>
                  <a:spcPts val="2659"/>
                </a:lnSpc>
                <a:spcBef>
                  <a:spcPct val="0"/>
                </a:spcBef>
              </a:pPr>
            </a:p>
          </p:txBody>
        </p:sp>
      </p:grpSp>
      <p:sp>
        <p:nvSpPr>
          <p:cNvPr name="TextBox 56" id="56"/>
          <p:cNvSpPr txBox="true"/>
          <p:nvPr/>
        </p:nvSpPr>
        <p:spPr>
          <a:xfrm rot="0">
            <a:off x="4786585" y="3667299"/>
            <a:ext cx="8714831" cy="3662221"/>
          </a:xfrm>
          <a:prstGeom prst="rect">
            <a:avLst/>
          </a:prstGeom>
        </p:spPr>
        <p:txBody>
          <a:bodyPr anchor="t" rtlCol="false" tIns="0" lIns="0" bIns="0" rIns="0">
            <a:spAutoFit/>
          </a:bodyPr>
          <a:lstStyle/>
          <a:p>
            <a:pPr algn="ctr">
              <a:lnSpc>
                <a:spcPts val="9393"/>
              </a:lnSpc>
            </a:pPr>
            <a:r>
              <a:rPr lang="en-US" sz="9585" b="true">
                <a:solidFill>
                  <a:srgbClr val="000000"/>
                </a:solidFill>
                <a:latin typeface="Cooper BT Bold"/>
                <a:ea typeface="Cooper BT Bold"/>
                <a:cs typeface="Cooper BT Bold"/>
                <a:sym typeface="Cooper BT Bold"/>
              </a:rPr>
              <a:t>Functional &amp; Phylogenetic Diversity</a:t>
            </a:r>
          </a:p>
        </p:txBody>
      </p:sp>
      <p:grpSp>
        <p:nvGrpSpPr>
          <p:cNvPr name="Group 57" id="57"/>
          <p:cNvGrpSpPr/>
          <p:nvPr/>
        </p:nvGrpSpPr>
        <p:grpSpPr>
          <a:xfrm rot="0">
            <a:off x="5646323" y="1800052"/>
            <a:ext cx="6995354" cy="1000538"/>
            <a:chOff x="0" y="0"/>
            <a:chExt cx="9327139" cy="1334051"/>
          </a:xfrm>
        </p:grpSpPr>
        <p:grpSp>
          <p:nvGrpSpPr>
            <p:cNvPr name="Group 58" id="58"/>
            <p:cNvGrpSpPr/>
            <p:nvPr/>
          </p:nvGrpSpPr>
          <p:grpSpPr>
            <a:xfrm rot="0">
              <a:off x="0" y="0"/>
              <a:ext cx="9327139" cy="1334051"/>
              <a:chOff x="0" y="0"/>
              <a:chExt cx="2097837" cy="300051"/>
            </a:xfrm>
          </p:grpSpPr>
          <p:sp>
            <p:nvSpPr>
              <p:cNvPr name="Freeform 59" id="59"/>
              <p:cNvSpPr/>
              <p:nvPr/>
            </p:nvSpPr>
            <p:spPr>
              <a:xfrm flipH="false" flipV="false" rot="0">
                <a:off x="0" y="0"/>
                <a:ext cx="2097837" cy="300051"/>
              </a:xfrm>
              <a:custGeom>
                <a:avLst/>
                <a:gdLst/>
                <a:ahLst/>
                <a:cxnLst/>
                <a:rect r="r" b="b" t="t" l="l"/>
                <a:pathLst>
                  <a:path h="300051" w="2097837">
                    <a:moveTo>
                      <a:pt x="0" y="0"/>
                    </a:moveTo>
                    <a:lnTo>
                      <a:pt x="2097837" y="0"/>
                    </a:lnTo>
                    <a:lnTo>
                      <a:pt x="2097837" y="300051"/>
                    </a:lnTo>
                    <a:lnTo>
                      <a:pt x="0" y="300051"/>
                    </a:lnTo>
                    <a:close/>
                  </a:path>
                </a:pathLst>
              </a:custGeom>
              <a:solidFill>
                <a:srgbClr val="6D4A20"/>
              </a:solidFill>
              <a:ln w="28575" cap="sq">
                <a:solidFill>
                  <a:srgbClr val="000000"/>
                </a:solidFill>
                <a:prstDash val="solid"/>
                <a:miter/>
              </a:ln>
            </p:spPr>
          </p:sp>
          <p:sp>
            <p:nvSpPr>
              <p:cNvPr name="TextBox 60" id="60"/>
              <p:cNvSpPr txBox="true"/>
              <p:nvPr/>
            </p:nvSpPr>
            <p:spPr>
              <a:xfrm>
                <a:off x="0" y="-38100"/>
                <a:ext cx="2097837" cy="338151"/>
              </a:xfrm>
              <a:prstGeom prst="rect">
                <a:avLst/>
              </a:prstGeom>
            </p:spPr>
            <p:txBody>
              <a:bodyPr anchor="ctr" rtlCol="false" tIns="44614" lIns="44614" bIns="44614" rIns="44614"/>
              <a:lstStyle/>
              <a:p>
                <a:pPr algn="ctr">
                  <a:lnSpc>
                    <a:spcPts val="2659"/>
                  </a:lnSpc>
                  <a:spcBef>
                    <a:spcPct val="0"/>
                  </a:spcBef>
                </a:pPr>
              </a:p>
            </p:txBody>
          </p:sp>
        </p:grpSp>
        <p:sp>
          <p:nvSpPr>
            <p:cNvPr name="TextBox 61" id="61"/>
            <p:cNvSpPr txBox="true"/>
            <p:nvPr/>
          </p:nvSpPr>
          <p:spPr>
            <a:xfrm rot="0">
              <a:off x="311775" y="150746"/>
              <a:ext cx="8703589" cy="911745"/>
            </a:xfrm>
            <a:prstGeom prst="rect">
              <a:avLst/>
            </a:prstGeom>
          </p:spPr>
          <p:txBody>
            <a:bodyPr anchor="t" rtlCol="false" tIns="0" lIns="0" bIns="0" rIns="0">
              <a:spAutoFit/>
            </a:bodyPr>
            <a:lstStyle/>
            <a:p>
              <a:pPr algn="ctr">
                <a:lnSpc>
                  <a:spcPts val="5863"/>
                </a:lnSpc>
                <a:spcBef>
                  <a:spcPct val="0"/>
                </a:spcBef>
              </a:pPr>
              <a:r>
                <a:rPr lang="en-US" b="true" sz="4188">
                  <a:solidFill>
                    <a:srgbClr val="FFFFFF"/>
                  </a:solidFill>
                  <a:latin typeface="Canva Sans Bold"/>
                  <a:ea typeface="Canva Sans Bold"/>
                  <a:cs typeface="Canva Sans Bold"/>
                  <a:sym typeface="Canva Sans Bold"/>
                </a:rPr>
                <a:t>Biodiversity</a:t>
              </a:r>
            </a:p>
          </p:txBody>
        </p:sp>
      </p:grpSp>
      <p:sp>
        <p:nvSpPr>
          <p:cNvPr name="Freeform 62" id="62"/>
          <p:cNvSpPr/>
          <p:nvPr/>
        </p:nvSpPr>
        <p:spPr>
          <a:xfrm flipH="false" flipV="false" rot="-395974">
            <a:off x="12151520" y="6800493"/>
            <a:ext cx="8180553" cy="8944938"/>
          </a:xfrm>
          <a:custGeom>
            <a:avLst/>
            <a:gdLst/>
            <a:ahLst/>
            <a:cxnLst/>
            <a:rect r="r" b="b" t="t" l="l"/>
            <a:pathLst>
              <a:path h="8944938" w="8180553">
                <a:moveTo>
                  <a:pt x="0" y="0"/>
                </a:moveTo>
                <a:lnTo>
                  <a:pt x="8180552" y="0"/>
                </a:lnTo>
                <a:lnTo>
                  <a:pt x="8180552" y="8944938"/>
                </a:lnTo>
                <a:lnTo>
                  <a:pt x="0" y="89449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3" id="63"/>
          <p:cNvSpPr/>
          <p:nvPr/>
        </p:nvSpPr>
        <p:spPr>
          <a:xfrm flipH="false" flipV="false" rot="0">
            <a:off x="12913899" y="-18024"/>
            <a:ext cx="5898981" cy="6501883"/>
          </a:xfrm>
          <a:custGeom>
            <a:avLst/>
            <a:gdLst/>
            <a:ahLst/>
            <a:cxnLst/>
            <a:rect r="r" b="b" t="t" l="l"/>
            <a:pathLst>
              <a:path h="6501883" w="5898981">
                <a:moveTo>
                  <a:pt x="0" y="0"/>
                </a:moveTo>
                <a:lnTo>
                  <a:pt x="5898981" y="0"/>
                </a:lnTo>
                <a:lnTo>
                  <a:pt x="5898981" y="6501883"/>
                </a:lnTo>
                <a:lnTo>
                  <a:pt x="0" y="650188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64" id="64"/>
          <p:cNvSpPr/>
          <p:nvPr/>
        </p:nvSpPr>
        <p:spPr>
          <a:xfrm flipH="false" flipV="false" rot="0">
            <a:off x="756462" y="-520321"/>
            <a:ext cx="2184168" cy="2172254"/>
          </a:xfrm>
          <a:custGeom>
            <a:avLst/>
            <a:gdLst/>
            <a:ahLst/>
            <a:cxnLst/>
            <a:rect r="r" b="b" t="t" l="l"/>
            <a:pathLst>
              <a:path h="2172254" w="2184168">
                <a:moveTo>
                  <a:pt x="0" y="0"/>
                </a:moveTo>
                <a:lnTo>
                  <a:pt x="2184168" y="0"/>
                </a:lnTo>
                <a:lnTo>
                  <a:pt x="2184168" y="2172254"/>
                </a:lnTo>
                <a:lnTo>
                  <a:pt x="0" y="217225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65" id="65"/>
          <p:cNvSpPr/>
          <p:nvPr/>
        </p:nvSpPr>
        <p:spPr>
          <a:xfrm flipH="false" flipV="false" rot="0">
            <a:off x="7185073" y="-1410024"/>
            <a:ext cx="3917854" cy="3276751"/>
          </a:xfrm>
          <a:custGeom>
            <a:avLst/>
            <a:gdLst/>
            <a:ahLst/>
            <a:cxnLst/>
            <a:rect r="r" b="b" t="t" l="l"/>
            <a:pathLst>
              <a:path h="3276751" w="3917854">
                <a:moveTo>
                  <a:pt x="0" y="0"/>
                </a:moveTo>
                <a:lnTo>
                  <a:pt x="3917854" y="0"/>
                </a:lnTo>
                <a:lnTo>
                  <a:pt x="3917854" y="3276751"/>
                </a:lnTo>
                <a:lnTo>
                  <a:pt x="0" y="32767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E9557"/>
        </a:solidFill>
      </p:bgPr>
    </p:bg>
    <p:spTree>
      <p:nvGrpSpPr>
        <p:cNvPr id="1" name=""/>
        <p:cNvGrpSpPr/>
        <p:nvPr/>
      </p:nvGrpSpPr>
      <p:grpSpPr>
        <a:xfrm>
          <a:off x="0" y="0"/>
          <a:ext cx="0" cy="0"/>
          <a:chOff x="0" y="0"/>
          <a:chExt cx="0" cy="0"/>
        </a:xfrm>
      </p:grpSpPr>
      <p:sp>
        <p:nvSpPr>
          <p:cNvPr name="Freeform 2" id="2"/>
          <p:cNvSpPr/>
          <p:nvPr/>
        </p:nvSpPr>
        <p:spPr>
          <a:xfrm flipH="false" flipV="true" rot="5174410">
            <a:off x="8082003" y="16493"/>
            <a:ext cx="12029994" cy="10254014"/>
          </a:xfrm>
          <a:custGeom>
            <a:avLst/>
            <a:gdLst/>
            <a:ahLst/>
            <a:cxnLst/>
            <a:rect r="r" b="b" t="t" l="l"/>
            <a:pathLst>
              <a:path h="10254014" w="12029994">
                <a:moveTo>
                  <a:pt x="624595" y="10254014"/>
                </a:moveTo>
                <a:lnTo>
                  <a:pt x="12029994" y="9504499"/>
                </a:lnTo>
                <a:lnTo>
                  <a:pt x="11405399" y="0"/>
                </a:lnTo>
                <a:lnTo>
                  <a:pt x="0" y="749515"/>
                </a:lnTo>
                <a:lnTo>
                  <a:pt x="624595" y="10254014"/>
                </a:lnTo>
                <a:close/>
              </a:path>
            </a:pathLst>
          </a:custGeom>
          <a:blipFill>
            <a:blip r:embed="rId2"/>
            <a:stretch>
              <a:fillRect l="-15275" t="-2576" r="-7008" b="0"/>
            </a:stretch>
          </a:blipFill>
        </p:spPr>
      </p:sp>
      <p:sp>
        <p:nvSpPr>
          <p:cNvPr name="Freeform 3" id="3"/>
          <p:cNvSpPr/>
          <p:nvPr/>
        </p:nvSpPr>
        <p:spPr>
          <a:xfrm flipH="false" flipV="false" rot="-5400000">
            <a:off x="2852483" y="3683341"/>
            <a:ext cx="4587914" cy="6767986"/>
          </a:xfrm>
          <a:custGeom>
            <a:avLst/>
            <a:gdLst/>
            <a:ahLst/>
            <a:cxnLst/>
            <a:rect r="r" b="b" t="t" l="l"/>
            <a:pathLst>
              <a:path h="6767986" w="4587914">
                <a:moveTo>
                  <a:pt x="0" y="0"/>
                </a:moveTo>
                <a:lnTo>
                  <a:pt x="4587914" y="0"/>
                </a:lnTo>
                <a:lnTo>
                  <a:pt x="4587914" y="6767987"/>
                </a:lnTo>
                <a:lnTo>
                  <a:pt x="0" y="6767987"/>
                </a:lnTo>
                <a:lnTo>
                  <a:pt x="0" y="0"/>
                </a:lnTo>
                <a:close/>
              </a:path>
            </a:pathLst>
          </a:custGeom>
          <a:blipFill>
            <a:blip r:embed="rId3">
              <a:extLst>
                <a:ext uri="{96DAC541-7B7A-43D3-8B79-37D633B846F1}">
                  <asvg:svgBlip xmlns:asvg="http://schemas.microsoft.com/office/drawing/2016/SVG/main" r:embed="rId4"/>
                </a:ext>
              </a:extLst>
            </a:blip>
            <a:stretch>
              <a:fillRect l="0" t="-15748" r="-12073" b="0"/>
            </a:stretch>
          </a:blipFill>
          <a:ln cap="sq">
            <a:noFill/>
            <a:prstDash val="solid"/>
            <a:miter/>
          </a:ln>
        </p:spPr>
      </p:sp>
      <p:grpSp>
        <p:nvGrpSpPr>
          <p:cNvPr name="Group 4" id="4"/>
          <p:cNvGrpSpPr/>
          <p:nvPr/>
        </p:nvGrpSpPr>
        <p:grpSpPr>
          <a:xfrm rot="0">
            <a:off x="1047750" y="4191000"/>
            <a:ext cx="6972300" cy="4762500"/>
            <a:chOff x="0" y="0"/>
            <a:chExt cx="1836326" cy="1254321"/>
          </a:xfrm>
        </p:grpSpPr>
        <p:sp>
          <p:nvSpPr>
            <p:cNvPr name="Freeform 5" id="5"/>
            <p:cNvSpPr/>
            <p:nvPr/>
          </p:nvSpPr>
          <p:spPr>
            <a:xfrm flipH="false" flipV="false" rot="0">
              <a:off x="0" y="0"/>
              <a:ext cx="1836326" cy="1254321"/>
            </a:xfrm>
            <a:custGeom>
              <a:avLst/>
              <a:gdLst/>
              <a:ahLst/>
              <a:cxnLst/>
              <a:rect r="r" b="b" t="t" l="l"/>
              <a:pathLst>
                <a:path h="1254321" w="1836326">
                  <a:moveTo>
                    <a:pt x="0" y="0"/>
                  </a:moveTo>
                  <a:lnTo>
                    <a:pt x="1836326" y="0"/>
                  </a:lnTo>
                  <a:lnTo>
                    <a:pt x="1836326" y="1254321"/>
                  </a:lnTo>
                  <a:lnTo>
                    <a:pt x="0" y="1254321"/>
                  </a:lnTo>
                  <a:close/>
                </a:path>
              </a:pathLst>
            </a:custGeom>
            <a:solidFill>
              <a:srgbClr val="FFFCF3"/>
            </a:solidFill>
          </p:spPr>
        </p:sp>
        <p:sp>
          <p:nvSpPr>
            <p:cNvPr name="TextBox 6" id="6"/>
            <p:cNvSpPr txBox="true"/>
            <p:nvPr/>
          </p:nvSpPr>
          <p:spPr>
            <a:xfrm>
              <a:off x="0" y="-19050"/>
              <a:ext cx="1836326" cy="1273371"/>
            </a:xfrm>
            <a:prstGeom prst="rect">
              <a:avLst/>
            </a:prstGeom>
          </p:spPr>
          <p:txBody>
            <a:bodyPr anchor="ctr" rtlCol="false" tIns="50800" lIns="50800" bIns="50800" rIns="50800"/>
            <a:lstStyle/>
            <a:p>
              <a:pPr algn="ctr">
                <a:lnSpc>
                  <a:spcPts val="2060"/>
                </a:lnSpc>
              </a:pPr>
            </a:p>
          </p:txBody>
        </p:sp>
      </p:grpSp>
      <p:sp>
        <p:nvSpPr>
          <p:cNvPr name="Freeform 7" id="7"/>
          <p:cNvSpPr/>
          <p:nvPr/>
        </p:nvSpPr>
        <p:spPr>
          <a:xfrm flipH="false" flipV="false" rot="10693537">
            <a:off x="3831121" y="4089927"/>
            <a:ext cx="1272428" cy="329147"/>
          </a:xfrm>
          <a:custGeom>
            <a:avLst/>
            <a:gdLst/>
            <a:ahLst/>
            <a:cxnLst/>
            <a:rect r="r" b="b" t="t" l="l"/>
            <a:pathLst>
              <a:path h="329147" w="1272428">
                <a:moveTo>
                  <a:pt x="0" y="0"/>
                </a:moveTo>
                <a:lnTo>
                  <a:pt x="1272428" y="0"/>
                </a:lnTo>
                <a:lnTo>
                  <a:pt x="1272428" y="329147"/>
                </a:lnTo>
                <a:lnTo>
                  <a:pt x="0" y="329147"/>
                </a:lnTo>
                <a:lnTo>
                  <a:pt x="0" y="0"/>
                </a:lnTo>
                <a:close/>
              </a:path>
            </a:pathLst>
          </a:custGeom>
          <a:blipFill>
            <a:blip r:embed="rId5"/>
            <a:stretch>
              <a:fillRect l="-54076" t="0" r="-39930" b="0"/>
            </a:stretch>
          </a:blipFill>
        </p:spPr>
      </p:sp>
      <p:sp>
        <p:nvSpPr>
          <p:cNvPr name="Freeform 8" id="8"/>
          <p:cNvSpPr/>
          <p:nvPr/>
        </p:nvSpPr>
        <p:spPr>
          <a:xfrm flipH="false" flipV="false" rot="0">
            <a:off x="10787427" y="1846061"/>
            <a:ext cx="7017723" cy="7107439"/>
          </a:xfrm>
          <a:custGeom>
            <a:avLst/>
            <a:gdLst/>
            <a:ahLst/>
            <a:cxnLst/>
            <a:rect r="r" b="b" t="t" l="l"/>
            <a:pathLst>
              <a:path h="7107439" w="7017723">
                <a:moveTo>
                  <a:pt x="0" y="0"/>
                </a:moveTo>
                <a:lnTo>
                  <a:pt x="7017723" y="0"/>
                </a:lnTo>
                <a:lnTo>
                  <a:pt x="7017723" y="7107439"/>
                </a:lnTo>
                <a:lnTo>
                  <a:pt x="0" y="7107439"/>
                </a:lnTo>
                <a:lnTo>
                  <a:pt x="0" y="0"/>
                </a:lnTo>
                <a:close/>
              </a:path>
            </a:pathLst>
          </a:custGeom>
          <a:blipFill>
            <a:blip r:embed="rId6"/>
            <a:stretch>
              <a:fillRect l="0" t="0" r="0" b="0"/>
            </a:stretch>
          </a:blipFill>
        </p:spPr>
      </p:sp>
      <p:sp>
        <p:nvSpPr>
          <p:cNvPr name="TextBox 9" id="9"/>
          <p:cNvSpPr txBox="true"/>
          <p:nvPr/>
        </p:nvSpPr>
        <p:spPr>
          <a:xfrm rot="0">
            <a:off x="1847850" y="5114947"/>
            <a:ext cx="5372100" cy="944245"/>
          </a:xfrm>
          <a:prstGeom prst="rect">
            <a:avLst/>
          </a:prstGeom>
        </p:spPr>
        <p:txBody>
          <a:bodyPr anchor="t" rtlCol="false" tIns="0" lIns="0" bIns="0" rIns="0">
            <a:spAutoFit/>
          </a:bodyPr>
          <a:lstStyle/>
          <a:p>
            <a:pPr algn="l" marL="626114" indent="-313057" lvl="1">
              <a:lnSpc>
                <a:spcPts val="3770"/>
              </a:lnSpc>
              <a:buFont typeface="Arial"/>
              <a:buChar char="•"/>
            </a:pPr>
            <a:r>
              <a:rPr lang="en-US" sz="2900">
                <a:solidFill>
                  <a:srgbClr val="000001"/>
                </a:solidFill>
                <a:latin typeface="DM Sans"/>
                <a:ea typeface="DM Sans"/>
                <a:cs typeface="DM Sans"/>
                <a:sym typeface="DM Sans"/>
              </a:rPr>
              <a:t>Decide on which functional traits are important.</a:t>
            </a:r>
          </a:p>
        </p:txBody>
      </p:sp>
      <p:sp>
        <p:nvSpPr>
          <p:cNvPr name="TextBox 10" id="10"/>
          <p:cNvSpPr txBox="true"/>
          <p:nvPr/>
        </p:nvSpPr>
        <p:spPr>
          <a:xfrm rot="0">
            <a:off x="1333500" y="1457325"/>
            <a:ext cx="6286500" cy="2098676"/>
          </a:xfrm>
          <a:prstGeom prst="rect">
            <a:avLst/>
          </a:prstGeom>
        </p:spPr>
        <p:txBody>
          <a:bodyPr anchor="t" rtlCol="false" tIns="0" lIns="0" bIns="0" rIns="0">
            <a:spAutoFit/>
          </a:bodyPr>
          <a:lstStyle/>
          <a:p>
            <a:pPr algn="l" marL="0" indent="0" lvl="0">
              <a:lnSpc>
                <a:spcPts val="8000"/>
              </a:lnSpc>
              <a:spcBef>
                <a:spcPct val="0"/>
              </a:spcBef>
            </a:pPr>
            <a:r>
              <a:rPr lang="en-US" sz="8000">
                <a:solidFill>
                  <a:srgbClr val="000001"/>
                </a:solidFill>
                <a:latin typeface="Bobby Jones"/>
                <a:ea typeface="Bobby Jones"/>
                <a:cs typeface="Bobby Jones"/>
                <a:sym typeface="Bobby Jones"/>
              </a:rPr>
              <a:t>Functional Diversity</a:t>
            </a:r>
          </a:p>
        </p:txBody>
      </p:sp>
      <p:sp>
        <p:nvSpPr>
          <p:cNvPr name="TextBox 11" id="11"/>
          <p:cNvSpPr txBox="true"/>
          <p:nvPr/>
        </p:nvSpPr>
        <p:spPr>
          <a:xfrm rot="0">
            <a:off x="1847850" y="6735445"/>
            <a:ext cx="5372100" cy="944245"/>
          </a:xfrm>
          <a:prstGeom prst="rect">
            <a:avLst/>
          </a:prstGeom>
        </p:spPr>
        <p:txBody>
          <a:bodyPr anchor="t" rtlCol="false" tIns="0" lIns="0" bIns="0" rIns="0">
            <a:spAutoFit/>
          </a:bodyPr>
          <a:lstStyle/>
          <a:p>
            <a:pPr algn="l" marL="626114" indent="-313057" lvl="1">
              <a:lnSpc>
                <a:spcPts val="3770"/>
              </a:lnSpc>
              <a:buFont typeface="Arial"/>
              <a:buChar char="•"/>
            </a:pPr>
            <a:r>
              <a:rPr lang="en-US" sz="2900">
                <a:solidFill>
                  <a:srgbClr val="000001"/>
                </a:solidFill>
                <a:latin typeface="DM Sans"/>
                <a:ea typeface="DM Sans"/>
                <a:cs typeface="DM Sans"/>
                <a:sym typeface="DM Sans"/>
              </a:rPr>
              <a:t> Measure those traits on the species of interest.</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9499" t="-33412" r="0" b="-44774"/>
            </a:stretch>
          </a:blipFill>
        </p:spPr>
      </p:sp>
      <p:sp>
        <p:nvSpPr>
          <p:cNvPr name="TextBox 3" id="3"/>
          <p:cNvSpPr txBox="true"/>
          <p:nvPr/>
        </p:nvSpPr>
        <p:spPr>
          <a:xfrm rot="0">
            <a:off x="1028700" y="1057275"/>
            <a:ext cx="14200535" cy="999333"/>
          </a:xfrm>
          <a:prstGeom prst="rect">
            <a:avLst/>
          </a:prstGeom>
        </p:spPr>
        <p:txBody>
          <a:bodyPr anchor="t" rtlCol="false" tIns="0" lIns="0" bIns="0" rIns="0">
            <a:spAutoFit/>
          </a:bodyPr>
          <a:lstStyle/>
          <a:p>
            <a:pPr algn="l">
              <a:lnSpc>
                <a:spcPts val="7198"/>
              </a:lnSpc>
            </a:pPr>
            <a:r>
              <a:rPr lang="en-US" sz="6790" b="true">
                <a:solidFill>
                  <a:srgbClr val="FFDE59"/>
                </a:solidFill>
                <a:latin typeface="Poppins Bold"/>
                <a:ea typeface="Poppins Bold"/>
                <a:cs typeface="Poppins Bold"/>
                <a:sym typeface="Poppins Bold"/>
              </a:rPr>
              <a:t>Functional Traits</a:t>
            </a:r>
          </a:p>
        </p:txBody>
      </p:sp>
      <p:sp>
        <p:nvSpPr>
          <p:cNvPr name="TextBox 4" id="4"/>
          <p:cNvSpPr txBox="true"/>
          <p:nvPr/>
        </p:nvSpPr>
        <p:spPr>
          <a:xfrm rot="0">
            <a:off x="1028700" y="3076195"/>
            <a:ext cx="6023559" cy="1316836"/>
          </a:xfrm>
          <a:prstGeom prst="rect">
            <a:avLst/>
          </a:prstGeom>
        </p:spPr>
        <p:txBody>
          <a:bodyPr anchor="t" rtlCol="false" tIns="0" lIns="0" bIns="0" rIns="0">
            <a:spAutoFit/>
          </a:bodyPr>
          <a:lstStyle/>
          <a:p>
            <a:pPr algn="l" marL="606809" indent="-303405" lvl="1">
              <a:lnSpc>
                <a:spcPts val="3428"/>
              </a:lnSpc>
              <a:buFont typeface="Arial"/>
              <a:buChar char="•"/>
            </a:pPr>
            <a:r>
              <a:rPr lang="en-US" sz="2810">
                <a:solidFill>
                  <a:srgbClr val="FFFFFF"/>
                </a:solidFill>
                <a:latin typeface="Poppins"/>
                <a:ea typeface="Poppins"/>
                <a:cs typeface="Poppins"/>
                <a:sym typeface="Poppins"/>
              </a:rPr>
              <a:t>The different shapes and sizes of flowers that insects pollinate</a:t>
            </a:r>
          </a:p>
        </p:txBody>
      </p:sp>
      <p:sp>
        <p:nvSpPr>
          <p:cNvPr name="TextBox 5" id="5"/>
          <p:cNvSpPr txBox="true"/>
          <p:nvPr/>
        </p:nvSpPr>
        <p:spPr>
          <a:xfrm rot="0">
            <a:off x="1028700" y="2266363"/>
            <a:ext cx="8967761" cy="459586"/>
          </a:xfrm>
          <a:prstGeom prst="rect">
            <a:avLst/>
          </a:prstGeom>
        </p:spPr>
        <p:txBody>
          <a:bodyPr anchor="t" rtlCol="false" tIns="0" lIns="0" bIns="0" rIns="0">
            <a:spAutoFit/>
          </a:bodyPr>
          <a:lstStyle/>
          <a:p>
            <a:pPr algn="l">
              <a:lnSpc>
                <a:spcPts val="3428"/>
              </a:lnSpc>
            </a:pPr>
            <a:r>
              <a:rPr lang="en-US" sz="2810" b="true">
                <a:solidFill>
                  <a:srgbClr val="FFFFFF"/>
                </a:solidFill>
                <a:latin typeface="Poppins Bold"/>
                <a:ea typeface="Poppins Bold"/>
                <a:cs typeface="Poppins Bold"/>
                <a:sym typeface="Poppins Bold"/>
              </a:rPr>
              <a:t>Examples:</a:t>
            </a:r>
          </a:p>
        </p:txBody>
      </p:sp>
      <p:sp>
        <p:nvSpPr>
          <p:cNvPr name="TextBox 6" id="6"/>
          <p:cNvSpPr txBox="true"/>
          <p:nvPr/>
        </p:nvSpPr>
        <p:spPr>
          <a:xfrm rot="0">
            <a:off x="1028700" y="4745456"/>
            <a:ext cx="6023559" cy="1316836"/>
          </a:xfrm>
          <a:prstGeom prst="rect">
            <a:avLst/>
          </a:prstGeom>
        </p:spPr>
        <p:txBody>
          <a:bodyPr anchor="t" rtlCol="false" tIns="0" lIns="0" bIns="0" rIns="0">
            <a:spAutoFit/>
          </a:bodyPr>
          <a:lstStyle/>
          <a:p>
            <a:pPr algn="l" marL="606809" indent="-303405" lvl="1">
              <a:lnSpc>
                <a:spcPts val="3428"/>
              </a:lnSpc>
              <a:buFont typeface="Arial"/>
              <a:buChar char="•"/>
            </a:pPr>
            <a:r>
              <a:rPr lang="en-US" sz="2810">
                <a:solidFill>
                  <a:srgbClr val="FFFFFF"/>
                </a:solidFill>
                <a:latin typeface="Poppins"/>
                <a:ea typeface="Poppins"/>
                <a:cs typeface="Poppins"/>
                <a:sym typeface="Poppins"/>
              </a:rPr>
              <a:t>The heights of trees in a canopy that influence their competitiveness for light</a:t>
            </a:r>
          </a:p>
        </p:txBody>
      </p:sp>
      <p:sp>
        <p:nvSpPr>
          <p:cNvPr name="TextBox 7" id="7"/>
          <p:cNvSpPr txBox="true"/>
          <p:nvPr/>
        </p:nvSpPr>
        <p:spPr>
          <a:xfrm rot="0">
            <a:off x="1028700" y="6414717"/>
            <a:ext cx="6023559" cy="1316836"/>
          </a:xfrm>
          <a:prstGeom prst="rect">
            <a:avLst/>
          </a:prstGeom>
        </p:spPr>
        <p:txBody>
          <a:bodyPr anchor="t" rtlCol="false" tIns="0" lIns="0" bIns="0" rIns="0">
            <a:spAutoFit/>
          </a:bodyPr>
          <a:lstStyle/>
          <a:p>
            <a:pPr algn="l" marL="606809" indent="-303405" lvl="1">
              <a:lnSpc>
                <a:spcPts val="3428"/>
              </a:lnSpc>
              <a:buFont typeface="Arial"/>
              <a:buChar char="•"/>
            </a:pPr>
            <a:r>
              <a:rPr lang="en-US" sz="2810">
                <a:solidFill>
                  <a:srgbClr val="FFFFFF"/>
                </a:solidFill>
                <a:latin typeface="Poppins"/>
                <a:ea typeface="Poppins"/>
                <a:cs typeface="Poppins"/>
                <a:sym typeface="Poppins"/>
              </a:rPr>
              <a:t>The gape sizes of predatory fishes that influence which types of prey species they eat.</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E9557"/>
        </a:solidFill>
      </p:bgPr>
    </p:bg>
    <p:spTree>
      <p:nvGrpSpPr>
        <p:cNvPr id="1" name=""/>
        <p:cNvGrpSpPr/>
        <p:nvPr/>
      </p:nvGrpSpPr>
      <p:grpSpPr>
        <a:xfrm>
          <a:off x="0" y="0"/>
          <a:ext cx="0" cy="0"/>
          <a:chOff x="0" y="0"/>
          <a:chExt cx="0" cy="0"/>
        </a:xfrm>
      </p:grpSpPr>
      <p:sp>
        <p:nvSpPr>
          <p:cNvPr name="Freeform 2" id="2"/>
          <p:cNvSpPr/>
          <p:nvPr/>
        </p:nvSpPr>
        <p:spPr>
          <a:xfrm flipH="true" flipV="false" rot="5400000">
            <a:off x="6009736" y="3031240"/>
            <a:ext cx="10924644" cy="4042118"/>
          </a:xfrm>
          <a:custGeom>
            <a:avLst/>
            <a:gdLst/>
            <a:ahLst/>
            <a:cxnLst/>
            <a:rect r="r" b="b" t="t" l="l"/>
            <a:pathLst>
              <a:path h="4042118" w="10924644">
                <a:moveTo>
                  <a:pt x="10924643" y="0"/>
                </a:moveTo>
                <a:lnTo>
                  <a:pt x="0" y="0"/>
                </a:lnTo>
                <a:lnTo>
                  <a:pt x="0" y="4042118"/>
                </a:lnTo>
                <a:lnTo>
                  <a:pt x="10924643" y="4042118"/>
                </a:lnTo>
                <a:lnTo>
                  <a:pt x="10924643" y="0"/>
                </a:lnTo>
                <a:close/>
              </a:path>
            </a:pathLst>
          </a:custGeom>
          <a:blipFill>
            <a:blip r:embed="rId2"/>
            <a:stretch>
              <a:fillRect l="0" t="0" r="0" b="0"/>
            </a:stretch>
          </a:blipFill>
        </p:spPr>
      </p:sp>
      <p:sp>
        <p:nvSpPr>
          <p:cNvPr name="Freeform 3" id="3"/>
          <p:cNvSpPr/>
          <p:nvPr/>
        </p:nvSpPr>
        <p:spPr>
          <a:xfrm flipH="false" flipV="true" rot="5174410">
            <a:off x="8082003" y="16493"/>
            <a:ext cx="12029994" cy="10254014"/>
          </a:xfrm>
          <a:custGeom>
            <a:avLst/>
            <a:gdLst/>
            <a:ahLst/>
            <a:cxnLst/>
            <a:rect r="r" b="b" t="t" l="l"/>
            <a:pathLst>
              <a:path h="10254014" w="12029994">
                <a:moveTo>
                  <a:pt x="624595" y="10254014"/>
                </a:moveTo>
                <a:lnTo>
                  <a:pt x="12029994" y="9504499"/>
                </a:lnTo>
                <a:lnTo>
                  <a:pt x="11405399" y="0"/>
                </a:lnTo>
                <a:lnTo>
                  <a:pt x="0" y="749515"/>
                </a:lnTo>
                <a:lnTo>
                  <a:pt x="624595" y="10254014"/>
                </a:lnTo>
                <a:close/>
              </a:path>
            </a:pathLst>
          </a:custGeom>
          <a:blipFill>
            <a:blip r:embed="rId3"/>
            <a:stretch>
              <a:fillRect l="-15275" t="-2576" r="-7008" b="0"/>
            </a:stretch>
          </a:blipFill>
        </p:spPr>
      </p:sp>
      <p:sp>
        <p:nvSpPr>
          <p:cNvPr name="Freeform 4" id="4"/>
          <p:cNvSpPr/>
          <p:nvPr/>
        </p:nvSpPr>
        <p:spPr>
          <a:xfrm flipH="false" flipV="false" rot="-5400000">
            <a:off x="2852483" y="3683341"/>
            <a:ext cx="4587914" cy="6767986"/>
          </a:xfrm>
          <a:custGeom>
            <a:avLst/>
            <a:gdLst/>
            <a:ahLst/>
            <a:cxnLst/>
            <a:rect r="r" b="b" t="t" l="l"/>
            <a:pathLst>
              <a:path h="6767986" w="4587914">
                <a:moveTo>
                  <a:pt x="0" y="0"/>
                </a:moveTo>
                <a:lnTo>
                  <a:pt x="4587914" y="0"/>
                </a:lnTo>
                <a:lnTo>
                  <a:pt x="4587914" y="6767987"/>
                </a:lnTo>
                <a:lnTo>
                  <a:pt x="0" y="6767987"/>
                </a:lnTo>
                <a:lnTo>
                  <a:pt x="0" y="0"/>
                </a:lnTo>
                <a:close/>
              </a:path>
            </a:pathLst>
          </a:custGeom>
          <a:blipFill>
            <a:blip r:embed="rId4">
              <a:extLst>
                <a:ext uri="{96DAC541-7B7A-43D3-8B79-37D633B846F1}">
                  <asvg:svgBlip xmlns:asvg="http://schemas.microsoft.com/office/drawing/2016/SVG/main" r:embed="rId5"/>
                </a:ext>
              </a:extLst>
            </a:blip>
            <a:stretch>
              <a:fillRect l="0" t="-15748" r="-12073" b="0"/>
            </a:stretch>
          </a:blipFill>
          <a:ln cap="sq">
            <a:noFill/>
            <a:prstDash val="solid"/>
            <a:miter/>
          </a:ln>
        </p:spPr>
      </p:sp>
      <p:grpSp>
        <p:nvGrpSpPr>
          <p:cNvPr name="Group 5" id="5"/>
          <p:cNvGrpSpPr/>
          <p:nvPr/>
        </p:nvGrpSpPr>
        <p:grpSpPr>
          <a:xfrm rot="0">
            <a:off x="1047750" y="4191000"/>
            <a:ext cx="6972300" cy="4762500"/>
            <a:chOff x="0" y="0"/>
            <a:chExt cx="1836326" cy="1254321"/>
          </a:xfrm>
        </p:grpSpPr>
        <p:sp>
          <p:nvSpPr>
            <p:cNvPr name="Freeform 6" id="6"/>
            <p:cNvSpPr/>
            <p:nvPr/>
          </p:nvSpPr>
          <p:spPr>
            <a:xfrm flipH="false" flipV="false" rot="0">
              <a:off x="0" y="0"/>
              <a:ext cx="1836326" cy="1254321"/>
            </a:xfrm>
            <a:custGeom>
              <a:avLst/>
              <a:gdLst/>
              <a:ahLst/>
              <a:cxnLst/>
              <a:rect r="r" b="b" t="t" l="l"/>
              <a:pathLst>
                <a:path h="1254321" w="1836326">
                  <a:moveTo>
                    <a:pt x="0" y="0"/>
                  </a:moveTo>
                  <a:lnTo>
                    <a:pt x="1836326" y="0"/>
                  </a:lnTo>
                  <a:lnTo>
                    <a:pt x="1836326" y="1254321"/>
                  </a:lnTo>
                  <a:lnTo>
                    <a:pt x="0" y="1254321"/>
                  </a:lnTo>
                  <a:close/>
                </a:path>
              </a:pathLst>
            </a:custGeom>
            <a:solidFill>
              <a:srgbClr val="FFFCF3"/>
            </a:solidFill>
          </p:spPr>
        </p:sp>
        <p:sp>
          <p:nvSpPr>
            <p:cNvPr name="TextBox 7" id="7"/>
            <p:cNvSpPr txBox="true"/>
            <p:nvPr/>
          </p:nvSpPr>
          <p:spPr>
            <a:xfrm>
              <a:off x="0" y="-19050"/>
              <a:ext cx="1836326" cy="1273371"/>
            </a:xfrm>
            <a:prstGeom prst="rect">
              <a:avLst/>
            </a:prstGeom>
          </p:spPr>
          <p:txBody>
            <a:bodyPr anchor="ctr" rtlCol="false" tIns="50800" lIns="50800" bIns="50800" rIns="50800"/>
            <a:lstStyle/>
            <a:p>
              <a:pPr algn="ctr">
                <a:lnSpc>
                  <a:spcPts val="2060"/>
                </a:lnSpc>
              </a:pPr>
            </a:p>
          </p:txBody>
        </p:sp>
      </p:grpSp>
      <p:sp>
        <p:nvSpPr>
          <p:cNvPr name="Freeform 8" id="8"/>
          <p:cNvSpPr/>
          <p:nvPr/>
        </p:nvSpPr>
        <p:spPr>
          <a:xfrm flipH="false" flipV="false" rot="10693537">
            <a:off x="3831121" y="4089927"/>
            <a:ext cx="1272428" cy="329147"/>
          </a:xfrm>
          <a:custGeom>
            <a:avLst/>
            <a:gdLst/>
            <a:ahLst/>
            <a:cxnLst/>
            <a:rect r="r" b="b" t="t" l="l"/>
            <a:pathLst>
              <a:path h="329147" w="1272428">
                <a:moveTo>
                  <a:pt x="0" y="0"/>
                </a:moveTo>
                <a:lnTo>
                  <a:pt x="1272428" y="0"/>
                </a:lnTo>
                <a:lnTo>
                  <a:pt x="1272428" y="329147"/>
                </a:lnTo>
                <a:lnTo>
                  <a:pt x="0" y="329147"/>
                </a:lnTo>
                <a:lnTo>
                  <a:pt x="0" y="0"/>
                </a:lnTo>
                <a:close/>
              </a:path>
            </a:pathLst>
          </a:custGeom>
          <a:blipFill>
            <a:blip r:embed="rId6"/>
            <a:stretch>
              <a:fillRect l="-54076" t="0" r="-39930" b="0"/>
            </a:stretch>
          </a:blipFill>
        </p:spPr>
      </p:sp>
      <p:sp>
        <p:nvSpPr>
          <p:cNvPr name="TextBox 9" id="9"/>
          <p:cNvSpPr txBox="true"/>
          <p:nvPr/>
        </p:nvSpPr>
        <p:spPr>
          <a:xfrm rot="0">
            <a:off x="1549676" y="4924470"/>
            <a:ext cx="5968448" cy="3325495"/>
          </a:xfrm>
          <a:prstGeom prst="rect">
            <a:avLst/>
          </a:prstGeom>
        </p:spPr>
        <p:txBody>
          <a:bodyPr anchor="t" rtlCol="false" tIns="0" lIns="0" bIns="0" rIns="0">
            <a:spAutoFit/>
          </a:bodyPr>
          <a:lstStyle/>
          <a:p>
            <a:pPr algn="l">
              <a:lnSpc>
                <a:spcPts val="3770"/>
              </a:lnSpc>
            </a:pPr>
            <a:r>
              <a:rPr lang="en-US" sz="2900">
                <a:solidFill>
                  <a:srgbClr val="000001"/>
                </a:solidFill>
                <a:latin typeface="DM Sans"/>
                <a:ea typeface="DM Sans"/>
                <a:cs typeface="DM Sans"/>
                <a:sym typeface="DM Sans"/>
              </a:rPr>
              <a:t>Once a researcher decides on which functional traits are important and collects measures of those traits on the species of interest, the next step is to quantify how similar or different species are in a “trait space.”</a:t>
            </a:r>
          </a:p>
        </p:txBody>
      </p:sp>
      <p:sp>
        <p:nvSpPr>
          <p:cNvPr name="TextBox 10" id="10"/>
          <p:cNvSpPr txBox="true"/>
          <p:nvPr/>
        </p:nvSpPr>
        <p:spPr>
          <a:xfrm rot="0">
            <a:off x="1333500" y="1457325"/>
            <a:ext cx="6286500" cy="2098676"/>
          </a:xfrm>
          <a:prstGeom prst="rect">
            <a:avLst/>
          </a:prstGeom>
        </p:spPr>
        <p:txBody>
          <a:bodyPr anchor="t" rtlCol="false" tIns="0" lIns="0" bIns="0" rIns="0">
            <a:spAutoFit/>
          </a:bodyPr>
          <a:lstStyle/>
          <a:p>
            <a:pPr algn="l" marL="0" indent="0" lvl="0">
              <a:lnSpc>
                <a:spcPts val="8000"/>
              </a:lnSpc>
              <a:spcBef>
                <a:spcPct val="0"/>
              </a:spcBef>
            </a:pPr>
            <a:r>
              <a:rPr lang="en-US" sz="8000">
                <a:solidFill>
                  <a:srgbClr val="000001"/>
                </a:solidFill>
                <a:latin typeface="Bobby Jones"/>
                <a:ea typeface="Bobby Jones"/>
                <a:cs typeface="Bobby Jones"/>
                <a:sym typeface="Bobby Jones"/>
              </a:rPr>
              <a:t>Functional Diversity</a:t>
            </a:r>
          </a:p>
        </p:txBody>
      </p:sp>
      <p:sp>
        <p:nvSpPr>
          <p:cNvPr name="Freeform 11" id="11"/>
          <p:cNvSpPr/>
          <p:nvPr/>
        </p:nvSpPr>
        <p:spPr>
          <a:xfrm flipH="false" flipV="false" rot="0">
            <a:off x="10222594" y="750691"/>
            <a:ext cx="7748812" cy="7141711"/>
          </a:xfrm>
          <a:custGeom>
            <a:avLst/>
            <a:gdLst/>
            <a:ahLst/>
            <a:cxnLst/>
            <a:rect r="r" b="b" t="t" l="l"/>
            <a:pathLst>
              <a:path h="7141711" w="7748812">
                <a:moveTo>
                  <a:pt x="0" y="0"/>
                </a:moveTo>
                <a:lnTo>
                  <a:pt x="7748812" y="0"/>
                </a:lnTo>
                <a:lnTo>
                  <a:pt x="7748812" y="7141711"/>
                </a:lnTo>
                <a:lnTo>
                  <a:pt x="0" y="7141711"/>
                </a:lnTo>
                <a:lnTo>
                  <a:pt x="0" y="0"/>
                </a:lnTo>
                <a:close/>
              </a:path>
            </a:pathLst>
          </a:custGeom>
          <a:blipFill>
            <a:blip r:embed="rId7"/>
            <a:stretch>
              <a:fillRect l="0" t="0" r="0" b="0"/>
            </a:stretch>
          </a:blipFill>
        </p:spPr>
      </p:sp>
      <p:sp>
        <p:nvSpPr>
          <p:cNvPr name="TextBox 12" id="12"/>
          <p:cNvSpPr txBox="true"/>
          <p:nvPr/>
        </p:nvSpPr>
        <p:spPr>
          <a:xfrm rot="0">
            <a:off x="10699672" y="7989691"/>
            <a:ext cx="7053072" cy="1371600"/>
          </a:xfrm>
          <a:prstGeom prst="rect">
            <a:avLst/>
          </a:prstGeom>
        </p:spPr>
        <p:txBody>
          <a:bodyPr anchor="t" rtlCol="false" tIns="0" lIns="0" bIns="0" rIns="0">
            <a:spAutoFit/>
          </a:bodyPr>
          <a:lstStyle/>
          <a:p>
            <a:pPr algn="ctr">
              <a:lnSpc>
                <a:spcPts val="2760"/>
              </a:lnSpc>
            </a:pPr>
            <a:r>
              <a:rPr lang="en-US" sz="2300">
                <a:solidFill>
                  <a:srgbClr val="000001"/>
                </a:solidFill>
                <a:latin typeface="DM Sans"/>
                <a:ea typeface="DM Sans"/>
                <a:cs typeface="DM Sans"/>
                <a:sym typeface="DM Sans"/>
              </a:rPr>
              <a:t>When many functional traits are measured, one usually calculates the Euclidean distance separating each pair of species in an n-dimensional matrix, where n is the number of traits measured.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E9557"/>
        </a:solidFill>
      </p:bgPr>
    </p:bg>
    <p:spTree>
      <p:nvGrpSpPr>
        <p:cNvPr id="1" name=""/>
        <p:cNvGrpSpPr/>
        <p:nvPr/>
      </p:nvGrpSpPr>
      <p:grpSpPr>
        <a:xfrm>
          <a:off x="0" y="0"/>
          <a:ext cx="0" cy="0"/>
          <a:chOff x="0" y="0"/>
          <a:chExt cx="0" cy="0"/>
        </a:xfrm>
      </p:grpSpPr>
      <p:sp>
        <p:nvSpPr>
          <p:cNvPr name="Freeform 2" id="2"/>
          <p:cNvSpPr/>
          <p:nvPr/>
        </p:nvSpPr>
        <p:spPr>
          <a:xfrm flipH="true" flipV="false" rot="5400000">
            <a:off x="6009736" y="3031240"/>
            <a:ext cx="10924644" cy="4042118"/>
          </a:xfrm>
          <a:custGeom>
            <a:avLst/>
            <a:gdLst/>
            <a:ahLst/>
            <a:cxnLst/>
            <a:rect r="r" b="b" t="t" l="l"/>
            <a:pathLst>
              <a:path h="4042118" w="10924644">
                <a:moveTo>
                  <a:pt x="10924643" y="0"/>
                </a:moveTo>
                <a:lnTo>
                  <a:pt x="0" y="0"/>
                </a:lnTo>
                <a:lnTo>
                  <a:pt x="0" y="4042118"/>
                </a:lnTo>
                <a:lnTo>
                  <a:pt x="10924643" y="4042118"/>
                </a:lnTo>
                <a:lnTo>
                  <a:pt x="10924643" y="0"/>
                </a:lnTo>
                <a:close/>
              </a:path>
            </a:pathLst>
          </a:custGeom>
          <a:blipFill>
            <a:blip r:embed="rId2"/>
            <a:stretch>
              <a:fillRect l="0" t="0" r="0" b="0"/>
            </a:stretch>
          </a:blipFill>
        </p:spPr>
      </p:sp>
      <p:sp>
        <p:nvSpPr>
          <p:cNvPr name="Freeform 3" id="3"/>
          <p:cNvSpPr/>
          <p:nvPr/>
        </p:nvSpPr>
        <p:spPr>
          <a:xfrm flipH="false" flipV="true" rot="5174410">
            <a:off x="8082003" y="16493"/>
            <a:ext cx="12029994" cy="10254014"/>
          </a:xfrm>
          <a:custGeom>
            <a:avLst/>
            <a:gdLst/>
            <a:ahLst/>
            <a:cxnLst/>
            <a:rect r="r" b="b" t="t" l="l"/>
            <a:pathLst>
              <a:path h="10254014" w="12029994">
                <a:moveTo>
                  <a:pt x="624595" y="10254014"/>
                </a:moveTo>
                <a:lnTo>
                  <a:pt x="12029994" y="9504499"/>
                </a:lnTo>
                <a:lnTo>
                  <a:pt x="11405399" y="0"/>
                </a:lnTo>
                <a:lnTo>
                  <a:pt x="0" y="749515"/>
                </a:lnTo>
                <a:lnTo>
                  <a:pt x="624595" y="10254014"/>
                </a:lnTo>
                <a:close/>
              </a:path>
            </a:pathLst>
          </a:custGeom>
          <a:blipFill>
            <a:blip r:embed="rId3"/>
            <a:stretch>
              <a:fillRect l="-15275" t="-2576" r="-7008" b="0"/>
            </a:stretch>
          </a:blipFill>
        </p:spPr>
      </p:sp>
      <p:sp>
        <p:nvSpPr>
          <p:cNvPr name="Freeform 4" id="4"/>
          <p:cNvSpPr/>
          <p:nvPr/>
        </p:nvSpPr>
        <p:spPr>
          <a:xfrm flipH="false" flipV="false" rot="-5400000">
            <a:off x="2852483" y="3683341"/>
            <a:ext cx="4587914" cy="6767986"/>
          </a:xfrm>
          <a:custGeom>
            <a:avLst/>
            <a:gdLst/>
            <a:ahLst/>
            <a:cxnLst/>
            <a:rect r="r" b="b" t="t" l="l"/>
            <a:pathLst>
              <a:path h="6767986" w="4587914">
                <a:moveTo>
                  <a:pt x="0" y="0"/>
                </a:moveTo>
                <a:lnTo>
                  <a:pt x="4587914" y="0"/>
                </a:lnTo>
                <a:lnTo>
                  <a:pt x="4587914" y="6767987"/>
                </a:lnTo>
                <a:lnTo>
                  <a:pt x="0" y="6767987"/>
                </a:lnTo>
                <a:lnTo>
                  <a:pt x="0" y="0"/>
                </a:lnTo>
                <a:close/>
              </a:path>
            </a:pathLst>
          </a:custGeom>
          <a:blipFill>
            <a:blip r:embed="rId4">
              <a:extLst>
                <a:ext uri="{96DAC541-7B7A-43D3-8B79-37D633B846F1}">
                  <asvg:svgBlip xmlns:asvg="http://schemas.microsoft.com/office/drawing/2016/SVG/main" r:embed="rId5"/>
                </a:ext>
              </a:extLst>
            </a:blip>
            <a:stretch>
              <a:fillRect l="0" t="-15748" r="-12073" b="0"/>
            </a:stretch>
          </a:blipFill>
          <a:ln cap="sq">
            <a:noFill/>
            <a:prstDash val="solid"/>
            <a:miter/>
          </a:ln>
        </p:spPr>
      </p:sp>
      <p:grpSp>
        <p:nvGrpSpPr>
          <p:cNvPr name="Group 5" id="5"/>
          <p:cNvGrpSpPr/>
          <p:nvPr/>
        </p:nvGrpSpPr>
        <p:grpSpPr>
          <a:xfrm rot="0">
            <a:off x="1047750" y="4191000"/>
            <a:ext cx="6972300" cy="4762500"/>
            <a:chOff x="0" y="0"/>
            <a:chExt cx="1836326" cy="1254321"/>
          </a:xfrm>
        </p:grpSpPr>
        <p:sp>
          <p:nvSpPr>
            <p:cNvPr name="Freeform 6" id="6"/>
            <p:cNvSpPr/>
            <p:nvPr/>
          </p:nvSpPr>
          <p:spPr>
            <a:xfrm flipH="false" flipV="false" rot="0">
              <a:off x="0" y="0"/>
              <a:ext cx="1836326" cy="1254321"/>
            </a:xfrm>
            <a:custGeom>
              <a:avLst/>
              <a:gdLst/>
              <a:ahLst/>
              <a:cxnLst/>
              <a:rect r="r" b="b" t="t" l="l"/>
              <a:pathLst>
                <a:path h="1254321" w="1836326">
                  <a:moveTo>
                    <a:pt x="0" y="0"/>
                  </a:moveTo>
                  <a:lnTo>
                    <a:pt x="1836326" y="0"/>
                  </a:lnTo>
                  <a:lnTo>
                    <a:pt x="1836326" y="1254321"/>
                  </a:lnTo>
                  <a:lnTo>
                    <a:pt x="0" y="1254321"/>
                  </a:lnTo>
                  <a:close/>
                </a:path>
              </a:pathLst>
            </a:custGeom>
            <a:solidFill>
              <a:srgbClr val="FFFCF3"/>
            </a:solidFill>
          </p:spPr>
        </p:sp>
        <p:sp>
          <p:nvSpPr>
            <p:cNvPr name="TextBox 7" id="7"/>
            <p:cNvSpPr txBox="true"/>
            <p:nvPr/>
          </p:nvSpPr>
          <p:spPr>
            <a:xfrm>
              <a:off x="0" y="-19050"/>
              <a:ext cx="1836326" cy="1273371"/>
            </a:xfrm>
            <a:prstGeom prst="rect">
              <a:avLst/>
            </a:prstGeom>
          </p:spPr>
          <p:txBody>
            <a:bodyPr anchor="ctr" rtlCol="false" tIns="50800" lIns="50800" bIns="50800" rIns="50800"/>
            <a:lstStyle/>
            <a:p>
              <a:pPr algn="ctr">
                <a:lnSpc>
                  <a:spcPts val="2060"/>
                </a:lnSpc>
              </a:pPr>
            </a:p>
          </p:txBody>
        </p:sp>
      </p:grpSp>
      <p:sp>
        <p:nvSpPr>
          <p:cNvPr name="Freeform 8" id="8"/>
          <p:cNvSpPr/>
          <p:nvPr/>
        </p:nvSpPr>
        <p:spPr>
          <a:xfrm flipH="false" flipV="false" rot="10693537">
            <a:off x="3831121" y="4089927"/>
            <a:ext cx="1272428" cy="329147"/>
          </a:xfrm>
          <a:custGeom>
            <a:avLst/>
            <a:gdLst/>
            <a:ahLst/>
            <a:cxnLst/>
            <a:rect r="r" b="b" t="t" l="l"/>
            <a:pathLst>
              <a:path h="329147" w="1272428">
                <a:moveTo>
                  <a:pt x="0" y="0"/>
                </a:moveTo>
                <a:lnTo>
                  <a:pt x="1272428" y="0"/>
                </a:lnTo>
                <a:lnTo>
                  <a:pt x="1272428" y="329147"/>
                </a:lnTo>
                <a:lnTo>
                  <a:pt x="0" y="329147"/>
                </a:lnTo>
                <a:lnTo>
                  <a:pt x="0" y="0"/>
                </a:lnTo>
                <a:close/>
              </a:path>
            </a:pathLst>
          </a:custGeom>
          <a:blipFill>
            <a:blip r:embed="rId6"/>
            <a:stretch>
              <a:fillRect l="-54076" t="0" r="-39930" b="0"/>
            </a:stretch>
          </a:blipFill>
        </p:spPr>
      </p:sp>
      <p:sp>
        <p:nvSpPr>
          <p:cNvPr name="Freeform 9" id="9"/>
          <p:cNvSpPr/>
          <p:nvPr/>
        </p:nvSpPr>
        <p:spPr>
          <a:xfrm flipH="false" flipV="false" rot="0">
            <a:off x="10370862" y="2968186"/>
            <a:ext cx="7759387" cy="5361636"/>
          </a:xfrm>
          <a:custGeom>
            <a:avLst/>
            <a:gdLst/>
            <a:ahLst/>
            <a:cxnLst/>
            <a:rect r="r" b="b" t="t" l="l"/>
            <a:pathLst>
              <a:path h="5361636" w="7759387">
                <a:moveTo>
                  <a:pt x="0" y="0"/>
                </a:moveTo>
                <a:lnTo>
                  <a:pt x="7759387" y="0"/>
                </a:lnTo>
                <a:lnTo>
                  <a:pt x="7759387" y="5361637"/>
                </a:lnTo>
                <a:lnTo>
                  <a:pt x="0" y="5361637"/>
                </a:lnTo>
                <a:lnTo>
                  <a:pt x="0" y="0"/>
                </a:lnTo>
                <a:close/>
              </a:path>
            </a:pathLst>
          </a:custGeom>
          <a:blipFill>
            <a:blip r:embed="rId7"/>
            <a:stretch>
              <a:fillRect l="0" t="0" r="0" b="0"/>
            </a:stretch>
          </a:blipFill>
        </p:spPr>
      </p:sp>
      <p:sp>
        <p:nvSpPr>
          <p:cNvPr name="TextBox 10" id="10"/>
          <p:cNvSpPr txBox="true"/>
          <p:nvPr/>
        </p:nvSpPr>
        <p:spPr>
          <a:xfrm rot="0">
            <a:off x="1549676" y="4924470"/>
            <a:ext cx="5968448" cy="1420495"/>
          </a:xfrm>
          <a:prstGeom prst="rect">
            <a:avLst/>
          </a:prstGeom>
        </p:spPr>
        <p:txBody>
          <a:bodyPr anchor="t" rtlCol="false" tIns="0" lIns="0" bIns="0" rIns="0">
            <a:spAutoFit/>
          </a:bodyPr>
          <a:lstStyle/>
          <a:p>
            <a:pPr algn="l">
              <a:lnSpc>
                <a:spcPts val="3770"/>
              </a:lnSpc>
            </a:pPr>
            <a:r>
              <a:rPr lang="en-US" sz="2900">
                <a:solidFill>
                  <a:srgbClr val="000001"/>
                </a:solidFill>
                <a:latin typeface="DM Sans"/>
                <a:ea typeface="DM Sans"/>
                <a:cs typeface="DM Sans"/>
                <a:sym typeface="DM Sans"/>
              </a:rPr>
              <a:t>The trait distances that separate species can then be used to make a phenogram.</a:t>
            </a:r>
          </a:p>
        </p:txBody>
      </p:sp>
      <p:sp>
        <p:nvSpPr>
          <p:cNvPr name="TextBox 11" id="11"/>
          <p:cNvSpPr txBox="true"/>
          <p:nvPr/>
        </p:nvSpPr>
        <p:spPr>
          <a:xfrm rot="0">
            <a:off x="1333500" y="1457325"/>
            <a:ext cx="6286500" cy="2098676"/>
          </a:xfrm>
          <a:prstGeom prst="rect">
            <a:avLst/>
          </a:prstGeom>
        </p:spPr>
        <p:txBody>
          <a:bodyPr anchor="t" rtlCol="false" tIns="0" lIns="0" bIns="0" rIns="0">
            <a:spAutoFit/>
          </a:bodyPr>
          <a:lstStyle/>
          <a:p>
            <a:pPr algn="l" marL="0" indent="0" lvl="0">
              <a:lnSpc>
                <a:spcPts val="8000"/>
              </a:lnSpc>
              <a:spcBef>
                <a:spcPct val="0"/>
              </a:spcBef>
            </a:pPr>
            <a:r>
              <a:rPr lang="en-US" sz="8000">
                <a:solidFill>
                  <a:srgbClr val="000001"/>
                </a:solidFill>
                <a:latin typeface="Bobby Jones"/>
                <a:ea typeface="Bobby Jones"/>
                <a:cs typeface="Bobby Jones"/>
                <a:sym typeface="Bobby Jones"/>
              </a:rPr>
              <a:t>Functional Diversity</a:t>
            </a:r>
          </a:p>
        </p:txBody>
      </p:sp>
      <p:sp>
        <p:nvSpPr>
          <p:cNvPr name="TextBox 12" id="12"/>
          <p:cNvSpPr txBox="true"/>
          <p:nvPr/>
        </p:nvSpPr>
        <p:spPr>
          <a:xfrm rot="0">
            <a:off x="1549676" y="6553200"/>
            <a:ext cx="5968448" cy="1700530"/>
          </a:xfrm>
          <a:prstGeom prst="rect">
            <a:avLst/>
          </a:prstGeom>
        </p:spPr>
        <p:txBody>
          <a:bodyPr anchor="t" rtlCol="false" tIns="0" lIns="0" bIns="0" rIns="0">
            <a:spAutoFit/>
          </a:bodyPr>
          <a:lstStyle/>
          <a:p>
            <a:pPr algn="l" marL="561345" indent="-280673" lvl="1">
              <a:lnSpc>
                <a:spcPts val="3380"/>
              </a:lnSpc>
              <a:buFont typeface="Arial"/>
              <a:buChar char="•"/>
            </a:pPr>
            <a:r>
              <a:rPr lang="en-US" sz="2600">
                <a:solidFill>
                  <a:srgbClr val="000001"/>
                </a:solidFill>
                <a:latin typeface="DM Sans"/>
                <a:ea typeface="DM Sans"/>
                <a:cs typeface="DM Sans"/>
                <a:sym typeface="DM Sans"/>
              </a:rPr>
              <a:t>Diagram depicting relationships among species based on their overall similarity or dissimilarity in functional traits.</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E9557"/>
        </a:solidFill>
      </p:bgPr>
    </p:bg>
    <p:spTree>
      <p:nvGrpSpPr>
        <p:cNvPr id="1" name=""/>
        <p:cNvGrpSpPr/>
        <p:nvPr/>
      </p:nvGrpSpPr>
      <p:grpSpPr>
        <a:xfrm>
          <a:off x="0" y="0"/>
          <a:ext cx="0" cy="0"/>
          <a:chOff x="0" y="0"/>
          <a:chExt cx="0" cy="0"/>
        </a:xfrm>
      </p:grpSpPr>
      <p:sp>
        <p:nvSpPr>
          <p:cNvPr name="Freeform 2" id="2"/>
          <p:cNvSpPr/>
          <p:nvPr/>
        </p:nvSpPr>
        <p:spPr>
          <a:xfrm flipH="true" flipV="false" rot="5400000">
            <a:off x="6009736" y="3031240"/>
            <a:ext cx="10924644" cy="4042118"/>
          </a:xfrm>
          <a:custGeom>
            <a:avLst/>
            <a:gdLst/>
            <a:ahLst/>
            <a:cxnLst/>
            <a:rect r="r" b="b" t="t" l="l"/>
            <a:pathLst>
              <a:path h="4042118" w="10924644">
                <a:moveTo>
                  <a:pt x="10924643" y="0"/>
                </a:moveTo>
                <a:lnTo>
                  <a:pt x="0" y="0"/>
                </a:lnTo>
                <a:lnTo>
                  <a:pt x="0" y="4042118"/>
                </a:lnTo>
                <a:lnTo>
                  <a:pt x="10924643" y="4042118"/>
                </a:lnTo>
                <a:lnTo>
                  <a:pt x="10924643" y="0"/>
                </a:lnTo>
                <a:close/>
              </a:path>
            </a:pathLst>
          </a:custGeom>
          <a:blipFill>
            <a:blip r:embed="rId2"/>
            <a:stretch>
              <a:fillRect l="0" t="0" r="0" b="0"/>
            </a:stretch>
          </a:blipFill>
        </p:spPr>
      </p:sp>
      <p:sp>
        <p:nvSpPr>
          <p:cNvPr name="Freeform 3" id="3"/>
          <p:cNvSpPr/>
          <p:nvPr/>
        </p:nvSpPr>
        <p:spPr>
          <a:xfrm flipH="false" flipV="true" rot="5174410">
            <a:off x="8082003" y="16493"/>
            <a:ext cx="12029994" cy="10254014"/>
          </a:xfrm>
          <a:custGeom>
            <a:avLst/>
            <a:gdLst/>
            <a:ahLst/>
            <a:cxnLst/>
            <a:rect r="r" b="b" t="t" l="l"/>
            <a:pathLst>
              <a:path h="10254014" w="12029994">
                <a:moveTo>
                  <a:pt x="624595" y="10254014"/>
                </a:moveTo>
                <a:lnTo>
                  <a:pt x="12029994" y="9504499"/>
                </a:lnTo>
                <a:lnTo>
                  <a:pt x="11405399" y="0"/>
                </a:lnTo>
                <a:lnTo>
                  <a:pt x="0" y="749515"/>
                </a:lnTo>
                <a:lnTo>
                  <a:pt x="624595" y="10254014"/>
                </a:lnTo>
                <a:close/>
              </a:path>
            </a:pathLst>
          </a:custGeom>
          <a:blipFill>
            <a:blip r:embed="rId3"/>
            <a:stretch>
              <a:fillRect l="-15275" t="-2576" r="-7008" b="0"/>
            </a:stretch>
          </a:blipFill>
        </p:spPr>
      </p:sp>
      <p:sp>
        <p:nvSpPr>
          <p:cNvPr name="Freeform 4" id="4"/>
          <p:cNvSpPr/>
          <p:nvPr/>
        </p:nvSpPr>
        <p:spPr>
          <a:xfrm flipH="false" flipV="false" rot="-5400000">
            <a:off x="2852483" y="3683341"/>
            <a:ext cx="4587914" cy="6767986"/>
          </a:xfrm>
          <a:custGeom>
            <a:avLst/>
            <a:gdLst/>
            <a:ahLst/>
            <a:cxnLst/>
            <a:rect r="r" b="b" t="t" l="l"/>
            <a:pathLst>
              <a:path h="6767986" w="4587914">
                <a:moveTo>
                  <a:pt x="0" y="0"/>
                </a:moveTo>
                <a:lnTo>
                  <a:pt x="4587914" y="0"/>
                </a:lnTo>
                <a:lnTo>
                  <a:pt x="4587914" y="6767987"/>
                </a:lnTo>
                <a:lnTo>
                  <a:pt x="0" y="6767987"/>
                </a:lnTo>
                <a:lnTo>
                  <a:pt x="0" y="0"/>
                </a:lnTo>
                <a:close/>
              </a:path>
            </a:pathLst>
          </a:custGeom>
          <a:blipFill>
            <a:blip r:embed="rId4">
              <a:extLst>
                <a:ext uri="{96DAC541-7B7A-43D3-8B79-37D633B846F1}">
                  <asvg:svgBlip xmlns:asvg="http://schemas.microsoft.com/office/drawing/2016/SVG/main" r:embed="rId5"/>
                </a:ext>
              </a:extLst>
            </a:blip>
            <a:stretch>
              <a:fillRect l="0" t="-15748" r="-12073" b="0"/>
            </a:stretch>
          </a:blipFill>
          <a:ln cap="sq">
            <a:noFill/>
            <a:prstDash val="solid"/>
            <a:miter/>
          </a:ln>
        </p:spPr>
      </p:sp>
      <p:grpSp>
        <p:nvGrpSpPr>
          <p:cNvPr name="Group 5" id="5"/>
          <p:cNvGrpSpPr/>
          <p:nvPr/>
        </p:nvGrpSpPr>
        <p:grpSpPr>
          <a:xfrm rot="0">
            <a:off x="1047750" y="4191000"/>
            <a:ext cx="6972300" cy="4762500"/>
            <a:chOff x="0" y="0"/>
            <a:chExt cx="1836326" cy="1254321"/>
          </a:xfrm>
        </p:grpSpPr>
        <p:sp>
          <p:nvSpPr>
            <p:cNvPr name="Freeform 6" id="6"/>
            <p:cNvSpPr/>
            <p:nvPr/>
          </p:nvSpPr>
          <p:spPr>
            <a:xfrm flipH="false" flipV="false" rot="0">
              <a:off x="0" y="0"/>
              <a:ext cx="1836326" cy="1254321"/>
            </a:xfrm>
            <a:custGeom>
              <a:avLst/>
              <a:gdLst/>
              <a:ahLst/>
              <a:cxnLst/>
              <a:rect r="r" b="b" t="t" l="l"/>
              <a:pathLst>
                <a:path h="1254321" w="1836326">
                  <a:moveTo>
                    <a:pt x="0" y="0"/>
                  </a:moveTo>
                  <a:lnTo>
                    <a:pt x="1836326" y="0"/>
                  </a:lnTo>
                  <a:lnTo>
                    <a:pt x="1836326" y="1254321"/>
                  </a:lnTo>
                  <a:lnTo>
                    <a:pt x="0" y="1254321"/>
                  </a:lnTo>
                  <a:close/>
                </a:path>
              </a:pathLst>
            </a:custGeom>
            <a:solidFill>
              <a:srgbClr val="FFFCF3"/>
            </a:solidFill>
          </p:spPr>
        </p:sp>
        <p:sp>
          <p:nvSpPr>
            <p:cNvPr name="TextBox 7" id="7"/>
            <p:cNvSpPr txBox="true"/>
            <p:nvPr/>
          </p:nvSpPr>
          <p:spPr>
            <a:xfrm>
              <a:off x="0" y="-19050"/>
              <a:ext cx="1836326" cy="1273371"/>
            </a:xfrm>
            <a:prstGeom prst="rect">
              <a:avLst/>
            </a:prstGeom>
          </p:spPr>
          <p:txBody>
            <a:bodyPr anchor="ctr" rtlCol="false" tIns="50800" lIns="50800" bIns="50800" rIns="50800"/>
            <a:lstStyle/>
            <a:p>
              <a:pPr algn="ctr">
                <a:lnSpc>
                  <a:spcPts val="2060"/>
                </a:lnSpc>
              </a:pPr>
            </a:p>
          </p:txBody>
        </p:sp>
      </p:grpSp>
      <p:sp>
        <p:nvSpPr>
          <p:cNvPr name="Freeform 8" id="8"/>
          <p:cNvSpPr/>
          <p:nvPr/>
        </p:nvSpPr>
        <p:spPr>
          <a:xfrm flipH="false" flipV="false" rot="10693537">
            <a:off x="3831121" y="4089927"/>
            <a:ext cx="1272428" cy="329147"/>
          </a:xfrm>
          <a:custGeom>
            <a:avLst/>
            <a:gdLst/>
            <a:ahLst/>
            <a:cxnLst/>
            <a:rect r="r" b="b" t="t" l="l"/>
            <a:pathLst>
              <a:path h="329147" w="1272428">
                <a:moveTo>
                  <a:pt x="0" y="0"/>
                </a:moveTo>
                <a:lnTo>
                  <a:pt x="1272428" y="0"/>
                </a:lnTo>
                <a:lnTo>
                  <a:pt x="1272428" y="329147"/>
                </a:lnTo>
                <a:lnTo>
                  <a:pt x="0" y="329147"/>
                </a:lnTo>
                <a:lnTo>
                  <a:pt x="0" y="0"/>
                </a:lnTo>
                <a:close/>
              </a:path>
            </a:pathLst>
          </a:custGeom>
          <a:blipFill>
            <a:blip r:embed="rId6"/>
            <a:stretch>
              <a:fillRect l="-54076" t="0" r="-39930" b="0"/>
            </a:stretch>
          </a:blipFill>
        </p:spPr>
      </p:sp>
      <p:sp>
        <p:nvSpPr>
          <p:cNvPr name="Freeform 9" id="9"/>
          <p:cNvSpPr/>
          <p:nvPr/>
        </p:nvSpPr>
        <p:spPr>
          <a:xfrm flipH="false" flipV="false" rot="0">
            <a:off x="11052965" y="0"/>
            <a:ext cx="6206335" cy="10287000"/>
          </a:xfrm>
          <a:custGeom>
            <a:avLst/>
            <a:gdLst/>
            <a:ahLst/>
            <a:cxnLst/>
            <a:rect r="r" b="b" t="t" l="l"/>
            <a:pathLst>
              <a:path h="10287000" w="6206335">
                <a:moveTo>
                  <a:pt x="0" y="0"/>
                </a:moveTo>
                <a:lnTo>
                  <a:pt x="6206335" y="0"/>
                </a:lnTo>
                <a:lnTo>
                  <a:pt x="6206335" y="10287000"/>
                </a:lnTo>
                <a:lnTo>
                  <a:pt x="0" y="10287000"/>
                </a:lnTo>
                <a:lnTo>
                  <a:pt x="0" y="0"/>
                </a:lnTo>
                <a:close/>
              </a:path>
            </a:pathLst>
          </a:custGeom>
          <a:blipFill>
            <a:blip r:embed="rId7"/>
            <a:stretch>
              <a:fillRect l="0" t="0" r="-99999" b="0"/>
            </a:stretch>
          </a:blipFill>
        </p:spPr>
      </p:sp>
      <p:sp>
        <p:nvSpPr>
          <p:cNvPr name="TextBox 10" id="10"/>
          <p:cNvSpPr txBox="true"/>
          <p:nvPr/>
        </p:nvSpPr>
        <p:spPr>
          <a:xfrm rot="0">
            <a:off x="1549676" y="4924470"/>
            <a:ext cx="5968448" cy="1420495"/>
          </a:xfrm>
          <a:prstGeom prst="rect">
            <a:avLst/>
          </a:prstGeom>
        </p:spPr>
        <p:txBody>
          <a:bodyPr anchor="t" rtlCol="false" tIns="0" lIns="0" bIns="0" rIns="0">
            <a:spAutoFit/>
          </a:bodyPr>
          <a:lstStyle/>
          <a:p>
            <a:pPr algn="l">
              <a:lnSpc>
                <a:spcPts val="3770"/>
              </a:lnSpc>
            </a:pPr>
            <a:r>
              <a:rPr lang="en-US" sz="2900">
                <a:solidFill>
                  <a:srgbClr val="000001"/>
                </a:solidFill>
                <a:latin typeface="DM Sans"/>
                <a:ea typeface="DM Sans"/>
                <a:cs typeface="DM Sans"/>
                <a:sym typeface="DM Sans"/>
              </a:rPr>
              <a:t>The trait distances that separate species can then be used to make a phenogram.</a:t>
            </a:r>
          </a:p>
        </p:txBody>
      </p:sp>
      <p:sp>
        <p:nvSpPr>
          <p:cNvPr name="TextBox 11" id="11"/>
          <p:cNvSpPr txBox="true"/>
          <p:nvPr/>
        </p:nvSpPr>
        <p:spPr>
          <a:xfrm rot="0">
            <a:off x="1333500" y="1457325"/>
            <a:ext cx="6286500" cy="2098676"/>
          </a:xfrm>
          <a:prstGeom prst="rect">
            <a:avLst/>
          </a:prstGeom>
        </p:spPr>
        <p:txBody>
          <a:bodyPr anchor="t" rtlCol="false" tIns="0" lIns="0" bIns="0" rIns="0">
            <a:spAutoFit/>
          </a:bodyPr>
          <a:lstStyle/>
          <a:p>
            <a:pPr algn="l" marL="0" indent="0" lvl="0">
              <a:lnSpc>
                <a:spcPts val="8000"/>
              </a:lnSpc>
              <a:spcBef>
                <a:spcPct val="0"/>
              </a:spcBef>
            </a:pPr>
            <a:r>
              <a:rPr lang="en-US" sz="8000">
                <a:solidFill>
                  <a:srgbClr val="000001"/>
                </a:solidFill>
                <a:latin typeface="Bobby Jones"/>
                <a:ea typeface="Bobby Jones"/>
                <a:cs typeface="Bobby Jones"/>
                <a:sym typeface="Bobby Jones"/>
              </a:rPr>
              <a:t>Functional Diversity</a:t>
            </a:r>
          </a:p>
        </p:txBody>
      </p:sp>
      <p:sp>
        <p:nvSpPr>
          <p:cNvPr name="TextBox 12" id="12"/>
          <p:cNvSpPr txBox="true"/>
          <p:nvPr/>
        </p:nvSpPr>
        <p:spPr>
          <a:xfrm rot="0">
            <a:off x="1549676" y="6553200"/>
            <a:ext cx="5968448" cy="1700530"/>
          </a:xfrm>
          <a:prstGeom prst="rect">
            <a:avLst/>
          </a:prstGeom>
        </p:spPr>
        <p:txBody>
          <a:bodyPr anchor="t" rtlCol="false" tIns="0" lIns="0" bIns="0" rIns="0">
            <a:spAutoFit/>
          </a:bodyPr>
          <a:lstStyle/>
          <a:p>
            <a:pPr algn="l" marL="561345" indent="-280673" lvl="1">
              <a:lnSpc>
                <a:spcPts val="3380"/>
              </a:lnSpc>
              <a:buFont typeface="Arial"/>
              <a:buChar char="•"/>
            </a:pPr>
            <a:r>
              <a:rPr lang="en-US" sz="2600">
                <a:solidFill>
                  <a:srgbClr val="000001"/>
                </a:solidFill>
                <a:latin typeface="DM Sans"/>
                <a:ea typeface="DM Sans"/>
                <a:cs typeface="DM Sans"/>
                <a:sym typeface="DM Sans"/>
              </a:rPr>
              <a:t>Diagram depicting relationships among species based on their overall similarity or dissimilarity in functional traits.</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5692D"/>
        </a:solidFill>
      </p:bgPr>
    </p:bg>
    <p:spTree>
      <p:nvGrpSpPr>
        <p:cNvPr id="1" name=""/>
        <p:cNvGrpSpPr/>
        <p:nvPr/>
      </p:nvGrpSpPr>
      <p:grpSpPr>
        <a:xfrm>
          <a:off x="0" y="0"/>
          <a:ext cx="0" cy="0"/>
          <a:chOff x="0" y="0"/>
          <a:chExt cx="0" cy="0"/>
        </a:xfrm>
      </p:grpSpPr>
      <p:grpSp>
        <p:nvGrpSpPr>
          <p:cNvPr name="Group 2" id="2"/>
          <p:cNvGrpSpPr/>
          <p:nvPr/>
        </p:nvGrpSpPr>
        <p:grpSpPr>
          <a:xfrm rot="0">
            <a:off x="-73743" y="0"/>
            <a:ext cx="18361743" cy="2287238"/>
            <a:chOff x="0" y="0"/>
            <a:chExt cx="4836014" cy="602400"/>
          </a:xfrm>
        </p:grpSpPr>
        <p:sp>
          <p:nvSpPr>
            <p:cNvPr name="Freeform 3" id="3"/>
            <p:cNvSpPr/>
            <p:nvPr/>
          </p:nvSpPr>
          <p:spPr>
            <a:xfrm flipH="false" flipV="false" rot="0">
              <a:off x="0" y="0"/>
              <a:ext cx="4836015" cy="602400"/>
            </a:xfrm>
            <a:custGeom>
              <a:avLst/>
              <a:gdLst/>
              <a:ahLst/>
              <a:cxnLst/>
              <a:rect r="r" b="b" t="t" l="l"/>
              <a:pathLst>
                <a:path h="602400" w="4836015">
                  <a:moveTo>
                    <a:pt x="0" y="0"/>
                  </a:moveTo>
                  <a:lnTo>
                    <a:pt x="4836015" y="0"/>
                  </a:lnTo>
                  <a:lnTo>
                    <a:pt x="4836015" y="602400"/>
                  </a:lnTo>
                  <a:lnTo>
                    <a:pt x="0" y="602400"/>
                  </a:lnTo>
                  <a:close/>
                </a:path>
              </a:pathLst>
            </a:custGeom>
            <a:solidFill>
              <a:srgbClr val="D6C8AF"/>
            </a:solidFill>
            <a:ln cap="sq">
              <a:noFill/>
              <a:prstDash val="solid"/>
              <a:miter/>
            </a:ln>
          </p:spPr>
        </p:sp>
        <p:sp>
          <p:nvSpPr>
            <p:cNvPr name="TextBox 4" id="4"/>
            <p:cNvSpPr txBox="true"/>
            <p:nvPr/>
          </p:nvSpPr>
          <p:spPr>
            <a:xfrm>
              <a:off x="0" y="-38100"/>
              <a:ext cx="4836014" cy="640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620033" y="0"/>
            <a:ext cx="8667967" cy="10287000"/>
          </a:xfrm>
          <a:custGeom>
            <a:avLst/>
            <a:gdLst/>
            <a:ahLst/>
            <a:cxnLst/>
            <a:rect r="r" b="b" t="t" l="l"/>
            <a:pathLst>
              <a:path h="10287000" w="8667967">
                <a:moveTo>
                  <a:pt x="0" y="0"/>
                </a:moveTo>
                <a:lnTo>
                  <a:pt x="8667967" y="0"/>
                </a:lnTo>
                <a:lnTo>
                  <a:pt x="8667967" y="10287000"/>
                </a:lnTo>
                <a:lnTo>
                  <a:pt x="0" y="10287000"/>
                </a:lnTo>
                <a:lnTo>
                  <a:pt x="0" y="0"/>
                </a:lnTo>
                <a:close/>
              </a:path>
            </a:pathLst>
          </a:custGeom>
          <a:blipFill>
            <a:blip r:embed="rId2"/>
            <a:stretch>
              <a:fillRect l="0" t="0" r="-92191" b="0"/>
            </a:stretch>
          </a:blipFill>
        </p:spPr>
      </p:sp>
      <p:sp>
        <p:nvSpPr>
          <p:cNvPr name="TextBox 6" id="6"/>
          <p:cNvSpPr txBox="true"/>
          <p:nvPr/>
        </p:nvSpPr>
        <p:spPr>
          <a:xfrm rot="0">
            <a:off x="1028700" y="352291"/>
            <a:ext cx="7909080" cy="1677905"/>
          </a:xfrm>
          <a:prstGeom prst="rect">
            <a:avLst/>
          </a:prstGeom>
        </p:spPr>
        <p:txBody>
          <a:bodyPr anchor="t" rtlCol="false" tIns="0" lIns="0" bIns="0" rIns="0">
            <a:spAutoFit/>
          </a:bodyPr>
          <a:lstStyle/>
          <a:p>
            <a:pPr algn="ctr">
              <a:lnSpc>
                <a:spcPts val="6441"/>
              </a:lnSpc>
            </a:pPr>
            <a:r>
              <a:rPr lang="en-US" sz="6378">
                <a:solidFill>
                  <a:srgbClr val="55692D"/>
                </a:solidFill>
                <a:latin typeface="Kapsalon"/>
                <a:ea typeface="Kapsalon"/>
                <a:cs typeface="Kapsalon"/>
                <a:sym typeface="Kapsalon"/>
              </a:rPr>
              <a:t>Functional Diversity</a:t>
            </a:r>
          </a:p>
        </p:txBody>
      </p:sp>
      <p:sp>
        <p:nvSpPr>
          <p:cNvPr name="TextBox 7" id="7"/>
          <p:cNvSpPr txBox="true"/>
          <p:nvPr/>
        </p:nvSpPr>
        <p:spPr>
          <a:xfrm rot="0">
            <a:off x="1254098" y="3002517"/>
            <a:ext cx="7101849" cy="5613399"/>
          </a:xfrm>
          <a:prstGeom prst="rect">
            <a:avLst/>
          </a:prstGeom>
        </p:spPr>
        <p:txBody>
          <a:bodyPr anchor="t" rtlCol="false" tIns="0" lIns="0" bIns="0" rIns="0">
            <a:spAutoFit/>
          </a:bodyPr>
          <a:lstStyle/>
          <a:p>
            <a:pPr algn="ctr">
              <a:lnSpc>
                <a:spcPts val="5600"/>
              </a:lnSpc>
              <a:spcBef>
                <a:spcPct val="0"/>
              </a:spcBef>
            </a:pPr>
            <a:r>
              <a:rPr lang="en-US" sz="4000">
                <a:solidFill>
                  <a:srgbClr val="FFFFFF"/>
                </a:solidFill>
                <a:latin typeface="Pangolin"/>
                <a:ea typeface="Pangolin"/>
                <a:cs typeface="Pangolin"/>
                <a:sym typeface="Pangolin"/>
              </a:rPr>
              <a:t>Once a phenogram is constructed, it is relatively simple to sum up the branch lengths among any species of interest to determine which sets of species have the largest or smallest functional diversity (FD).</a:t>
            </a:r>
          </a:p>
        </p:txBody>
      </p:sp>
      <p:sp>
        <p:nvSpPr>
          <p:cNvPr name="TextBox 8" id="8"/>
          <p:cNvSpPr txBox="true"/>
          <p:nvPr/>
        </p:nvSpPr>
        <p:spPr>
          <a:xfrm rot="0">
            <a:off x="239205" y="9460345"/>
            <a:ext cx="9380829" cy="523875"/>
          </a:xfrm>
          <a:prstGeom prst="rect">
            <a:avLst/>
          </a:prstGeom>
        </p:spPr>
        <p:txBody>
          <a:bodyPr anchor="t" rtlCol="false" tIns="0" lIns="0" bIns="0" rIns="0">
            <a:spAutoFit/>
          </a:bodyPr>
          <a:lstStyle/>
          <a:p>
            <a:pPr algn="ctr">
              <a:lnSpc>
                <a:spcPts val="2100"/>
              </a:lnSpc>
              <a:spcBef>
                <a:spcPct val="0"/>
              </a:spcBef>
            </a:pPr>
            <a:r>
              <a:rPr lang="en-US" sz="1500">
                <a:solidFill>
                  <a:srgbClr val="FFFFFF"/>
                </a:solidFill>
                <a:latin typeface="Pangolin"/>
                <a:ea typeface="Pangolin"/>
                <a:cs typeface="Pangolin"/>
                <a:sym typeface="Pangolin"/>
              </a:rPr>
              <a:t>Leclurc</a:t>
            </a:r>
            <a:r>
              <a:rPr lang="en-US" sz="1500" u="sng">
                <a:solidFill>
                  <a:srgbClr val="FFFFFF"/>
                </a:solidFill>
                <a:latin typeface="Pangolin"/>
                <a:ea typeface="Pangolin"/>
                <a:cs typeface="Pangolin"/>
                <a:sym typeface="Pangolin"/>
                <a:hlinkClick r:id="rId3" tooltip="https://onlinelibrary.wiley.com/doi/10.1111/ddi.13024"/>
              </a:rPr>
              <a:t> et al.,. 2020: Global changes threaten functional and taxonomic diversity of insular species worldwide</a:t>
            </a:r>
            <a:r>
              <a:rPr lang="en-US" sz="1500">
                <a:solidFill>
                  <a:srgbClr val="FFFFFF"/>
                </a:solidFill>
                <a:latin typeface="Pangolin"/>
                <a:ea typeface="Pangolin"/>
                <a:cs typeface="Pangolin"/>
                <a:sym typeface="Pangolin"/>
              </a:rPr>
              <a:t>. Diversity and Distributions</a:t>
            </a:r>
            <a:r>
              <a:rPr lang="en-US" sz="1500" u="sng">
                <a:solidFill>
                  <a:srgbClr val="FFFFFF"/>
                </a:solidFill>
                <a:latin typeface="Pangolin"/>
                <a:ea typeface="Pangolin"/>
                <a:cs typeface="Pangolin"/>
                <a:sym typeface="Pangolin"/>
                <a:hlinkClick r:id="rId4" tooltip="https://onlinelibrary.wiley.com/doi/10.1111/ddi.13024"/>
              </a:rPr>
              <a:t>.</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5692D"/>
        </a:solidFill>
      </p:bgPr>
    </p:bg>
    <p:spTree>
      <p:nvGrpSpPr>
        <p:cNvPr id="1" name=""/>
        <p:cNvGrpSpPr/>
        <p:nvPr/>
      </p:nvGrpSpPr>
      <p:grpSpPr>
        <a:xfrm>
          <a:off x="0" y="0"/>
          <a:ext cx="0" cy="0"/>
          <a:chOff x="0" y="0"/>
          <a:chExt cx="0" cy="0"/>
        </a:xfrm>
      </p:grpSpPr>
      <p:grpSp>
        <p:nvGrpSpPr>
          <p:cNvPr name="Group 2" id="2"/>
          <p:cNvGrpSpPr/>
          <p:nvPr/>
        </p:nvGrpSpPr>
        <p:grpSpPr>
          <a:xfrm rot="0">
            <a:off x="-73743" y="0"/>
            <a:ext cx="18361743" cy="2287238"/>
            <a:chOff x="0" y="0"/>
            <a:chExt cx="4836014" cy="602400"/>
          </a:xfrm>
        </p:grpSpPr>
        <p:sp>
          <p:nvSpPr>
            <p:cNvPr name="Freeform 3" id="3"/>
            <p:cNvSpPr/>
            <p:nvPr/>
          </p:nvSpPr>
          <p:spPr>
            <a:xfrm flipH="false" flipV="false" rot="0">
              <a:off x="0" y="0"/>
              <a:ext cx="4836015" cy="602400"/>
            </a:xfrm>
            <a:custGeom>
              <a:avLst/>
              <a:gdLst/>
              <a:ahLst/>
              <a:cxnLst/>
              <a:rect r="r" b="b" t="t" l="l"/>
              <a:pathLst>
                <a:path h="602400" w="4836015">
                  <a:moveTo>
                    <a:pt x="0" y="0"/>
                  </a:moveTo>
                  <a:lnTo>
                    <a:pt x="4836015" y="0"/>
                  </a:lnTo>
                  <a:lnTo>
                    <a:pt x="4836015" y="602400"/>
                  </a:lnTo>
                  <a:lnTo>
                    <a:pt x="0" y="602400"/>
                  </a:lnTo>
                  <a:close/>
                </a:path>
              </a:pathLst>
            </a:custGeom>
            <a:solidFill>
              <a:srgbClr val="D6C8AF"/>
            </a:solidFill>
            <a:ln cap="sq">
              <a:noFill/>
              <a:prstDash val="solid"/>
              <a:miter/>
            </a:ln>
          </p:spPr>
        </p:sp>
        <p:sp>
          <p:nvSpPr>
            <p:cNvPr name="TextBox 4" id="4"/>
            <p:cNvSpPr txBox="true"/>
            <p:nvPr/>
          </p:nvSpPr>
          <p:spPr>
            <a:xfrm>
              <a:off x="0" y="-38100"/>
              <a:ext cx="4836014" cy="64050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69848" y="352291"/>
            <a:ext cx="6559313" cy="1677905"/>
          </a:xfrm>
          <a:prstGeom prst="rect">
            <a:avLst/>
          </a:prstGeom>
        </p:spPr>
        <p:txBody>
          <a:bodyPr anchor="t" rtlCol="false" tIns="0" lIns="0" bIns="0" rIns="0">
            <a:spAutoFit/>
          </a:bodyPr>
          <a:lstStyle/>
          <a:p>
            <a:pPr algn="ctr">
              <a:lnSpc>
                <a:spcPts val="6441"/>
              </a:lnSpc>
            </a:pPr>
            <a:r>
              <a:rPr lang="en-US" sz="6378">
                <a:solidFill>
                  <a:srgbClr val="55692D"/>
                </a:solidFill>
                <a:latin typeface="Kapsalon"/>
                <a:ea typeface="Kapsalon"/>
                <a:cs typeface="Kapsalon"/>
                <a:sym typeface="Kapsalon"/>
              </a:rPr>
              <a:t>Phylogenetic Diversity</a:t>
            </a:r>
          </a:p>
        </p:txBody>
      </p:sp>
      <p:sp>
        <p:nvSpPr>
          <p:cNvPr name="TextBox 6" id="6"/>
          <p:cNvSpPr txBox="true"/>
          <p:nvPr/>
        </p:nvSpPr>
        <p:spPr>
          <a:xfrm rot="0">
            <a:off x="369848" y="2623571"/>
            <a:ext cx="6559313" cy="7023099"/>
          </a:xfrm>
          <a:prstGeom prst="rect">
            <a:avLst/>
          </a:prstGeom>
        </p:spPr>
        <p:txBody>
          <a:bodyPr anchor="t" rtlCol="false" tIns="0" lIns="0" bIns="0" rIns="0">
            <a:spAutoFit/>
          </a:bodyPr>
          <a:lstStyle/>
          <a:p>
            <a:pPr algn="ctr">
              <a:lnSpc>
                <a:spcPts val="5600"/>
              </a:lnSpc>
              <a:spcBef>
                <a:spcPct val="0"/>
              </a:spcBef>
            </a:pPr>
            <a:r>
              <a:rPr lang="en-US" sz="4000">
                <a:solidFill>
                  <a:srgbClr val="FFFFFF"/>
                </a:solidFill>
                <a:latin typeface="Pangolin"/>
                <a:ea typeface="Pangolin"/>
                <a:cs typeface="Pangolin"/>
                <a:sym typeface="Pangolin"/>
              </a:rPr>
              <a:t>Summing the branch lengths of a phylogenetic tree that separate species gives a measure of phylogenetic diversity—the amount of genetic differentiation between any set of species that has resulted since their divergence from a common ancestor.</a:t>
            </a:r>
          </a:p>
        </p:txBody>
      </p:sp>
      <p:sp>
        <p:nvSpPr>
          <p:cNvPr name="Freeform 7" id="7" descr="An illustration shows the measure of the functional and phylogenetic diversity. A graph plotted with functional trait 1 in horizontal axis and functional trait 2 in the vertical axis shows the trait differences with A, B, C, D, and E scattered all..."/>
          <p:cNvSpPr/>
          <p:nvPr/>
        </p:nvSpPr>
        <p:spPr>
          <a:xfrm flipH="false" flipV="false" rot="0">
            <a:off x="7110918" y="0"/>
            <a:ext cx="11177082" cy="10287000"/>
          </a:xfrm>
          <a:custGeom>
            <a:avLst/>
            <a:gdLst/>
            <a:ahLst/>
            <a:cxnLst/>
            <a:rect r="r" b="b" t="t" l="l"/>
            <a:pathLst>
              <a:path h="10287000" w="11177082">
                <a:moveTo>
                  <a:pt x="0" y="0"/>
                </a:moveTo>
                <a:lnTo>
                  <a:pt x="11177082" y="0"/>
                </a:lnTo>
                <a:lnTo>
                  <a:pt x="11177082" y="10287000"/>
                </a:lnTo>
                <a:lnTo>
                  <a:pt x="0" y="10287000"/>
                </a:lnTo>
                <a:lnTo>
                  <a:pt x="0" y="0"/>
                </a:lnTo>
                <a:close/>
              </a:path>
            </a:pathLst>
          </a:custGeom>
          <a:blipFill>
            <a:blip r:embed="rId2"/>
            <a:stretch>
              <a:fillRect l="-281" t="0" r="-10286"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DAGx9M2QoMM</dc:identifier>
  <dcterms:modified xsi:type="dcterms:W3CDTF">2011-08-01T06:04:30Z</dcterms:modified>
  <cp:revision>1</cp:revision>
  <dc:title>3-4_functional_diversity</dc:title>
</cp:coreProperties>
</file>