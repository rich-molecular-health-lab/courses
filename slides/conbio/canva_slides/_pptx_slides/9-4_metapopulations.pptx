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kzidenz-Grotesk Bold" charset="1" panose="02000803050000020004"/>
      <p:regular r:id="rId21"/>
    </p:embeddedFont>
    <p:embeddedFont>
      <p:font typeface="Sugo Display Bold" charset="1" panose="02000506020000020004"/>
      <p:regular r:id="rId22"/>
    </p:embeddedFont>
    <p:embeddedFont>
      <p:font typeface="Akzidenz-Grotesk Medium" charset="1" panose="02000603030000020004"/>
      <p:regular r:id="rId23"/>
    </p:embeddedFont>
    <p:embeddedFont>
      <p:font typeface="Open Sans Bold" charset="1" panose="020B0806030504020204"/>
      <p:regular r:id="rId24"/>
    </p:embeddedFont>
    <p:embeddedFont>
      <p:font typeface="Open Sans" charset="1" panose="020B0606030504020204"/>
      <p:regular r:id="rId25"/>
    </p:embeddedFont>
    <p:embeddedFont>
      <p:font typeface="Poppins Bold" charset="1" panose="00000800000000000000"/>
      <p:regular r:id="rId26"/>
    </p:embeddedFont>
    <p:embeddedFont>
      <p:font typeface="Poppins" charset="1" panose="00000500000000000000"/>
      <p:regular r:id="rId27"/>
    </p:embeddedFont>
    <p:embeddedFont>
      <p:font typeface="Open Sans Italics" charset="1" panose="020B0606030504020204"/>
      <p:regular r:id="rId28"/>
    </p:embeddedFont>
    <p:embeddedFont>
      <p:font typeface="Linotype Feltpen Medium" charset="1" panose="03030606020000020004"/>
      <p:regular r:id="rId29"/>
    </p:embeddedFont>
    <p:embeddedFont>
      <p:font typeface="Georgia Pro Bold" charset="1" panose="02040802050405020203"/>
      <p:regular r:id="rId30"/>
    </p:embeddedFont>
    <p:embeddedFont>
      <p:font typeface="Georgia Pro" charset="1" panose="02040502050405020303"/>
      <p:regular r:id="rId31"/>
    </p:embeddedFont>
    <p:embeddedFont>
      <p:font typeface="Georgia Pro Italics" charset="1" panose="02040502050405090303"/>
      <p:regular r:id="rId32"/>
    </p:embeddedFont>
    <p:embeddedFont>
      <p:font typeface="Helvetica World Bold" charset="1" panose="020B0800040000020004"/>
      <p:regular r:id="rId33"/>
    </p:embeddedFont>
    <p:embeddedFont>
      <p:font typeface="Georgia Pro Bold Italics" charset="1" panose="02040802050405090203"/>
      <p:regular r:id="rId34"/>
    </p:embeddedFont>
    <p:embeddedFont>
      <p:font typeface="Abril Fatface" charset="1" panose="02000503000000020003"/>
      <p:regular r:id="rId35"/>
    </p:embeddedFont>
    <p:embeddedFont>
      <p:font typeface="Glacial Indifference" charset="1" panose="00000000000000000000"/>
      <p:regular r:id="rId36"/>
    </p:embeddedFont>
    <p:embeddedFont>
      <p:font typeface="Now Heavy" charset="1" panose="00000A00000000000000"/>
      <p:regular r:id="rId37"/>
    </p:embeddedFont>
    <p:embeddedFont>
      <p:font typeface="Canva Sans" charset="1" panose="020B0503030501040103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12" Target="../media/image34.png" Type="http://schemas.openxmlformats.org/officeDocument/2006/relationships/image"/><Relationship Id="rId13" Target="../media/image35.svg" Type="http://schemas.openxmlformats.org/officeDocument/2006/relationships/image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svg" Type="http://schemas.openxmlformats.org/officeDocument/2006/relationships/image"/><Relationship Id="rId4" Target="../media/image4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sv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svg" Type="http://schemas.openxmlformats.org/officeDocument/2006/relationships/image"/><Relationship Id="rId4" Target="../media/image51.png" Type="http://schemas.openxmlformats.org/officeDocument/2006/relationships/image"/><Relationship Id="rId5" Target="../media/image5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4.svg" Type="http://schemas.openxmlformats.org/officeDocument/2006/relationships/image"/><Relationship Id="rId4" Target="../media/image51.png" Type="http://schemas.openxmlformats.org/officeDocument/2006/relationships/image"/><Relationship Id="rId5" Target="../media/image5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57.svg" Type="http://schemas.openxmlformats.org/officeDocument/2006/relationships/image"/><Relationship Id="rId4" Target="../media/image58.png" Type="http://schemas.openxmlformats.org/officeDocument/2006/relationships/image"/><Relationship Id="rId5" Target="../media/image59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6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sv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330C">
                <a:alpha val="100000"/>
              </a:srgbClr>
            </a:gs>
            <a:gs pos="100000">
              <a:srgbClr val="01150B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422387" y="2591198"/>
            <a:ext cx="16883501" cy="7158436"/>
          </a:xfrm>
          <a:custGeom>
            <a:avLst/>
            <a:gdLst/>
            <a:ahLst/>
            <a:cxnLst/>
            <a:rect r="r" b="b" t="t" l="l"/>
            <a:pathLst>
              <a:path h="7158436" w="16883501">
                <a:moveTo>
                  <a:pt x="16883501" y="7158436"/>
                </a:moveTo>
                <a:lnTo>
                  <a:pt x="0" y="7158436"/>
                </a:lnTo>
                <a:lnTo>
                  <a:pt x="0" y="0"/>
                </a:lnTo>
                <a:lnTo>
                  <a:pt x="16883501" y="0"/>
                </a:lnTo>
                <a:lnTo>
                  <a:pt x="16883501" y="7158436"/>
                </a:lnTo>
                <a:close/>
              </a:path>
            </a:pathLst>
          </a:custGeom>
          <a:blipFill>
            <a:blip r:embed="rId2">
              <a:alphaModFix amt="3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422387" y="3876071"/>
            <a:ext cx="16883501" cy="7158436"/>
          </a:xfrm>
          <a:custGeom>
            <a:avLst/>
            <a:gdLst/>
            <a:ahLst/>
            <a:cxnLst/>
            <a:rect r="r" b="b" t="t" l="l"/>
            <a:pathLst>
              <a:path h="7158436" w="16883501">
                <a:moveTo>
                  <a:pt x="16883501" y="7158436"/>
                </a:moveTo>
                <a:lnTo>
                  <a:pt x="0" y="7158436"/>
                </a:lnTo>
                <a:lnTo>
                  <a:pt x="0" y="0"/>
                </a:lnTo>
                <a:lnTo>
                  <a:pt x="16883501" y="0"/>
                </a:lnTo>
                <a:lnTo>
                  <a:pt x="16883501" y="715843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391131" y="1604156"/>
            <a:ext cx="10069984" cy="687193"/>
            <a:chOff x="0" y="0"/>
            <a:chExt cx="2652177" cy="1809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52177" cy="180989"/>
            </a:xfrm>
            <a:custGeom>
              <a:avLst/>
              <a:gdLst/>
              <a:ahLst/>
              <a:cxnLst/>
              <a:rect r="r" b="b" t="t" l="l"/>
              <a:pathLst>
                <a:path h="180989" w="2652177">
                  <a:moveTo>
                    <a:pt x="39209" y="0"/>
                  </a:moveTo>
                  <a:lnTo>
                    <a:pt x="2612967" y="0"/>
                  </a:lnTo>
                  <a:cubicBezTo>
                    <a:pt x="2634622" y="0"/>
                    <a:pt x="2652177" y="17555"/>
                    <a:pt x="2652177" y="39209"/>
                  </a:cubicBezTo>
                  <a:lnTo>
                    <a:pt x="2652177" y="141780"/>
                  </a:lnTo>
                  <a:cubicBezTo>
                    <a:pt x="2652177" y="163434"/>
                    <a:pt x="2634622" y="180989"/>
                    <a:pt x="2612967" y="180989"/>
                  </a:cubicBezTo>
                  <a:lnTo>
                    <a:pt x="39209" y="180989"/>
                  </a:lnTo>
                  <a:cubicBezTo>
                    <a:pt x="17555" y="180989"/>
                    <a:pt x="0" y="163434"/>
                    <a:pt x="0" y="141780"/>
                  </a:cubicBezTo>
                  <a:lnTo>
                    <a:pt x="0" y="39209"/>
                  </a:lnTo>
                  <a:cubicBezTo>
                    <a:pt x="0" y="17555"/>
                    <a:pt x="17555" y="0"/>
                    <a:pt x="39209" y="0"/>
                  </a:cubicBezTo>
                  <a:close/>
                </a:path>
              </a:pathLst>
            </a:custGeom>
            <a:solidFill>
              <a:srgbClr val="9AC057">
                <a:alpha val="23922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652177" cy="238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2490832" y="0"/>
            <a:ext cx="10942477" cy="5182395"/>
            <a:chOff x="0" y="0"/>
            <a:chExt cx="5797550" cy="27457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97550" cy="2745740"/>
            </a:xfrm>
            <a:custGeom>
              <a:avLst/>
              <a:gdLst/>
              <a:ahLst/>
              <a:cxnLst/>
              <a:rect r="r" b="b" t="t" l="l"/>
              <a:pathLst>
                <a:path h="2745740" w="5797550">
                  <a:moveTo>
                    <a:pt x="5797550" y="342900"/>
                  </a:moveTo>
                  <a:cubicBezTo>
                    <a:pt x="5797550" y="532130"/>
                    <a:pt x="5643880" y="685800"/>
                    <a:pt x="5454650" y="685800"/>
                  </a:cubicBezTo>
                  <a:lnTo>
                    <a:pt x="3926840" y="685800"/>
                  </a:lnTo>
                  <a:cubicBezTo>
                    <a:pt x="3737610" y="685800"/>
                    <a:pt x="3583940" y="839470"/>
                    <a:pt x="3583940" y="1028700"/>
                  </a:cubicBezTo>
                  <a:cubicBezTo>
                    <a:pt x="3583940" y="1217930"/>
                    <a:pt x="3737610" y="1371600"/>
                    <a:pt x="3926840" y="1371600"/>
                  </a:cubicBezTo>
                  <a:lnTo>
                    <a:pt x="4892040" y="1371600"/>
                  </a:lnTo>
                  <a:cubicBezTo>
                    <a:pt x="5081270" y="1371600"/>
                    <a:pt x="5234940" y="1525270"/>
                    <a:pt x="5234940" y="1714500"/>
                  </a:cubicBezTo>
                  <a:cubicBezTo>
                    <a:pt x="5234940" y="1903730"/>
                    <a:pt x="5081270" y="2057400"/>
                    <a:pt x="4892040" y="2057400"/>
                  </a:cubicBezTo>
                  <a:lnTo>
                    <a:pt x="4423410" y="2057400"/>
                  </a:lnTo>
                  <a:cubicBezTo>
                    <a:pt x="4612640" y="2057400"/>
                    <a:pt x="4766310" y="2211070"/>
                    <a:pt x="4766310" y="2400300"/>
                  </a:cubicBezTo>
                  <a:cubicBezTo>
                    <a:pt x="4766310" y="2589530"/>
                    <a:pt x="4612640" y="2743200"/>
                    <a:pt x="4423410" y="2743200"/>
                  </a:cubicBezTo>
                  <a:lnTo>
                    <a:pt x="342900" y="2743200"/>
                  </a:lnTo>
                  <a:cubicBezTo>
                    <a:pt x="153670" y="2743200"/>
                    <a:pt x="0" y="2589530"/>
                    <a:pt x="0" y="2400300"/>
                  </a:cubicBezTo>
                  <a:cubicBezTo>
                    <a:pt x="0" y="2211070"/>
                    <a:pt x="153670" y="2057400"/>
                    <a:pt x="342900" y="2057400"/>
                  </a:cubicBezTo>
                  <a:lnTo>
                    <a:pt x="811530" y="2057400"/>
                  </a:lnTo>
                  <a:cubicBezTo>
                    <a:pt x="807720" y="2057400"/>
                    <a:pt x="803910" y="2057400"/>
                    <a:pt x="801370" y="2057400"/>
                  </a:cubicBezTo>
                  <a:cubicBezTo>
                    <a:pt x="985520" y="2052320"/>
                    <a:pt x="1134110" y="1899920"/>
                    <a:pt x="1134110" y="1714500"/>
                  </a:cubicBezTo>
                  <a:cubicBezTo>
                    <a:pt x="1134110" y="1527810"/>
                    <a:pt x="985520" y="1376680"/>
                    <a:pt x="801370" y="1371600"/>
                  </a:cubicBezTo>
                  <a:cubicBezTo>
                    <a:pt x="805180" y="1371600"/>
                    <a:pt x="808990" y="1371600"/>
                    <a:pt x="811530" y="1371600"/>
                  </a:cubicBezTo>
                  <a:lnTo>
                    <a:pt x="342900" y="1371600"/>
                  </a:lnTo>
                  <a:cubicBezTo>
                    <a:pt x="153670" y="1371600"/>
                    <a:pt x="0" y="1217930"/>
                    <a:pt x="0" y="1028700"/>
                  </a:cubicBezTo>
                  <a:cubicBezTo>
                    <a:pt x="0" y="839470"/>
                    <a:pt x="153670" y="685800"/>
                    <a:pt x="342900" y="685800"/>
                  </a:cubicBezTo>
                  <a:lnTo>
                    <a:pt x="1374140" y="685800"/>
                  </a:lnTo>
                  <a:cubicBezTo>
                    <a:pt x="1184910" y="685800"/>
                    <a:pt x="1031240" y="532130"/>
                    <a:pt x="1031240" y="342900"/>
                  </a:cubicBezTo>
                  <a:cubicBezTo>
                    <a:pt x="1031240" y="153670"/>
                    <a:pt x="1184910" y="0"/>
                    <a:pt x="1374140" y="0"/>
                  </a:cubicBezTo>
                  <a:lnTo>
                    <a:pt x="5454650" y="0"/>
                  </a:lnTo>
                  <a:cubicBezTo>
                    <a:pt x="5643880" y="0"/>
                    <a:pt x="5797550" y="153670"/>
                    <a:pt x="5797550" y="342900"/>
                  </a:cubicBezTo>
                  <a:close/>
                  <a:moveTo>
                    <a:pt x="5250180" y="2059940"/>
                  </a:moveTo>
                  <a:cubicBezTo>
                    <a:pt x="5060950" y="2059940"/>
                    <a:pt x="4907280" y="2213610"/>
                    <a:pt x="4907280" y="2402840"/>
                  </a:cubicBezTo>
                  <a:cubicBezTo>
                    <a:pt x="4907280" y="2592070"/>
                    <a:pt x="5060950" y="2745740"/>
                    <a:pt x="5250180" y="2745740"/>
                  </a:cubicBezTo>
                  <a:cubicBezTo>
                    <a:pt x="5439410" y="2745740"/>
                    <a:pt x="5593080" y="2592070"/>
                    <a:pt x="5593080" y="2402840"/>
                  </a:cubicBezTo>
                  <a:cubicBezTo>
                    <a:pt x="5593080" y="2213610"/>
                    <a:pt x="5439410" y="2059940"/>
                    <a:pt x="5250180" y="2059940"/>
                  </a:cubicBezTo>
                  <a:close/>
                </a:path>
              </a:pathLst>
            </a:custGeom>
            <a:blipFill>
              <a:blip r:embed="rId6"/>
              <a:stretch>
                <a:fillRect l="0" t="-9253" r="0" b="-925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698775" y="1604156"/>
            <a:ext cx="4126608" cy="687193"/>
            <a:chOff x="0" y="0"/>
            <a:chExt cx="1086843" cy="1809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6843" cy="180989"/>
            </a:xfrm>
            <a:custGeom>
              <a:avLst/>
              <a:gdLst/>
              <a:ahLst/>
              <a:cxnLst/>
              <a:rect r="r" b="b" t="t" l="l"/>
              <a:pathLst>
                <a:path h="180989" w="1086843">
                  <a:moveTo>
                    <a:pt x="90494" y="0"/>
                  </a:moveTo>
                  <a:lnTo>
                    <a:pt x="996349" y="0"/>
                  </a:lnTo>
                  <a:cubicBezTo>
                    <a:pt x="1046328" y="0"/>
                    <a:pt x="1086843" y="40516"/>
                    <a:pt x="1086843" y="90494"/>
                  </a:cubicBezTo>
                  <a:lnTo>
                    <a:pt x="1086843" y="90494"/>
                  </a:lnTo>
                  <a:cubicBezTo>
                    <a:pt x="1086843" y="114495"/>
                    <a:pt x="1077309" y="137513"/>
                    <a:pt x="1060338" y="154484"/>
                  </a:cubicBezTo>
                  <a:cubicBezTo>
                    <a:pt x="1043367" y="171455"/>
                    <a:pt x="1020350" y="180989"/>
                    <a:pt x="996349" y="180989"/>
                  </a:cubicBezTo>
                  <a:lnTo>
                    <a:pt x="90494" y="180989"/>
                  </a:lnTo>
                  <a:cubicBezTo>
                    <a:pt x="66494" y="180989"/>
                    <a:pt x="43476" y="171455"/>
                    <a:pt x="26505" y="154484"/>
                  </a:cubicBezTo>
                  <a:cubicBezTo>
                    <a:pt x="9534" y="137513"/>
                    <a:pt x="0" y="114495"/>
                    <a:pt x="0" y="90494"/>
                  </a:cubicBezTo>
                  <a:lnTo>
                    <a:pt x="0" y="90494"/>
                  </a:lnTo>
                  <a:cubicBezTo>
                    <a:pt x="0" y="66494"/>
                    <a:pt x="9534" y="43476"/>
                    <a:pt x="26505" y="26505"/>
                  </a:cubicBezTo>
                  <a:cubicBezTo>
                    <a:pt x="43476" y="9534"/>
                    <a:pt x="66494" y="0"/>
                    <a:pt x="904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086843" cy="238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5945811" y="4683233"/>
            <a:ext cx="1313489" cy="1306324"/>
          </a:xfrm>
          <a:custGeom>
            <a:avLst/>
            <a:gdLst/>
            <a:ahLst/>
            <a:cxnLst/>
            <a:rect r="r" b="b" t="t" l="l"/>
            <a:pathLst>
              <a:path h="1306324" w="1313489">
                <a:moveTo>
                  <a:pt x="0" y="0"/>
                </a:moveTo>
                <a:lnTo>
                  <a:pt x="1313489" y="0"/>
                </a:lnTo>
                <a:lnTo>
                  <a:pt x="1313489" y="1306324"/>
                </a:lnTo>
                <a:lnTo>
                  <a:pt x="0" y="13063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7916164"/>
            <a:ext cx="11550588" cy="713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2"/>
              </a:lnSpc>
            </a:pPr>
            <a:r>
              <a:rPr lang="en-US" sz="4100" b="true">
                <a:solidFill>
                  <a:srgbClr val="15251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CH 9 Part 3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955108" y="3120988"/>
            <a:ext cx="1740551" cy="259500"/>
          </a:xfrm>
          <a:custGeom>
            <a:avLst/>
            <a:gdLst/>
            <a:ahLst/>
            <a:cxnLst/>
            <a:rect r="r" b="b" t="t" l="l"/>
            <a:pathLst>
              <a:path h="259500" w="1740551">
                <a:moveTo>
                  <a:pt x="0" y="0"/>
                </a:moveTo>
                <a:lnTo>
                  <a:pt x="1740551" y="0"/>
                </a:lnTo>
                <a:lnTo>
                  <a:pt x="1740551" y="259501"/>
                </a:lnTo>
                <a:lnTo>
                  <a:pt x="0" y="2595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 flipV="true">
            <a:off x="8825383" y="1947753"/>
            <a:ext cx="6317114" cy="0"/>
          </a:xfrm>
          <a:prstGeom prst="line">
            <a:avLst/>
          </a:prstGeom>
          <a:ln cap="flat" w="38100">
            <a:solidFill>
              <a:srgbClr val="B7BCA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2996624" y="6170416"/>
            <a:ext cx="4262676" cy="4116584"/>
            <a:chOff x="0" y="0"/>
            <a:chExt cx="660400" cy="6377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60400" cy="637767"/>
            </a:xfrm>
            <a:custGeom>
              <a:avLst/>
              <a:gdLst/>
              <a:ahLst/>
              <a:cxnLst/>
              <a:rect r="r" b="b" t="t" l="l"/>
              <a:pathLst>
                <a:path h="637767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4614"/>
                  </a:cubicBezTo>
                  <a:lnTo>
                    <a:pt x="660400" y="637767"/>
                  </a:lnTo>
                  <a:lnTo>
                    <a:pt x="0" y="637767"/>
                  </a:lnTo>
                  <a:lnTo>
                    <a:pt x="0" y="324846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blipFill>
              <a:blip r:embed="rId11"/>
              <a:stretch>
                <a:fillRect l="-91587" t="-33830" r="-27469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28700" y="5861325"/>
            <a:ext cx="13030190" cy="2028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14"/>
              </a:lnSpc>
            </a:pPr>
            <a:r>
              <a:rPr lang="en-US" sz="8637" b="true">
                <a:solidFill>
                  <a:srgbClr val="284616"/>
                </a:solidFill>
                <a:latin typeface="Sugo Display Bold"/>
                <a:ea typeface="Sugo Display Bold"/>
                <a:cs typeface="Sugo Display Bold"/>
                <a:sym typeface="Sugo Display Bold"/>
              </a:rPr>
              <a:t>METAPOPULATIONS &amp; LANDSCAPE MOSAICS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698775" y="1739028"/>
            <a:ext cx="3944789" cy="356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40"/>
              </a:lnSpc>
            </a:pPr>
            <a:r>
              <a:rPr lang="en-US" sz="2000" b="true">
                <a:solidFill>
                  <a:srgbClr val="062409"/>
                </a:solidFill>
                <a:latin typeface="Akzidenz-Grotesk Medium"/>
                <a:ea typeface="Akzidenz-Grotesk Medium"/>
                <a:cs typeface="Akzidenz-Grotesk Medium"/>
                <a:sym typeface="Akzidenz-Grotesk Medium"/>
              </a:rPr>
              <a:t>CONSERVATION BIO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63636" y="4166243"/>
            <a:ext cx="1169260" cy="1099104"/>
          </a:xfrm>
          <a:custGeom>
            <a:avLst/>
            <a:gdLst/>
            <a:ahLst/>
            <a:cxnLst/>
            <a:rect r="r" b="b" t="t" l="l"/>
            <a:pathLst>
              <a:path h="1099104" w="1169260">
                <a:moveTo>
                  <a:pt x="0" y="0"/>
                </a:moveTo>
                <a:lnTo>
                  <a:pt x="1169260" y="0"/>
                </a:lnTo>
                <a:lnTo>
                  <a:pt x="1169260" y="1099104"/>
                </a:lnTo>
                <a:lnTo>
                  <a:pt x="0" y="1099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32678" y="4498624"/>
            <a:ext cx="1031176" cy="39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3D2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963636" y="6652292"/>
            <a:ext cx="1169260" cy="1099104"/>
          </a:xfrm>
          <a:custGeom>
            <a:avLst/>
            <a:gdLst/>
            <a:ahLst/>
            <a:cxnLst/>
            <a:rect r="r" b="b" t="t" l="l"/>
            <a:pathLst>
              <a:path h="1099104" w="1169260">
                <a:moveTo>
                  <a:pt x="0" y="0"/>
                </a:moveTo>
                <a:lnTo>
                  <a:pt x="1169260" y="0"/>
                </a:lnTo>
                <a:lnTo>
                  <a:pt x="1169260" y="1099104"/>
                </a:lnTo>
                <a:lnTo>
                  <a:pt x="0" y="1099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032678" y="6984674"/>
            <a:ext cx="1031176" cy="39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3D2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03559" y="4109093"/>
            <a:ext cx="11230377" cy="1417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Whether species can disperse among the patches in a landscape, ultimately behaving like a set of populations that are </a:t>
            </a:r>
            <a:r>
              <a:rPr lang="en-US" b="true" sz="26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linked by dispersal</a:t>
            </a:r>
            <a:r>
              <a:rPr lang="en-US" sz="26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03559" y="6595142"/>
            <a:ext cx="11230377" cy="941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Whether patches in a landscape are </a:t>
            </a:r>
            <a:r>
              <a:rPr lang="en-US" b="true" sz="26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sufficiently heterogeneous</a:t>
            </a:r>
            <a:r>
              <a:rPr lang="en-US" sz="26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that they increase diversity across the landscape by adding new species.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5339161">
            <a:off x="-2921756" y="-2940431"/>
            <a:ext cx="5843512" cy="5880861"/>
          </a:xfrm>
          <a:custGeom>
            <a:avLst/>
            <a:gdLst/>
            <a:ahLst/>
            <a:cxnLst/>
            <a:rect r="r" b="b" t="t" l="l"/>
            <a:pathLst>
              <a:path h="5880861" w="5843512">
                <a:moveTo>
                  <a:pt x="0" y="0"/>
                </a:moveTo>
                <a:lnTo>
                  <a:pt x="5843512" y="0"/>
                </a:lnTo>
                <a:lnTo>
                  <a:pt x="5843512" y="5880862"/>
                </a:lnTo>
                <a:lnTo>
                  <a:pt x="0" y="58808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95661" y="329621"/>
            <a:ext cx="1693979" cy="1472137"/>
          </a:xfrm>
          <a:custGeom>
            <a:avLst/>
            <a:gdLst/>
            <a:ahLst/>
            <a:cxnLst/>
            <a:rect r="r" b="b" t="t" l="l"/>
            <a:pathLst>
              <a:path h="1472137" w="1693979">
                <a:moveTo>
                  <a:pt x="0" y="0"/>
                </a:moveTo>
                <a:lnTo>
                  <a:pt x="1693979" y="0"/>
                </a:lnTo>
                <a:lnTo>
                  <a:pt x="1693979" y="1472137"/>
                </a:lnTo>
                <a:lnTo>
                  <a:pt x="0" y="14721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0090965">
            <a:off x="-1783347" y="8087572"/>
            <a:ext cx="4370918" cy="4398856"/>
          </a:xfrm>
          <a:custGeom>
            <a:avLst/>
            <a:gdLst/>
            <a:ahLst/>
            <a:cxnLst/>
            <a:rect r="r" b="b" t="t" l="l"/>
            <a:pathLst>
              <a:path h="4398856" w="4370918">
                <a:moveTo>
                  <a:pt x="0" y="0"/>
                </a:moveTo>
                <a:lnTo>
                  <a:pt x="4370919" y="0"/>
                </a:lnTo>
                <a:lnTo>
                  <a:pt x="4370919" y="4398856"/>
                </a:lnTo>
                <a:lnTo>
                  <a:pt x="0" y="43988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-7932697">
            <a:off x="467093" y="8687001"/>
            <a:ext cx="1123215" cy="1953417"/>
          </a:xfrm>
          <a:custGeom>
            <a:avLst/>
            <a:gdLst/>
            <a:ahLst/>
            <a:cxnLst/>
            <a:rect r="r" b="b" t="t" l="l"/>
            <a:pathLst>
              <a:path h="1953417" w="1123215">
                <a:moveTo>
                  <a:pt x="1123214" y="0"/>
                </a:moveTo>
                <a:lnTo>
                  <a:pt x="0" y="0"/>
                </a:lnTo>
                <a:lnTo>
                  <a:pt x="0" y="1953417"/>
                </a:lnTo>
                <a:lnTo>
                  <a:pt x="1123214" y="1953417"/>
                </a:lnTo>
                <a:lnTo>
                  <a:pt x="112321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709034">
            <a:off x="15939368" y="-1775030"/>
            <a:ext cx="4101281" cy="4127494"/>
          </a:xfrm>
          <a:custGeom>
            <a:avLst/>
            <a:gdLst/>
            <a:ahLst/>
            <a:cxnLst/>
            <a:rect r="r" b="b" t="t" l="l"/>
            <a:pathLst>
              <a:path h="4127494" w="4101281">
                <a:moveTo>
                  <a:pt x="0" y="0"/>
                </a:moveTo>
                <a:lnTo>
                  <a:pt x="4101281" y="0"/>
                </a:lnTo>
                <a:lnTo>
                  <a:pt x="4101281" y="4127495"/>
                </a:lnTo>
                <a:lnTo>
                  <a:pt x="0" y="41274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2867302">
            <a:off x="16506070" y="-261716"/>
            <a:ext cx="1362984" cy="2370408"/>
          </a:xfrm>
          <a:custGeom>
            <a:avLst/>
            <a:gdLst/>
            <a:ahLst/>
            <a:cxnLst/>
            <a:rect r="r" b="b" t="t" l="l"/>
            <a:pathLst>
              <a:path h="2370408" w="1362984">
                <a:moveTo>
                  <a:pt x="1362984" y="0"/>
                </a:moveTo>
                <a:lnTo>
                  <a:pt x="0" y="0"/>
                </a:lnTo>
                <a:lnTo>
                  <a:pt x="0" y="2370407"/>
                </a:lnTo>
                <a:lnTo>
                  <a:pt x="1362984" y="2370407"/>
                </a:lnTo>
                <a:lnTo>
                  <a:pt x="136298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5460838">
            <a:off x="16206000" y="8105968"/>
            <a:ext cx="4164000" cy="4190615"/>
          </a:xfrm>
          <a:custGeom>
            <a:avLst/>
            <a:gdLst/>
            <a:ahLst/>
            <a:cxnLst/>
            <a:rect r="r" b="b" t="t" l="l"/>
            <a:pathLst>
              <a:path h="4190615" w="4164000">
                <a:moveTo>
                  <a:pt x="0" y="0"/>
                </a:moveTo>
                <a:lnTo>
                  <a:pt x="4164000" y="0"/>
                </a:lnTo>
                <a:lnTo>
                  <a:pt x="4164000" y="4190614"/>
                </a:lnTo>
                <a:lnTo>
                  <a:pt x="0" y="4190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800000">
            <a:off x="16319057" y="8500319"/>
            <a:ext cx="1687000" cy="1466073"/>
          </a:xfrm>
          <a:custGeom>
            <a:avLst/>
            <a:gdLst/>
            <a:ahLst/>
            <a:cxnLst/>
            <a:rect r="r" b="b" t="t" l="l"/>
            <a:pathLst>
              <a:path h="1466073" w="1687000">
                <a:moveTo>
                  <a:pt x="0" y="0"/>
                </a:moveTo>
                <a:lnTo>
                  <a:pt x="1687001" y="0"/>
                </a:lnTo>
                <a:lnTo>
                  <a:pt x="1687001" y="1466073"/>
                </a:lnTo>
                <a:lnTo>
                  <a:pt x="0" y="14660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727806" y="1631323"/>
            <a:ext cx="12832387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B6F61A"/>
                </a:solidFill>
                <a:latin typeface="Poppins Bold"/>
                <a:ea typeface="Poppins Bold"/>
                <a:cs typeface="Poppins Bold"/>
                <a:sym typeface="Poppins Bold"/>
              </a:rPr>
              <a:t>PATCH SIZE AND NUMBER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63636" y="773931"/>
            <a:ext cx="12360728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ULTIMATE EFFECTS OF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91675" y="2529848"/>
            <a:ext cx="12360728" cy="750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DEPEND ON: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503559" y="7713296"/>
            <a:ext cx="11230377" cy="815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5" indent="-259078" lvl="1">
              <a:lnSpc>
                <a:spcPts val="3359"/>
              </a:lnSpc>
              <a:buFont typeface="Arial"/>
              <a:buChar char="•"/>
            </a:pPr>
            <a:r>
              <a:rPr lang="en-US" sz="2399" i="true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such as when patches repre</a:t>
            </a:r>
            <a:r>
              <a:rPr lang="en-US" sz="2399" i="true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sent no</a:t>
            </a:r>
            <a:r>
              <a:rPr lang="en-US" sz="2399" i="true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vel environments with new niche opportunities.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3303" y="3533772"/>
            <a:ext cx="3219468" cy="3219455"/>
            <a:chOff x="0" y="0"/>
            <a:chExt cx="6350000" cy="6349975"/>
          </a:xfrm>
        </p:grpSpPr>
        <p:sp>
          <p:nvSpPr>
            <p:cNvPr name="Freeform 3" id="3" descr="This alt text was created for the whole figure, and some of it may not apply to this partial figure.  Four scatterplots, A, show the habitat loss as a percent of landscape, and six photos, B, show examples of fragmented landscapes. A. In all scatt...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7022" t="-85498" r="-104268" b="-997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473917" y="1028700"/>
            <a:ext cx="3219468" cy="3219455"/>
            <a:chOff x="0" y="0"/>
            <a:chExt cx="6350000" cy="6349975"/>
          </a:xfrm>
        </p:grpSpPr>
        <p:sp>
          <p:nvSpPr>
            <p:cNvPr name="Freeform 5" id="5" descr="This alt text was created for the whole figure, and some of it may not apply to this partial figure.  Four scatterplots, A, show the habitat loss as a percent of landscape, and six photos, B, show examples of fragmented landscapes. A. In all scatt...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9948" t="0" r="-99645" b="-9390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473917" y="6038845"/>
            <a:ext cx="3219468" cy="3219455"/>
            <a:chOff x="0" y="0"/>
            <a:chExt cx="6350000" cy="6349975"/>
          </a:xfrm>
        </p:grpSpPr>
        <p:sp>
          <p:nvSpPr>
            <p:cNvPr name="Freeform 7" id="7" descr="This alt text was created for the whole figure, and some of it may not apply to this partial figure.  Four scatterplots, A, show the habitat loss as a percent of landscape, and six photos, B, show examples of fragmented landscapes. A. In all scatt...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101741" t="-83247" r="0" b="-339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924532" y="3533772"/>
            <a:ext cx="3219468" cy="3219455"/>
            <a:chOff x="0" y="0"/>
            <a:chExt cx="6350000" cy="6349975"/>
          </a:xfrm>
        </p:grpSpPr>
        <p:sp>
          <p:nvSpPr>
            <p:cNvPr name="Freeform 9" id="9" descr="This alt text was created for the whole figure, and some of it may not apply to this partial figure.  Four scatterplots, A, show the habitat loss as a percent of landscape, and six photos, B, show examples of fragmented landscapes. A. In all scatt...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118220" t="0" r="-5266" b="-106756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709034">
            <a:off x="15939368" y="-1775030"/>
            <a:ext cx="4101281" cy="4127494"/>
          </a:xfrm>
          <a:custGeom>
            <a:avLst/>
            <a:gdLst/>
            <a:ahLst/>
            <a:cxnLst/>
            <a:rect r="r" b="b" t="t" l="l"/>
            <a:pathLst>
              <a:path h="4127494" w="4101281">
                <a:moveTo>
                  <a:pt x="0" y="0"/>
                </a:moveTo>
                <a:lnTo>
                  <a:pt x="4101281" y="0"/>
                </a:lnTo>
                <a:lnTo>
                  <a:pt x="4101281" y="4127495"/>
                </a:lnTo>
                <a:lnTo>
                  <a:pt x="0" y="41274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2867302">
            <a:off x="16506070" y="-261716"/>
            <a:ext cx="1362984" cy="2370408"/>
          </a:xfrm>
          <a:custGeom>
            <a:avLst/>
            <a:gdLst/>
            <a:ahLst/>
            <a:cxnLst/>
            <a:rect r="r" b="b" t="t" l="l"/>
            <a:pathLst>
              <a:path h="2370408" w="1362984">
                <a:moveTo>
                  <a:pt x="1362984" y="0"/>
                </a:moveTo>
                <a:lnTo>
                  <a:pt x="0" y="0"/>
                </a:lnTo>
                <a:lnTo>
                  <a:pt x="0" y="2370407"/>
                </a:lnTo>
                <a:lnTo>
                  <a:pt x="1362984" y="2370407"/>
                </a:lnTo>
                <a:lnTo>
                  <a:pt x="136298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5460838">
            <a:off x="16206000" y="8105968"/>
            <a:ext cx="4164000" cy="4190615"/>
          </a:xfrm>
          <a:custGeom>
            <a:avLst/>
            <a:gdLst/>
            <a:ahLst/>
            <a:cxnLst/>
            <a:rect r="r" b="b" t="t" l="l"/>
            <a:pathLst>
              <a:path h="4190615" w="4164000">
                <a:moveTo>
                  <a:pt x="0" y="0"/>
                </a:moveTo>
                <a:lnTo>
                  <a:pt x="4164000" y="0"/>
                </a:lnTo>
                <a:lnTo>
                  <a:pt x="4164000" y="4190614"/>
                </a:lnTo>
                <a:lnTo>
                  <a:pt x="0" y="41906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16319057" y="8500319"/>
            <a:ext cx="1687000" cy="1466073"/>
          </a:xfrm>
          <a:custGeom>
            <a:avLst/>
            <a:gdLst/>
            <a:ahLst/>
            <a:cxnLst/>
            <a:rect r="r" b="b" t="t" l="l"/>
            <a:pathLst>
              <a:path h="1466073" w="1687000">
                <a:moveTo>
                  <a:pt x="0" y="0"/>
                </a:moveTo>
                <a:lnTo>
                  <a:pt x="1687001" y="0"/>
                </a:lnTo>
                <a:lnTo>
                  <a:pt x="1687001" y="1466073"/>
                </a:lnTo>
                <a:lnTo>
                  <a:pt x="0" y="14660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10090965">
            <a:off x="-2007843" y="6460378"/>
            <a:ext cx="5843512" cy="5880861"/>
          </a:xfrm>
          <a:custGeom>
            <a:avLst/>
            <a:gdLst/>
            <a:ahLst/>
            <a:cxnLst/>
            <a:rect r="r" b="b" t="t" l="l"/>
            <a:pathLst>
              <a:path h="5880861" w="5843512">
                <a:moveTo>
                  <a:pt x="0" y="0"/>
                </a:moveTo>
                <a:lnTo>
                  <a:pt x="5843512" y="0"/>
                </a:lnTo>
                <a:lnTo>
                  <a:pt x="5843512" y="5880862"/>
                </a:lnTo>
                <a:lnTo>
                  <a:pt x="0" y="58808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-7932697">
            <a:off x="874234" y="6438987"/>
            <a:ext cx="2366010" cy="4114800"/>
          </a:xfrm>
          <a:custGeom>
            <a:avLst/>
            <a:gdLst/>
            <a:ahLst/>
            <a:cxnLst/>
            <a:rect r="r" b="b" t="t" l="l"/>
            <a:pathLst>
              <a:path h="4114800" w="2366010">
                <a:moveTo>
                  <a:pt x="2366010" y="0"/>
                </a:moveTo>
                <a:lnTo>
                  <a:pt x="0" y="0"/>
                </a:lnTo>
                <a:lnTo>
                  <a:pt x="0" y="4114800"/>
                </a:lnTo>
                <a:lnTo>
                  <a:pt x="2366010" y="4114800"/>
                </a:lnTo>
                <a:lnTo>
                  <a:pt x="23660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5339161">
            <a:off x="-3048968" y="-3099562"/>
            <a:ext cx="6392809" cy="6433669"/>
          </a:xfrm>
          <a:custGeom>
            <a:avLst/>
            <a:gdLst/>
            <a:ahLst/>
            <a:cxnLst/>
            <a:rect r="r" b="b" t="t" l="l"/>
            <a:pathLst>
              <a:path h="6433669" w="6392809">
                <a:moveTo>
                  <a:pt x="0" y="0"/>
                </a:moveTo>
                <a:lnTo>
                  <a:pt x="6392809" y="0"/>
                </a:lnTo>
                <a:lnTo>
                  <a:pt x="6392809" y="6433670"/>
                </a:lnTo>
                <a:lnTo>
                  <a:pt x="0" y="64336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80290" y="477879"/>
            <a:ext cx="2589979" cy="2250798"/>
          </a:xfrm>
          <a:custGeom>
            <a:avLst/>
            <a:gdLst/>
            <a:ahLst/>
            <a:cxnLst/>
            <a:rect r="r" b="b" t="t" l="l"/>
            <a:pathLst>
              <a:path h="2250798" w="2589979">
                <a:moveTo>
                  <a:pt x="0" y="0"/>
                </a:moveTo>
                <a:lnTo>
                  <a:pt x="2589979" y="0"/>
                </a:lnTo>
                <a:lnTo>
                  <a:pt x="2589979" y="2250798"/>
                </a:lnTo>
                <a:lnTo>
                  <a:pt x="0" y="22507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403214" y="4866389"/>
            <a:ext cx="4915843" cy="39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Alters the size of habitat patches.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348985" y="3654958"/>
            <a:ext cx="916794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true">
                <a:solidFill>
                  <a:srgbClr val="A5E800"/>
                </a:solidFill>
                <a:latin typeface="Poppins Bold"/>
                <a:ea typeface="Poppins Bold"/>
                <a:cs typeface="Poppins Bold"/>
                <a:sym typeface="Poppins Bold"/>
              </a:rPr>
              <a:t>01.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403214" y="6043680"/>
            <a:ext cx="4915843" cy="39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Changes the number of patches.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348985" y="4827024"/>
            <a:ext cx="916794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true">
                <a:solidFill>
                  <a:srgbClr val="A5E800"/>
                </a:solidFill>
                <a:latin typeface="Poppins Bold"/>
                <a:ea typeface="Poppins Bold"/>
                <a:cs typeface="Poppins Bold"/>
                <a:sym typeface="Poppins Bold"/>
              </a:rPr>
              <a:t>02.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403214" y="7267181"/>
            <a:ext cx="5674220" cy="815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Increases the distance between habitat patches.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348985" y="5999091"/>
            <a:ext cx="916794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true">
                <a:solidFill>
                  <a:srgbClr val="A5E800"/>
                </a:solidFill>
                <a:latin typeface="Poppins Bold"/>
                <a:ea typeface="Poppins Bold"/>
                <a:cs typeface="Poppins Bold"/>
                <a:sym typeface="Poppins Bold"/>
              </a:rPr>
              <a:t>03.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403214" y="3777830"/>
            <a:ext cx="5588597" cy="39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Increases the amount of edge habitat.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348985" y="7417677"/>
            <a:ext cx="916794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true">
                <a:solidFill>
                  <a:srgbClr val="A5E800"/>
                </a:solidFill>
                <a:latin typeface="Poppins Bold"/>
                <a:ea typeface="Poppins Bold"/>
                <a:cs typeface="Poppins Bold"/>
                <a:sym typeface="Poppins Bold"/>
              </a:rPr>
              <a:t>04.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348985" y="1384833"/>
            <a:ext cx="6910315" cy="195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B6F61A"/>
                </a:solidFill>
                <a:latin typeface="Poppins Bold"/>
                <a:ea typeface="Poppins Bold"/>
                <a:cs typeface="Poppins Bold"/>
                <a:sym typeface="Poppins Bold"/>
              </a:rPr>
              <a:t>HABITAT FRAGMENTATION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D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78480" y="4796795"/>
            <a:ext cx="12131040" cy="5490205"/>
            <a:chOff x="0" y="0"/>
            <a:chExt cx="6350000" cy="28738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2873851"/>
            </a:xfrm>
            <a:custGeom>
              <a:avLst/>
              <a:gdLst/>
              <a:ahLst/>
              <a:cxnLst/>
              <a:rect r="r" b="b" t="t" l="l"/>
              <a:pathLst>
                <a:path h="2873851" w="6350000">
                  <a:moveTo>
                    <a:pt x="6350000" y="2873851"/>
                  </a:moveTo>
                  <a:lnTo>
                    <a:pt x="0" y="2873851"/>
                  </a:lnTo>
                  <a:lnTo>
                    <a:pt x="0" y="1425430"/>
                  </a:lnTo>
                  <a:cubicBezTo>
                    <a:pt x="0" y="637995"/>
                    <a:pt x="704850" y="0"/>
                    <a:pt x="1574800" y="0"/>
                  </a:cubicBezTo>
                  <a:lnTo>
                    <a:pt x="4775200" y="0"/>
                  </a:lnTo>
                  <a:cubicBezTo>
                    <a:pt x="5645150" y="0"/>
                    <a:pt x="6350000" y="637995"/>
                    <a:pt x="6350000" y="1425430"/>
                  </a:cubicBezTo>
                  <a:lnTo>
                    <a:pt x="6350000" y="2873851"/>
                  </a:lnTo>
                  <a:close/>
                </a:path>
              </a:pathLst>
            </a:custGeom>
            <a:blipFill>
              <a:blip r:embed="rId2"/>
              <a:stretch>
                <a:fillRect l="0" t="-267" r="0" b="-267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5460838">
            <a:off x="14891406" y="6807481"/>
            <a:ext cx="6392809" cy="6433669"/>
          </a:xfrm>
          <a:custGeom>
            <a:avLst/>
            <a:gdLst/>
            <a:ahLst/>
            <a:cxnLst/>
            <a:rect r="r" b="b" t="t" l="l"/>
            <a:pathLst>
              <a:path h="6433669" w="6392809">
                <a:moveTo>
                  <a:pt x="0" y="0"/>
                </a:moveTo>
                <a:lnTo>
                  <a:pt x="6392808" y="0"/>
                </a:lnTo>
                <a:lnTo>
                  <a:pt x="6392808" y="6433669"/>
                </a:lnTo>
                <a:lnTo>
                  <a:pt x="0" y="64336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5064977" y="7412911"/>
            <a:ext cx="2589979" cy="2250798"/>
          </a:xfrm>
          <a:custGeom>
            <a:avLst/>
            <a:gdLst/>
            <a:ahLst/>
            <a:cxnLst/>
            <a:rect r="r" b="b" t="t" l="l"/>
            <a:pathLst>
              <a:path h="2250798" w="2589979">
                <a:moveTo>
                  <a:pt x="0" y="0"/>
                </a:moveTo>
                <a:lnTo>
                  <a:pt x="2589979" y="0"/>
                </a:lnTo>
                <a:lnTo>
                  <a:pt x="2589979" y="2250798"/>
                </a:lnTo>
                <a:lnTo>
                  <a:pt x="0" y="22507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090965">
            <a:off x="-2007843" y="6460378"/>
            <a:ext cx="5843512" cy="5880861"/>
          </a:xfrm>
          <a:custGeom>
            <a:avLst/>
            <a:gdLst/>
            <a:ahLst/>
            <a:cxnLst/>
            <a:rect r="r" b="b" t="t" l="l"/>
            <a:pathLst>
              <a:path h="5880861" w="5843512">
                <a:moveTo>
                  <a:pt x="0" y="0"/>
                </a:moveTo>
                <a:lnTo>
                  <a:pt x="5843512" y="0"/>
                </a:lnTo>
                <a:lnTo>
                  <a:pt x="5843512" y="5880862"/>
                </a:lnTo>
                <a:lnTo>
                  <a:pt x="0" y="58808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7932697">
            <a:off x="874234" y="6438987"/>
            <a:ext cx="2366010" cy="4114800"/>
          </a:xfrm>
          <a:custGeom>
            <a:avLst/>
            <a:gdLst/>
            <a:ahLst/>
            <a:cxnLst/>
            <a:rect r="r" b="b" t="t" l="l"/>
            <a:pathLst>
              <a:path h="4114800" w="2366010">
                <a:moveTo>
                  <a:pt x="2366010" y="0"/>
                </a:moveTo>
                <a:lnTo>
                  <a:pt x="0" y="0"/>
                </a:lnTo>
                <a:lnTo>
                  <a:pt x="0" y="4114800"/>
                </a:lnTo>
                <a:lnTo>
                  <a:pt x="2366010" y="4114800"/>
                </a:lnTo>
                <a:lnTo>
                  <a:pt x="236601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339161">
            <a:off x="-2921756" y="-2940431"/>
            <a:ext cx="5843512" cy="5880861"/>
          </a:xfrm>
          <a:custGeom>
            <a:avLst/>
            <a:gdLst/>
            <a:ahLst/>
            <a:cxnLst/>
            <a:rect r="r" b="b" t="t" l="l"/>
            <a:pathLst>
              <a:path h="5880861" w="5843512">
                <a:moveTo>
                  <a:pt x="0" y="0"/>
                </a:moveTo>
                <a:lnTo>
                  <a:pt x="5843512" y="0"/>
                </a:lnTo>
                <a:lnTo>
                  <a:pt x="5843512" y="5880862"/>
                </a:lnTo>
                <a:lnTo>
                  <a:pt x="0" y="58808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95661" y="329621"/>
            <a:ext cx="1359207" cy="1181207"/>
          </a:xfrm>
          <a:custGeom>
            <a:avLst/>
            <a:gdLst/>
            <a:ahLst/>
            <a:cxnLst/>
            <a:rect r="r" b="b" t="t" l="l"/>
            <a:pathLst>
              <a:path h="1181207" w="1359207">
                <a:moveTo>
                  <a:pt x="0" y="0"/>
                </a:moveTo>
                <a:lnTo>
                  <a:pt x="1359207" y="0"/>
                </a:lnTo>
                <a:lnTo>
                  <a:pt x="1359207" y="1181207"/>
                </a:lnTo>
                <a:lnTo>
                  <a:pt x="0" y="11812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044672" y="612775"/>
            <a:ext cx="9344090" cy="831850"/>
            <a:chOff x="0" y="0"/>
            <a:chExt cx="12458787" cy="1109133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4321198" y="-152400"/>
              <a:ext cx="8137589" cy="1261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b="true" sz="5499">
                  <a:solidFill>
                    <a:srgbClr val="B6F61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ISOLATION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152400"/>
              <a:ext cx="8137589" cy="1261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PATCH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482815" y="1748554"/>
            <a:ext cx="15625278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9"/>
              </a:lnSpc>
            </a:pPr>
            <a:r>
              <a:rPr lang="en-US" sz="26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Isolation is a function of both the </a:t>
            </a:r>
            <a:r>
              <a:rPr lang="en-US" b="true" sz="26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distance between</a:t>
            </a:r>
            <a:r>
              <a:rPr lang="en-US" sz="26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habitat patches and the </a:t>
            </a:r>
            <a:r>
              <a:rPr lang="en-US" b="true" sz="26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matrix that separates</a:t>
            </a:r>
            <a:r>
              <a:rPr lang="en-US" sz="26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those habitat patches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82815" y="2935233"/>
            <a:ext cx="15625278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As the matrix that separates habitat patches becomes increasingly hostile to dispersal, the successful emigration out of patches, and immigration into patches, becomes less likely.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31361" y="3958219"/>
            <a:ext cx="15625278" cy="42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B6F61A"/>
                </a:solidFill>
                <a:latin typeface="Open Sans"/>
                <a:ea typeface="Open Sans"/>
                <a:cs typeface="Open Sans"/>
                <a:sym typeface="Open Sans"/>
              </a:rPr>
              <a:t>Which built environments are disproportionately hostile to animals?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7765" y="1848523"/>
            <a:ext cx="8318148" cy="1567290"/>
            <a:chOff x="0" y="0"/>
            <a:chExt cx="11090864" cy="208972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10355899" cy="198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760"/>
                </a:lnSpc>
                <a:spcBef>
                  <a:spcPct val="0"/>
                </a:spcBef>
              </a:pPr>
              <a:r>
                <a:rPr lang="en-US" b="true" sz="9800">
                  <a:solidFill>
                    <a:srgbClr val="000000"/>
                  </a:solidFill>
                  <a:latin typeface="Linotype Feltpen Medium"/>
                  <a:ea typeface="Linotype Feltpen Medium"/>
                  <a:cs typeface="Linotype Feltpen Medium"/>
                  <a:sym typeface="Linotype Feltpen Medium"/>
                </a:rPr>
                <a:t>metapopulation</a:t>
              </a:r>
            </a:p>
          </p:txBody>
        </p:sp>
        <p:grpSp>
          <p:nvGrpSpPr>
            <p:cNvPr name="Group 4" id="4"/>
            <p:cNvGrpSpPr/>
            <p:nvPr/>
          </p:nvGrpSpPr>
          <p:grpSpPr>
            <a:xfrm rot="0">
              <a:off x="0" y="1765587"/>
              <a:ext cx="10684521" cy="324133"/>
              <a:chOff x="0" y="0"/>
              <a:chExt cx="6405110" cy="19431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114587" y="41910"/>
                <a:ext cx="6178875" cy="116840"/>
              </a:xfrm>
              <a:custGeom>
                <a:avLst/>
                <a:gdLst/>
                <a:ahLst/>
                <a:cxnLst/>
                <a:rect r="r" b="b" t="t" l="l"/>
                <a:pathLst>
                  <a:path h="116840" w="6178875">
                    <a:moveTo>
                      <a:pt x="76391" y="31750"/>
                    </a:moveTo>
                    <a:cubicBezTo>
                      <a:pt x="3555130" y="34290"/>
                      <a:pt x="3828375" y="19050"/>
                      <a:pt x="4222084" y="13970"/>
                    </a:cubicBezTo>
                    <a:cubicBezTo>
                      <a:pt x="4645174" y="8890"/>
                      <a:pt x="5185789" y="5080"/>
                      <a:pt x="5535425" y="8890"/>
                    </a:cubicBezTo>
                    <a:cubicBezTo>
                      <a:pt x="5770475" y="11430"/>
                      <a:pt x="6037845" y="0"/>
                      <a:pt x="6123050" y="25400"/>
                    </a:cubicBezTo>
                    <a:cubicBezTo>
                      <a:pt x="6161246" y="36830"/>
                      <a:pt x="6175936" y="57150"/>
                      <a:pt x="6172998" y="69850"/>
                    </a:cubicBezTo>
                    <a:cubicBezTo>
                      <a:pt x="6170060" y="81280"/>
                      <a:pt x="6140679" y="95250"/>
                      <a:pt x="6114236" y="99060"/>
                    </a:cubicBezTo>
                    <a:cubicBezTo>
                      <a:pt x="6084854" y="102870"/>
                      <a:pt x="6026092" y="96520"/>
                      <a:pt x="6005525" y="86360"/>
                    </a:cubicBezTo>
                    <a:cubicBezTo>
                      <a:pt x="5987897" y="77470"/>
                      <a:pt x="5979083" y="58420"/>
                      <a:pt x="5990835" y="48260"/>
                    </a:cubicBezTo>
                    <a:cubicBezTo>
                      <a:pt x="6002587" y="36830"/>
                      <a:pt x="6055473" y="21590"/>
                      <a:pt x="6084854" y="21590"/>
                    </a:cubicBezTo>
                    <a:cubicBezTo>
                      <a:pt x="6111298" y="21590"/>
                      <a:pt x="6146555" y="31750"/>
                      <a:pt x="6161246" y="40640"/>
                    </a:cubicBezTo>
                    <a:cubicBezTo>
                      <a:pt x="6172998" y="48260"/>
                      <a:pt x="6178875" y="57150"/>
                      <a:pt x="6172998" y="66040"/>
                    </a:cubicBezTo>
                    <a:cubicBezTo>
                      <a:pt x="6164184" y="77470"/>
                      <a:pt x="6140679" y="95250"/>
                      <a:pt x="6096607" y="101600"/>
                    </a:cubicBezTo>
                    <a:cubicBezTo>
                      <a:pt x="5999649" y="116840"/>
                      <a:pt x="5732280" y="78740"/>
                      <a:pt x="5529549" y="72390"/>
                    </a:cubicBezTo>
                    <a:cubicBezTo>
                      <a:pt x="5297438" y="64770"/>
                      <a:pt x="5135841" y="64770"/>
                      <a:pt x="4780328" y="64770"/>
                    </a:cubicBezTo>
                    <a:cubicBezTo>
                      <a:pt x="3919457" y="63500"/>
                      <a:pt x="951952" y="100330"/>
                      <a:pt x="340822" y="96520"/>
                    </a:cubicBezTo>
                    <a:cubicBezTo>
                      <a:pt x="182164" y="95250"/>
                      <a:pt x="91082" y="104140"/>
                      <a:pt x="41134" y="90170"/>
                    </a:cubicBezTo>
                    <a:cubicBezTo>
                      <a:pt x="14691" y="82550"/>
                      <a:pt x="0" y="67310"/>
                      <a:pt x="2938" y="58420"/>
                    </a:cubicBezTo>
                    <a:cubicBezTo>
                      <a:pt x="8814" y="48260"/>
                      <a:pt x="76391" y="31750"/>
                      <a:pt x="76391" y="31750"/>
                    </a:cubicBezTo>
                  </a:path>
                </a:pathLst>
              </a:custGeom>
              <a:solidFill>
                <a:srgbClr val="121212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6" id="6"/>
            <p:cNvSpPr txBox="true"/>
            <p:nvPr/>
          </p:nvSpPr>
          <p:spPr>
            <a:xfrm rot="0">
              <a:off x="10278178" y="238875"/>
              <a:ext cx="812686" cy="1584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360"/>
                </a:lnSpc>
                <a:spcBef>
                  <a:spcPct val="0"/>
                </a:spcBef>
              </a:pPr>
              <a:r>
                <a:rPr lang="en-US" b="true" sz="7800" spc="-117">
                  <a:solidFill>
                    <a:srgbClr val="000000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?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008806" y="6277689"/>
            <a:ext cx="7833866" cy="755333"/>
            <a:chOff x="0" y="0"/>
            <a:chExt cx="10445155" cy="10071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-25400" y="-100330"/>
              <a:ext cx="10515005" cy="1131570"/>
            </a:xfrm>
            <a:custGeom>
              <a:avLst/>
              <a:gdLst/>
              <a:ahLst/>
              <a:cxnLst/>
              <a:rect r="r" b="b" t="t" l="l"/>
              <a:pathLst>
                <a:path h="1131570" w="10515005">
                  <a:moveTo>
                    <a:pt x="170020" y="385260"/>
                  </a:moveTo>
                  <a:cubicBezTo>
                    <a:pt x="1981381" y="376300"/>
                    <a:pt x="2462241" y="344043"/>
                    <a:pt x="3123876" y="322539"/>
                  </a:cubicBezTo>
                  <a:cubicBezTo>
                    <a:pt x="4100059" y="292075"/>
                    <a:pt x="5557102" y="256235"/>
                    <a:pt x="6761061" y="231147"/>
                  </a:cubicBezTo>
                  <a:cubicBezTo>
                    <a:pt x="7946942" y="206059"/>
                    <a:pt x="9845075" y="0"/>
                    <a:pt x="10300628" y="172010"/>
                  </a:cubicBezTo>
                  <a:cubicBezTo>
                    <a:pt x="10507385" y="301035"/>
                    <a:pt x="10515005" y="675565"/>
                    <a:pt x="10325936" y="817134"/>
                  </a:cubicBezTo>
                  <a:cubicBezTo>
                    <a:pt x="9859537" y="1060848"/>
                    <a:pt x="7805937" y="851183"/>
                    <a:pt x="6428435" y="883439"/>
                  </a:cubicBezTo>
                  <a:cubicBezTo>
                    <a:pt x="4873774" y="919279"/>
                    <a:pt x="2577937" y="1010671"/>
                    <a:pt x="1460750" y="1030384"/>
                  </a:cubicBezTo>
                  <a:cubicBezTo>
                    <a:pt x="889502" y="1039344"/>
                    <a:pt x="386949" y="1131570"/>
                    <a:pt x="170020" y="1035760"/>
                  </a:cubicBezTo>
                  <a:cubicBezTo>
                    <a:pt x="0" y="928239"/>
                    <a:pt x="170020" y="385260"/>
                    <a:pt x="170020" y="385260"/>
                  </a:cubicBezTo>
                </a:path>
              </a:pathLst>
            </a:custGeom>
            <a:solidFill>
              <a:srgbClr val="FFF234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8635913" y="0"/>
            <a:ext cx="9695416" cy="5143500"/>
            <a:chOff x="0" y="0"/>
            <a:chExt cx="12927222" cy="6858000"/>
          </a:xfrm>
        </p:grpSpPr>
        <p:pic>
          <p:nvPicPr>
            <p:cNvPr name="Picture 10" id="10"/>
            <p:cNvPicPr>
              <a:picLocks noChangeAspect="true"/>
            </p:cNvPicPr>
            <p:nvPr/>
          </p:nvPicPr>
          <p:blipFill>
            <a:blip r:embed="rId2"/>
            <a:srcRect l="2454" t="5030" r="736" b="22378"/>
            <a:stretch>
              <a:fillRect/>
            </a:stretch>
          </p:blipFill>
          <p:spPr>
            <a:xfrm flipH="false" flipV="false">
              <a:off x="0" y="0"/>
              <a:ext cx="12927222" cy="6858000"/>
            </a:xfrm>
            <a:prstGeom prst="rect">
              <a:avLst/>
            </a:prstGeom>
          </p:spPr>
        </p:pic>
      </p:grpSp>
      <p:grpSp>
        <p:nvGrpSpPr>
          <p:cNvPr name="Group 11" id="11"/>
          <p:cNvGrpSpPr/>
          <p:nvPr/>
        </p:nvGrpSpPr>
        <p:grpSpPr>
          <a:xfrm rot="0">
            <a:off x="-17111" y="5143500"/>
            <a:ext cx="7854825" cy="5143500"/>
            <a:chOff x="0" y="0"/>
            <a:chExt cx="10473100" cy="6858000"/>
          </a:xfrm>
        </p:grpSpPr>
        <p:pic>
          <p:nvPicPr>
            <p:cNvPr name="Picture 12" id="12"/>
            <p:cNvPicPr>
              <a:picLocks noChangeAspect="true"/>
            </p:cNvPicPr>
            <p:nvPr/>
          </p:nvPicPr>
          <p:blipFill>
            <a:blip r:embed="rId3"/>
            <a:srcRect l="0" t="19229" r="0" b="0"/>
            <a:stretch>
              <a:fillRect/>
            </a:stretch>
          </p:blipFill>
          <p:spPr>
            <a:xfrm flipH="false" flipV="false">
              <a:off x="0" y="0"/>
              <a:ext cx="10473100" cy="6858000"/>
            </a:xfrm>
            <a:prstGeom prst="rect">
              <a:avLst/>
            </a:prstGeom>
          </p:spPr>
        </p:pic>
      </p:grpSp>
      <p:sp>
        <p:nvSpPr>
          <p:cNvPr name="TextBox 13" id="13"/>
          <p:cNvSpPr txBox="true"/>
          <p:nvPr/>
        </p:nvSpPr>
        <p:spPr>
          <a:xfrm rot="0">
            <a:off x="317765" y="657898"/>
            <a:ext cx="4824502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60"/>
              </a:lnSpc>
              <a:spcBef>
                <a:spcPct val="0"/>
              </a:spcBef>
            </a:pPr>
            <a:r>
              <a:rPr lang="en-US" b="true" sz="7800" spc="-117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What is 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68517" y="5254228"/>
            <a:ext cx="8354866" cy="166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 metapopulation is basically a </a:t>
            </a:r>
            <a:r>
              <a:rPr lang="en-US" sz="4800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population</a:t>
            </a:r>
            <a:r>
              <a:rPr lang="en-US" sz="48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</a:t>
            </a:r>
            <a:r>
              <a:rPr lang="en-US" sz="4800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of populations.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0" y="7619078"/>
            <a:ext cx="8354866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More specifically, it is collection of local populations that are </a:t>
            </a:r>
            <a:r>
              <a:rPr lang="en-US" b="true" sz="24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spatially separated</a:t>
            </a:r>
            <a:r>
              <a:rPr lang="en-US" sz="24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from each other in individual patches of a landscape but </a:t>
            </a:r>
            <a:r>
              <a:rPr lang="en-US" b="true" sz="24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connected to each other by dispersal</a:t>
            </a:r>
            <a:r>
              <a:rPr lang="en-US" sz="24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34390" y="1805874"/>
            <a:ext cx="9695416" cy="5143500"/>
            <a:chOff x="0" y="0"/>
            <a:chExt cx="12927222" cy="6858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0" r="30962" b="0"/>
            <a:stretch>
              <a:fillRect/>
            </a:stretch>
          </p:blipFill>
          <p:spPr>
            <a:xfrm flipH="false" flipV="false">
              <a:off x="0" y="0"/>
              <a:ext cx="12927222" cy="6858000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920999" y="4563745"/>
            <a:ext cx="8354866" cy="1083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Individual populations in single suitable habitat patches have finite life spans.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20999" y="1621045"/>
            <a:ext cx="8013391" cy="2329742"/>
            <a:chOff x="0" y="0"/>
            <a:chExt cx="10684521" cy="310632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74062"/>
              <a:ext cx="10355899" cy="1778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559"/>
                </a:lnSpc>
                <a:spcBef>
                  <a:spcPct val="0"/>
                </a:spcBef>
              </a:pPr>
              <a:r>
                <a:rPr lang="en-US" b="true" sz="8799">
                  <a:solidFill>
                    <a:srgbClr val="000000"/>
                  </a:solidFill>
                  <a:latin typeface="Linotype Feltpen Medium"/>
                  <a:ea typeface="Linotype Feltpen Medium"/>
                  <a:cs typeface="Linotype Feltpen Medium"/>
                  <a:sym typeface="Linotype Feltpen Medium"/>
                </a:rPr>
                <a:t>metapopulations </a:t>
              </a:r>
            </a:p>
          </p:txBody>
        </p:sp>
        <p:grpSp>
          <p:nvGrpSpPr>
            <p:cNvPr name="Group 7" id="7"/>
            <p:cNvGrpSpPr/>
            <p:nvPr/>
          </p:nvGrpSpPr>
          <p:grpSpPr>
            <a:xfrm rot="0">
              <a:off x="0" y="2782189"/>
              <a:ext cx="10684521" cy="324133"/>
              <a:chOff x="0" y="0"/>
              <a:chExt cx="6405110" cy="19431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114587" y="41910"/>
                <a:ext cx="6178875" cy="116840"/>
              </a:xfrm>
              <a:custGeom>
                <a:avLst/>
                <a:gdLst/>
                <a:ahLst/>
                <a:cxnLst/>
                <a:rect r="r" b="b" t="t" l="l"/>
                <a:pathLst>
                  <a:path h="116840" w="6178875">
                    <a:moveTo>
                      <a:pt x="76391" y="31750"/>
                    </a:moveTo>
                    <a:cubicBezTo>
                      <a:pt x="3555130" y="34290"/>
                      <a:pt x="3828375" y="19050"/>
                      <a:pt x="4222084" y="13970"/>
                    </a:cubicBezTo>
                    <a:cubicBezTo>
                      <a:pt x="4645174" y="8890"/>
                      <a:pt x="5185789" y="5080"/>
                      <a:pt x="5535425" y="8890"/>
                    </a:cubicBezTo>
                    <a:cubicBezTo>
                      <a:pt x="5770475" y="11430"/>
                      <a:pt x="6037845" y="0"/>
                      <a:pt x="6123050" y="25400"/>
                    </a:cubicBezTo>
                    <a:cubicBezTo>
                      <a:pt x="6161246" y="36830"/>
                      <a:pt x="6175936" y="57150"/>
                      <a:pt x="6172998" y="69850"/>
                    </a:cubicBezTo>
                    <a:cubicBezTo>
                      <a:pt x="6170060" y="81280"/>
                      <a:pt x="6140679" y="95250"/>
                      <a:pt x="6114236" y="99060"/>
                    </a:cubicBezTo>
                    <a:cubicBezTo>
                      <a:pt x="6084854" y="102870"/>
                      <a:pt x="6026092" y="96520"/>
                      <a:pt x="6005525" y="86360"/>
                    </a:cubicBezTo>
                    <a:cubicBezTo>
                      <a:pt x="5987897" y="77470"/>
                      <a:pt x="5979083" y="58420"/>
                      <a:pt x="5990835" y="48260"/>
                    </a:cubicBezTo>
                    <a:cubicBezTo>
                      <a:pt x="6002587" y="36830"/>
                      <a:pt x="6055473" y="21590"/>
                      <a:pt x="6084854" y="21590"/>
                    </a:cubicBezTo>
                    <a:cubicBezTo>
                      <a:pt x="6111298" y="21590"/>
                      <a:pt x="6146555" y="31750"/>
                      <a:pt x="6161246" y="40640"/>
                    </a:cubicBezTo>
                    <a:cubicBezTo>
                      <a:pt x="6172998" y="48260"/>
                      <a:pt x="6178875" y="57150"/>
                      <a:pt x="6172998" y="66040"/>
                    </a:cubicBezTo>
                    <a:cubicBezTo>
                      <a:pt x="6164184" y="77470"/>
                      <a:pt x="6140679" y="95250"/>
                      <a:pt x="6096607" y="101600"/>
                    </a:cubicBezTo>
                    <a:cubicBezTo>
                      <a:pt x="5999649" y="116840"/>
                      <a:pt x="5732280" y="78740"/>
                      <a:pt x="5529549" y="72390"/>
                    </a:cubicBezTo>
                    <a:cubicBezTo>
                      <a:pt x="5297438" y="64770"/>
                      <a:pt x="5135841" y="64770"/>
                      <a:pt x="4780328" y="64770"/>
                    </a:cubicBezTo>
                    <a:cubicBezTo>
                      <a:pt x="3919457" y="63500"/>
                      <a:pt x="951952" y="100330"/>
                      <a:pt x="340822" y="96520"/>
                    </a:cubicBezTo>
                    <a:cubicBezTo>
                      <a:pt x="182164" y="95250"/>
                      <a:pt x="91082" y="104140"/>
                      <a:pt x="41134" y="90170"/>
                    </a:cubicBezTo>
                    <a:cubicBezTo>
                      <a:pt x="14691" y="82550"/>
                      <a:pt x="0" y="67310"/>
                      <a:pt x="2938" y="58420"/>
                    </a:cubicBezTo>
                    <a:cubicBezTo>
                      <a:pt x="8814" y="48260"/>
                      <a:pt x="76391" y="31750"/>
                      <a:pt x="76391" y="31750"/>
                    </a:cubicBezTo>
                  </a:path>
                </a:pathLst>
              </a:custGeom>
              <a:solidFill>
                <a:srgbClr val="121212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0" y="-9525"/>
              <a:ext cx="9012489" cy="1482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60"/>
                </a:lnSpc>
                <a:spcBef>
                  <a:spcPct val="0"/>
                </a:spcBef>
              </a:pPr>
              <a:r>
                <a:rPr lang="en-US" b="true" sz="7300" spc="-109">
                  <a:solidFill>
                    <a:srgbClr val="000000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Principles of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6372051"/>
            <a:ext cx="8354866" cy="162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They blink in and out of the landscape as small local populations go extinct or are founded.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91450" y="4959405"/>
            <a:ext cx="5248275" cy="5350970"/>
            <a:chOff x="0" y="0"/>
            <a:chExt cx="1424909" cy="14527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4909" cy="1452790"/>
            </a:xfrm>
            <a:custGeom>
              <a:avLst/>
              <a:gdLst/>
              <a:ahLst/>
              <a:cxnLst/>
              <a:rect r="r" b="b" t="t" l="l"/>
              <a:pathLst>
                <a:path h="1452790" w="1424909">
                  <a:moveTo>
                    <a:pt x="0" y="0"/>
                  </a:moveTo>
                  <a:lnTo>
                    <a:pt x="1424909" y="0"/>
                  </a:lnTo>
                  <a:lnTo>
                    <a:pt x="1424909" y="1452790"/>
                  </a:lnTo>
                  <a:lnTo>
                    <a:pt x="0" y="1452790"/>
                  </a:lnTo>
                  <a:close/>
                </a:path>
              </a:pathLst>
            </a:custGeom>
            <a:solidFill>
              <a:srgbClr val="7D9B76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424909" cy="1509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791450" y="0"/>
            <a:ext cx="5248275" cy="5143500"/>
            <a:chOff x="0" y="0"/>
            <a:chExt cx="1424909" cy="13964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24909" cy="1396462"/>
            </a:xfrm>
            <a:custGeom>
              <a:avLst/>
              <a:gdLst/>
              <a:ahLst/>
              <a:cxnLst/>
              <a:rect r="r" b="b" t="t" l="l"/>
              <a:pathLst>
                <a:path h="1396462" w="1424909">
                  <a:moveTo>
                    <a:pt x="0" y="0"/>
                  </a:moveTo>
                  <a:lnTo>
                    <a:pt x="1424909" y="0"/>
                  </a:lnTo>
                  <a:lnTo>
                    <a:pt x="1424909" y="1396462"/>
                  </a:lnTo>
                  <a:lnTo>
                    <a:pt x="0" y="1396462"/>
                  </a:lnTo>
                  <a:close/>
                </a:path>
              </a:pathLst>
            </a:custGeom>
            <a:solidFill>
              <a:srgbClr val="CBDDD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424909" cy="1453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039725" y="0"/>
            <a:ext cx="5248275" cy="5143500"/>
            <a:chOff x="0" y="0"/>
            <a:chExt cx="1424909" cy="13964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24909" cy="1396462"/>
            </a:xfrm>
            <a:custGeom>
              <a:avLst/>
              <a:gdLst/>
              <a:ahLst/>
              <a:cxnLst/>
              <a:rect r="r" b="b" t="t" l="l"/>
              <a:pathLst>
                <a:path h="1396462" w="1424909">
                  <a:moveTo>
                    <a:pt x="0" y="0"/>
                  </a:moveTo>
                  <a:lnTo>
                    <a:pt x="1424909" y="0"/>
                  </a:lnTo>
                  <a:lnTo>
                    <a:pt x="1424909" y="1396462"/>
                  </a:lnTo>
                  <a:lnTo>
                    <a:pt x="0" y="1396462"/>
                  </a:lnTo>
                  <a:close/>
                </a:path>
              </a:pathLst>
            </a:custGeom>
            <a:solidFill>
              <a:srgbClr val="7D9B76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424909" cy="1453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39725" y="5143500"/>
            <a:ext cx="5248275" cy="5143500"/>
            <a:chOff x="0" y="0"/>
            <a:chExt cx="1424909" cy="13964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24909" cy="1396462"/>
            </a:xfrm>
            <a:custGeom>
              <a:avLst/>
              <a:gdLst/>
              <a:ahLst/>
              <a:cxnLst/>
              <a:rect r="r" b="b" t="t" l="l"/>
              <a:pathLst>
                <a:path h="1396462" w="1424909">
                  <a:moveTo>
                    <a:pt x="0" y="0"/>
                  </a:moveTo>
                  <a:lnTo>
                    <a:pt x="1424909" y="0"/>
                  </a:lnTo>
                  <a:lnTo>
                    <a:pt x="1424909" y="1396462"/>
                  </a:lnTo>
                  <a:lnTo>
                    <a:pt x="0" y="1396462"/>
                  </a:lnTo>
                  <a:close/>
                </a:path>
              </a:pathLst>
            </a:custGeom>
            <a:solidFill>
              <a:srgbClr val="CBDDD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424909" cy="1453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151353">
            <a:off x="9909220" y="1252852"/>
            <a:ext cx="1136093" cy="682336"/>
            <a:chOff x="0" y="0"/>
            <a:chExt cx="1188381" cy="7137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-25400" y="-100330"/>
              <a:ext cx="1258231" cy="838200"/>
            </a:xfrm>
            <a:custGeom>
              <a:avLst/>
              <a:gdLst/>
              <a:ahLst/>
              <a:cxnLst/>
              <a:rect r="r" b="b" t="t" l="l"/>
              <a:pathLst>
                <a:path h="838200" w="1258231">
                  <a:moveTo>
                    <a:pt x="41854" y="302260"/>
                  </a:moveTo>
                  <a:cubicBezTo>
                    <a:pt x="247939" y="295910"/>
                    <a:pt x="302648" y="273050"/>
                    <a:pt x="377924" y="257810"/>
                  </a:cubicBezTo>
                  <a:cubicBezTo>
                    <a:pt x="488988" y="236220"/>
                    <a:pt x="654760" y="210820"/>
                    <a:pt x="791739" y="193040"/>
                  </a:cubicBezTo>
                  <a:cubicBezTo>
                    <a:pt x="926661" y="175260"/>
                    <a:pt x="1142618" y="0"/>
                    <a:pt x="1194447" y="151130"/>
                  </a:cubicBezTo>
                  <a:cubicBezTo>
                    <a:pt x="1250610" y="242570"/>
                    <a:pt x="1258231" y="508000"/>
                    <a:pt x="1197327" y="608330"/>
                  </a:cubicBezTo>
                  <a:cubicBezTo>
                    <a:pt x="1144263" y="781050"/>
                    <a:pt x="910618" y="632460"/>
                    <a:pt x="753895" y="655320"/>
                  </a:cubicBezTo>
                  <a:cubicBezTo>
                    <a:pt x="577016" y="680720"/>
                    <a:pt x="315811" y="745490"/>
                    <a:pt x="188705" y="759460"/>
                  </a:cubicBezTo>
                  <a:cubicBezTo>
                    <a:pt x="123712" y="765810"/>
                    <a:pt x="66535" y="838200"/>
                    <a:pt x="41854" y="763270"/>
                  </a:cubicBezTo>
                  <a:cubicBezTo>
                    <a:pt x="0" y="687070"/>
                    <a:pt x="41854" y="302260"/>
                    <a:pt x="41854" y="302260"/>
                  </a:cubicBezTo>
                </a:path>
              </a:pathLst>
            </a:custGeom>
            <a:solidFill>
              <a:srgbClr val="F6F6E9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151353">
            <a:off x="15157495" y="1252852"/>
            <a:ext cx="1136093" cy="682336"/>
            <a:chOff x="0" y="0"/>
            <a:chExt cx="1188381" cy="7137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-25400" y="-100330"/>
              <a:ext cx="1258231" cy="838200"/>
            </a:xfrm>
            <a:custGeom>
              <a:avLst/>
              <a:gdLst/>
              <a:ahLst/>
              <a:cxnLst/>
              <a:rect r="r" b="b" t="t" l="l"/>
              <a:pathLst>
                <a:path h="838200" w="1258231">
                  <a:moveTo>
                    <a:pt x="41854" y="302260"/>
                  </a:moveTo>
                  <a:cubicBezTo>
                    <a:pt x="247939" y="295910"/>
                    <a:pt x="302648" y="273050"/>
                    <a:pt x="377924" y="257810"/>
                  </a:cubicBezTo>
                  <a:cubicBezTo>
                    <a:pt x="488988" y="236220"/>
                    <a:pt x="654760" y="210820"/>
                    <a:pt x="791739" y="193040"/>
                  </a:cubicBezTo>
                  <a:cubicBezTo>
                    <a:pt x="926661" y="175260"/>
                    <a:pt x="1142618" y="0"/>
                    <a:pt x="1194447" y="151130"/>
                  </a:cubicBezTo>
                  <a:cubicBezTo>
                    <a:pt x="1250610" y="242570"/>
                    <a:pt x="1258231" y="508000"/>
                    <a:pt x="1197327" y="608330"/>
                  </a:cubicBezTo>
                  <a:cubicBezTo>
                    <a:pt x="1144263" y="781050"/>
                    <a:pt x="910618" y="632460"/>
                    <a:pt x="753895" y="655320"/>
                  </a:cubicBezTo>
                  <a:cubicBezTo>
                    <a:pt x="577016" y="680720"/>
                    <a:pt x="315811" y="745490"/>
                    <a:pt x="188705" y="759460"/>
                  </a:cubicBezTo>
                  <a:cubicBezTo>
                    <a:pt x="123712" y="765810"/>
                    <a:pt x="66535" y="838200"/>
                    <a:pt x="41854" y="763270"/>
                  </a:cubicBezTo>
                  <a:cubicBezTo>
                    <a:pt x="0" y="687070"/>
                    <a:pt x="41854" y="302260"/>
                    <a:pt x="41854" y="302260"/>
                  </a:cubicBezTo>
                </a:path>
              </a:pathLst>
            </a:custGeom>
            <a:solidFill>
              <a:srgbClr val="F6F6E9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151353">
            <a:off x="9815837" y="6237284"/>
            <a:ext cx="1136093" cy="682336"/>
            <a:chOff x="0" y="0"/>
            <a:chExt cx="1188381" cy="7137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-25400" y="-100330"/>
              <a:ext cx="1258231" cy="838200"/>
            </a:xfrm>
            <a:custGeom>
              <a:avLst/>
              <a:gdLst/>
              <a:ahLst/>
              <a:cxnLst/>
              <a:rect r="r" b="b" t="t" l="l"/>
              <a:pathLst>
                <a:path h="838200" w="1258231">
                  <a:moveTo>
                    <a:pt x="41854" y="302260"/>
                  </a:moveTo>
                  <a:cubicBezTo>
                    <a:pt x="247939" y="295910"/>
                    <a:pt x="302648" y="273050"/>
                    <a:pt x="377924" y="257810"/>
                  </a:cubicBezTo>
                  <a:cubicBezTo>
                    <a:pt x="488988" y="236220"/>
                    <a:pt x="654760" y="210820"/>
                    <a:pt x="791739" y="193040"/>
                  </a:cubicBezTo>
                  <a:cubicBezTo>
                    <a:pt x="926661" y="175260"/>
                    <a:pt x="1142618" y="0"/>
                    <a:pt x="1194447" y="151130"/>
                  </a:cubicBezTo>
                  <a:cubicBezTo>
                    <a:pt x="1250610" y="242570"/>
                    <a:pt x="1258231" y="508000"/>
                    <a:pt x="1197327" y="608330"/>
                  </a:cubicBezTo>
                  <a:cubicBezTo>
                    <a:pt x="1144263" y="781050"/>
                    <a:pt x="910618" y="632460"/>
                    <a:pt x="753895" y="655320"/>
                  </a:cubicBezTo>
                  <a:cubicBezTo>
                    <a:pt x="577016" y="680720"/>
                    <a:pt x="315811" y="745490"/>
                    <a:pt x="188705" y="759460"/>
                  </a:cubicBezTo>
                  <a:cubicBezTo>
                    <a:pt x="123712" y="765810"/>
                    <a:pt x="66535" y="838200"/>
                    <a:pt x="41854" y="763270"/>
                  </a:cubicBezTo>
                  <a:cubicBezTo>
                    <a:pt x="0" y="687070"/>
                    <a:pt x="41854" y="302260"/>
                    <a:pt x="41854" y="302260"/>
                  </a:cubicBezTo>
                </a:path>
              </a:pathLst>
            </a:custGeom>
            <a:solidFill>
              <a:srgbClr val="F6F6E9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151353">
            <a:off x="15157495" y="6237284"/>
            <a:ext cx="1136093" cy="682336"/>
            <a:chOff x="0" y="0"/>
            <a:chExt cx="1188381" cy="7137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-25400" y="-100330"/>
              <a:ext cx="1258231" cy="838200"/>
            </a:xfrm>
            <a:custGeom>
              <a:avLst/>
              <a:gdLst/>
              <a:ahLst/>
              <a:cxnLst/>
              <a:rect r="r" b="b" t="t" l="l"/>
              <a:pathLst>
                <a:path h="838200" w="1258231">
                  <a:moveTo>
                    <a:pt x="41854" y="302260"/>
                  </a:moveTo>
                  <a:cubicBezTo>
                    <a:pt x="247939" y="295910"/>
                    <a:pt x="302648" y="273050"/>
                    <a:pt x="377924" y="257810"/>
                  </a:cubicBezTo>
                  <a:cubicBezTo>
                    <a:pt x="488988" y="236220"/>
                    <a:pt x="654760" y="210820"/>
                    <a:pt x="791739" y="193040"/>
                  </a:cubicBezTo>
                  <a:cubicBezTo>
                    <a:pt x="926661" y="175260"/>
                    <a:pt x="1142618" y="0"/>
                    <a:pt x="1194447" y="151130"/>
                  </a:cubicBezTo>
                  <a:cubicBezTo>
                    <a:pt x="1250610" y="242570"/>
                    <a:pt x="1258231" y="508000"/>
                    <a:pt x="1197327" y="608330"/>
                  </a:cubicBezTo>
                  <a:cubicBezTo>
                    <a:pt x="1144263" y="781050"/>
                    <a:pt x="910618" y="632460"/>
                    <a:pt x="753895" y="655320"/>
                  </a:cubicBezTo>
                  <a:cubicBezTo>
                    <a:pt x="577016" y="680720"/>
                    <a:pt x="315811" y="745490"/>
                    <a:pt x="188705" y="759460"/>
                  </a:cubicBezTo>
                  <a:cubicBezTo>
                    <a:pt x="123712" y="765810"/>
                    <a:pt x="66535" y="838200"/>
                    <a:pt x="41854" y="763270"/>
                  </a:cubicBezTo>
                  <a:cubicBezTo>
                    <a:pt x="0" y="687070"/>
                    <a:pt x="41854" y="302260"/>
                    <a:pt x="41854" y="302260"/>
                  </a:cubicBezTo>
                </a:path>
              </a:pathLst>
            </a:custGeom>
            <a:solidFill>
              <a:srgbClr val="F6F6E9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2100590" y="-892804"/>
            <a:ext cx="1878271" cy="1921504"/>
          </a:xfrm>
          <a:custGeom>
            <a:avLst/>
            <a:gdLst/>
            <a:ahLst/>
            <a:cxnLst/>
            <a:rect r="r" b="b" t="t" l="l"/>
            <a:pathLst>
              <a:path h="1921504" w="1878271">
                <a:moveTo>
                  <a:pt x="0" y="0"/>
                </a:moveTo>
                <a:lnTo>
                  <a:pt x="1878270" y="0"/>
                </a:lnTo>
                <a:lnTo>
                  <a:pt x="1878270" y="1921504"/>
                </a:lnTo>
                <a:lnTo>
                  <a:pt x="0" y="1921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6662705" y="4666222"/>
            <a:ext cx="1809566" cy="1388842"/>
          </a:xfrm>
          <a:custGeom>
            <a:avLst/>
            <a:gdLst/>
            <a:ahLst/>
            <a:cxnLst/>
            <a:rect r="r" b="b" t="t" l="l"/>
            <a:pathLst>
              <a:path h="1388842" w="1809566">
                <a:moveTo>
                  <a:pt x="0" y="0"/>
                </a:moveTo>
                <a:lnTo>
                  <a:pt x="1809566" y="0"/>
                </a:lnTo>
                <a:lnTo>
                  <a:pt x="1809566" y="1388842"/>
                </a:lnTo>
                <a:lnTo>
                  <a:pt x="0" y="1388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4" id="24"/>
          <p:cNvSpPr/>
          <p:nvPr/>
        </p:nvSpPr>
        <p:spPr>
          <a:xfrm flipH="false" flipV="false" rot="10560233">
            <a:off x="6629492" y="4709826"/>
            <a:ext cx="2684460" cy="914097"/>
          </a:xfrm>
          <a:custGeom>
            <a:avLst/>
            <a:gdLst/>
            <a:ahLst/>
            <a:cxnLst/>
            <a:rect r="r" b="b" t="t" l="l"/>
            <a:pathLst>
              <a:path h="914097" w="2684460">
                <a:moveTo>
                  <a:pt x="0" y="0"/>
                </a:moveTo>
                <a:lnTo>
                  <a:pt x="2684461" y="0"/>
                </a:lnTo>
                <a:lnTo>
                  <a:pt x="2684461" y="914098"/>
                </a:lnTo>
                <a:lnTo>
                  <a:pt x="0" y="9140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893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443085" y="2212092"/>
            <a:ext cx="5512817" cy="3160017"/>
            <a:chOff x="0" y="0"/>
            <a:chExt cx="7350423" cy="4213356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13451" y="2095631"/>
              <a:ext cx="7336971" cy="2117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240"/>
                </a:lnSpc>
                <a:spcBef>
                  <a:spcPct val="0"/>
                </a:spcBef>
              </a:pPr>
              <a:r>
                <a:rPr lang="en-US" b="true" sz="5200" spc="-78">
                  <a:solidFill>
                    <a:srgbClr val="272727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Metapopulation Model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3451" y="0"/>
              <a:ext cx="5843138" cy="198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760"/>
                </a:lnSpc>
                <a:spcBef>
                  <a:spcPct val="0"/>
                </a:spcBef>
              </a:pPr>
              <a:r>
                <a:rPr lang="en-US" b="true" sz="9800">
                  <a:solidFill>
                    <a:srgbClr val="272727"/>
                  </a:solidFill>
                  <a:latin typeface="Linotype Feltpen Medium"/>
                  <a:ea typeface="Linotype Feltpen Medium"/>
                  <a:cs typeface="Linotype Feltpen Medium"/>
                  <a:sym typeface="Linotype Feltpen Medium"/>
                </a:rPr>
                <a:t>Levins’</a:t>
              </a:r>
            </a:p>
          </p:txBody>
        </p:sp>
        <p:grpSp>
          <p:nvGrpSpPr>
            <p:cNvPr name="Group 28" id="28"/>
            <p:cNvGrpSpPr/>
            <p:nvPr/>
          </p:nvGrpSpPr>
          <p:grpSpPr>
            <a:xfrm rot="0">
              <a:off x="0" y="1754918"/>
              <a:ext cx="4211522" cy="350238"/>
              <a:chOff x="0" y="0"/>
              <a:chExt cx="2336529" cy="19431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41800" y="41910"/>
                <a:ext cx="2254001" cy="116840"/>
              </a:xfrm>
              <a:custGeom>
                <a:avLst/>
                <a:gdLst/>
                <a:ahLst/>
                <a:cxnLst/>
                <a:rect r="r" b="b" t="t" l="l"/>
                <a:pathLst>
                  <a:path h="116840" w="2254001">
                    <a:moveTo>
                      <a:pt x="27867" y="31750"/>
                    </a:moveTo>
                    <a:cubicBezTo>
                      <a:pt x="1296881" y="34290"/>
                      <a:pt x="1396559" y="19050"/>
                      <a:pt x="1540180" y="13970"/>
                    </a:cubicBezTo>
                    <a:cubicBezTo>
                      <a:pt x="1694520" y="8890"/>
                      <a:pt x="1891732" y="5080"/>
                      <a:pt x="2019276" y="8890"/>
                    </a:cubicBezTo>
                    <a:cubicBezTo>
                      <a:pt x="2105020" y="11430"/>
                      <a:pt x="2202554" y="0"/>
                      <a:pt x="2233637" y="25400"/>
                    </a:cubicBezTo>
                    <a:cubicBezTo>
                      <a:pt x="2247570" y="36830"/>
                      <a:pt x="2252929" y="57150"/>
                      <a:pt x="2251857" y="69850"/>
                    </a:cubicBezTo>
                    <a:cubicBezTo>
                      <a:pt x="2250785" y="81280"/>
                      <a:pt x="2240068" y="95250"/>
                      <a:pt x="2230421" y="99060"/>
                    </a:cubicBezTo>
                    <a:cubicBezTo>
                      <a:pt x="2219703" y="102870"/>
                      <a:pt x="2198267" y="96520"/>
                      <a:pt x="2190765" y="86360"/>
                    </a:cubicBezTo>
                    <a:cubicBezTo>
                      <a:pt x="2184334" y="77470"/>
                      <a:pt x="2181118" y="58420"/>
                      <a:pt x="2185406" y="48260"/>
                    </a:cubicBezTo>
                    <a:cubicBezTo>
                      <a:pt x="2189693" y="36830"/>
                      <a:pt x="2208985" y="21590"/>
                      <a:pt x="2219703" y="21590"/>
                    </a:cubicBezTo>
                    <a:cubicBezTo>
                      <a:pt x="2229350" y="21590"/>
                      <a:pt x="2242211" y="31750"/>
                      <a:pt x="2247570" y="40640"/>
                    </a:cubicBezTo>
                    <a:cubicBezTo>
                      <a:pt x="2251857" y="48260"/>
                      <a:pt x="2254001" y="57150"/>
                      <a:pt x="2251857" y="66040"/>
                    </a:cubicBezTo>
                    <a:cubicBezTo>
                      <a:pt x="2248642" y="77470"/>
                      <a:pt x="2240068" y="95250"/>
                      <a:pt x="2223990" y="101600"/>
                    </a:cubicBezTo>
                    <a:cubicBezTo>
                      <a:pt x="2188621" y="116840"/>
                      <a:pt x="2091087" y="78740"/>
                      <a:pt x="2017132" y="72390"/>
                    </a:cubicBezTo>
                    <a:cubicBezTo>
                      <a:pt x="1932460" y="64770"/>
                      <a:pt x="1873511" y="64770"/>
                      <a:pt x="1743823" y="64770"/>
                    </a:cubicBezTo>
                    <a:cubicBezTo>
                      <a:pt x="1429785" y="63500"/>
                      <a:pt x="347264" y="100330"/>
                      <a:pt x="124329" y="96520"/>
                    </a:cubicBezTo>
                    <a:cubicBezTo>
                      <a:pt x="66452" y="95250"/>
                      <a:pt x="33226" y="104140"/>
                      <a:pt x="15006" y="90170"/>
                    </a:cubicBezTo>
                    <a:cubicBezTo>
                      <a:pt x="5359" y="82550"/>
                      <a:pt x="0" y="67310"/>
                      <a:pt x="1072" y="58420"/>
                    </a:cubicBezTo>
                    <a:cubicBezTo>
                      <a:pt x="3216" y="48260"/>
                      <a:pt x="27867" y="31750"/>
                      <a:pt x="27867" y="31750"/>
                    </a:cubicBezTo>
                  </a:path>
                </a:pathLst>
              </a:custGeom>
              <a:solidFill>
                <a:srgbClr val="272727"/>
              </a:solidFill>
              <a:ln cap="sq">
                <a:noFill/>
                <a:prstDash val="solid"/>
                <a:miter/>
              </a:ln>
            </p:spPr>
          </p:sp>
        </p:grpSp>
      </p:grpSp>
      <p:grpSp>
        <p:nvGrpSpPr>
          <p:cNvPr name="Group 30" id="30"/>
          <p:cNvGrpSpPr/>
          <p:nvPr/>
        </p:nvGrpSpPr>
        <p:grpSpPr>
          <a:xfrm rot="0">
            <a:off x="443085" y="5728301"/>
            <a:ext cx="6843540" cy="1636476"/>
            <a:chOff x="0" y="0"/>
            <a:chExt cx="9124720" cy="2181968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4306535" y="676487"/>
              <a:ext cx="3993248" cy="713740"/>
              <a:chOff x="0" y="0"/>
              <a:chExt cx="3993248" cy="71374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-25400" y="-100330"/>
                <a:ext cx="4063099" cy="838200"/>
              </a:xfrm>
              <a:custGeom>
                <a:avLst/>
                <a:gdLst/>
                <a:ahLst/>
                <a:cxnLst/>
                <a:rect r="r" b="b" t="t" l="l"/>
                <a:pathLst>
                  <a:path h="838200" w="4063099">
                    <a:moveTo>
                      <a:pt x="80689" y="302260"/>
                    </a:moveTo>
                    <a:cubicBezTo>
                      <a:pt x="773184" y="295910"/>
                      <a:pt x="957020" y="273050"/>
                      <a:pt x="1209967" y="257810"/>
                    </a:cubicBezTo>
                    <a:cubicBezTo>
                      <a:pt x="1583168" y="236220"/>
                      <a:pt x="2140204" y="210820"/>
                      <a:pt x="2600485" y="193040"/>
                    </a:cubicBezTo>
                    <a:cubicBezTo>
                      <a:pt x="3053855" y="175260"/>
                      <a:pt x="3779524" y="0"/>
                      <a:pt x="3953684" y="151130"/>
                    </a:cubicBezTo>
                    <a:cubicBezTo>
                      <a:pt x="4055478" y="242570"/>
                      <a:pt x="4063099" y="508000"/>
                      <a:pt x="3963359" y="608330"/>
                    </a:cubicBezTo>
                    <a:cubicBezTo>
                      <a:pt x="3785052" y="781050"/>
                      <a:pt x="2999948" y="632460"/>
                      <a:pt x="2473321" y="655320"/>
                    </a:cubicBezTo>
                    <a:cubicBezTo>
                      <a:pt x="1878964" y="680720"/>
                      <a:pt x="1001251" y="745490"/>
                      <a:pt x="574143" y="759460"/>
                    </a:cubicBezTo>
                    <a:cubicBezTo>
                      <a:pt x="355752" y="765810"/>
                      <a:pt x="163622" y="838200"/>
                      <a:pt x="80689" y="763270"/>
                    </a:cubicBezTo>
                    <a:cubicBezTo>
                      <a:pt x="0" y="687070"/>
                      <a:pt x="80689" y="302260"/>
                      <a:pt x="80689" y="302260"/>
                    </a:cubicBezTo>
                  </a:path>
                </a:pathLst>
              </a:custGeom>
              <a:solidFill>
                <a:srgbClr val="7D9B76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1468228"/>
              <a:ext cx="4644370" cy="713740"/>
              <a:chOff x="0" y="0"/>
              <a:chExt cx="4644370" cy="71374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-25400" y="-100330"/>
                <a:ext cx="4714220" cy="838200"/>
              </a:xfrm>
              <a:custGeom>
                <a:avLst/>
                <a:gdLst/>
                <a:ahLst/>
                <a:cxnLst/>
                <a:rect r="r" b="b" t="t" l="l"/>
                <a:pathLst>
                  <a:path h="838200" w="4714220">
                    <a:moveTo>
                      <a:pt x="89704" y="302260"/>
                    </a:moveTo>
                    <a:cubicBezTo>
                      <a:pt x="895114" y="295910"/>
                      <a:pt x="1108926" y="273050"/>
                      <a:pt x="1403117" y="257810"/>
                    </a:cubicBezTo>
                    <a:cubicBezTo>
                      <a:pt x="1837170" y="236220"/>
                      <a:pt x="2485035" y="210820"/>
                      <a:pt x="3020368" y="193040"/>
                    </a:cubicBezTo>
                    <a:cubicBezTo>
                      <a:pt x="3547662" y="175260"/>
                      <a:pt x="4391654" y="0"/>
                      <a:pt x="4594213" y="151130"/>
                    </a:cubicBezTo>
                    <a:cubicBezTo>
                      <a:pt x="4706600" y="242570"/>
                      <a:pt x="4714220" y="508000"/>
                      <a:pt x="4605466" y="608330"/>
                    </a:cubicBezTo>
                    <a:cubicBezTo>
                      <a:pt x="4398085" y="781050"/>
                      <a:pt x="3484965" y="632460"/>
                      <a:pt x="2872468" y="655320"/>
                    </a:cubicBezTo>
                    <a:cubicBezTo>
                      <a:pt x="2181198" y="680720"/>
                      <a:pt x="1160369" y="745490"/>
                      <a:pt x="663619" y="759460"/>
                    </a:cubicBezTo>
                    <a:cubicBezTo>
                      <a:pt x="409618" y="765810"/>
                      <a:pt x="186160" y="838200"/>
                      <a:pt x="89704" y="763270"/>
                    </a:cubicBezTo>
                    <a:cubicBezTo>
                      <a:pt x="0" y="687070"/>
                      <a:pt x="89704" y="302260"/>
                      <a:pt x="89704" y="302260"/>
                    </a:cubicBezTo>
                  </a:path>
                </a:pathLst>
              </a:custGeom>
              <a:solidFill>
                <a:srgbClr val="7D9B76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35" id="35"/>
            <p:cNvSpPr txBox="true"/>
            <p:nvPr/>
          </p:nvSpPr>
          <p:spPr>
            <a:xfrm rot="0">
              <a:off x="164020" y="-76200"/>
              <a:ext cx="8960700" cy="2142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39"/>
                </a:lnSpc>
                <a:spcBef>
                  <a:spcPct val="0"/>
                </a:spcBef>
              </a:pPr>
              <a:r>
                <a:rPr lang="en-US" sz="3099">
                  <a:solidFill>
                    <a:srgbClr val="272727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Richard Levins developed a simple model to describe patch occupancy in metapopulations.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11691882" y="8178949"/>
            <a:ext cx="196655" cy="320416"/>
          </a:xfrm>
          <a:custGeom>
            <a:avLst/>
            <a:gdLst/>
            <a:ahLst/>
            <a:cxnLst/>
            <a:rect r="r" b="b" t="t" l="l"/>
            <a:pathLst>
              <a:path h="320416" w="196655">
                <a:moveTo>
                  <a:pt x="0" y="0"/>
                </a:moveTo>
                <a:lnTo>
                  <a:pt x="196656" y="0"/>
                </a:lnTo>
                <a:lnTo>
                  <a:pt x="196656" y="320417"/>
                </a:lnTo>
                <a:lnTo>
                  <a:pt x="0" y="3204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6279478" y="3508284"/>
            <a:ext cx="171433" cy="220139"/>
          </a:xfrm>
          <a:custGeom>
            <a:avLst/>
            <a:gdLst/>
            <a:ahLst/>
            <a:cxnLst/>
            <a:rect r="r" b="b" t="t" l="l"/>
            <a:pathLst>
              <a:path h="220139" w="171433">
                <a:moveTo>
                  <a:pt x="0" y="0"/>
                </a:moveTo>
                <a:lnTo>
                  <a:pt x="171433" y="0"/>
                </a:lnTo>
                <a:lnTo>
                  <a:pt x="171433" y="220140"/>
                </a:lnTo>
                <a:lnTo>
                  <a:pt x="0" y="2201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0082751" y="1188333"/>
            <a:ext cx="78902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272727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01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8206484" y="2212092"/>
            <a:ext cx="4324825" cy="1704935"/>
            <a:chOff x="0" y="0"/>
            <a:chExt cx="5766433" cy="2273247"/>
          </a:xfrm>
        </p:grpSpPr>
        <p:sp>
          <p:nvSpPr>
            <p:cNvPr name="TextBox 40" id="40"/>
            <p:cNvSpPr txBox="true"/>
            <p:nvPr/>
          </p:nvSpPr>
          <p:spPr>
            <a:xfrm rot="0">
              <a:off x="0" y="28575"/>
              <a:ext cx="5766433" cy="503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400"/>
                </a:lnSpc>
              </a:pPr>
              <a:r>
                <a:rPr lang="en-US" b="true" sz="2400">
                  <a:solidFill>
                    <a:srgbClr val="27272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OCCUPIED OR UNOCCUPIED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0" y="883655"/>
              <a:ext cx="5766433" cy="1389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272727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Each patch can be occupied (1) or unoccupied (0). This ignores any local population dynamics.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5331026" y="1188333"/>
            <a:ext cx="78902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272727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02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973833" y="2159883"/>
            <a:ext cx="3593655" cy="37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  <a:spcBef>
                <a:spcPct val="0"/>
              </a:spcBef>
            </a:pPr>
            <a:r>
              <a:rPr lang="en-US" b="true" sz="2400">
                <a:solidFill>
                  <a:srgbClr val="27272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PATCH EXTINCTION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973833" y="2728804"/>
            <a:ext cx="3593655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272727"/>
                </a:solidFill>
                <a:latin typeface="Georgia Pro"/>
                <a:ea typeface="Georgia Pro"/>
                <a:cs typeface="Georgia Pro"/>
                <a:sym typeface="Georgia Pro"/>
              </a:rPr>
              <a:t>At each time step, occupied patches go extinct with probability    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989369" y="6172766"/>
            <a:ext cx="78902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272727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03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8206484" y="7196524"/>
            <a:ext cx="4324825" cy="1302841"/>
            <a:chOff x="0" y="0"/>
            <a:chExt cx="5766433" cy="1737122"/>
          </a:xfrm>
        </p:grpSpPr>
        <p:sp>
          <p:nvSpPr>
            <p:cNvPr name="TextBox 47" id="47"/>
            <p:cNvSpPr txBox="true"/>
            <p:nvPr/>
          </p:nvSpPr>
          <p:spPr>
            <a:xfrm rot="0">
              <a:off x="0" y="28575"/>
              <a:ext cx="5766433" cy="503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7272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COLONIZATION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280017" y="817430"/>
              <a:ext cx="5206399" cy="9196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272727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Unoccupied patches can be colonized with probability   .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5331026" y="6172766"/>
            <a:ext cx="78902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272727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04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3225468" y="7200195"/>
            <a:ext cx="5000147" cy="1651595"/>
            <a:chOff x="0" y="0"/>
            <a:chExt cx="6666862" cy="220212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3837199" y="1783027"/>
              <a:ext cx="438003" cy="386538"/>
            </a:xfrm>
            <a:custGeom>
              <a:avLst/>
              <a:gdLst/>
              <a:ahLst/>
              <a:cxnLst/>
              <a:rect r="r" b="b" t="t" l="l"/>
              <a:pathLst>
                <a:path h="386538" w="438003">
                  <a:moveTo>
                    <a:pt x="0" y="0"/>
                  </a:moveTo>
                  <a:lnTo>
                    <a:pt x="438003" y="0"/>
                  </a:lnTo>
                  <a:lnTo>
                    <a:pt x="438003" y="386538"/>
                  </a:lnTo>
                  <a:lnTo>
                    <a:pt x="0" y="3865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 rot="0">
              <a:off x="0" y="28575"/>
              <a:ext cx="6666862" cy="503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7272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OCCUPANCY FRACTION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701541" y="812535"/>
              <a:ext cx="5263780" cy="1389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272727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The objective of the model is to estimate the fraction of patches occupied,      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9B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4361" y="339885"/>
            <a:ext cx="5880365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0"/>
              </a:lnSpc>
              <a:spcBef>
                <a:spcPct val="0"/>
              </a:spcBef>
            </a:pPr>
            <a:r>
              <a:rPr lang="en-US" b="true" sz="5600">
                <a:solidFill>
                  <a:srgbClr val="F6F6E9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Metapopulation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984286" y="1007353"/>
            <a:ext cx="5067300" cy="2705100"/>
            <a:chOff x="0" y="0"/>
            <a:chExt cx="6756400" cy="36068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209644" y="0"/>
              <a:ext cx="6546756" cy="3606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680"/>
                </a:lnSpc>
                <a:spcBef>
                  <a:spcPct val="0"/>
                </a:spcBef>
              </a:pPr>
              <a:r>
                <a:rPr lang="en-US" b="true" sz="8900">
                  <a:solidFill>
                    <a:srgbClr val="272727"/>
                  </a:solidFill>
                  <a:latin typeface="Linotype Feltpen Medium"/>
                  <a:ea typeface="Linotype Feltpen Medium"/>
                  <a:cs typeface="Linotype Feltpen Medium"/>
                  <a:sym typeface="Linotype Feltpen Medium"/>
                </a:rPr>
                <a:t>occupancy dynamics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1563041"/>
              <a:ext cx="6059714" cy="240359"/>
              <a:chOff x="0" y="0"/>
              <a:chExt cx="4898778" cy="19431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87639" y="41910"/>
                <a:ext cx="4725748" cy="116840"/>
              </a:xfrm>
              <a:custGeom>
                <a:avLst/>
                <a:gdLst/>
                <a:ahLst/>
                <a:cxnLst/>
                <a:rect r="r" b="b" t="t" l="l"/>
                <a:pathLst>
                  <a:path h="116840" w="4725748">
                    <a:moveTo>
                      <a:pt x="58425" y="31750"/>
                    </a:moveTo>
                    <a:cubicBezTo>
                      <a:pt x="2719046" y="34290"/>
                      <a:pt x="2928030" y="19050"/>
                      <a:pt x="3229148" y="13970"/>
                    </a:cubicBezTo>
                    <a:cubicBezTo>
                      <a:pt x="3552737" y="8890"/>
                      <a:pt x="3966212" y="5080"/>
                      <a:pt x="4233622" y="8890"/>
                    </a:cubicBezTo>
                    <a:cubicBezTo>
                      <a:pt x="4413394" y="11430"/>
                      <a:pt x="4617884" y="0"/>
                      <a:pt x="4683052" y="25400"/>
                    </a:cubicBezTo>
                    <a:cubicBezTo>
                      <a:pt x="4712265" y="36830"/>
                      <a:pt x="4723500" y="57150"/>
                      <a:pt x="4721253" y="69850"/>
                    </a:cubicBezTo>
                    <a:cubicBezTo>
                      <a:pt x="4719006" y="81280"/>
                      <a:pt x="4696534" y="95250"/>
                      <a:pt x="4676310" y="99060"/>
                    </a:cubicBezTo>
                    <a:cubicBezTo>
                      <a:pt x="4653839" y="102870"/>
                      <a:pt x="4608896" y="96520"/>
                      <a:pt x="4593166" y="86360"/>
                    </a:cubicBezTo>
                    <a:cubicBezTo>
                      <a:pt x="4579683" y="77470"/>
                      <a:pt x="4572941" y="58420"/>
                      <a:pt x="4581930" y="48260"/>
                    </a:cubicBezTo>
                    <a:cubicBezTo>
                      <a:pt x="4590919" y="36830"/>
                      <a:pt x="4631367" y="21590"/>
                      <a:pt x="4653839" y="21590"/>
                    </a:cubicBezTo>
                    <a:cubicBezTo>
                      <a:pt x="4674063" y="21590"/>
                      <a:pt x="4701029" y="31750"/>
                      <a:pt x="4712265" y="40640"/>
                    </a:cubicBezTo>
                    <a:cubicBezTo>
                      <a:pt x="4721253" y="48260"/>
                      <a:pt x="4725747" y="57150"/>
                      <a:pt x="4721253" y="66040"/>
                    </a:cubicBezTo>
                    <a:cubicBezTo>
                      <a:pt x="4714512" y="77470"/>
                      <a:pt x="4696534" y="95250"/>
                      <a:pt x="4662827" y="101600"/>
                    </a:cubicBezTo>
                    <a:cubicBezTo>
                      <a:pt x="4588671" y="116840"/>
                      <a:pt x="4384181" y="78740"/>
                      <a:pt x="4229128" y="72390"/>
                    </a:cubicBezTo>
                    <a:cubicBezTo>
                      <a:pt x="4051604" y="64770"/>
                      <a:pt x="3928011" y="64770"/>
                      <a:pt x="3656106" y="64770"/>
                    </a:cubicBezTo>
                    <a:cubicBezTo>
                      <a:pt x="2997692" y="63500"/>
                      <a:pt x="728075" y="100330"/>
                      <a:pt x="260669" y="96520"/>
                    </a:cubicBezTo>
                    <a:cubicBezTo>
                      <a:pt x="139323" y="95250"/>
                      <a:pt x="69661" y="104140"/>
                      <a:pt x="31460" y="90170"/>
                    </a:cubicBezTo>
                    <a:cubicBezTo>
                      <a:pt x="11235" y="82550"/>
                      <a:pt x="0" y="67310"/>
                      <a:pt x="2247" y="58420"/>
                    </a:cubicBezTo>
                    <a:cubicBezTo>
                      <a:pt x="6741" y="48260"/>
                      <a:pt x="58426" y="31750"/>
                      <a:pt x="58426" y="31750"/>
                    </a:cubicBezTo>
                  </a:path>
                </a:pathLst>
              </a:custGeom>
              <a:solidFill>
                <a:srgbClr val="272727"/>
              </a:solidFill>
              <a:ln cap="sq">
                <a:noFill/>
                <a:prstDash val="solid"/>
                <a:miter/>
              </a:ln>
            </p:spPr>
          </p:sp>
        </p:grpSp>
      </p:grpSp>
      <p:grpSp>
        <p:nvGrpSpPr>
          <p:cNvPr name="Group 7" id="7"/>
          <p:cNvGrpSpPr/>
          <p:nvPr/>
        </p:nvGrpSpPr>
        <p:grpSpPr>
          <a:xfrm rot="0">
            <a:off x="0" y="4399180"/>
            <a:ext cx="6096000" cy="5887820"/>
            <a:chOff x="0" y="0"/>
            <a:chExt cx="1643692" cy="15875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43692" cy="1587559"/>
            </a:xfrm>
            <a:custGeom>
              <a:avLst/>
              <a:gdLst/>
              <a:ahLst/>
              <a:cxnLst/>
              <a:rect r="r" b="b" t="t" l="l"/>
              <a:pathLst>
                <a:path h="1587559" w="1643692">
                  <a:moveTo>
                    <a:pt x="0" y="0"/>
                  </a:moveTo>
                  <a:lnTo>
                    <a:pt x="1643692" y="0"/>
                  </a:lnTo>
                  <a:lnTo>
                    <a:pt x="1643692" y="1587559"/>
                  </a:lnTo>
                  <a:lnTo>
                    <a:pt x="0" y="1587559"/>
                  </a:lnTo>
                  <a:close/>
                </a:path>
              </a:pathLst>
            </a:custGeom>
            <a:solidFill>
              <a:srgbClr val="F6F6E9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643692" cy="1644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096000" y="4399180"/>
            <a:ext cx="6096000" cy="5887820"/>
            <a:chOff x="0" y="0"/>
            <a:chExt cx="1643692" cy="15875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3692" cy="1587559"/>
            </a:xfrm>
            <a:custGeom>
              <a:avLst/>
              <a:gdLst/>
              <a:ahLst/>
              <a:cxnLst/>
              <a:rect r="r" b="b" t="t" l="l"/>
              <a:pathLst>
                <a:path h="1587559" w="1643692">
                  <a:moveTo>
                    <a:pt x="0" y="0"/>
                  </a:moveTo>
                  <a:lnTo>
                    <a:pt x="1643692" y="0"/>
                  </a:lnTo>
                  <a:lnTo>
                    <a:pt x="1643692" y="1587559"/>
                  </a:lnTo>
                  <a:lnTo>
                    <a:pt x="0" y="1587559"/>
                  </a:lnTo>
                  <a:close/>
                </a:path>
              </a:pathLst>
            </a:custGeom>
            <a:solidFill>
              <a:srgbClr val="F6F6E9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643692" cy="1644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192000" y="4399180"/>
            <a:ext cx="6096000" cy="5887820"/>
            <a:chOff x="0" y="0"/>
            <a:chExt cx="1643692" cy="158755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43692" cy="1587559"/>
            </a:xfrm>
            <a:custGeom>
              <a:avLst/>
              <a:gdLst/>
              <a:ahLst/>
              <a:cxnLst/>
              <a:rect r="r" b="b" t="t" l="l"/>
              <a:pathLst>
                <a:path h="1587559" w="1643692">
                  <a:moveTo>
                    <a:pt x="0" y="0"/>
                  </a:moveTo>
                  <a:lnTo>
                    <a:pt x="1643692" y="0"/>
                  </a:lnTo>
                  <a:lnTo>
                    <a:pt x="1643692" y="1587559"/>
                  </a:lnTo>
                  <a:lnTo>
                    <a:pt x="0" y="1587559"/>
                  </a:lnTo>
                  <a:close/>
                </a:path>
              </a:pathLst>
            </a:custGeom>
            <a:solidFill>
              <a:srgbClr val="F6F6E9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643692" cy="1644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2274523" y="4399180"/>
            <a:ext cx="5930954" cy="5887820"/>
          </a:xfrm>
          <a:custGeom>
            <a:avLst/>
            <a:gdLst/>
            <a:ahLst/>
            <a:cxnLst/>
            <a:rect r="r" b="b" t="t" l="l"/>
            <a:pathLst>
              <a:path h="5887820" w="5930954">
                <a:moveTo>
                  <a:pt x="0" y="0"/>
                </a:moveTo>
                <a:lnTo>
                  <a:pt x="5930954" y="0"/>
                </a:lnTo>
                <a:lnTo>
                  <a:pt x="5930954" y="5887820"/>
                </a:lnTo>
                <a:lnTo>
                  <a:pt x="0" y="58878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2523" y="4399180"/>
            <a:ext cx="5930954" cy="5887820"/>
          </a:xfrm>
          <a:custGeom>
            <a:avLst/>
            <a:gdLst/>
            <a:ahLst/>
            <a:cxnLst/>
            <a:rect r="r" b="b" t="t" l="l"/>
            <a:pathLst>
              <a:path h="5887820" w="5930954">
                <a:moveTo>
                  <a:pt x="0" y="0"/>
                </a:moveTo>
                <a:lnTo>
                  <a:pt x="5930954" y="0"/>
                </a:lnTo>
                <a:lnTo>
                  <a:pt x="5930954" y="5887820"/>
                </a:lnTo>
                <a:lnTo>
                  <a:pt x="0" y="58878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722102">
            <a:off x="8054059" y="6252935"/>
            <a:ext cx="2097359" cy="1455776"/>
          </a:xfrm>
          <a:custGeom>
            <a:avLst/>
            <a:gdLst/>
            <a:ahLst/>
            <a:cxnLst/>
            <a:rect r="r" b="b" t="t" l="l"/>
            <a:pathLst>
              <a:path h="1455776" w="2097359">
                <a:moveTo>
                  <a:pt x="0" y="0"/>
                </a:moveTo>
                <a:lnTo>
                  <a:pt x="2097359" y="0"/>
                </a:lnTo>
                <a:lnTo>
                  <a:pt x="2097359" y="1455776"/>
                </a:lnTo>
                <a:lnTo>
                  <a:pt x="0" y="14557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744018" y="6507963"/>
            <a:ext cx="717442" cy="1002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62"/>
              </a:lnSpc>
              <a:spcBef>
                <a:spcPct val="0"/>
              </a:spcBef>
            </a:pPr>
            <a:r>
              <a:rPr lang="en-US" b="true" sz="6966" i="true" spc="-104">
                <a:solidFill>
                  <a:srgbClr val="272727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I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861266" y="1407798"/>
            <a:ext cx="5850941" cy="1212444"/>
            <a:chOff x="0" y="0"/>
            <a:chExt cx="3648737" cy="75609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-25400" y="-100330"/>
              <a:ext cx="3718587" cy="880559"/>
            </a:xfrm>
            <a:custGeom>
              <a:avLst/>
              <a:gdLst/>
              <a:ahLst/>
              <a:cxnLst/>
              <a:rect r="r" b="b" t="t" l="l"/>
              <a:pathLst>
                <a:path h="880559" w="3718587">
                  <a:moveTo>
                    <a:pt x="75919" y="314244"/>
                  </a:moveTo>
                  <a:cubicBezTo>
                    <a:pt x="708670" y="307517"/>
                    <a:pt x="876646" y="283300"/>
                    <a:pt x="1107770" y="267156"/>
                  </a:cubicBezTo>
                  <a:cubicBezTo>
                    <a:pt x="1448774" y="244285"/>
                    <a:pt x="1957753" y="217377"/>
                    <a:pt x="2378324" y="198542"/>
                  </a:cubicBezTo>
                  <a:cubicBezTo>
                    <a:pt x="2792580" y="179707"/>
                    <a:pt x="3455642" y="0"/>
                    <a:pt x="3614777" y="154145"/>
                  </a:cubicBezTo>
                  <a:cubicBezTo>
                    <a:pt x="3710967" y="251012"/>
                    <a:pt x="3718587" y="532194"/>
                    <a:pt x="3623618" y="638478"/>
                  </a:cubicBezTo>
                  <a:cubicBezTo>
                    <a:pt x="3460694" y="821449"/>
                    <a:pt x="2743324" y="664041"/>
                    <a:pt x="2262130" y="688257"/>
                  </a:cubicBezTo>
                  <a:cubicBezTo>
                    <a:pt x="1719050" y="715165"/>
                    <a:pt x="917061" y="783779"/>
                    <a:pt x="526801" y="798578"/>
                  </a:cubicBezTo>
                  <a:cubicBezTo>
                    <a:pt x="327251" y="805305"/>
                    <a:pt x="151698" y="880559"/>
                    <a:pt x="75919" y="802614"/>
                  </a:cubicBezTo>
                  <a:cubicBezTo>
                    <a:pt x="0" y="721891"/>
                    <a:pt x="75919" y="314244"/>
                    <a:pt x="75919" y="314244"/>
                  </a:cubicBezTo>
                </a:path>
              </a:pathLst>
            </a:custGeom>
            <a:solidFill>
              <a:srgbClr val="CBDDD1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286921" y="1306900"/>
            <a:ext cx="4999630" cy="1322958"/>
            <a:chOff x="0" y="0"/>
            <a:chExt cx="6666174" cy="176394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346070"/>
              <a:ext cx="915052" cy="1071804"/>
            </a:xfrm>
            <a:custGeom>
              <a:avLst/>
              <a:gdLst/>
              <a:ahLst/>
              <a:cxnLst/>
              <a:rect r="r" b="b" t="t" l="l"/>
              <a:pathLst>
                <a:path h="1071804" w="915052">
                  <a:moveTo>
                    <a:pt x="0" y="0"/>
                  </a:moveTo>
                  <a:lnTo>
                    <a:pt x="915052" y="0"/>
                  </a:lnTo>
                  <a:lnTo>
                    <a:pt x="915052" y="1071804"/>
                  </a:lnTo>
                  <a:lnTo>
                    <a:pt x="0" y="1071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1041624" y="-171450"/>
              <a:ext cx="5624550" cy="19353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2225"/>
                </a:lnSpc>
                <a:spcBef>
                  <a:spcPct val="0"/>
                </a:spcBef>
              </a:pPr>
              <a:r>
                <a:rPr lang="en-US" sz="8732" i="true">
                  <a:solidFill>
                    <a:srgbClr val="272727"/>
                  </a:solidFill>
                  <a:latin typeface="Georgia Pro Italics"/>
                  <a:ea typeface="Georgia Pro Italics"/>
                  <a:cs typeface="Georgia Pro Italics"/>
                  <a:sym typeface="Georgia Pro Italics"/>
                </a:rPr>
                <a:t>f</a:t>
              </a:r>
              <a:r>
                <a:rPr lang="en-US" sz="8732">
                  <a:solidFill>
                    <a:srgbClr val="272727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 = I - 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023634" y="6485837"/>
            <a:ext cx="2048731" cy="989972"/>
            <a:chOff x="0" y="0"/>
            <a:chExt cx="2731642" cy="1319963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2731642" cy="1319963"/>
              <a:chOff x="0" y="0"/>
              <a:chExt cx="3677640" cy="177708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-1" y="0"/>
                <a:ext cx="3685299" cy="1777080"/>
              </a:xfrm>
              <a:custGeom>
                <a:avLst/>
                <a:gdLst/>
                <a:ahLst/>
                <a:cxnLst/>
                <a:rect r="r" b="b" t="t" l="l"/>
                <a:pathLst>
                  <a:path h="1777080" w="3685299">
                    <a:moveTo>
                      <a:pt x="3178860" y="1760162"/>
                    </a:moveTo>
                    <a:cubicBezTo>
                      <a:pt x="3178860" y="1760162"/>
                      <a:pt x="2941864" y="1750192"/>
                      <a:pt x="2579725" y="1763636"/>
                    </a:cubicBezTo>
                    <a:cubicBezTo>
                      <a:pt x="2217587" y="1777080"/>
                      <a:pt x="490924" y="1777080"/>
                      <a:pt x="490924" y="1777080"/>
                    </a:cubicBezTo>
                    <a:cubicBezTo>
                      <a:pt x="245502" y="1777080"/>
                      <a:pt x="32509" y="1679812"/>
                      <a:pt x="31032" y="1519699"/>
                    </a:cubicBezTo>
                    <a:cubicBezTo>
                      <a:pt x="31032" y="1519699"/>
                      <a:pt x="0" y="607854"/>
                      <a:pt x="0" y="606979"/>
                    </a:cubicBezTo>
                    <a:cubicBezTo>
                      <a:pt x="0" y="392820"/>
                      <a:pt x="15517" y="249246"/>
                      <a:pt x="15517" y="249246"/>
                    </a:cubicBezTo>
                    <a:cubicBezTo>
                      <a:pt x="15518" y="120578"/>
                      <a:pt x="1" y="0"/>
                      <a:pt x="459892" y="8134"/>
                    </a:cubicBezTo>
                    <a:cubicBezTo>
                      <a:pt x="459892" y="8134"/>
                      <a:pt x="1144663" y="28433"/>
                      <a:pt x="1627778" y="20834"/>
                    </a:cubicBezTo>
                    <a:cubicBezTo>
                      <a:pt x="2144992" y="12700"/>
                      <a:pt x="3132312" y="0"/>
                      <a:pt x="3132312" y="0"/>
                    </a:cubicBezTo>
                    <a:cubicBezTo>
                      <a:pt x="3444213" y="0"/>
                      <a:pt x="3677641" y="101069"/>
                      <a:pt x="3669784" y="303616"/>
                    </a:cubicBezTo>
                    <a:cubicBezTo>
                      <a:pt x="3669784" y="303616"/>
                      <a:pt x="3667789" y="607854"/>
                      <a:pt x="3676544" y="820111"/>
                    </a:cubicBezTo>
                    <a:cubicBezTo>
                      <a:pt x="3685299" y="1113413"/>
                      <a:pt x="3638751" y="1446484"/>
                      <a:pt x="3638751" y="1446484"/>
                    </a:cubicBezTo>
                    <a:cubicBezTo>
                      <a:pt x="3635786" y="1626509"/>
                      <a:pt x="3424283" y="1760162"/>
                      <a:pt x="3178860" y="1760162"/>
                    </a:cubicBezTo>
                    <a:close/>
                  </a:path>
                </a:pathLst>
              </a:custGeom>
              <a:solidFill>
                <a:srgbClr val="272727"/>
              </a:solidFill>
            </p:spPr>
          </p:sp>
        </p:grpSp>
        <p:sp>
          <p:nvSpPr>
            <p:cNvPr name="Freeform 28" id="28"/>
            <p:cNvSpPr/>
            <p:nvPr/>
          </p:nvSpPr>
          <p:spPr>
            <a:xfrm flipH="false" flipV="false" rot="0">
              <a:off x="688567" y="315422"/>
              <a:ext cx="588335" cy="689119"/>
            </a:xfrm>
            <a:custGeom>
              <a:avLst/>
              <a:gdLst/>
              <a:ahLst/>
              <a:cxnLst/>
              <a:rect r="r" b="b" t="t" l="l"/>
              <a:pathLst>
                <a:path h="689119" w="588335">
                  <a:moveTo>
                    <a:pt x="0" y="0"/>
                  </a:moveTo>
                  <a:lnTo>
                    <a:pt x="588336" y="0"/>
                  </a:lnTo>
                  <a:lnTo>
                    <a:pt x="588336" y="689119"/>
                  </a:lnTo>
                  <a:lnTo>
                    <a:pt x="0" y="689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 rot="0">
              <a:off x="982735" y="156636"/>
              <a:ext cx="1060339" cy="1044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914"/>
                </a:lnSpc>
                <a:spcBef>
                  <a:spcPct val="0"/>
                </a:spcBef>
              </a:pPr>
              <a:r>
                <a:rPr lang="en-US" b="true" sz="5377" i="true" spc="-80">
                  <a:solidFill>
                    <a:srgbClr val="F6F6E9"/>
                  </a:solidFill>
                  <a:latin typeface="Georgia Pro Bold Italics"/>
                  <a:ea typeface="Georgia Pro Bold Italics"/>
                  <a:cs typeface="Georgia Pro Bold Italics"/>
                  <a:sym typeface="Georgia Pro Bold Italics"/>
                </a:rPr>
                <a:t>f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383725" y="7723211"/>
            <a:ext cx="3328550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272727"/>
                </a:solidFill>
                <a:latin typeface="Georgia Pro"/>
                <a:ea typeface="Georgia Pro"/>
                <a:cs typeface="Georgia Pro"/>
                <a:sym typeface="Georgia Pro"/>
              </a:rPr>
              <a:t>Fraction or proportion of patches that are occupied at time </a:t>
            </a:r>
            <a:r>
              <a:rPr lang="en-US" sz="2200" i="true">
                <a:solidFill>
                  <a:srgbClr val="272727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t</a:t>
            </a:r>
            <a:r>
              <a:rPr lang="en-US" sz="2200">
                <a:solidFill>
                  <a:srgbClr val="272727"/>
                </a:solidFill>
                <a:latin typeface="Georgia Pro"/>
                <a:ea typeface="Georgia Pro"/>
                <a:cs typeface="Georgia Pro"/>
                <a:sym typeface="Georgia Pro"/>
              </a:rPr>
              <a:t>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312024" y="7750516"/>
            <a:ext cx="3581430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272727"/>
                </a:solidFill>
                <a:latin typeface="Georgia Pro"/>
                <a:ea typeface="Georgia Pro"/>
                <a:cs typeface="Georgia Pro"/>
                <a:sym typeface="Georgia Pro"/>
              </a:rPr>
              <a:t>Total fraction of patches that are colonized by immigrants per time period.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859509" y="7777821"/>
            <a:ext cx="3134172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272727"/>
                </a:solidFill>
                <a:latin typeface="Georgia Pro"/>
                <a:ea typeface="Georgia Pro"/>
                <a:cs typeface="Georgia Pro"/>
                <a:sym typeface="Georgia Pro"/>
              </a:rPr>
              <a:t>Total fraction of patches that are extirpated per time period.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72050" y="6012174"/>
            <a:ext cx="332855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72727"/>
                </a:solidFill>
                <a:latin typeface="Abril Fatface"/>
                <a:ea typeface="Abril Fatface"/>
                <a:cs typeface="Abril Fatface"/>
                <a:sym typeface="Abril Fatface"/>
              </a:rPr>
              <a:t>Occupancy Fraction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564903" y="6012174"/>
            <a:ext cx="332855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72727"/>
                </a:solidFill>
                <a:latin typeface="Abril Fatface"/>
                <a:ea typeface="Abril Fatface"/>
                <a:cs typeface="Abril Fatface"/>
                <a:sym typeface="Abril Fatface"/>
              </a:rPr>
              <a:t>Colonization Rate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4211300" y="6440822"/>
            <a:ext cx="2430591" cy="1357319"/>
            <a:chOff x="0" y="0"/>
            <a:chExt cx="3240787" cy="1809758"/>
          </a:xfrm>
        </p:grpSpPr>
        <p:grpSp>
          <p:nvGrpSpPr>
            <p:cNvPr name="Group 36" id="36"/>
            <p:cNvGrpSpPr/>
            <p:nvPr/>
          </p:nvGrpSpPr>
          <p:grpSpPr>
            <a:xfrm rot="5400000">
              <a:off x="715515" y="-715515"/>
              <a:ext cx="1809758" cy="3240787"/>
              <a:chOff x="0" y="0"/>
              <a:chExt cx="1720369" cy="3080716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-9098" y="-6509"/>
                <a:ext cx="1734700" cy="3112770"/>
              </a:xfrm>
              <a:custGeom>
                <a:avLst/>
                <a:gdLst/>
                <a:ahLst/>
                <a:cxnLst/>
                <a:rect r="r" b="b" t="t" l="l"/>
                <a:pathLst>
                  <a:path h="3112770" w="1734700">
                    <a:moveTo>
                      <a:pt x="63030" y="2519216"/>
                    </a:moveTo>
                    <a:cubicBezTo>
                      <a:pt x="63030" y="2519216"/>
                      <a:pt x="0" y="2272652"/>
                      <a:pt x="10218" y="1214762"/>
                    </a:cubicBezTo>
                    <a:cubicBezTo>
                      <a:pt x="18651" y="990971"/>
                      <a:pt x="65033" y="645332"/>
                      <a:pt x="65033" y="645332"/>
                    </a:cubicBezTo>
                    <a:cubicBezTo>
                      <a:pt x="82233" y="502466"/>
                      <a:pt x="56685" y="337866"/>
                      <a:pt x="181385" y="223925"/>
                    </a:cubicBezTo>
                    <a:cubicBezTo>
                      <a:pt x="346794" y="72788"/>
                      <a:pt x="621643" y="0"/>
                      <a:pt x="841627" y="6965"/>
                    </a:cubicBezTo>
                    <a:cubicBezTo>
                      <a:pt x="1058375" y="16819"/>
                      <a:pt x="1262690" y="36481"/>
                      <a:pt x="1396878" y="101690"/>
                    </a:cubicBezTo>
                    <a:cubicBezTo>
                      <a:pt x="1652924" y="226120"/>
                      <a:pt x="1734700" y="459160"/>
                      <a:pt x="1729212" y="704684"/>
                    </a:cubicBezTo>
                    <a:cubicBezTo>
                      <a:pt x="1729212" y="704684"/>
                      <a:pt x="1685924" y="1013073"/>
                      <a:pt x="1693357" y="1248607"/>
                    </a:cubicBezTo>
                    <a:cubicBezTo>
                      <a:pt x="1700481" y="2261018"/>
                      <a:pt x="1707637" y="2456621"/>
                      <a:pt x="1707637" y="2456621"/>
                    </a:cubicBezTo>
                    <a:cubicBezTo>
                      <a:pt x="1690956" y="2672353"/>
                      <a:pt x="1576312" y="2882965"/>
                      <a:pt x="1379443" y="2994589"/>
                    </a:cubicBezTo>
                    <a:cubicBezTo>
                      <a:pt x="1229091" y="3079837"/>
                      <a:pt x="1031060" y="3094935"/>
                      <a:pt x="809086" y="3084193"/>
                    </a:cubicBezTo>
                    <a:cubicBezTo>
                      <a:pt x="645952" y="3078917"/>
                      <a:pt x="384604" y="3112770"/>
                      <a:pt x="254278" y="3003612"/>
                    </a:cubicBezTo>
                    <a:cubicBezTo>
                      <a:pt x="145767" y="2912727"/>
                      <a:pt x="81795" y="2719415"/>
                      <a:pt x="63030" y="2519216"/>
                    </a:cubicBezTo>
                    <a:close/>
                  </a:path>
                </a:pathLst>
              </a:custGeom>
              <a:solidFill>
                <a:srgbClr val="CBDDD1"/>
              </a:solidFill>
            </p:spPr>
          </p:sp>
        </p:grpSp>
        <p:sp>
          <p:nvSpPr>
            <p:cNvPr name="TextBox 38" id="38"/>
            <p:cNvSpPr txBox="true"/>
            <p:nvPr/>
          </p:nvSpPr>
          <p:spPr>
            <a:xfrm rot="0">
              <a:off x="1142099" y="255350"/>
              <a:ext cx="956589" cy="13562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662"/>
                </a:lnSpc>
                <a:spcBef>
                  <a:spcPct val="0"/>
                </a:spcBef>
              </a:pPr>
              <a:r>
                <a:rPr lang="en-US" b="true" sz="6966" i="true" spc="-104">
                  <a:solidFill>
                    <a:srgbClr val="272727"/>
                  </a:solidFill>
                  <a:latin typeface="Georgia Pro Bold Italics"/>
                  <a:ea typeface="Georgia Pro Bold Italics"/>
                  <a:cs typeface="Georgia Pro Bold Italics"/>
                  <a:sym typeface="Georgia Pro Bold Italics"/>
                </a:rPr>
                <a:t>E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3762320" y="6072522"/>
            <a:ext cx="332855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72727"/>
                </a:solidFill>
                <a:latin typeface="Abril Fatface"/>
                <a:ea typeface="Abril Fatface"/>
                <a:cs typeface="Abril Fatface"/>
                <a:sym typeface="Abril Fatface"/>
              </a:rPr>
              <a:t>Extirpation Rate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85800" y="-1295400"/>
            <a:ext cx="9829800" cy="12306300"/>
            <a:chOff x="0" y="0"/>
            <a:chExt cx="1828828" cy="22895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28" cy="2289579"/>
            </a:xfrm>
            <a:custGeom>
              <a:avLst/>
              <a:gdLst/>
              <a:ahLst/>
              <a:cxnLst/>
              <a:rect r="r" b="b" t="t" l="l"/>
              <a:pathLst>
                <a:path h="2289579" w="1828828">
                  <a:moveTo>
                    <a:pt x="0" y="0"/>
                  </a:moveTo>
                  <a:lnTo>
                    <a:pt x="1828828" y="0"/>
                  </a:lnTo>
                  <a:lnTo>
                    <a:pt x="1828828" y="2289579"/>
                  </a:lnTo>
                  <a:lnTo>
                    <a:pt x="0" y="2289579"/>
                  </a:lnTo>
                  <a:close/>
                </a:path>
              </a:pathLst>
            </a:custGeom>
            <a:solidFill>
              <a:srgbClr val="CBDDD1">
                <a:alpha val="92941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5992128"/>
            <a:ext cx="6263273" cy="1414959"/>
          </a:xfrm>
          <a:custGeom>
            <a:avLst/>
            <a:gdLst/>
            <a:ahLst/>
            <a:cxnLst/>
            <a:rect r="r" b="b" t="t" l="l"/>
            <a:pathLst>
              <a:path h="1414959" w="6263273">
                <a:moveTo>
                  <a:pt x="0" y="0"/>
                </a:moveTo>
                <a:lnTo>
                  <a:pt x="6263273" y="0"/>
                </a:lnTo>
                <a:lnTo>
                  <a:pt x="6263273" y="1414959"/>
                </a:lnTo>
                <a:lnTo>
                  <a:pt x="0" y="1414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38484" y="2432050"/>
            <a:ext cx="7450621" cy="176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85"/>
              </a:lnSpc>
            </a:pPr>
            <a:r>
              <a:rPr lang="en-US" sz="13285">
                <a:solidFill>
                  <a:srgbClr val="272727"/>
                </a:solidFill>
                <a:latin typeface="Abril Fatface"/>
                <a:ea typeface="Abril Fatface"/>
                <a:cs typeface="Abril Fatface"/>
                <a:sym typeface="Abril Fatface"/>
              </a:rPr>
              <a:t>variants</a:t>
            </a:r>
          </a:p>
        </p:txBody>
      </p:sp>
      <p:grpSp>
        <p:nvGrpSpPr>
          <p:cNvPr name="Group 6" id="6"/>
          <p:cNvGrpSpPr/>
          <p:nvPr/>
        </p:nvGrpSpPr>
        <p:grpSpPr>
          <a:xfrm rot="-482310">
            <a:off x="1853441" y="1673640"/>
            <a:ext cx="3295385" cy="1002470"/>
            <a:chOff x="0" y="0"/>
            <a:chExt cx="4393847" cy="133662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4048113" y="990893"/>
              <a:ext cx="345734" cy="345734"/>
              <a:chOff x="0" y="0"/>
              <a:chExt cx="635000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272727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2235901" y="172867"/>
              <a:ext cx="345734" cy="345734"/>
              <a:chOff x="0" y="0"/>
              <a:chExt cx="6350000" cy="635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6F6E9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2327002" y="818026"/>
              <a:ext cx="345734" cy="345734"/>
              <a:chOff x="0" y="0"/>
              <a:chExt cx="6350000" cy="6350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7D9B76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1334093" y="518601"/>
              <a:ext cx="345734" cy="345734"/>
              <a:chOff x="0" y="0"/>
              <a:chExt cx="6350000" cy="6350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6F6E9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345734" cy="345734"/>
              <a:chOff x="0" y="0"/>
              <a:chExt cx="6350000" cy="6350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272727"/>
              </a:solidFill>
            </p:spPr>
          </p:sp>
        </p:grpSp>
      </p:grpSp>
      <p:sp>
        <p:nvSpPr>
          <p:cNvPr name="Freeform 17" id="17"/>
          <p:cNvSpPr/>
          <p:nvPr/>
        </p:nvSpPr>
        <p:spPr>
          <a:xfrm flipH="false" flipV="false" rot="0">
            <a:off x="9144000" y="2214191"/>
            <a:ext cx="8991643" cy="5858618"/>
          </a:xfrm>
          <a:custGeom>
            <a:avLst/>
            <a:gdLst/>
            <a:ahLst/>
            <a:cxnLst/>
            <a:rect r="r" b="b" t="t" l="l"/>
            <a:pathLst>
              <a:path h="5858618" w="8991643">
                <a:moveTo>
                  <a:pt x="0" y="0"/>
                </a:moveTo>
                <a:lnTo>
                  <a:pt x="8991643" y="0"/>
                </a:lnTo>
                <a:lnTo>
                  <a:pt x="8991643" y="5858618"/>
                </a:lnTo>
                <a:lnTo>
                  <a:pt x="0" y="58586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38484" y="4041836"/>
            <a:ext cx="7450621" cy="187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272727"/>
                </a:solidFill>
                <a:latin typeface="Abril Fatface"/>
                <a:ea typeface="Abril Fatface"/>
                <a:cs typeface="Abril Fatface"/>
                <a:sym typeface="Abril Fatface"/>
              </a:rPr>
              <a:t>metapopulation models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8484" y="7454712"/>
            <a:ext cx="6497908" cy="812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8"/>
              </a:lnSpc>
            </a:pPr>
            <a:r>
              <a:rPr lang="en-US" sz="3118" spc="31">
                <a:solidFill>
                  <a:srgbClr val="2727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What happens when we alter individual assumptions?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91450" y="0"/>
            <a:ext cx="10496550" cy="10287000"/>
            <a:chOff x="0" y="0"/>
            <a:chExt cx="276452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64524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64524">
                  <a:moveTo>
                    <a:pt x="0" y="0"/>
                  </a:moveTo>
                  <a:lnTo>
                    <a:pt x="2764524" y="0"/>
                  </a:lnTo>
                  <a:lnTo>
                    <a:pt x="276452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14B3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76452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0" y="1028700"/>
            <a:ext cx="7040610" cy="4717473"/>
            <a:chOff x="0" y="0"/>
            <a:chExt cx="9387480" cy="628996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935310"/>
              <a:ext cx="9387480" cy="1243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2" indent="-194311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FFF9F3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The core idea of island biogeography is that isolated habitats (like islands) have unique ecological characteristics due to their separation from similar habitats.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301581"/>
              <a:ext cx="9387480" cy="516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9F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1. ISOLATION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9525"/>
              <a:ext cx="5455551" cy="1025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000"/>
                </a:lnSpc>
                <a:spcBef>
                  <a:spcPct val="0"/>
                </a:spcBef>
              </a:pPr>
              <a:r>
                <a:rPr lang="en-US" b="true" sz="5000">
                  <a:solidFill>
                    <a:srgbClr val="FFEBEB"/>
                  </a:solidFill>
                  <a:latin typeface="Linotype Feltpen Medium"/>
                  <a:ea typeface="Linotype Feltpen Medium"/>
                  <a:cs typeface="Linotype Feltpen Medium"/>
                  <a:sym typeface="Linotype Feltpen Medium"/>
                </a:rPr>
                <a:t>Key Elements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464855"/>
              <a:ext cx="9387480" cy="516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9F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2. SPECIES DIVERSITY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4103659"/>
              <a:ext cx="9387480" cy="824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2" indent="-194311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FFF9F3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Island biogeography studies how species richness and composition change with island size and isolation.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5045999"/>
              <a:ext cx="9387480" cy="1243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77243" indent="-259081" lvl="2">
                <a:lnSpc>
                  <a:spcPts val="2520"/>
                </a:lnSpc>
                <a:buFont typeface="Arial"/>
                <a:buChar char="⚬"/>
              </a:pPr>
              <a:r>
                <a:rPr lang="en-US" sz="1800">
                  <a:solidFill>
                    <a:srgbClr val="FFF9F3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The theory predicts that larger islands closer to the mainland will have higher species diversity due to larger habitats and easier colonization.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6614529" y="266054"/>
            <a:ext cx="1839773" cy="1882121"/>
          </a:xfrm>
          <a:custGeom>
            <a:avLst/>
            <a:gdLst/>
            <a:ahLst/>
            <a:cxnLst/>
            <a:rect r="r" b="b" t="t" l="l"/>
            <a:pathLst>
              <a:path h="1882121" w="1839773">
                <a:moveTo>
                  <a:pt x="0" y="0"/>
                </a:moveTo>
                <a:lnTo>
                  <a:pt x="1839773" y="0"/>
                </a:lnTo>
                <a:lnTo>
                  <a:pt x="1839773" y="1882121"/>
                </a:lnTo>
                <a:lnTo>
                  <a:pt x="0" y="18821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9649657">
            <a:off x="7101968" y="9223420"/>
            <a:ext cx="3301539" cy="1124221"/>
          </a:xfrm>
          <a:custGeom>
            <a:avLst/>
            <a:gdLst/>
            <a:ahLst/>
            <a:cxnLst/>
            <a:rect r="r" b="b" t="t" l="l"/>
            <a:pathLst>
              <a:path h="1124221" w="3301539">
                <a:moveTo>
                  <a:pt x="0" y="0"/>
                </a:moveTo>
                <a:lnTo>
                  <a:pt x="3301539" y="0"/>
                </a:lnTo>
                <a:lnTo>
                  <a:pt x="3301539" y="1124222"/>
                </a:lnTo>
                <a:lnTo>
                  <a:pt x="0" y="11242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893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665732" y="1106190"/>
            <a:ext cx="5442948" cy="2658137"/>
            <a:chOff x="0" y="0"/>
            <a:chExt cx="7257264" cy="3544183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177574" y="0"/>
              <a:ext cx="3411431" cy="1778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559"/>
                </a:lnSpc>
                <a:spcBef>
                  <a:spcPct val="0"/>
                </a:spcBef>
              </a:pPr>
              <a:r>
                <a:rPr lang="en-US" b="true" sz="8799">
                  <a:solidFill>
                    <a:srgbClr val="5D5340"/>
                  </a:solidFill>
                  <a:latin typeface="Linotype Feltpen Medium"/>
                  <a:ea typeface="Linotype Feltpen Medium"/>
                  <a:cs typeface="Linotype Feltpen Medium"/>
                  <a:sym typeface="Linotype Feltpen Medium"/>
                </a:rPr>
                <a:t>Island</a:t>
              </a:r>
            </a:p>
          </p:txBody>
        </p:sp>
        <p:grpSp>
          <p:nvGrpSpPr>
            <p:cNvPr name="Group 16" id="16"/>
            <p:cNvGrpSpPr/>
            <p:nvPr/>
          </p:nvGrpSpPr>
          <p:grpSpPr>
            <a:xfrm rot="0">
              <a:off x="0" y="1593851"/>
              <a:ext cx="3375403" cy="227947"/>
              <a:chOff x="0" y="0"/>
              <a:chExt cx="3303863" cy="22311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291517" y="59599"/>
                <a:ext cx="2728303" cy="116142"/>
              </a:xfrm>
              <a:custGeom>
                <a:avLst/>
                <a:gdLst/>
                <a:ahLst/>
                <a:cxnLst/>
                <a:rect r="r" b="b" t="t" l="l"/>
                <a:pathLst>
                  <a:path h="116142" w="2728303">
                    <a:moveTo>
                      <a:pt x="284043" y="1529"/>
                    </a:moveTo>
                    <a:cubicBezTo>
                      <a:pt x="1293141" y="19867"/>
                      <a:pt x="1868701" y="0"/>
                      <a:pt x="2167694" y="1529"/>
                    </a:cubicBezTo>
                    <a:cubicBezTo>
                      <a:pt x="2339614" y="3057"/>
                      <a:pt x="2489110" y="0"/>
                      <a:pt x="2578808" y="12226"/>
                    </a:cubicBezTo>
                    <a:cubicBezTo>
                      <a:pt x="2653556" y="22923"/>
                      <a:pt x="2720829" y="45846"/>
                      <a:pt x="2713354" y="61128"/>
                    </a:cubicBezTo>
                    <a:cubicBezTo>
                      <a:pt x="2713354" y="73353"/>
                      <a:pt x="2653556" y="90163"/>
                      <a:pt x="2593757" y="94748"/>
                    </a:cubicBezTo>
                    <a:cubicBezTo>
                      <a:pt x="2526484" y="100861"/>
                      <a:pt x="2376988" y="94748"/>
                      <a:pt x="2324664" y="85579"/>
                    </a:cubicBezTo>
                    <a:cubicBezTo>
                      <a:pt x="2279816" y="76410"/>
                      <a:pt x="2249916" y="56543"/>
                      <a:pt x="2272341" y="44318"/>
                    </a:cubicBezTo>
                    <a:cubicBezTo>
                      <a:pt x="2294765" y="30564"/>
                      <a:pt x="2406887" y="9169"/>
                      <a:pt x="2481635" y="9169"/>
                    </a:cubicBezTo>
                    <a:cubicBezTo>
                      <a:pt x="2556383" y="9169"/>
                      <a:pt x="2675980" y="27508"/>
                      <a:pt x="2705879" y="41261"/>
                    </a:cubicBezTo>
                    <a:cubicBezTo>
                      <a:pt x="2728304" y="53487"/>
                      <a:pt x="2698404" y="73353"/>
                      <a:pt x="2668505" y="82522"/>
                    </a:cubicBezTo>
                    <a:cubicBezTo>
                      <a:pt x="2638606" y="90163"/>
                      <a:pt x="2616182" y="94748"/>
                      <a:pt x="2548908" y="99333"/>
                    </a:cubicBezTo>
                    <a:cubicBezTo>
                      <a:pt x="2279816" y="116143"/>
                      <a:pt x="769905" y="113086"/>
                      <a:pt x="396165" y="102389"/>
                    </a:cubicBezTo>
                    <a:cubicBezTo>
                      <a:pt x="261619" y="99333"/>
                      <a:pt x="194345" y="96276"/>
                      <a:pt x="127072" y="87107"/>
                    </a:cubicBezTo>
                    <a:cubicBezTo>
                      <a:pt x="67274" y="79466"/>
                      <a:pt x="14950" y="64184"/>
                      <a:pt x="7475" y="51959"/>
                    </a:cubicBezTo>
                    <a:cubicBezTo>
                      <a:pt x="0" y="39733"/>
                      <a:pt x="37374" y="21395"/>
                      <a:pt x="82223" y="12226"/>
                    </a:cubicBezTo>
                    <a:cubicBezTo>
                      <a:pt x="127072" y="3057"/>
                      <a:pt x="284043" y="1529"/>
                      <a:pt x="284043" y="1529"/>
                    </a:cubicBezTo>
                  </a:path>
                </a:pathLst>
              </a:custGeom>
              <a:solidFill>
                <a:srgbClr val="5D534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3220050"/>
              <a:ext cx="6463752" cy="324133"/>
              <a:chOff x="0" y="0"/>
              <a:chExt cx="3874862" cy="19431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69321" y="41910"/>
                <a:ext cx="3737997" cy="116840"/>
              </a:xfrm>
              <a:custGeom>
                <a:avLst/>
                <a:gdLst/>
                <a:ahLst/>
                <a:cxnLst/>
                <a:rect r="r" b="b" t="t" l="l"/>
                <a:pathLst>
                  <a:path h="116840" w="3737997">
                    <a:moveTo>
                      <a:pt x="46214" y="31750"/>
                    </a:moveTo>
                    <a:cubicBezTo>
                      <a:pt x="2150726" y="34290"/>
                      <a:pt x="2316030" y="19050"/>
                      <a:pt x="2554209" y="13970"/>
                    </a:cubicBezTo>
                    <a:cubicBezTo>
                      <a:pt x="2810164" y="8890"/>
                      <a:pt x="3137216" y="5080"/>
                      <a:pt x="3348734" y="8890"/>
                    </a:cubicBezTo>
                    <a:cubicBezTo>
                      <a:pt x="3490931" y="11430"/>
                      <a:pt x="3652679" y="0"/>
                      <a:pt x="3704226" y="25400"/>
                    </a:cubicBezTo>
                    <a:cubicBezTo>
                      <a:pt x="3727333" y="36830"/>
                      <a:pt x="3736220" y="57150"/>
                      <a:pt x="3734443" y="69850"/>
                    </a:cubicBezTo>
                    <a:cubicBezTo>
                      <a:pt x="3732665" y="81280"/>
                      <a:pt x="3714891" y="95250"/>
                      <a:pt x="3698893" y="99060"/>
                    </a:cubicBezTo>
                    <a:cubicBezTo>
                      <a:pt x="3681119" y="102870"/>
                      <a:pt x="3645569" y="96520"/>
                      <a:pt x="3633127" y="86360"/>
                    </a:cubicBezTo>
                    <a:cubicBezTo>
                      <a:pt x="3622463" y="77470"/>
                      <a:pt x="3617130" y="58420"/>
                      <a:pt x="3624240" y="48260"/>
                    </a:cubicBezTo>
                    <a:cubicBezTo>
                      <a:pt x="3631350" y="36830"/>
                      <a:pt x="3663344" y="21590"/>
                      <a:pt x="3681119" y="21590"/>
                    </a:cubicBezTo>
                    <a:cubicBezTo>
                      <a:pt x="3697116" y="21590"/>
                      <a:pt x="3718445" y="31750"/>
                      <a:pt x="3727333" y="40640"/>
                    </a:cubicBezTo>
                    <a:cubicBezTo>
                      <a:pt x="3734443" y="48260"/>
                      <a:pt x="3737997" y="57150"/>
                      <a:pt x="3734443" y="66040"/>
                    </a:cubicBezTo>
                    <a:cubicBezTo>
                      <a:pt x="3729110" y="77470"/>
                      <a:pt x="3714891" y="95250"/>
                      <a:pt x="3688229" y="101600"/>
                    </a:cubicBezTo>
                    <a:cubicBezTo>
                      <a:pt x="3629573" y="116840"/>
                      <a:pt x="3467824" y="78740"/>
                      <a:pt x="3345179" y="72390"/>
                    </a:cubicBezTo>
                    <a:cubicBezTo>
                      <a:pt x="3204760" y="64770"/>
                      <a:pt x="3106999" y="64770"/>
                      <a:pt x="2891927" y="64770"/>
                    </a:cubicBezTo>
                    <a:cubicBezTo>
                      <a:pt x="2371131" y="63500"/>
                      <a:pt x="575897" y="100330"/>
                      <a:pt x="206185" y="96520"/>
                    </a:cubicBezTo>
                    <a:cubicBezTo>
                      <a:pt x="110202" y="95250"/>
                      <a:pt x="55101" y="104140"/>
                      <a:pt x="24884" y="90170"/>
                    </a:cubicBezTo>
                    <a:cubicBezTo>
                      <a:pt x="8887" y="82550"/>
                      <a:pt x="0" y="67310"/>
                      <a:pt x="1777" y="58420"/>
                    </a:cubicBezTo>
                    <a:cubicBezTo>
                      <a:pt x="5332" y="48260"/>
                      <a:pt x="46214" y="31750"/>
                      <a:pt x="46214" y="31750"/>
                    </a:cubicBezTo>
                  </a:path>
                </a:pathLst>
              </a:custGeom>
              <a:solidFill>
                <a:srgbClr val="AB8742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20" id="20"/>
            <p:cNvSpPr txBox="true"/>
            <p:nvPr/>
          </p:nvSpPr>
          <p:spPr>
            <a:xfrm rot="0">
              <a:off x="233228" y="1766183"/>
              <a:ext cx="7024036" cy="1778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559"/>
                </a:lnSpc>
                <a:spcBef>
                  <a:spcPct val="0"/>
                </a:spcBef>
              </a:pPr>
              <a:r>
                <a:rPr lang="en-US" b="true" sz="8799">
                  <a:solidFill>
                    <a:srgbClr val="5D5340"/>
                  </a:solidFill>
                  <a:latin typeface="Linotype Feltpen Medium"/>
                  <a:ea typeface="Linotype Feltpen Medium"/>
                  <a:cs typeface="Linotype Feltpen Medium"/>
                  <a:sym typeface="Linotype Feltpen Medium"/>
                </a:rPr>
                <a:t>Biogegraphy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65732" y="4180390"/>
            <a:ext cx="6182733" cy="3891756"/>
            <a:chOff x="0" y="0"/>
            <a:chExt cx="8243645" cy="5189008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2162386"/>
              <a:ext cx="7820286" cy="30266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5D5340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However</a:t>
              </a:r>
              <a:r>
                <a:rPr lang="en-US" sz="2600">
                  <a:solidFill>
                    <a:srgbClr val="5D5340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, the concept has been extended to any habitat fragment that is isolated from similar habitats, regardless of whether it is a true island or not.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-66675"/>
              <a:ext cx="8243645" cy="1807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5D5340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Island biogeography originally focused on studying the biodiversity patterns observed on </a:t>
              </a:r>
              <a:r>
                <a:rPr lang="en-US" b="true" sz="2600">
                  <a:solidFill>
                    <a:srgbClr val="5D5340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isolated islands</a:t>
              </a:r>
              <a:r>
                <a:rPr lang="en-US" sz="2600">
                  <a:solidFill>
                    <a:srgbClr val="5D5340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0" y="6357521"/>
            <a:ext cx="7040610" cy="1910480"/>
            <a:chOff x="0" y="0"/>
            <a:chExt cx="9387480" cy="2547307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-9525"/>
              <a:ext cx="5455551" cy="1025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000"/>
                </a:lnSpc>
                <a:spcBef>
                  <a:spcPct val="0"/>
                </a:spcBef>
              </a:pPr>
              <a:r>
                <a:rPr lang="en-US" b="true" sz="5000">
                  <a:solidFill>
                    <a:srgbClr val="FFEBEB"/>
                  </a:solidFill>
                  <a:latin typeface="Linotype Feltpen Medium"/>
                  <a:ea typeface="Linotype Feltpen Medium"/>
                  <a:cs typeface="Linotype Feltpen Medium"/>
                  <a:sym typeface="Linotype Feltpen Medium"/>
                </a:rPr>
                <a:t>Implications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1303342"/>
              <a:ext cx="9387480" cy="1243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FFF9F3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Island biogeography has practical implications for conservation biology, particularly in terms of managing and preserving biodiversity in fragmented landscapes.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53354" y="0"/>
            <a:ext cx="1440593" cy="4724098"/>
            <a:chOff x="0" y="0"/>
            <a:chExt cx="379415" cy="12442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9415" cy="1244207"/>
            </a:xfrm>
            <a:custGeom>
              <a:avLst/>
              <a:gdLst/>
              <a:ahLst/>
              <a:cxnLst/>
              <a:rect r="r" b="b" t="t" l="l"/>
              <a:pathLst>
                <a:path h="1244207" w="379415">
                  <a:moveTo>
                    <a:pt x="0" y="0"/>
                  </a:moveTo>
                  <a:lnTo>
                    <a:pt x="379415" y="0"/>
                  </a:lnTo>
                  <a:lnTo>
                    <a:pt x="379415" y="1244207"/>
                  </a:lnTo>
                  <a:lnTo>
                    <a:pt x="0" y="1244207"/>
                  </a:lnTo>
                  <a:close/>
                </a:path>
              </a:pathLst>
            </a:custGeom>
            <a:solidFill>
              <a:srgbClr val="81425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79415" cy="1301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967739" y="297960"/>
            <a:ext cx="2583123" cy="2642581"/>
          </a:xfrm>
          <a:custGeom>
            <a:avLst/>
            <a:gdLst/>
            <a:ahLst/>
            <a:cxnLst/>
            <a:rect r="r" b="b" t="t" l="l"/>
            <a:pathLst>
              <a:path h="2642581" w="2583123">
                <a:moveTo>
                  <a:pt x="0" y="0"/>
                </a:moveTo>
                <a:lnTo>
                  <a:pt x="2583122" y="0"/>
                </a:lnTo>
                <a:lnTo>
                  <a:pt x="2583122" y="2642580"/>
                </a:lnTo>
                <a:lnTo>
                  <a:pt x="0" y="26425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024621" y="0"/>
            <a:ext cx="6234679" cy="4724098"/>
            <a:chOff x="0" y="0"/>
            <a:chExt cx="910954" cy="6902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0954" cy="690242"/>
            </a:xfrm>
            <a:custGeom>
              <a:avLst/>
              <a:gdLst/>
              <a:ahLst/>
              <a:cxnLst/>
              <a:rect r="r" b="b" t="t" l="l"/>
              <a:pathLst>
                <a:path h="690242" w="910954">
                  <a:moveTo>
                    <a:pt x="0" y="0"/>
                  </a:moveTo>
                  <a:lnTo>
                    <a:pt x="910954" y="0"/>
                  </a:lnTo>
                  <a:lnTo>
                    <a:pt x="910954" y="690242"/>
                  </a:lnTo>
                  <a:lnTo>
                    <a:pt x="0" y="690242"/>
                  </a:lnTo>
                  <a:close/>
                </a:path>
              </a:pathLst>
            </a:custGeom>
            <a:blipFill>
              <a:blip r:embed="rId4"/>
              <a:stretch>
                <a:fillRect l="0" t="-14578" r="0" b="-287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319807" y="5696314"/>
            <a:ext cx="5546759" cy="418321"/>
            <a:chOff x="0" y="0"/>
            <a:chExt cx="5917386" cy="4462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-25400" y="13126"/>
              <a:ext cx="5916790" cy="461087"/>
            </a:xfrm>
            <a:custGeom>
              <a:avLst/>
              <a:gdLst/>
              <a:ahLst/>
              <a:cxnLst/>
              <a:rect r="r" b="b" t="t" l="l"/>
              <a:pathLst>
                <a:path h="461087" w="5916790">
                  <a:moveTo>
                    <a:pt x="90391" y="55315"/>
                  </a:moveTo>
                  <a:cubicBezTo>
                    <a:pt x="2805369" y="52502"/>
                    <a:pt x="3060457" y="40314"/>
                    <a:pt x="3482895" y="35627"/>
                  </a:cubicBezTo>
                  <a:cubicBezTo>
                    <a:pt x="4038564" y="29064"/>
                    <a:pt x="5145027" y="0"/>
                    <a:pt x="5411489" y="24376"/>
                  </a:cubicBezTo>
                  <a:cubicBezTo>
                    <a:pt x="5482978" y="30939"/>
                    <a:pt x="5497601" y="30001"/>
                    <a:pt x="5544719" y="50627"/>
                  </a:cubicBezTo>
                  <a:cubicBezTo>
                    <a:pt x="5642205" y="92817"/>
                    <a:pt x="5916790" y="275639"/>
                    <a:pt x="5877796" y="326267"/>
                  </a:cubicBezTo>
                  <a:cubicBezTo>
                    <a:pt x="5843675" y="371269"/>
                    <a:pt x="5629207" y="353455"/>
                    <a:pt x="5421237" y="361893"/>
                  </a:cubicBezTo>
                  <a:cubicBezTo>
                    <a:pt x="4982551" y="380644"/>
                    <a:pt x="3937829" y="367519"/>
                    <a:pt x="3357788" y="375019"/>
                  </a:cubicBezTo>
                  <a:cubicBezTo>
                    <a:pt x="2935350" y="379707"/>
                    <a:pt x="2659141" y="391895"/>
                    <a:pt x="2262698" y="394708"/>
                  </a:cubicBezTo>
                  <a:cubicBezTo>
                    <a:pt x="1791517" y="397520"/>
                    <a:pt x="1113991" y="386270"/>
                    <a:pt x="714299" y="388145"/>
                  </a:cubicBezTo>
                  <a:cubicBezTo>
                    <a:pt x="460836" y="389082"/>
                    <a:pt x="196000" y="461087"/>
                    <a:pt x="93640" y="395645"/>
                  </a:cubicBezTo>
                  <a:cubicBezTo>
                    <a:pt x="0" y="339392"/>
                    <a:pt x="90390" y="55315"/>
                    <a:pt x="90390" y="55315"/>
                  </a:cubicBezTo>
                </a:path>
              </a:pathLst>
            </a:custGeom>
            <a:solidFill>
              <a:srgbClr val="ECCC6E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764962" y="8382779"/>
            <a:ext cx="4753998" cy="418321"/>
            <a:chOff x="0" y="0"/>
            <a:chExt cx="5071654" cy="44627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-25400" y="13126"/>
              <a:ext cx="5074773" cy="461087"/>
            </a:xfrm>
            <a:custGeom>
              <a:avLst/>
              <a:gdLst/>
              <a:ahLst/>
              <a:cxnLst/>
              <a:rect r="r" b="b" t="t" l="l"/>
              <a:pathLst>
                <a:path h="461087" w="5074773">
                  <a:moveTo>
                    <a:pt x="81102" y="55315"/>
                  </a:moveTo>
                  <a:cubicBezTo>
                    <a:pt x="2408047" y="52502"/>
                    <a:pt x="2626676" y="40314"/>
                    <a:pt x="2988739" y="35627"/>
                  </a:cubicBezTo>
                  <a:cubicBezTo>
                    <a:pt x="3464989" y="29064"/>
                    <a:pt x="4413314" y="0"/>
                    <a:pt x="4641691" y="24376"/>
                  </a:cubicBezTo>
                  <a:cubicBezTo>
                    <a:pt x="4702963" y="30939"/>
                    <a:pt x="4715496" y="30001"/>
                    <a:pt x="4755880" y="50627"/>
                  </a:cubicBezTo>
                  <a:cubicBezTo>
                    <a:pt x="4839433" y="92817"/>
                    <a:pt x="5074773" y="275639"/>
                    <a:pt x="5041352" y="326267"/>
                  </a:cubicBezTo>
                  <a:cubicBezTo>
                    <a:pt x="5012108" y="371269"/>
                    <a:pt x="4828292" y="353455"/>
                    <a:pt x="4650046" y="361893"/>
                  </a:cubicBezTo>
                  <a:cubicBezTo>
                    <a:pt x="4274059" y="380644"/>
                    <a:pt x="3378652" y="367519"/>
                    <a:pt x="2881512" y="375019"/>
                  </a:cubicBezTo>
                  <a:cubicBezTo>
                    <a:pt x="2519450" y="379707"/>
                    <a:pt x="2282718" y="391895"/>
                    <a:pt x="1942936" y="394708"/>
                  </a:cubicBezTo>
                  <a:cubicBezTo>
                    <a:pt x="1539098" y="397520"/>
                    <a:pt x="958406" y="386270"/>
                    <a:pt x="615840" y="388145"/>
                  </a:cubicBezTo>
                  <a:cubicBezTo>
                    <a:pt x="398602" y="389082"/>
                    <a:pt x="171617" y="461087"/>
                    <a:pt x="83887" y="395645"/>
                  </a:cubicBezTo>
                  <a:cubicBezTo>
                    <a:pt x="0" y="339392"/>
                    <a:pt x="81102" y="55315"/>
                    <a:pt x="81102" y="55315"/>
                  </a:cubicBezTo>
                </a:path>
              </a:pathLst>
            </a:custGeom>
            <a:solidFill>
              <a:srgbClr val="ECCC6E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4724098"/>
            <a:ext cx="11604127" cy="5562902"/>
            <a:chOff x="0" y="0"/>
            <a:chExt cx="1695488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95488" cy="812800"/>
            </a:xfrm>
            <a:custGeom>
              <a:avLst/>
              <a:gdLst/>
              <a:ahLst/>
              <a:cxnLst/>
              <a:rect r="r" b="b" t="t" l="l"/>
              <a:pathLst>
                <a:path h="812800" w="1695488">
                  <a:moveTo>
                    <a:pt x="0" y="0"/>
                  </a:moveTo>
                  <a:lnTo>
                    <a:pt x="1695488" y="0"/>
                  </a:lnTo>
                  <a:lnTo>
                    <a:pt x="1695488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0" t="0" r="-2465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59418" y="1130697"/>
            <a:ext cx="7993739" cy="1485900"/>
            <a:chOff x="0" y="0"/>
            <a:chExt cx="10658319" cy="198120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193675"/>
              <a:ext cx="7580103" cy="1584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360"/>
                </a:lnSpc>
                <a:spcBef>
                  <a:spcPct val="0"/>
                </a:spcBef>
              </a:pPr>
              <a:r>
                <a:rPr lang="en-US" b="true" sz="7800" spc="-117">
                  <a:solidFill>
                    <a:srgbClr val="814256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Sources &amp;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7150054" y="0"/>
              <a:ext cx="3508264" cy="198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760"/>
                </a:lnSpc>
                <a:spcBef>
                  <a:spcPct val="0"/>
                </a:spcBef>
              </a:pPr>
              <a:r>
                <a:rPr lang="en-US" b="true" sz="9800">
                  <a:solidFill>
                    <a:srgbClr val="814256"/>
                  </a:solidFill>
                  <a:latin typeface="Linotype Feltpen Medium"/>
                  <a:ea typeface="Linotype Feltpen Medium"/>
                  <a:cs typeface="Linotype Feltpen Medium"/>
                  <a:sym typeface="Linotype Feltpen Medium"/>
                </a:rPr>
                <a:t>sinks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7150054" y="1566332"/>
              <a:ext cx="3348274" cy="350238"/>
              <a:chOff x="0" y="0"/>
              <a:chExt cx="1857604" cy="19431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33232" y="41910"/>
                <a:ext cx="1791992" cy="116840"/>
              </a:xfrm>
              <a:custGeom>
                <a:avLst/>
                <a:gdLst/>
                <a:ahLst/>
                <a:cxnLst/>
                <a:rect r="r" b="b" t="t" l="l"/>
                <a:pathLst>
                  <a:path h="116840" w="1791992">
                    <a:moveTo>
                      <a:pt x="22155" y="31750"/>
                    </a:moveTo>
                    <a:cubicBezTo>
                      <a:pt x="1031056" y="34290"/>
                      <a:pt x="1110302" y="19050"/>
                      <a:pt x="1224485" y="13970"/>
                    </a:cubicBezTo>
                    <a:cubicBezTo>
                      <a:pt x="1347190" y="8890"/>
                      <a:pt x="1503978" y="5080"/>
                      <a:pt x="1605379" y="8890"/>
                    </a:cubicBezTo>
                    <a:cubicBezTo>
                      <a:pt x="1673549" y="11430"/>
                      <a:pt x="1751091" y="0"/>
                      <a:pt x="1775802" y="25400"/>
                    </a:cubicBezTo>
                    <a:cubicBezTo>
                      <a:pt x="1786879" y="36830"/>
                      <a:pt x="1791140" y="57150"/>
                      <a:pt x="1790288" y="69850"/>
                    </a:cubicBezTo>
                    <a:cubicBezTo>
                      <a:pt x="1789436" y="81280"/>
                      <a:pt x="1780915" y="95250"/>
                      <a:pt x="1773246" y="99060"/>
                    </a:cubicBezTo>
                    <a:cubicBezTo>
                      <a:pt x="1764724" y="102870"/>
                      <a:pt x="1747682" y="96520"/>
                      <a:pt x="1741717" y="86360"/>
                    </a:cubicBezTo>
                    <a:cubicBezTo>
                      <a:pt x="1736605" y="77470"/>
                      <a:pt x="1734048" y="58420"/>
                      <a:pt x="1737457" y="48260"/>
                    </a:cubicBezTo>
                    <a:cubicBezTo>
                      <a:pt x="1740865" y="36830"/>
                      <a:pt x="1756203" y="21590"/>
                      <a:pt x="1764724" y="21590"/>
                    </a:cubicBezTo>
                    <a:cubicBezTo>
                      <a:pt x="1772393" y="21590"/>
                      <a:pt x="1782619" y="31750"/>
                      <a:pt x="1786879" y="40640"/>
                    </a:cubicBezTo>
                    <a:cubicBezTo>
                      <a:pt x="1790288" y="48260"/>
                      <a:pt x="1791992" y="57150"/>
                      <a:pt x="1790288" y="66040"/>
                    </a:cubicBezTo>
                    <a:cubicBezTo>
                      <a:pt x="1787731" y="77470"/>
                      <a:pt x="1780915" y="95250"/>
                      <a:pt x="1768133" y="101600"/>
                    </a:cubicBezTo>
                    <a:cubicBezTo>
                      <a:pt x="1740013" y="116840"/>
                      <a:pt x="1662471" y="78740"/>
                      <a:pt x="1603675" y="72390"/>
                    </a:cubicBezTo>
                    <a:cubicBezTo>
                      <a:pt x="1536359" y="64770"/>
                      <a:pt x="1489492" y="64770"/>
                      <a:pt x="1386387" y="64770"/>
                    </a:cubicBezTo>
                    <a:cubicBezTo>
                      <a:pt x="1136718" y="63500"/>
                      <a:pt x="276085" y="100330"/>
                      <a:pt x="98845" y="96520"/>
                    </a:cubicBezTo>
                    <a:cubicBezTo>
                      <a:pt x="52831" y="95250"/>
                      <a:pt x="26416" y="104140"/>
                      <a:pt x="11930" y="90170"/>
                    </a:cubicBezTo>
                    <a:cubicBezTo>
                      <a:pt x="4261" y="82550"/>
                      <a:pt x="0" y="67310"/>
                      <a:pt x="852" y="58420"/>
                    </a:cubicBezTo>
                    <a:cubicBezTo>
                      <a:pt x="2557" y="48260"/>
                      <a:pt x="22155" y="31750"/>
                      <a:pt x="22155" y="31750"/>
                    </a:cubicBezTo>
                  </a:path>
                </a:pathLst>
              </a:custGeom>
              <a:solidFill>
                <a:srgbClr val="814256"/>
              </a:solidFill>
              <a:ln cap="sq">
                <a:noFill/>
                <a:prstDash val="solid"/>
                <a:miter/>
              </a:ln>
            </p:spPr>
          </p:sp>
        </p:grpSp>
      </p:grpSp>
      <p:grpSp>
        <p:nvGrpSpPr>
          <p:cNvPr name="Group 19" id="19"/>
          <p:cNvGrpSpPr/>
          <p:nvPr/>
        </p:nvGrpSpPr>
        <p:grpSpPr>
          <a:xfrm rot="-367605">
            <a:off x="2717419" y="2964336"/>
            <a:ext cx="2397833" cy="937379"/>
            <a:chOff x="0" y="0"/>
            <a:chExt cx="2916522" cy="114014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57505" y="39153"/>
              <a:ext cx="2807410" cy="1039916"/>
            </a:xfrm>
            <a:custGeom>
              <a:avLst/>
              <a:gdLst/>
              <a:ahLst/>
              <a:cxnLst/>
              <a:rect r="r" b="b" t="t" l="l"/>
              <a:pathLst>
                <a:path h="1039916" w="2807410">
                  <a:moveTo>
                    <a:pt x="1377164" y="136254"/>
                  </a:moveTo>
                  <a:cubicBezTo>
                    <a:pt x="608960" y="161313"/>
                    <a:pt x="561777" y="167577"/>
                    <a:pt x="491002" y="186371"/>
                  </a:cubicBezTo>
                  <a:cubicBezTo>
                    <a:pt x="415803" y="206731"/>
                    <a:pt x="324385" y="238053"/>
                    <a:pt x="262457" y="272508"/>
                  </a:cubicBezTo>
                  <a:cubicBezTo>
                    <a:pt x="213799" y="299133"/>
                    <a:pt x="166616" y="332022"/>
                    <a:pt x="141550" y="364911"/>
                  </a:cubicBezTo>
                  <a:cubicBezTo>
                    <a:pt x="122382" y="389969"/>
                    <a:pt x="110586" y="415027"/>
                    <a:pt x="109111" y="443218"/>
                  </a:cubicBezTo>
                  <a:cubicBezTo>
                    <a:pt x="107637" y="474540"/>
                    <a:pt x="123856" y="510561"/>
                    <a:pt x="140075" y="541884"/>
                  </a:cubicBezTo>
                  <a:cubicBezTo>
                    <a:pt x="157769" y="574773"/>
                    <a:pt x="182835" y="604530"/>
                    <a:pt x="215274" y="634286"/>
                  </a:cubicBezTo>
                  <a:cubicBezTo>
                    <a:pt x="258034" y="673440"/>
                    <a:pt x="318487" y="714159"/>
                    <a:pt x="384839" y="747048"/>
                  </a:cubicBezTo>
                  <a:cubicBezTo>
                    <a:pt x="464461" y="786202"/>
                    <a:pt x="570624" y="819091"/>
                    <a:pt x="664990" y="845715"/>
                  </a:cubicBezTo>
                  <a:cubicBezTo>
                    <a:pt x="756408" y="872339"/>
                    <a:pt x="836030" y="892699"/>
                    <a:pt x="942193" y="906794"/>
                  </a:cubicBezTo>
                  <a:cubicBezTo>
                    <a:pt x="1082268" y="925588"/>
                    <a:pt x="1253308" y="930286"/>
                    <a:pt x="1433195" y="934985"/>
                  </a:cubicBezTo>
                  <a:cubicBezTo>
                    <a:pt x="1652892" y="941249"/>
                    <a:pt x="1977278" y="941249"/>
                    <a:pt x="2166011" y="930286"/>
                  </a:cubicBezTo>
                  <a:cubicBezTo>
                    <a:pt x="2286918" y="922456"/>
                    <a:pt x="2376862" y="913059"/>
                    <a:pt x="2460907" y="897398"/>
                  </a:cubicBezTo>
                  <a:cubicBezTo>
                    <a:pt x="2524310" y="886435"/>
                    <a:pt x="2583289" y="872339"/>
                    <a:pt x="2626049" y="856678"/>
                  </a:cubicBezTo>
                  <a:cubicBezTo>
                    <a:pt x="2655539" y="845715"/>
                    <a:pt x="2689452" y="842583"/>
                    <a:pt x="2699773" y="819091"/>
                  </a:cubicBezTo>
                  <a:cubicBezTo>
                    <a:pt x="2713043" y="789334"/>
                    <a:pt x="2698298" y="720424"/>
                    <a:pt x="2674707" y="681271"/>
                  </a:cubicBezTo>
                  <a:cubicBezTo>
                    <a:pt x="2648166" y="637419"/>
                    <a:pt x="2587712" y="604530"/>
                    <a:pt x="2539055" y="574773"/>
                  </a:cubicBezTo>
                  <a:cubicBezTo>
                    <a:pt x="2488922" y="543450"/>
                    <a:pt x="2446162" y="526223"/>
                    <a:pt x="2375387" y="499599"/>
                  </a:cubicBezTo>
                  <a:cubicBezTo>
                    <a:pt x="2257429" y="455747"/>
                    <a:pt x="2048053" y="394667"/>
                    <a:pt x="1885860" y="355514"/>
                  </a:cubicBezTo>
                  <a:cubicBezTo>
                    <a:pt x="1728090" y="316360"/>
                    <a:pt x="1560000" y="283471"/>
                    <a:pt x="1412552" y="263112"/>
                  </a:cubicBezTo>
                  <a:cubicBezTo>
                    <a:pt x="1284272" y="245884"/>
                    <a:pt x="1197278" y="239620"/>
                    <a:pt x="1051304" y="234921"/>
                  </a:cubicBezTo>
                  <a:cubicBezTo>
                    <a:pt x="830132" y="227090"/>
                    <a:pt x="299319" y="277207"/>
                    <a:pt x="212325" y="238053"/>
                  </a:cubicBezTo>
                  <a:cubicBezTo>
                    <a:pt x="193157" y="228657"/>
                    <a:pt x="185784" y="217694"/>
                    <a:pt x="182835" y="205165"/>
                  </a:cubicBezTo>
                  <a:cubicBezTo>
                    <a:pt x="179886" y="191069"/>
                    <a:pt x="190208" y="161313"/>
                    <a:pt x="202004" y="151916"/>
                  </a:cubicBezTo>
                  <a:cubicBezTo>
                    <a:pt x="212325" y="144085"/>
                    <a:pt x="232968" y="140953"/>
                    <a:pt x="243289" y="147217"/>
                  </a:cubicBezTo>
                  <a:cubicBezTo>
                    <a:pt x="256559" y="153482"/>
                    <a:pt x="271304" y="183239"/>
                    <a:pt x="269830" y="198900"/>
                  </a:cubicBezTo>
                  <a:cubicBezTo>
                    <a:pt x="269830" y="212995"/>
                    <a:pt x="258034" y="230223"/>
                    <a:pt x="246238" y="234921"/>
                  </a:cubicBezTo>
                  <a:cubicBezTo>
                    <a:pt x="232968" y="241186"/>
                    <a:pt x="202004" y="234921"/>
                    <a:pt x="191682" y="223958"/>
                  </a:cubicBezTo>
                  <a:cubicBezTo>
                    <a:pt x="182835" y="214561"/>
                    <a:pt x="178412" y="192635"/>
                    <a:pt x="182835" y="180106"/>
                  </a:cubicBezTo>
                  <a:cubicBezTo>
                    <a:pt x="187259" y="166011"/>
                    <a:pt x="199055" y="153482"/>
                    <a:pt x="224121" y="144085"/>
                  </a:cubicBezTo>
                  <a:cubicBezTo>
                    <a:pt x="324385" y="106498"/>
                    <a:pt x="803591" y="125292"/>
                    <a:pt x="1058676" y="137821"/>
                  </a:cubicBezTo>
                  <a:cubicBezTo>
                    <a:pt x="1275425" y="148784"/>
                    <a:pt x="1467107" y="170710"/>
                    <a:pt x="1657316" y="202032"/>
                  </a:cubicBezTo>
                  <a:cubicBezTo>
                    <a:pt x="1832778" y="231789"/>
                    <a:pt x="2006767" y="272508"/>
                    <a:pt x="2160113" y="314794"/>
                  </a:cubicBezTo>
                  <a:cubicBezTo>
                    <a:pt x="2292816" y="350815"/>
                    <a:pt x="2435841" y="394667"/>
                    <a:pt x="2527259" y="433821"/>
                  </a:cubicBezTo>
                  <a:cubicBezTo>
                    <a:pt x="2586238" y="458879"/>
                    <a:pt x="2624574" y="479239"/>
                    <a:pt x="2665860" y="510561"/>
                  </a:cubicBezTo>
                  <a:cubicBezTo>
                    <a:pt x="2705671" y="540318"/>
                    <a:pt x="2749905" y="582604"/>
                    <a:pt x="2770548" y="615493"/>
                  </a:cubicBezTo>
                  <a:cubicBezTo>
                    <a:pt x="2783818" y="637419"/>
                    <a:pt x="2786767" y="651514"/>
                    <a:pt x="2791190" y="676572"/>
                  </a:cubicBezTo>
                  <a:cubicBezTo>
                    <a:pt x="2798563" y="714159"/>
                    <a:pt x="2807410" y="784636"/>
                    <a:pt x="2800037" y="825355"/>
                  </a:cubicBezTo>
                  <a:cubicBezTo>
                    <a:pt x="2795614" y="855112"/>
                    <a:pt x="2785293" y="878604"/>
                    <a:pt x="2769073" y="897398"/>
                  </a:cubicBezTo>
                  <a:cubicBezTo>
                    <a:pt x="2754329" y="914625"/>
                    <a:pt x="2733686" y="922456"/>
                    <a:pt x="2708620" y="933419"/>
                  </a:cubicBezTo>
                  <a:cubicBezTo>
                    <a:pt x="2674707" y="949080"/>
                    <a:pt x="2634896" y="958477"/>
                    <a:pt x="2578865" y="971006"/>
                  </a:cubicBezTo>
                  <a:cubicBezTo>
                    <a:pt x="2481550" y="991366"/>
                    <a:pt x="2301663" y="1014858"/>
                    <a:pt x="2170434" y="1025821"/>
                  </a:cubicBezTo>
                  <a:cubicBezTo>
                    <a:pt x="2048053" y="1036784"/>
                    <a:pt x="1953686" y="1038350"/>
                    <a:pt x="1813610" y="1038350"/>
                  </a:cubicBezTo>
                  <a:cubicBezTo>
                    <a:pt x="1616030" y="1039916"/>
                    <a:pt x="1309338" y="1039916"/>
                    <a:pt x="1097013" y="1021122"/>
                  </a:cubicBezTo>
                  <a:cubicBezTo>
                    <a:pt x="925973" y="1005461"/>
                    <a:pt x="760831" y="974138"/>
                    <a:pt x="638450" y="947514"/>
                  </a:cubicBezTo>
                  <a:cubicBezTo>
                    <a:pt x="554404" y="928720"/>
                    <a:pt x="498374" y="914625"/>
                    <a:pt x="430548" y="888001"/>
                  </a:cubicBezTo>
                  <a:cubicBezTo>
                    <a:pt x="358298" y="859810"/>
                    <a:pt x="271304" y="814392"/>
                    <a:pt x="218223" y="781503"/>
                  </a:cubicBezTo>
                  <a:cubicBezTo>
                    <a:pt x="184310" y="759577"/>
                    <a:pt x="163667" y="745482"/>
                    <a:pt x="137126" y="718858"/>
                  </a:cubicBezTo>
                  <a:cubicBezTo>
                    <a:pt x="103213" y="685969"/>
                    <a:pt x="60453" y="637419"/>
                    <a:pt x="38336" y="593567"/>
                  </a:cubicBezTo>
                  <a:cubicBezTo>
                    <a:pt x="17693" y="554413"/>
                    <a:pt x="4423" y="510561"/>
                    <a:pt x="1474" y="471408"/>
                  </a:cubicBezTo>
                  <a:cubicBezTo>
                    <a:pt x="0" y="436953"/>
                    <a:pt x="7372" y="402498"/>
                    <a:pt x="19168" y="371175"/>
                  </a:cubicBezTo>
                  <a:cubicBezTo>
                    <a:pt x="30964" y="341419"/>
                    <a:pt x="48658" y="313228"/>
                    <a:pt x="70775" y="288170"/>
                  </a:cubicBezTo>
                  <a:cubicBezTo>
                    <a:pt x="94366" y="261546"/>
                    <a:pt x="122382" y="241186"/>
                    <a:pt x="157769" y="217694"/>
                  </a:cubicBezTo>
                  <a:cubicBezTo>
                    <a:pt x="206427" y="186371"/>
                    <a:pt x="281625" y="150350"/>
                    <a:pt x="337656" y="126858"/>
                  </a:cubicBezTo>
                  <a:cubicBezTo>
                    <a:pt x="386313" y="106498"/>
                    <a:pt x="423175" y="95535"/>
                    <a:pt x="474782" y="83006"/>
                  </a:cubicBezTo>
                  <a:cubicBezTo>
                    <a:pt x="538185" y="67344"/>
                    <a:pt x="600113" y="56381"/>
                    <a:pt x="693005" y="46985"/>
                  </a:cubicBezTo>
                  <a:cubicBezTo>
                    <a:pt x="858147" y="31323"/>
                    <a:pt x="1288695" y="0"/>
                    <a:pt x="1378639" y="23493"/>
                  </a:cubicBezTo>
                  <a:cubicBezTo>
                    <a:pt x="1402230" y="29757"/>
                    <a:pt x="1412552" y="36022"/>
                    <a:pt x="1421399" y="48551"/>
                  </a:cubicBezTo>
                  <a:cubicBezTo>
                    <a:pt x="1428771" y="59514"/>
                    <a:pt x="1431720" y="75175"/>
                    <a:pt x="1430245" y="87704"/>
                  </a:cubicBezTo>
                  <a:cubicBezTo>
                    <a:pt x="1428771" y="100233"/>
                    <a:pt x="1421399" y="114329"/>
                    <a:pt x="1412552" y="122159"/>
                  </a:cubicBezTo>
                  <a:cubicBezTo>
                    <a:pt x="1403705" y="129990"/>
                    <a:pt x="1377164" y="136254"/>
                    <a:pt x="1377164" y="136254"/>
                  </a:cubicBezTo>
                </a:path>
              </a:pathLst>
            </a:custGeom>
            <a:solidFill>
              <a:srgbClr val="ECCC6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-367605">
            <a:off x="6460402" y="3043498"/>
            <a:ext cx="2262457" cy="937379"/>
            <a:chOff x="0" y="0"/>
            <a:chExt cx="2751863" cy="114014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54258" y="39153"/>
              <a:ext cx="2648912" cy="1039916"/>
            </a:xfrm>
            <a:custGeom>
              <a:avLst/>
              <a:gdLst/>
              <a:ahLst/>
              <a:cxnLst/>
              <a:rect r="r" b="b" t="t" l="l"/>
              <a:pathLst>
                <a:path h="1039916" w="2648912">
                  <a:moveTo>
                    <a:pt x="1299414" y="136254"/>
                  </a:moveTo>
                  <a:cubicBezTo>
                    <a:pt x="574580" y="161313"/>
                    <a:pt x="530061" y="167577"/>
                    <a:pt x="463281" y="186371"/>
                  </a:cubicBezTo>
                  <a:cubicBezTo>
                    <a:pt x="392329" y="206731"/>
                    <a:pt x="306072" y="238053"/>
                    <a:pt x="247640" y="272508"/>
                  </a:cubicBezTo>
                  <a:cubicBezTo>
                    <a:pt x="201729" y="299133"/>
                    <a:pt x="157210" y="332022"/>
                    <a:pt x="133559" y="364911"/>
                  </a:cubicBezTo>
                  <a:cubicBezTo>
                    <a:pt x="115473" y="389969"/>
                    <a:pt x="104343" y="415027"/>
                    <a:pt x="102952" y="443218"/>
                  </a:cubicBezTo>
                  <a:cubicBezTo>
                    <a:pt x="101560" y="474540"/>
                    <a:pt x="116864" y="510561"/>
                    <a:pt x="132168" y="541884"/>
                  </a:cubicBezTo>
                  <a:cubicBezTo>
                    <a:pt x="148862" y="574773"/>
                    <a:pt x="172513" y="604530"/>
                    <a:pt x="203121" y="634286"/>
                  </a:cubicBezTo>
                  <a:cubicBezTo>
                    <a:pt x="243466" y="673440"/>
                    <a:pt x="300507" y="714159"/>
                    <a:pt x="363113" y="747048"/>
                  </a:cubicBezTo>
                  <a:cubicBezTo>
                    <a:pt x="438239" y="786202"/>
                    <a:pt x="538408" y="819091"/>
                    <a:pt x="627447" y="845715"/>
                  </a:cubicBezTo>
                  <a:cubicBezTo>
                    <a:pt x="713704" y="872339"/>
                    <a:pt x="788830" y="892699"/>
                    <a:pt x="888999" y="906794"/>
                  </a:cubicBezTo>
                  <a:cubicBezTo>
                    <a:pt x="1021167" y="925588"/>
                    <a:pt x="1182550" y="930286"/>
                    <a:pt x="1352281" y="934985"/>
                  </a:cubicBezTo>
                  <a:cubicBezTo>
                    <a:pt x="1559575" y="941249"/>
                    <a:pt x="1865646" y="941249"/>
                    <a:pt x="2043724" y="930286"/>
                  </a:cubicBezTo>
                  <a:cubicBezTo>
                    <a:pt x="2157806" y="922456"/>
                    <a:pt x="2242671" y="913059"/>
                    <a:pt x="2321971" y="897398"/>
                  </a:cubicBezTo>
                  <a:cubicBezTo>
                    <a:pt x="2381795" y="886435"/>
                    <a:pt x="2437444" y="872339"/>
                    <a:pt x="2477790" y="856678"/>
                  </a:cubicBezTo>
                  <a:cubicBezTo>
                    <a:pt x="2505614" y="845715"/>
                    <a:pt x="2537613" y="842583"/>
                    <a:pt x="2547351" y="819091"/>
                  </a:cubicBezTo>
                  <a:cubicBezTo>
                    <a:pt x="2559873" y="789334"/>
                    <a:pt x="2545960" y="720424"/>
                    <a:pt x="2523701" y="681271"/>
                  </a:cubicBezTo>
                  <a:cubicBezTo>
                    <a:pt x="2498658" y="637419"/>
                    <a:pt x="2441618" y="604530"/>
                    <a:pt x="2395707" y="574773"/>
                  </a:cubicBezTo>
                  <a:cubicBezTo>
                    <a:pt x="2348405" y="543450"/>
                    <a:pt x="2308059" y="526223"/>
                    <a:pt x="2241280" y="499599"/>
                  </a:cubicBezTo>
                  <a:cubicBezTo>
                    <a:pt x="2129981" y="455747"/>
                    <a:pt x="1932426" y="394667"/>
                    <a:pt x="1779390" y="355514"/>
                  </a:cubicBezTo>
                  <a:cubicBezTo>
                    <a:pt x="1630528" y="316360"/>
                    <a:pt x="1471927" y="283471"/>
                    <a:pt x="1332803" y="263112"/>
                  </a:cubicBezTo>
                  <a:cubicBezTo>
                    <a:pt x="1211766" y="245884"/>
                    <a:pt x="1129683" y="239620"/>
                    <a:pt x="991951" y="234921"/>
                  </a:cubicBezTo>
                  <a:cubicBezTo>
                    <a:pt x="783265" y="227090"/>
                    <a:pt x="282421" y="277207"/>
                    <a:pt x="200338" y="238053"/>
                  </a:cubicBezTo>
                  <a:cubicBezTo>
                    <a:pt x="182252" y="228657"/>
                    <a:pt x="175296" y="217694"/>
                    <a:pt x="172513" y="205165"/>
                  </a:cubicBezTo>
                  <a:cubicBezTo>
                    <a:pt x="169731" y="191069"/>
                    <a:pt x="179470" y="161313"/>
                    <a:pt x="190599" y="151916"/>
                  </a:cubicBezTo>
                  <a:cubicBezTo>
                    <a:pt x="200338" y="144085"/>
                    <a:pt x="219815" y="140953"/>
                    <a:pt x="229554" y="147217"/>
                  </a:cubicBezTo>
                  <a:cubicBezTo>
                    <a:pt x="242075" y="153482"/>
                    <a:pt x="255987" y="183239"/>
                    <a:pt x="254596" y="198900"/>
                  </a:cubicBezTo>
                  <a:cubicBezTo>
                    <a:pt x="254596" y="212995"/>
                    <a:pt x="243466" y="230223"/>
                    <a:pt x="232336" y="234921"/>
                  </a:cubicBezTo>
                  <a:cubicBezTo>
                    <a:pt x="219815" y="241186"/>
                    <a:pt x="190599" y="234921"/>
                    <a:pt x="180861" y="223958"/>
                  </a:cubicBezTo>
                  <a:cubicBezTo>
                    <a:pt x="172513" y="214561"/>
                    <a:pt x="168340" y="192635"/>
                    <a:pt x="172513" y="180106"/>
                  </a:cubicBezTo>
                  <a:cubicBezTo>
                    <a:pt x="176687" y="166011"/>
                    <a:pt x="187817" y="153482"/>
                    <a:pt x="211468" y="144085"/>
                  </a:cubicBezTo>
                  <a:cubicBezTo>
                    <a:pt x="306072" y="106498"/>
                    <a:pt x="758223" y="125292"/>
                    <a:pt x="998907" y="137821"/>
                  </a:cubicBezTo>
                  <a:cubicBezTo>
                    <a:pt x="1203418" y="148784"/>
                    <a:pt x="1384279" y="170710"/>
                    <a:pt x="1563748" y="202032"/>
                  </a:cubicBezTo>
                  <a:cubicBezTo>
                    <a:pt x="1729305" y="231789"/>
                    <a:pt x="1893471" y="272508"/>
                    <a:pt x="2038159" y="314794"/>
                  </a:cubicBezTo>
                  <a:cubicBezTo>
                    <a:pt x="2163371" y="350815"/>
                    <a:pt x="2298320" y="394667"/>
                    <a:pt x="2384577" y="433821"/>
                  </a:cubicBezTo>
                  <a:cubicBezTo>
                    <a:pt x="2440226" y="458879"/>
                    <a:pt x="2476398" y="479239"/>
                    <a:pt x="2515353" y="510561"/>
                  </a:cubicBezTo>
                  <a:cubicBezTo>
                    <a:pt x="2552916" y="540318"/>
                    <a:pt x="2594653" y="582604"/>
                    <a:pt x="2614131" y="615493"/>
                  </a:cubicBezTo>
                  <a:cubicBezTo>
                    <a:pt x="2626652" y="637419"/>
                    <a:pt x="2629434" y="651514"/>
                    <a:pt x="2633608" y="676572"/>
                  </a:cubicBezTo>
                  <a:cubicBezTo>
                    <a:pt x="2640564" y="714159"/>
                    <a:pt x="2648912" y="784636"/>
                    <a:pt x="2641956" y="825355"/>
                  </a:cubicBezTo>
                  <a:cubicBezTo>
                    <a:pt x="2637782" y="855112"/>
                    <a:pt x="2628043" y="878604"/>
                    <a:pt x="2612739" y="897398"/>
                  </a:cubicBezTo>
                  <a:cubicBezTo>
                    <a:pt x="2598827" y="914625"/>
                    <a:pt x="2579350" y="922456"/>
                    <a:pt x="2555699" y="933419"/>
                  </a:cubicBezTo>
                  <a:cubicBezTo>
                    <a:pt x="2523701" y="949080"/>
                    <a:pt x="2486137" y="958477"/>
                    <a:pt x="2433270" y="971006"/>
                  </a:cubicBezTo>
                  <a:cubicBezTo>
                    <a:pt x="2341449" y="991366"/>
                    <a:pt x="2171718" y="1014858"/>
                    <a:pt x="2047898" y="1025821"/>
                  </a:cubicBezTo>
                  <a:cubicBezTo>
                    <a:pt x="1932426" y="1036784"/>
                    <a:pt x="1843386" y="1038350"/>
                    <a:pt x="1711219" y="1038350"/>
                  </a:cubicBezTo>
                  <a:cubicBezTo>
                    <a:pt x="1524794" y="1039916"/>
                    <a:pt x="1235417" y="1039916"/>
                    <a:pt x="1035079" y="1021122"/>
                  </a:cubicBezTo>
                  <a:cubicBezTo>
                    <a:pt x="873696" y="1005461"/>
                    <a:pt x="717877" y="974138"/>
                    <a:pt x="602405" y="947514"/>
                  </a:cubicBezTo>
                  <a:cubicBezTo>
                    <a:pt x="523104" y="928720"/>
                    <a:pt x="470238" y="914625"/>
                    <a:pt x="406241" y="888001"/>
                  </a:cubicBezTo>
                  <a:cubicBezTo>
                    <a:pt x="338070" y="859810"/>
                    <a:pt x="255987" y="814392"/>
                    <a:pt x="205903" y="781503"/>
                  </a:cubicBezTo>
                  <a:cubicBezTo>
                    <a:pt x="173904" y="759577"/>
                    <a:pt x="154427" y="745482"/>
                    <a:pt x="129385" y="718858"/>
                  </a:cubicBezTo>
                  <a:cubicBezTo>
                    <a:pt x="97387" y="685969"/>
                    <a:pt x="57041" y="637419"/>
                    <a:pt x="36172" y="593567"/>
                  </a:cubicBezTo>
                  <a:cubicBezTo>
                    <a:pt x="16695" y="554413"/>
                    <a:pt x="4174" y="510561"/>
                    <a:pt x="1391" y="471408"/>
                  </a:cubicBezTo>
                  <a:cubicBezTo>
                    <a:pt x="0" y="436953"/>
                    <a:pt x="6956" y="402498"/>
                    <a:pt x="18086" y="371175"/>
                  </a:cubicBezTo>
                  <a:cubicBezTo>
                    <a:pt x="29216" y="341419"/>
                    <a:pt x="45911" y="313228"/>
                    <a:pt x="66779" y="288170"/>
                  </a:cubicBezTo>
                  <a:cubicBezTo>
                    <a:pt x="89039" y="261546"/>
                    <a:pt x="115473" y="241186"/>
                    <a:pt x="148862" y="217694"/>
                  </a:cubicBezTo>
                  <a:cubicBezTo>
                    <a:pt x="194773" y="186371"/>
                    <a:pt x="265726" y="150350"/>
                    <a:pt x="318593" y="126858"/>
                  </a:cubicBezTo>
                  <a:cubicBezTo>
                    <a:pt x="364504" y="106498"/>
                    <a:pt x="399285" y="95535"/>
                    <a:pt x="447978" y="83006"/>
                  </a:cubicBezTo>
                  <a:cubicBezTo>
                    <a:pt x="507801" y="67344"/>
                    <a:pt x="566233" y="56381"/>
                    <a:pt x="653881" y="46985"/>
                  </a:cubicBezTo>
                  <a:cubicBezTo>
                    <a:pt x="809699" y="31323"/>
                    <a:pt x="1215939" y="0"/>
                    <a:pt x="1300805" y="23493"/>
                  </a:cubicBezTo>
                  <a:cubicBezTo>
                    <a:pt x="1323065" y="29757"/>
                    <a:pt x="1332803" y="36022"/>
                    <a:pt x="1341151" y="48551"/>
                  </a:cubicBezTo>
                  <a:cubicBezTo>
                    <a:pt x="1348107" y="59514"/>
                    <a:pt x="1350889" y="75175"/>
                    <a:pt x="1349498" y="87704"/>
                  </a:cubicBezTo>
                  <a:cubicBezTo>
                    <a:pt x="1348107" y="100233"/>
                    <a:pt x="1341151" y="114329"/>
                    <a:pt x="1332803" y="122159"/>
                  </a:cubicBezTo>
                  <a:cubicBezTo>
                    <a:pt x="1324456" y="129990"/>
                    <a:pt x="1299414" y="136254"/>
                    <a:pt x="1299414" y="136254"/>
                  </a:cubicBezTo>
                </a:path>
              </a:pathLst>
            </a:custGeom>
            <a:solidFill>
              <a:srgbClr val="ECCC6E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559418" y="2772380"/>
            <a:ext cx="9198016" cy="9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814256"/>
                </a:solidFill>
                <a:latin typeface="Georgia Pro"/>
                <a:ea typeface="Georgia Pro"/>
                <a:cs typeface="Georgia Pro"/>
                <a:sym typeface="Georgia Pro"/>
              </a:rPr>
              <a:t>The model assumes that the same species occupies two habitats, one of </a:t>
            </a:r>
            <a:r>
              <a:rPr lang="en-US" b="true" sz="2600">
                <a:solidFill>
                  <a:srgbClr val="814256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high quality</a:t>
            </a:r>
            <a:r>
              <a:rPr lang="en-US" sz="2600">
                <a:solidFill>
                  <a:srgbClr val="814256"/>
                </a:solidFill>
                <a:latin typeface="Georgia Pro"/>
                <a:ea typeface="Georgia Pro"/>
                <a:cs typeface="Georgia Pro"/>
                <a:sym typeface="Georgia Pro"/>
              </a:rPr>
              <a:t> and one of </a:t>
            </a:r>
            <a:r>
              <a:rPr lang="en-US" b="true" sz="2600">
                <a:solidFill>
                  <a:srgbClr val="814256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low quality</a:t>
            </a:r>
            <a:r>
              <a:rPr lang="en-US" sz="2600">
                <a:solidFill>
                  <a:srgbClr val="814256"/>
                </a:solidFill>
                <a:latin typeface="Georgia Pro"/>
                <a:ea typeface="Georgia Pro"/>
                <a:cs typeface="Georgia Pro"/>
                <a:sym typeface="Georgia Pro"/>
              </a:rPr>
              <a:t>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058801" y="5161764"/>
            <a:ext cx="6907381" cy="228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814256"/>
                </a:solidFill>
                <a:latin typeface="Georgia Pro"/>
                <a:ea typeface="Georgia Pro"/>
                <a:cs typeface="Georgia Pro"/>
                <a:sym typeface="Georgia Pro"/>
              </a:rPr>
              <a:t>A source population is defined as a patch with a positive intrinsic </a:t>
            </a:r>
            <a:r>
              <a:rPr lang="en-US" b="true" sz="2600">
                <a:solidFill>
                  <a:srgbClr val="814256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growth rate (r&gt;0) </a:t>
            </a:r>
            <a:r>
              <a:rPr lang="en-US" sz="2600">
                <a:solidFill>
                  <a:srgbClr val="814256"/>
                </a:solidFill>
                <a:latin typeface="Georgia Pro"/>
                <a:ea typeface="Georgia Pro"/>
                <a:cs typeface="Georgia Pro"/>
                <a:sym typeface="Georgia Pro"/>
              </a:rPr>
              <a:t>that contributes more immigrants to nearby patches than it receives back from these neighboring patches.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874091" y="7886065"/>
            <a:ext cx="6092092" cy="9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814256"/>
                </a:solidFill>
                <a:latin typeface="Georgia Pro"/>
                <a:ea typeface="Georgia Pro"/>
                <a:cs typeface="Georgia Pro"/>
                <a:sym typeface="Georgia Pro"/>
              </a:rPr>
              <a:t>A source population should </a:t>
            </a:r>
            <a:r>
              <a:rPr lang="en-US" b="true" sz="2600">
                <a:solidFill>
                  <a:srgbClr val="814256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persist indefinitely</a:t>
            </a:r>
            <a:r>
              <a:rPr lang="en-US" sz="2600">
                <a:solidFill>
                  <a:srgbClr val="814256"/>
                </a:solidFill>
                <a:latin typeface="Georgia Pro"/>
                <a:ea typeface="Georgia Pro"/>
                <a:cs typeface="Georgia Pro"/>
                <a:sym typeface="Georgia Pro"/>
              </a:rPr>
              <a:t>, even in isolation.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561293" y="0"/>
            <a:ext cx="1440593" cy="4724098"/>
            <a:chOff x="0" y="0"/>
            <a:chExt cx="379415" cy="124420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79415" cy="1244207"/>
            </a:xfrm>
            <a:custGeom>
              <a:avLst/>
              <a:gdLst/>
              <a:ahLst/>
              <a:cxnLst/>
              <a:rect r="r" b="b" t="t" l="l"/>
              <a:pathLst>
                <a:path h="1244207" w="379415">
                  <a:moveTo>
                    <a:pt x="0" y="0"/>
                  </a:moveTo>
                  <a:lnTo>
                    <a:pt x="379415" y="0"/>
                  </a:lnTo>
                  <a:lnTo>
                    <a:pt x="379415" y="1244207"/>
                  </a:lnTo>
                  <a:lnTo>
                    <a:pt x="0" y="1244207"/>
                  </a:lnTo>
                  <a:close/>
                </a:path>
              </a:pathLst>
            </a:custGeom>
            <a:solidFill>
              <a:srgbClr val="814256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379415" cy="1301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53354" y="0"/>
            <a:ext cx="1440593" cy="4724098"/>
            <a:chOff x="0" y="0"/>
            <a:chExt cx="379415" cy="12442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9415" cy="1244207"/>
            </a:xfrm>
            <a:custGeom>
              <a:avLst/>
              <a:gdLst/>
              <a:ahLst/>
              <a:cxnLst/>
              <a:rect r="r" b="b" t="t" l="l"/>
              <a:pathLst>
                <a:path h="1244207" w="379415">
                  <a:moveTo>
                    <a:pt x="0" y="0"/>
                  </a:moveTo>
                  <a:lnTo>
                    <a:pt x="379415" y="0"/>
                  </a:lnTo>
                  <a:lnTo>
                    <a:pt x="379415" y="1244207"/>
                  </a:lnTo>
                  <a:lnTo>
                    <a:pt x="0" y="1244207"/>
                  </a:lnTo>
                  <a:close/>
                </a:path>
              </a:pathLst>
            </a:custGeom>
            <a:solidFill>
              <a:srgbClr val="AB874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79415" cy="1301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967739" y="297960"/>
            <a:ext cx="2583123" cy="2642581"/>
          </a:xfrm>
          <a:custGeom>
            <a:avLst/>
            <a:gdLst/>
            <a:ahLst/>
            <a:cxnLst/>
            <a:rect r="r" b="b" t="t" l="l"/>
            <a:pathLst>
              <a:path h="2642581" w="2583123">
                <a:moveTo>
                  <a:pt x="0" y="0"/>
                </a:moveTo>
                <a:lnTo>
                  <a:pt x="2583122" y="0"/>
                </a:lnTo>
                <a:lnTo>
                  <a:pt x="2583122" y="2642580"/>
                </a:lnTo>
                <a:lnTo>
                  <a:pt x="0" y="26425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024621" y="0"/>
            <a:ext cx="6234679" cy="4724098"/>
            <a:chOff x="0" y="0"/>
            <a:chExt cx="910954" cy="6902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0954" cy="690242"/>
            </a:xfrm>
            <a:custGeom>
              <a:avLst/>
              <a:gdLst/>
              <a:ahLst/>
              <a:cxnLst/>
              <a:rect r="r" b="b" t="t" l="l"/>
              <a:pathLst>
                <a:path h="690242" w="910954">
                  <a:moveTo>
                    <a:pt x="0" y="0"/>
                  </a:moveTo>
                  <a:lnTo>
                    <a:pt x="910954" y="0"/>
                  </a:lnTo>
                  <a:lnTo>
                    <a:pt x="910954" y="690242"/>
                  </a:lnTo>
                  <a:lnTo>
                    <a:pt x="0" y="690242"/>
                  </a:lnTo>
                  <a:close/>
                </a:path>
              </a:pathLst>
            </a:custGeom>
            <a:blipFill>
              <a:blip r:embed="rId4"/>
              <a:stretch>
                <a:fillRect l="0" t="-14578" r="0" b="-287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4724098"/>
            <a:ext cx="11604127" cy="5562902"/>
            <a:chOff x="0" y="0"/>
            <a:chExt cx="1695488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95488" cy="812800"/>
            </a:xfrm>
            <a:custGeom>
              <a:avLst/>
              <a:gdLst/>
              <a:ahLst/>
              <a:cxnLst/>
              <a:rect r="r" b="b" t="t" l="l"/>
              <a:pathLst>
                <a:path h="812800" w="1695488">
                  <a:moveTo>
                    <a:pt x="0" y="0"/>
                  </a:moveTo>
                  <a:lnTo>
                    <a:pt x="1695488" y="0"/>
                  </a:lnTo>
                  <a:lnTo>
                    <a:pt x="1695488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0" t="0" r="-2465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024621" y="5720293"/>
            <a:ext cx="6234679" cy="418321"/>
            <a:chOff x="0" y="0"/>
            <a:chExt cx="6651272" cy="44627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-25400" y="13126"/>
              <a:ext cx="6647452" cy="461087"/>
            </a:xfrm>
            <a:custGeom>
              <a:avLst/>
              <a:gdLst/>
              <a:ahLst/>
              <a:cxnLst/>
              <a:rect r="r" b="b" t="t" l="l"/>
              <a:pathLst>
                <a:path h="461087" w="6647452">
                  <a:moveTo>
                    <a:pt x="98451" y="55315"/>
                  </a:moveTo>
                  <a:cubicBezTo>
                    <a:pt x="3150147" y="52502"/>
                    <a:pt x="3436871" y="40314"/>
                    <a:pt x="3911701" y="35627"/>
                  </a:cubicBezTo>
                  <a:cubicBezTo>
                    <a:pt x="4536285" y="29064"/>
                    <a:pt x="5779974" y="0"/>
                    <a:pt x="6079482" y="24376"/>
                  </a:cubicBezTo>
                  <a:cubicBezTo>
                    <a:pt x="6159838" y="30939"/>
                    <a:pt x="6176274" y="30001"/>
                    <a:pt x="6229236" y="50627"/>
                  </a:cubicBezTo>
                  <a:cubicBezTo>
                    <a:pt x="6338813" y="92817"/>
                    <a:pt x="6647452" y="275639"/>
                    <a:pt x="6603622" y="326267"/>
                  </a:cubicBezTo>
                  <a:cubicBezTo>
                    <a:pt x="6565270" y="371269"/>
                    <a:pt x="6324202" y="353455"/>
                    <a:pt x="6090440" y="361893"/>
                  </a:cubicBezTo>
                  <a:cubicBezTo>
                    <a:pt x="5597347" y="380644"/>
                    <a:pt x="4423056" y="367519"/>
                    <a:pt x="3771078" y="375019"/>
                  </a:cubicBezTo>
                  <a:cubicBezTo>
                    <a:pt x="3296248" y="379707"/>
                    <a:pt x="2985782" y="391895"/>
                    <a:pt x="2540172" y="394708"/>
                  </a:cubicBezTo>
                  <a:cubicBezTo>
                    <a:pt x="2010554" y="397520"/>
                    <a:pt x="1249000" y="386270"/>
                    <a:pt x="799738" y="388145"/>
                  </a:cubicBezTo>
                  <a:cubicBezTo>
                    <a:pt x="514840" y="389082"/>
                    <a:pt x="217158" y="461087"/>
                    <a:pt x="102103" y="395645"/>
                  </a:cubicBezTo>
                  <a:cubicBezTo>
                    <a:pt x="0" y="339392"/>
                    <a:pt x="98451" y="55315"/>
                    <a:pt x="98451" y="55315"/>
                  </a:cubicBezTo>
                </a:path>
              </a:pathLst>
            </a:custGeom>
            <a:solidFill>
              <a:srgbClr val="8CA87C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4380607" y="7952740"/>
            <a:ext cx="2522628" cy="418321"/>
            <a:chOff x="0" y="0"/>
            <a:chExt cx="2691187" cy="4462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-25400" y="13126"/>
              <a:ext cx="2704764" cy="461087"/>
            </a:xfrm>
            <a:custGeom>
              <a:avLst/>
              <a:gdLst/>
              <a:ahLst/>
              <a:cxnLst/>
              <a:rect r="r" b="b" t="t" l="l"/>
              <a:pathLst>
                <a:path h="461087" w="2704764">
                  <a:moveTo>
                    <a:pt x="54957" y="55315"/>
                  </a:moveTo>
                  <a:cubicBezTo>
                    <a:pt x="1289711" y="52502"/>
                    <a:pt x="1405723" y="40314"/>
                    <a:pt x="1597845" y="35627"/>
                  </a:cubicBezTo>
                  <a:cubicBezTo>
                    <a:pt x="1850560" y="29064"/>
                    <a:pt x="2353772" y="0"/>
                    <a:pt x="2474956" y="24376"/>
                  </a:cubicBezTo>
                  <a:cubicBezTo>
                    <a:pt x="2507469" y="30939"/>
                    <a:pt x="2514120" y="30001"/>
                    <a:pt x="2535549" y="50627"/>
                  </a:cubicBezTo>
                  <a:cubicBezTo>
                    <a:pt x="2579885" y="92817"/>
                    <a:pt x="2704764" y="275639"/>
                    <a:pt x="2687030" y="326267"/>
                  </a:cubicBezTo>
                  <a:cubicBezTo>
                    <a:pt x="2671512" y="371269"/>
                    <a:pt x="2573973" y="353455"/>
                    <a:pt x="2479390" y="361893"/>
                  </a:cubicBezTo>
                  <a:cubicBezTo>
                    <a:pt x="2279879" y="380644"/>
                    <a:pt x="1804746" y="367519"/>
                    <a:pt x="1540948" y="375019"/>
                  </a:cubicBezTo>
                  <a:cubicBezTo>
                    <a:pt x="1348826" y="379707"/>
                    <a:pt x="1223207" y="391895"/>
                    <a:pt x="1042908" y="394708"/>
                  </a:cubicBezTo>
                  <a:cubicBezTo>
                    <a:pt x="828618" y="397520"/>
                    <a:pt x="520484" y="386270"/>
                    <a:pt x="338707" y="388145"/>
                  </a:cubicBezTo>
                  <a:cubicBezTo>
                    <a:pt x="223434" y="389082"/>
                    <a:pt x="102988" y="461087"/>
                    <a:pt x="56435" y="395645"/>
                  </a:cubicBezTo>
                  <a:cubicBezTo>
                    <a:pt x="0" y="339392"/>
                    <a:pt x="54957" y="55315"/>
                    <a:pt x="54957" y="55315"/>
                  </a:cubicBezTo>
                </a:path>
              </a:pathLst>
            </a:custGeom>
            <a:solidFill>
              <a:srgbClr val="8CA87C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559418" y="1130697"/>
            <a:ext cx="7993739" cy="1485900"/>
            <a:chOff x="0" y="0"/>
            <a:chExt cx="10658319" cy="198120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193675"/>
              <a:ext cx="7580103" cy="1584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360"/>
                </a:lnSpc>
                <a:spcBef>
                  <a:spcPct val="0"/>
                </a:spcBef>
              </a:pPr>
              <a:r>
                <a:rPr lang="en-US" b="true" sz="7800" spc="-117">
                  <a:solidFill>
                    <a:srgbClr val="414B3B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Sources &amp;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7150054" y="0"/>
              <a:ext cx="3508264" cy="198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760"/>
                </a:lnSpc>
                <a:spcBef>
                  <a:spcPct val="0"/>
                </a:spcBef>
              </a:pPr>
              <a:r>
                <a:rPr lang="en-US" b="true" sz="9800">
                  <a:solidFill>
                    <a:srgbClr val="414B3B"/>
                  </a:solidFill>
                  <a:latin typeface="Linotype Feltpen Medium"/>
                  <a:ea typeface="Linotype Feltpen Medium"/>
                  <a:cs typeface="Linotype Feltpen Medium"/>
                  <a:sym typeface="Linotype Feltpen Medium"/>
                </a:rPr>
                <a:t>sinks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7150054" y="1566332"/>
              <a:ext cx="3348274" cy="350238"/>
              <a:chOff x="0" y="0"/>
              <a:chExt cx="1857604" cy="19431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33232" y="41910"/>
                <a:ext cx="1791992" cy="116840"/>
              </a:xfrm>
              <a:custGeom>
                <a:avLst/>
                <a:gdLst/>
                <a:ahLst/>
                <a:cxnLst/>
                <a:rect r="r" b="b" t="t" l="l"/>
                <a:pathLst>
                  <a:path h="116840" w="1791992">
                    <a:moveTo>
                      <a:pt x="22155" y="31750"/>
                    </a:moveTo>
                    <a:cubicBezTo>
                      <a:pt x="1031056" y="34290"/>
                      <a:pt x="1110302" y="19050"/>
                      <a:pt x="1224485" y="13970"/>
                    </a:cubicBezTo>
                    <a:cubicBezTo>
                      <a:pt x="1347190" y="8890"/>
                      <a:pt x="1503978" y="5080"/>
                      <a:pt x="1605379" y="8890"/>
                    </a:cubicBezTo>
                    <a:cubicBezTo>
                      <a:pt x="1673549" y="11430"/>
                      <a:pt x="1751091" y="0"/>
                      <a:pt x="1775802" y="25400"/>
                    </a:cubicBezTo>
                    <a:cubicBezTo>
                      <a:pt x="1786879" y="36830"/>
                      <a:pt x="1791140" y="57150"/>
                      <a:pt x="1790288" y="69850"/>
                    </a:cubicBezTo>
                    <a:cubicBezTo>
                      <a:pt x="1789436" y="81280"/>
                      <a:pt x="1780915" y="95250"/>
                      <a:pt x="1773246" y="99060"/>
                    </a:cubicBezTo>
                    <a:cubicBezTo>
                      <a:pt x="1764724" y="102870"/>
                      <a:pt x="1747682" y="96520"/>
                      <a:pt x="1741717" y="86360"/>
                    </a:cubicBezTo>
                    <a:cubicBezTo>
                      <a:pt x="1736605" y="77470"/>
                      <a:pt x="1734048" y="58420"/>
                      <a:pt x="1737457" y="48260"/>
                    </a:cubicBezTo>
                    <a:cubicBezTo>
                      <a:pt x="1740865" y="36830"/>
                      <a:pt x="1756203" y="21590"/>
                      <a:pt x="1764724" y="21590"/>
                    </a:cubicBezTo>
                    <a:cubicBezTo>
                      <a:pt x="1772393" y="21590"/>
                      <a:pt x="1782619" y="31750"/>
                      <a:pt x="1786879" y="40640"/>
                    </a:cubicBezTo>
                    <a:cubicBezTo>
                      <a:pt x="1790288" y="48260"/>
                      <a:pt x="1791992" y="57150"/>
                      <a:pt x="1790288" y="66040"/>
                    </a:cubicBezTo>
                    <a:cubicBezTo>
                      <a:pt x="1787731" y="77470"/>
                      <a:pt x="1780915" y="95250"/>
                      <a:pt x="1768133" y="101600"/>
                    </a:cubicBezTo>
                    <a:cubicBezTo>
                      <a:pt x="1740013" y="116840"/>
                      <a:pt x="1662471" y="78740"/>
                      <a:pt x="1603675" y="72390"/>
                    </a:cubicBezTo>
                    <a:cubicBezTo>
                      <a:pt x="1536359" y="64770"/>
                      <a:pt x="1489492" y="64770"/>
                      <a:pt x="1386387" y="64770"/>
                    </a:cubicBezTo>
                    <a:cubicBezTo>
                      <a:pt x="1136718" y="63500"/>
                      <a:pt x="276085" y="100330"/>
                      <a:pt x="98845" y="96520"/>
                    </a:cubicBezTo>
                    <a:cubicBezTo>
                      <a:pt x="52831" y="95250"/>
                      <a:pt x="26416" y="104140"/>
                      <a:pt x="11930" y="90170"/>
                    </a:cubicBezTo>
                    <a:cubicBezTo>
                      <a:pt x="4261" y="82550"/>
                      <a:pt x="0" y="67310"/>
                      <a:pt x="852" y="58420"/>
                    </a:cubicBezTo>
                    <a:cubicBezTo>
                      <a:pt x="2557" y="48260"/>
                      <a:pt x="22155" y="31750"/>
                      <a:pt x="22155" y="31750"/>
                    </a:cubicBezTo>
                  </a:path>
                </a:pathLst>
              </a:custGeom>
              <a:solidFill>
                <a:srgbClr val="414B3B"/>
              </a:solidFill>
              <a:ln cap="sq">
                <a:noFill/>
                <a:prstDash val="solid"/>
                <a:miter/>
              </a:ln>
            </p:spPr>
          </p:sp>
        </p:grpSp>
      </p:grpSp>
      <p:grpSp>
        <p:nvGrpSpPr>
          <p:cNvPr name="Group 19" id="19"/>
          <p:cNvGrpSpPr/>
          <p:nvPr/>
        </p:nvGrpSpPr>
        <p:grpSpPr>
          <a:xfrm rot="-367605">
            <a:off x="2717419" y="2964336"/>
            <a:ext cx="2397833" cy="937379"/>
            <a:chOff x="0" y="0"/>
            <a:chExt cx="2916522" cy="114014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57505" y="39153"/>
              <a:ext cx="2807410" cy="1039916"/>
            </a:xfrm>
            <a:custGeom>
              <a:avLst/>
              <a:gdLst/>
              <a:ahLst/>
              <a:cxnLst/>
              <a:rect r="r" b="b" t="t" l="l"/>
              <a:pathLst>
                <a:path h="1039916" w="2807410">
                  <a:moveTo>
                    <a:pt x="1377164" y="136254"/>
                  </a:moveTo>
                  <a:cubicBezTo>
                    <a:pt x="608960" y="161313"/>
                    <a:pt x="561777" y="167577"/>
                    <a:pt x="491002" y="186371"/>
                  </a:cubicBezTo>
                  <a:cubicBezTo>
                    <a:pt x="415803" y="206731"/>
                    <a:pt x="324385" y="238053"/>
                    <a:pt x="262457" y="272508"/>
                  </a:cubicBezTo>
                  <a:cubicBezTo>
                    <a:pt x="213799" y="299133"/>
                    <a:pt x="166616" y="332022"/>
                    <a:pt x="141550" y="364911"/>
                  </a:cubicBezTo>
                  <a:cubicBezTo>
                    <a:pt x="122382" y="389969"/>
                    <a:pt x="110586" y="415027"/>
                    <a:pt x="109111" y="443218"/>
                  </a:cubicBezTo>
                  <a:cubicBezTo>
                    <a:pt x="107637" y="474540"/>
                    <a:pt x="123856" y="510561"/>
                    <a:pt x="140075" y="541884"/>
                  </a:cubicBezTo>
                  <a:cubicBezTo>
                    <a:pt x="157769" y="574773"/>
                    <a:pt x="182835" y="604530"/>
                    <a:pt x="215274" y="634286"/>
                  </a:cubicBezTo>
                  <a:cubicBezTo>
                    <a:pt x="258034" y="673440"/>
                    <a:pt x="318487" y="714159"/>
                    <a:pt x="384839" y="747048"/>
                  </a:cubicBezTo>
                  <a:cubicBezTo>
                    <a:pt x="464461" y="786202"/>
                    <a:pt x="570624" y="819091"/>
                    <a:pt x="664990" y="845715"/>
                  </a:cubicBezTo>
                  <a:cubicBezTo>
                    <a:pt x="756408" y="872339"/>
                    <a:pt x="836030" y="892699"/>
                    <a:pt x="942193" y="906794"/>
                  </a:cubicBezTo>
                  <a:cubicBezTo>
                    <a:pt x="1082268" y="925588"/>
                    <a:pt x="1253308" y="930286"/>
                    <a:pt x="1433195" y="934985"/>
                  </a:cubicBezTo>
                  <a:cubicBezTo>
                    <a:pt x="1652892" y="941249"/>
                    <a:pt x="1977278" y="941249"/>
                    <a:pt x="2166011" y="930286"/>
                  </a:cubicBezTo>
                  <a:cubicBezTo>
                    <a:pt x="2286918" y="922456"/>
                    <a:pt x="2376862" y="913059"/>
                    <a:pt x="2460907" y="897398"/>
                  </a:cubicBezTo>
                  <a:cubicBezTo>
                    <a:pt x="2524310" y="886435"/>
                    <a:pt x="2583289" y="872339"/>
                    <a:pt x="2626049" y="856678"/>
                  </a:cubicBezTo>
                  <a:cubicBezTo>
                    <a:pt x="2655539" y="845715"/>
                    <a:pt x="2689452" y="842583"/>
                    <a:pt x="2699773" y="819091"/>
                  </a:cubicBezTo>
                  <a:cubicBezTo>
                    <a:pt x="2713043" y="789334"/>
                    <a:pt x="2698298" y="720424"/>
                    <a:pt x="2674707" y="681271"/>
                  </a:cubicBezTo>
                  <a:cubicBezTo>
                    <a:pt x="2648166" y="637419"/>
                    <a:pt x="2587712" y="604530"/>
                    <a:pt x="2539055" y="574773"/>
                  </a:cubicBezTo>
                  <a:cubicBezTo>
                    <a:pt x="2488922" y="543450"/>
                    <a:pt x="2446162" y="526223"/>
                    <a:pt x="2375387" y="499599"/>
                  </a:cubicBezTo>
                  <a:cubicBezTo>
                    <a:pt x="2257429" y="455747"/>
                    <a:pt x="2048053" y="394667"/>
                    <a:pt x="1885860" y="355514"/>
                  </a:cubicBezTo>
                  <a:cubicBezTo>
                    <a:pt x="1728090" y="316360"/>
                    <a:pt x="1560000" y="283471"/>
                    <a:pt x="1412552" y="263112"/>
                  </a:cubicBezTo>
                  <a:cubicBezTo>
                    <a:pt x="1284272" y="245884"/>
                    <a:pt x="1197278" y="239620"/>
                    <a:pt x="1051304" y="234921"/>
                  </a:cubicBezTo>
                  <a:cubicBezTo>
                    <a:pt x="830132" y="227090"/>
                    <a:pt x="299319" y="277207"/>
                    <a:pt x="212325" y="238053"/>
                  </a:cubicBezTo>
                  <a:cubicBezTo>
                    <a:pt x="193157" y="228657"/>
                    <a:pt x="185784" y="217694"/>
                    <a:pt x="182835" y="205165"/>
                  </a:cubicBezTo>
                  <a:cubicBezTo>
                    <a:pt x="179886" y="191069"/>
                    <a:pt x="190208" y="161313"/>
                    <a:pt x="202004" y="151916"/>
                  </a:cubicBezTo>
                  <a:cubicBezTo>
                    <a:pt x="212325" y="144085"/>
                    <a:pt x="232968" y="140953"/>
                    <a:pt x="243289" y="147217"/>
                  </a:cubicBezTo>
                  <a:cubicBezTo>
                    <a:pt x="256559" y="153482"/>
                    <a:pt x="271304" y="183239"/>
                    <a:pt x="269830" y="198900"/>
                  </a:cubicBezTo>
                  <a:cubicBezTo>
                    <a:pt x="269830" y="212995"/>
                    <a:pt x="258034" y="230223"/>
                    <a:pt x="246238" y="234921"/>
                  </a:cubicBezTo>
                  <a:cubicBezTo>
                    <a:pt x="232968" y="241186"/>
                    <a:pt x="202004" y="234921"/>
                    <a:pt x="191682" y="223958"/>
                  </a:cubicBezTo>
                  <a:cubicBezTo>
                    <a:pt x="182835" y="214561"/>
                    <a:pt x="178412" y="192635"/>
                    <a:pt x="182835" y="180106"/>
                  </a:cubicBezTo>
                  <a:cubicBezTo>
                    <a:pt x="187259" y="166011"/>
                    <a:pt x="199055" y="153482"/>
                    <a:pt x="224121" y="144085"/>
                  </a:cubicBezTo>
                  <a:cubicBezTo>
                    <a:pt x="324385" y="106498"/>
                    <a:pt x="803591" y="125292"/>
                    <a:pt x="1058676" y="137821"/>
                  </a:cubicBezTo>
                  <a:cubicBezTo>
                    <a:pt x="1275425" y="148784"/>
                    <a:pt x="1467107" y="170710"/>
                    <a:pt x="1657316" y="202032"/>
                  </a:cubicBezTo>
                  <a:cubicBezTo>
                    <a:pt x="1832778" y="231789"/>
                    <a:pt x="2006767" y="272508"/>
                    <a:pt x="2160113" y="314794"/>
                  </a:cubicBezTo>
                  <a:cubicBezTo>
                    <a:pt x="2292816" y="350815"/>
                    <a:pt x="2435841" y="394667"/>
                    <a:pt x="2527259" y="433821"/>
                  </a:cubicBezTo>
                  <a:cubicBezTo>
                    <a:pt x="2586238" y="458879"/>
                    <a:pt x="2624574" y="479239"/>
                    <a:pt x="2665860" y="510561"/>
                  </a:cubicBezTo>
                  <a:cubicBezTo>
                    <a:pt x="2705671" y="540318"/>
                    <a:pt x="2749905" y="582604"/>
                    <a:pt x="2770548" y="615493"/>
                  </a:cubicBezTo>
                  <a:cubicBezTo>
                    <a:pt x="2783818" y="637419"/>
                    <a:pt x="2786767" y="651514"/>
                    <a:pt x="2791190" y="676572"/>
                  </a:cubicBezTo>
                  <a:cubicBezTo>
                    <a:pt x="2798563" y="714159"/>
                    <a:pt x="2807410" y="784636"/>
                    <a:pt x="2800037" y="825355"/>
                  </a:cubicBezTo>
                  <a:cubicBezTo>
                    <a:pt x="2795614" y="855112"/>
                    <a:pt x="2785293" y="878604"/>
                    <a:pt x="2769073" y="897398"/>
                  </a:cubicBezTo>
                  <a:cubicBezTo>
                    <a:pt x="2754329" y="914625"/>
                    <a:pt x="2733686" y="922456"/>
                    <a:pt x="2708620" y="933419"/>
                  </a:cubicBezTo>
                  <a:cubicBezTo>
                    <a:pt x="2674707" y="949080"/>
                    <a:pt x="2634896" y="958477"/>
                    <a:pt x="2578865" y="971006"/>
                  </a:cubicBezTo>
                  <a:cubicBezTo>
                    <a:pt x="2481550" y="991366"/>
                    <a:pt x="2301663" y="1014858"/>
                    <a:pt x="2170434" y="1025821"/>
                  </a:cubicBezTo>
                  <a:cubicBezTo>
                    <a:pt x="2048053" y="1036784"/>
                    <a:pt x="1953686" y="1038350"/>
                    <a:pt x="1813610" y="1038350"/>
                  </a:cubicBezTo>
                  <a:cubicBezTo>
                    <a:pt x="1616030" y="1039916"/>
                    <a:pt x="1309338" y="1039916"/>
                    <a:pt x="1097013" y="1021122"/>
                  </a:cubicBezTo>
                  <a:cubicBezTo>
                    <a:pt x="925973" y="1005461"/>
                    <a:pt x="760831" y="974138"/>
                    <a:pt x="638450" y="947514"/>
                  </a:cubicBezTo>
                  <a:cubicBezTo>
                    <a:pt x="554404" y="928720"/>
                    <a:pt x="498374" y="914625"/>
                    <a:pt x="430548" y="888001"/>
                  </a:cubicBezTo>
                  <a:cubicBezTo>
                    <a:pt x="358298" y="859810"/>
                    <a:pt x="271304" y="814392"/>
                    <a:pt x="218223" y="781503"/>
                  </a:cubicBezTo>
                  <a:cubicBezTo>
                    <a:pt x="184310" y="759577"/>
                    <a:pt x="163667" y="745482"/>
                    <a:pt x="137126" y="718858"/>
                  </a:cubicBezTo>
                  <a:cubicBezTo>
                    <a:pt x="103213" y="685969"/>
                    <a:pt x="60453" y="637419"/>
                    <a:pt x="38336" y="593567"/>
                  </a:cubicBezTo>
                  <a:cubicBezTo>
                    <a:pt x="17693" y="554413"/>
                    <a:pt x="4423" y="510561"/>
                    <a:pt x="1474" y="471408"/>
                  </a:cubicBezTo>
                  <a:cubicBezTo>
                    <a:pt x="0" y="436953"/>
                    <a:pt x="7372" y="402498"/>
                    <a:pt x="19168" y="371175"/>
                  </a:cubicBezTo>
                  <a:cubicBezTo>
                    <a:pt x="30964" y="341419"/>
                    <a:pt x="48658" y="313228"/>
                    <a:pt x="70775" y="288170"/>
                  </a:cubicBezTo>
                  <a:cubicBezTo>
                    <a:pt x="94366" y="261546"/>
                    <a:pt x="122382" y="241186"/>
                    <a:pt x="157769" y="217694"/>
                  </a:cubicBezTo>
                  <a:cubicBezTo>
                    <a:pt x="206427" y="186371"/>
                    <a:pt x="281625" y="150350"/>
                    <a:pt x="337656" y="126858"/>
                  </a:cubicBezTo>
                  <a:cubicBezTo>
                    <a:pt x="386313" y="106498"/>
                    <a:pt x="423175" y="95535"/>
                    <a:pt x="474782" y="83006"/>
                  </a:cubicBezTo>
                  <a:cubicBezTo>
                    <a:pt x="538185" y="67344"/>
                    <a:pt x="600113" y="56381"/>
                    <a:pt x="693005" y="46985"/>
                  </a:cubicBezTo>
                  <a:cubicBezTo>
                    <a:pt x="858147" y="31323"/>
                    <a:pt x="1288695" y="0"/>
                    <a:pt x="1378639" y="23493"/>
                  </a:cubicBezTo>
                  <a:cubicBezTo>
                    <a:pt x="1402230" y="29757"/>
                    <a:pt x="1412552" y="36022"/>
                    <a:pt x="1421399" y="48551"/>
                  </a:cubicBezTo>
                  <a:cubicBezTo>
                    <a:pt x="1428771" y="59514"/>
                    <a:pt x="1431720" y="75175"/>
                    <a:pt x="1430245" y="87704"/>
                  </a:cubicBezTo>
                  <a:cubicBezTo>
                    <a:pt x="1428771" y="100233"/>
                    <a:pt x="1421399" y="114329"/>
                    <a:pt x="1412552" y="122159"/>
                  </a:cubicBezTo>
                  <a:cubicBezTo>
                    <a:pt x="1403705" y="129990"/>
                    <a:pt x="1377164" y="136254"/>
                    <a:pt x="1377164" y="136254"/>
                  </a:cubicBezTo>
                </a:path>
              </a:pathLst>
            </a:custGeom>
            <a:solidFill>
              <a:srgbClr val="8CA87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-367605">
            <a:off x="6460402" y="3043498"/>
            <a:ext cx="2262457" cy="937379"/>
            <a:chOff x="0" y="0"/>
            <a:chExt cx="2751863" cy="114014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54258" y="39153"/>
              <a:ext cx="2648912" cy="1039916"/>
            </a:xfrm>
            <a:custGeom>
              <a:avLst/>
              <a:gdLst/>
              <a:ahLst/>
              <a:cxnLst/>
              <a:rect r="r" b="b" t="t" l="l"/>
              <a:pathLst>
                <a:path h="1039916" w="2648912">
                  <a:moveTo>
                    <a:pt x="1299414" y="136254"/>
                  </a:moveTo>
                  <a:cubicBezTo>
                    <a:pt x="574580" y="161313"/>
                    <a:pt x="530061" y="167577"/>
                    <a:pt x="463281" y="186371"/>
                  </a:cubicBezTo>
                  <a:cubicBezTo>
                    <a:pt x="392329" y="206731"/>
                    <a:pt x="306072" y="238053"/>
                    <a:pt x="247640" y="272508"/>
                  </a:cubicBezTo>
                  <a:cubicBezTo>
                    <a:pt x="201729" y="299133"/>
                    <a:pt x="157210" y="332022"/>
                    <a:pt x="133559" y="364911"/>
                  </a:cubicBezTo>
                  <a:cubicBezTo>
                    <a:pt x="115473" y="389969"/>
                    <a:pt x="104343" y="415027"/>
                    <a:pt x="102952" y="443218"/>
                  </a:cubicBezTo>
                  <a:cubicBezTo>
                    <a:pt x="101560" y="474540"/>
                    <a:pt x="116864" y="510561"/>
                    <a:pt x="132168" y="541884"/>
                  </a:cubicBezTo>
                  <a:cubicBezTo>
                    <a:pt x="148862" y="574773"/>
                    <a:pt x="172513" y="604530"/>
                    <a:pt x="203121" y="634286"/>
                  </a:cubicBezTo>
                  <a:cubicBezTo>
                    <a:pt x="243466" y="673440"/>
                    <a:pt x="300507" y="714159"/>
                    <a:pt x="363113" y="747048"/>
                  </a:cubicBezTo>
                  <a:cubicBezTo>
                    <a:pt x="438239" y="786202"/>
                    <a:pt x="538408" y="819091"/>
                    <a:pt x="627447" y="845715"/>
                  </a:cubicBezTo>
                  <a:cubicBezTo>
                    <a:pt x="713704" y="872339"/>
                    <a:pt x="788830" y="892699"/>
                    <a:pt x="888999" y="906794"/>
                  </a:cubicBezTo>
                  <a:cubicBezTo>
                    <a:pt x="1021167" y="925588"/>
                    <a:pt x="1182550" y="930286"/>
                    <a:pt x="1352281" y="934985"/>
                  </a:cubicBezTo>
                  <a:cubicBezTo>
                    <a:pt x="1559575" y="941249"/>
                    <a:pt x="1865646" y="941249"/>
                    <a:pt x="2043724" y="930286"/>
                  </a:cubicBezTo>
                  <a:cubicBezTo>
                    <a:pt x="2157806" y="922456"/>
                    <a:pt x="2242671" y="913059"/>
                    <a:pt x="2321971" y="897398"/>
                  </a:cubicBezTo>
                  <a:cubicBezTo>
                    <a:pt x="2381795" y="886435"/>
                    <a:pt x="2437444" y="872339"/>
                    <a:pt x="2477790" y="856678"/>
                  </a:cubicBezTo>
                  <a:cubicBezTo>
                    <a:pt x="2505614" y="845715"/>
                    <a:pt x="2537613" y="842583"/>
                    <a:pt x="2547351" y="819091"/>
                  </a:cubicBezTo>
                  <a:cubicBezTo>
                    <a:pt x="2559873" y="789334"/>
                    <a:pt x="2545960" y="720424"/>
                    <a:pt x="2523701" y="681271"/>
                  </a:cubicBezTo>
                  <a:cubicBezTo>
                    <a:pt x="2498658" y="637419"/>
                    <a:pt x="2441618" y="604530"/>
                    <a:pt x="2395707" y="574773"/>
                  </a:cubicBezTo>
                  <a:cubicBezTo>
                    <a:pt x="2348405" y="543450"/>
                    <a:pt x="2308059" y="526223"/>
                    <a:pt x="2241280" y="499599"/>
                  </a:cubicBezTo>
                  <a:cubicBezTo>
                    <a:pt x="2129981" y="455747"/>
                    <a:pt x="1932426" y="394667"/>
                    <a:pt x="1779390" y="355514"/>
                  </a:cubicBezTo>
                  <a:cubicBezTo>
                    <a:pt x="1630528" y="316360"/>
                    <a:pt x="1471927" y="283471"/>
                    <a:pt x="1332803" y="263112"/>
                  </a:cubicBezTo>
                  <a:cubicBezTo>
                    <a:pt x="1211766" y="245884"/>
                    <a:pt x="1129683" y="239620"/>
                    <a:pt x="991951" y="234921"/>
                  </a:cubicBezTo>
                  <a:cubicBezTo>
                    <a:pt x="783265" y="227090"/>
                    <a:pt x="282421" y="277207"/>
                    <a:pt x="200338" y="238053"/>
                  </a:cubicBezTo>
                  <a:cubicBezTo>
                    <a:pt x="182252" y="228657"/>
                    <a:pt x="175296" y="217694"/>
                    <a:pt x="172513" y="205165"/>
                  </a:cubicBezTo>
                  <a:cubicBezTo>
                    <a:pt x="169731" y="191069"/>
                    <a:pt x="179470" y="161313"/>
                    <a:pt x="190599" y="151916"/>
                  </a:cubicBezTo>
                  <a:cubicBezTo>
                    <a:pt x="200338" y="144085"/>
                    <a:pt x="219815" y="140953"/>
                    <a:pt x="229554" y="147217"/>
                  </a:cubicBezTo>
                  <a:cubicBezTo>
                    <a:pt x="242075" y="153482"/>
                    <a:pt x="255987" y="183239"/>
                    <a:pt x="254596" y="198900"/>
                  </a:cubicBezTo>
                  <a:cubicBezTo>
                    <a:pt x="254596" y="212995"/>
                    <a:pt x="243466" y="230223"/>
                    <a:pt x="232336" y="234921"/>
                  </a:cubicBezTo>
                  <a:cubicBezTo>
                    <a:pt x="219815" y="241186"/>
                    <a:pt x="190599" y="234921"/>
                    <a:pt x="180861" y="223958"/>
                  </a:cubicBezTo>
                  <a:cubicBezTo>
                    <a:pt x="172513" y="214561"/>
                    <a:pt x="168340" y="192635"/>
                    <a:pt x="172513" y="180106"/>
                  </a:cubicBezTo>
                  <a:cubicBezTo>
                    <a:pt x="176687" y="166011"/>
                    <a:pt x="187817" y="153482"/>
                    <a:pt x="211468" y="144085"/>
                  </a:cubicBezTo>
                  <a:cubicBezTo>
                    <a:pt x="306072" y="106498"/>
                    <a:pt x="758223" y="125292"/>
                    <a:pt x="998907" y="137821"/>
                  </a:cubicBezTo>
                  <a:cubicBezTo>
                    <a:pt x="1203418" y="148784"/>
                    <a:pt x="1384279" y="170710"/>
                    <a:pt x="1563748" y="202032"/>
                  </a:cubicBezTo>
                  <a:cubicBezTo>
                    <a:pt x="1729305" y="231789"/>
                    <a:pt x="1893471" y="272508"/>
                    <a:pt x="2038159" y="314794"/>
                  </a:cubicBezTo>
                  <a:cubicBezTo>
                    <a:pt x="2163371" y="350815"/>
                    <a:pt x="2298320" y="394667"/>
                    <a:pt x="2384577" y="433821"/>
                  </a:cubicBezTo>
                  <a:cubicBezTo>
                    <a:pt x="2440226" y="458879"/>
                    <a:pt x="2476398" y="479239"/>
                    <a:pt x="2515353" y="510561"/>
                  </a:cubicBezTo>
                  <a:cubicBezTo>
                    <a:pt x="2552916" y="540318"/>
                    <a:pt x="2594653" y="582604"/>
                    <a:pt x="2614131" y="615493"/>
                  </a:cubicBezTo>
                  <a:cubicBezTo>
                    <a:pt x="2626652" y="637419"/>
                    <a:pt x="2629434" y="651514"/>
                    <a:pt x="2633608" y="676572"/>
                  </a:cubicBezTo>
                  <a:cubicBezTo>
                    <a:pt x="2640564" y="714159"/>
                    <a:pt x="2648912" y="784636"/>
                    <a:pt x="2641956" y="825355"/>
                  </a:cubicBezTo>
                  <a:cubicBezTo>
                    <a:pt x="2637782" y="855112"/>
                    <a:pt x="2628043" y="878604"/>
                    <a:pt x="2612739" y="897398"/>
                  </a:cubicBezTo>
                  <a:cubicBezTo>
                    <a:pt x="2598827" y="914625"/>
                    <a:pt x="2579350" y="922456"/>
                    <a:pt x="2555699" y="933419"/>
                  </a:cubicBezTo>
                  <a:cubicBezTo>
                    <a:pt x="2523701" y="949080"/>
                    <a:pt x="2486137" y="958477"/>
                    <a:pt x="2433270" y="971006"/>
                  </a:cubicBezTo>
                  <a:cubicBezTo>
                    <a:pt x="2341449" y="991366"/>
                    <a:pt x="2171718" y="1014858"/>
                    <a:pt x="2047898" y="1025821"/>
                  </a:cubicBezTo>
                  <a:cubicBezTo>
                    <a:pt x="1932426" y="1036784"/>
                    <a:pt x="1843386" y="1038350"/>
                    <a:pt x="1711219" y="1038350"/>
                  </a:cubicBezTo>
                  <a:cubicBezTo>
                    <a:pt x="1524794" y="1039916"/>
                    <a:pt x="1235417" y="1039916"/>
                    <a:pt x="1035079" y="1021122"/>
                  </a:cubicBezTo>
                  <a:cubicBezTo>
                    <a:pt x="873696" y="1005461"/>
                    <a:pt x="717877" y="974138"/>
                    <a:pt x="602405" y="947514"/>
                  </a:cubicBezTo>
                  <a:cubicBezTo>
                    <a:pt x="523104" y="928720"/>
                    <a:pt x="470238" y="914625"/>
                    <a:pt x="406241" y="888001"/>
                  </a:cubicBezTo>
                  <a:cubicBezTo>
                    <a:pt x="338070" y="859810"/>
                    <a:pt x="255987" y="814392"/>
                    <a:pt x="205903" y="781503"/>
                  </a:cubicBezTo>
                  <a:cubicBezTo>
                    <a:pt x="173904" y="759577"/>
                    <a:pt x="154427" y="745482"/>
                    <a:pt x="129385" y="718858"/>
                  </a:cubicBezTo>
                  <a:cubicBezTo>
                    <a:pt x="97387" y="685969"/>
                    <a:pt x="57041" y="637419"/>
                    <a:pt x="36172" y="593567"/>
                  </a:cubicBezTo>
                  <a:cubicBezTo>
                    <a:pt x="16695" y="554413"/>
                    <a:pt x="4174" y="510561"/>
                    <a:pt x="1391" y="471408"/>
                  </a:cubicBezTo>
                  <a:cubicBezTo>
                    <a:pt x="0" y="436953"/>
                    <a:pt x="6956" y="402498"/>
                    <a:pt x="18086" y="371175"/>
                  </a:cubicBezTo>
                  <a:cubicBezTo>
                    <a:pt x="29216" y="341419"/>
                    <a:pt x="45911" y="313228"/>
                    <a:pt x="66779" y="288170"/>
                  </a:cubicBezTo>
                  <a:cubicBezTo>
                    <a:pt x="89039" y="261546"/>
                    <a:pt x="115473" y="241186"/>
                    <a:pt x="148862" y="217694"/>
                  </a:cubicBezTo>
                  <a:cubicBezTo>
                    <a:pt x="194773" y="186371"/>
                    <a:pt x="265726" y="150350"/>
                    <a:pt x="318593" y="126858"/>
                  </a:cubicBezTo>
                  <a:cubicBezTo>
                    <a:pt x="364504" y="106498"/>
                    <a:pt x="399285" y="95535"/>
                    <a:pt x="447978" y="83006"/>
                  </a:cubicBezTo>
                  <a:cubicBezTo>
                    <a:pt x="507801" y="67344"/>
                    <a:pt x="566233" y="56381"/>
                    <a:pt x="653881" y="46985"/>
                  </a:cubicBezTo>
                  <a:cubicBezTo>
                    <a:pt x="809699" y="31323"/>
                    <a:pt x="1215939" y="0"/>
                    <a:pt x="1300805" y="23493"/>
                  </a:cubicBezTo>
                  <a:cubicBezTo>
                    <a:pt x="1323065" y="29757"/>
                    <a:pt x="1332803" y="36022"/>
                    <a:pt x="1341151" y="48551"/>
                  </a:cubicBezTo>
                  <a:cubicBezTo>
                    <a:pt x="1348107" y="59514"/>
                    <a:pt x="1350889" y="75175"/>
                    <a:pt x="1349498" y="87704"/>
                  </a:cubicBezTo>
                  <a:cubicBezTo>
                    <a:pt x="1348107" y="100233"/>
                    <a:pt x="1341151" y="114329"/>
                    <a:pt x="1332803" y="122159"/>
                  </a:cubicBezTo>
                  <a:cubicBezTo>
                    <a:pt x="1324456" y="129990"/>
                    <a:pt x="1299414" y="136254"/>
                    <a:pt x="1299414" y="136254"/>
                  </a:cubicBezTo>
                </a:path>
              </a:pathLst>
            </a:custGeom>
            <a:solidFill>
              <a:srgbClr val="8CA87C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559418" y="2772380"/>
            <a:ext cx="9198016" cy="9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414B3B"/>
                </a:solidFill>
                <a:latin typeface="Georgia Pro"/>
                <a:ea typeface="Georgia Pro"/>
                <a:cs typeface="Georgia Pro"/>
                <a:sym typeface="Georgia Pro"/>
              </a:rPr>
              <a:t>The model assumes that the same species occupies two habitats, one of </a:t>
            </a:r>
            <a:r>
              <a:rPr lang="en-US" b="true" sz="2600">
                <a:solidFill>
                  <a:srgbClr val="414B3B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high quality</a:t>
            </a:r>
            <a:r>
              <a:rPr lang="en-US" sz="2600">
                <a:solidFill>
                  <a:srgbClr val="414B3B"/>
                </a:solidFill>
                <a:latin typeface="Georgia Pro"/>
                <a:ea typeface="Georgia Pro"/>
                <a:cs typeface="Georgia Pro"/>
                <a:sym typeface="Georgia Pro"/>
              </a:rPr>
              <a:t> and one of </a:t>
            </a:r>
            <a:r>
              <a:rPr lang="en-US" b="true" sz="2600">
                <a:solidFill>
                  <a:srgbClr val="414B3B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low quality</a:t>
            </a:r>
            <a:r>
              <a:rPr lang="en-US" sz="2600">
                <a:solidFill>
                  <a:srgbClr val="414B3B"/>
                </a:solidFill>
                <a:latin typeface="Georgia Pro"/>
                <a:ea typeface="Georgia Pro"/>
                <a:cs typeface="Georgia Pro"/>
                <a:sym typeface="Georgia Pro"/>
              </a:rPr>
              <a:t>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053321" y="6556098"/>
            <a:ext cx="4388288" cy="418321"/>
            <a:chOff x="0" y="0"/>
            <a:chExt cx="4681508" cy="44627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-25400" y="13126"/>
              <a:ext cx="4686341" cy="461087"/>
            </a:xfrm>
            <a:custGeom>
              <a:avLst/>
              <a:gdLst/>
              <a:ahLst/>
              <a:cxnLst/>
              <a:rect r="r" b="b" t="t" l="l"/>
              <a:pathLst>
                <a:path h="461087" w="4686341">
                  <a:moveTo>
                    <a:pt x="76817" y="55315"/>
                  </a:moveTo>
                  <a:cubicBezTo>
                    <a:pt x="2224758" y="52502"/>
                    <a:pt x="2426569" y="40314"/>
                    <a:pt x="2760779" y="35627"/>
                  </a:cubicBezTo>
                  <a:cubicBezTo>
                    <a:pt x="3200393" y="29064"/>
                    <a:pt x="4075766" y="0"/>
                    <a:pt x="4286575" y="24376"/>
                  </a:cubicBezTo>
                  <a:cubicBezTo>
                    <a:pt x="4343133" y="30939"/>
                    <a:pt x="4354702" y="30001"/>
                    <a:pt x="4391980" y="50627"/>
                  </a:cubicBezTo>
                  <a:cubicBezTo>
                    <a:pt x="4469105" y="92817"/>
                    <a:pt x="4686341" y="275639"/>
                    <a:pt x="4655491" y="326267"/>
                  </a:cubicBezTo>
                  <a:cubicBezTo>
                    <a:pt x="4628497" y="371269"/>
                    <a:pt x="4458821" y="353455"/>
                    <a:pt x="4294287" y="361893"/>
                  </a:cubicBezTo>
                  <a:cubicBezTo>
                    <a:pt x="3947223" y="380644"/>
                    <a:pt x="3120697" y="367519"/>
                    <a:pt x="2661801" y="375019"/>
                  </a:cubicBezTo>
                  <a:cubicBezTo>
                    <a:pt x="2327591" y="379707"/>
                    <a:pt x="2109070" y="391895"/>
                    <a:pt x="1795426" y="394708"/>
                  </a:cubicBezTo>
                  <a:cubicBezTo>
                    <a:pt x="1422654" y="397520"/>
                    <a:pt x="886633" y="386270"/>
                    <a:pt x="570419" y="388145"/>
                  </a:cubicBezTo>
                  <a:cubicBezTo>
                    <a:pt x="369893" y="389082"/>
                    <a:pt x="160369" y="461087"/>
                    <a:pt x="79388" y="395645"/>
                  </a:cubicBezTo>
                  <a:cubicBezTo>
                    <a:pt x="0" y="339392"/>
                    <a:pt x="76817" y="55315"/>
                    <a:pt x="76817" y="55315"/>
                  </a:cubicBezTo>
                </a:path>
              </a:pathLst>
            </a:custGeom>
            <a:solidFill>
              <a:srgbClr val="8CA87C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1058801" y="5161764"/>
            <a:ext cx="6907381" cy="228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414B3B"/>
                </a:solidFill>
                <a:latin typeface="Georgia Pro"/>
                <a:ea typeface="Georgia Pro"/>
                <a:cs typeface="Georgia Pro"/>
                <a:sym typeface="Georgia Pro"/>
              </a:rPr>
              <a:t>A sink population is defined as a patch with a </a:t>
            </a:r>
            <a:r>
              <a:rPr lang="en-US" b="true" sz="2600">
                <a:solidFill>
                  <a:srgbClr val="414B3B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negative intrinsic growth rate (r&lt;0)</a:t>
            </a:r>
            <a:r>
              <a:rPr lang="en-US" sz="2600">
                <a:solidFill>
                  <a:srgbClr val="414B3B"/>
                </a:solidFill>
                <a:latin typeface="Georgia Pro"/>
                <a:ea typeface="Georgia Pro"/>
                <a:cs typeface="Georgia Pro"/>
                <a:sym typeface="Georgia Pro"/>
              </a:rPr>
              <a:t>. A sink population would go extinct if it were not for the constant input of immigrants from nearby source populations.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874091" y="7886065"/>
            <a:ext cx="6092092" cy="9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414B3B"/>
                </a:solidFill>
                <a:latin typeface="Georgia Pro"/>
                <a:ea typeface="Georgia Pro"/>
                <a:cs typeface="Georgia Pro"/>
                <a:sym typeface="Georgia Pro"/>
              </a:rPr>
              <a:t>Sink populations </a:t>
            </a:r>
            <a:r>
              <a:rPr lang="en-US" b="true" sz="2600">
                <a:solidFill>
                  <a:srgbClr val="414B3B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cannot persist</a:t>
            </a:r>
            <a:r>
              <a:rPr lang="en-US" sz="2600">
                <a:solidFill>
                  <a:srgbClr val="414B3B"/>
                </a:solidFill>
                <a:latin typeface="Georgia Pro"/>
                <a:ea typeface="Georgia Pro"/>
                <a:cs typeface="Georgia Pro"/>
                <a:sym typeface="Georgia Pro"/>
              </a:rPr>
              <a:t> in isolation.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561293" y="0"/>
            <a:ext cx="1440593" cy="4724098"/>
            <a:chOff x="0" y="0"/>
            <a:chExt cx="379415" cy="124420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79415" cy="1244207"/>
            </a:xfrm>
            <a:custGeom>
              <a:avLst/>
              <a:gdLst/>
              <a:ahLst/>
              <a:cxnLst/>
              <a:rect r="r" b="b" t="t" l="l"/>
              <a:pathLst>
                <a:path h="1244207" w="379415">
                  <a:moveTo>
                    <a:pt x="0" y="0"/>
                  </a:moveTo>
                  <a:lnTo>
                    <a:pt x="379415" y="0"/>
                  </a:lnTo>
                  <a:lnTo>
                    <a:pt x="379415" y="1244207"/>
                  </a:lnTo>
                  <a:lnTo>
                    <a:pt x="0" y="1244207"/>
                  </a:lnTo>
                  <a:close/>
                </a:path>
              </a:pathLst>
            </a:custGeom>
            <a:solidFill>
              <a:srgbClr val="AB874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379415" cy="1301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27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91450" y="0"/>
            <a:ext cx="5410200" cy="6082281"/>
            <a:chOff x="0" y="0"/>
            <a:chExt cx="1468871" cy="16513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8871" cy="1651342"/>
            </a:xfrm>
            <a:custGeom>
              <a:avLst/>
              <a:gdLst/>
              <a:ahLst/>
              <a:cxnLst/>
              <a:rect r="r" b="b" t="t" l="l"/>
              <a:pathLst>
                <a:path h="1651342" w="1468871">
                  <a:moveTo>
                    <a:pt x="0" y="0"/>
                  </a:moveTo>
                  <a:lnTo>
                    <a:pt x="1468871" y="0"/>
                  </a:lnTo>
                  <a:lnTo>
                    <a:pt x="1468871" y="1651342"/>
                  </a:lnTo>
                  <a:lnTo>
                    <a:pt x="0" y="1651342"/>
                  </a:lnTo>
                  <a:close/>
                </a:path>
              </a:pathLst>
            </a:custGeom>
            <a:solidFill>
              <a:srgbClr val="F6F6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468871" cy="1708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201650" y="0"/>
            <a:ext cx="5086350" cy="6082281"/>
            <a:chOff x="0" y="0"/>
            <a:chExt cx="1380946" cy="16513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80946" cy="1651342"/>
            </a:xfrm>
            <a:custGeom>
              <a:avLst/>
              <a:gdLst/>
              <a:ahLst/>
              <a:cxnLst/>
              <a:rect r="r" b="b" t="t" l="l"/>
              <a:pathLst>
                <a:path h="1651342" w="1380946">
                  <a:moveTo>
                    <a:pt x="0" y="0"/>
                  </a:moveTo>
                  <a:lnTo>
                    <a:pt x="1380946" y="0"/>
                  </a:lnTo>
                  <a:lnTo>
                    <a:pt x="1380946" y="1651342"/>
                  </a:lnTo>
                  <a:lnTo>
                    <a:pt x="0" y="1651342"/>
                  </a:lnTo>
                  <a:close/>
                </a:path>
              </a:pathLst>
            </a:custGeom>
            <a:solidFill>
              <a:srgbClr val="F6F6E9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380946" cy="1708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791450" y="6082281"/>
            <a:ext cx="10496550" cy="4204719"/>
            <a:chOff x="0" y="0"/>
            <a:chExt cx="2849817" cy="11415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49817" cy="1141583"/>
            </a:xfrm>
            <a:custGeom>
              <a:avLst/>
              <a:gdLst/>
              <a:ahLst/>
              <a:cxnLst/>
              <a:rect r="r" b="b" t="t" l="l"/>
              <a:pathLst>
                <a:path h="1141583" w="2849817">
                  <a:moveTo>
                    <a:pt x="0" y="0"/>
                  </a:moveTo>
                  <a:lnTo>
                    <a:pt x="2849817" y="0"/>
                  </a:lnTo>
                  <a:lnTo>
                    <a:pt x="2849817" y="1141583"/>
                  </a:lnTo>
                  <a:lnTo>
                    <a:pt x="0" y="1141583"/>
                  </a:lnTo>
                  <a:close/>
                </a:path>
              </a:pathLst>
            </a:custGeom>
            <a:solidFill>
              <a:srgbClr val="CBDDD1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849817" cy="1198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151353">
            <a:off x="9937243" y="122941"/>
            <a:ext cx="1136093" cy="682336"/>
            <a:chOff x="0" y="0"/>
            <a:chExt cx="1188381" cy="7137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-25400" y="-100330"/>
              <a:ext cx="1258231" cy="838200"/>
            </a:xfrm>
            <a:custGeom>
              <a:avLst/>
              <a:gdLst/>
              <a:ahLst/>
              <a:cxnLst/>
              <a:rect r="r" b="b" t="t" l="l"/>
              <a:pathLst>
                <a:path h="838200" w="1258231">
                  <a:moveTo>
                    <a:pt x="41854" y="302260"/>
                  </a:moveTo>
                  <a:cubicBezTo>
                    <a:pt x="247939" y="295910"/>
                    <a:pt x="302648" y="273050"/>
                    <a:pt x="377924" y="257810"/>
                  </a:cubicBezTo>
                  <a:cubicBezTo>
                    <a:pt x="488988" y="236220"/>
                    <a:pt x="654760" y="210820"/>
                    <a:pt x="791739" y="193040"/>
                  </a:cubicBezTo>
                  <a:cubicBezTo>
                    <a:pt x="926661" y="175260"/>
                    <a:pt x="1142618" y="0"/>
                    <a:pt x="1194447" y="151130"/>
                  </a:cubicBezTo>
                  <a:cubicBezTo>
                    <a:pt x="1250610" y="242570"/>
                    <a:pt x="1258231" y="508000"/>
                    <a:pt x="1197327" y="608330"/>
                  </a:cubicBezTo>
                  <a:cubicBezTo>
                    <a:pt x="1144263" y="781050"/>
                    <a:pt x="910618" y="632460"/>
                    <a:pt x="753895" y="655320"/>
                  </a:cubicBezTo>
                  <a:cubicBezTo>
                    <a:pt x="577016" y="680720"/>
                    <a:pt x="315811" y="745490"/>
                    <a:pt x="188705" y="759460"/>
                  </a:cubicBezTo>
                  <a:cubicBezTo>
                    <a:pt x="123712" y="765810"/>
                    <a:pt x="66535" y="838200"/>
                    <a:pt x="41854" y="763270"/>
                  </a:cubicBezTo>
                  <a:cubicBezTo>
                    <a:pt x="0" y="687070"/>
                    <a:pt x="41854" y="302260"/>
                    <a:pt x="41854" y="302260"/>
                  </a:cubicBezTo>
                </a:path>
              </a:pathLst>
            </a:custGeom>
            <a:solidFill>
              <a:srgbClr val="272727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0110775" y="58423"/>
            <a:ext cx="78902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F6F6E9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01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179970" y="1104759"/>
            <a:ext cx="4633161" cy="4157623"/>
            <a:chOff x="0" y="0"/>
            <a:chExt cx="6177548" cy="5543497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28575"/>
              <a:ext cx="6177548" cy="954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400"/>
                </a:lnSpc>
              </a:pPr>
              <a:r>
                <a:rPr lang="en-US" b="true" sz="2400">
                  <a:solidFill>
                    <a:srgbClr val="1F5014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SPATIAL CONSERVATION PLANNING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334505"/>
              <a:ext cx="6177548" cy="42089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1F5014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Basic algorithms consider spatial connectivity</a:t>
              </a:r>
              <a:r>
                <a:rPr lang="en-US" sz="2000">
                  <a:solidFill>
                    <a:srgbClr val="1F5014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, but assume that species density indicates metapopulation persistence. </a:t>
              </a:r>
            </a:p>
            <a:p>
              <a:pPr algn="ctr">
                <a:lnSpc>
                  <a:spcPts val="2800"/>
                </a:lnSpc>
              </a:pPr>
            </a:p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1F5014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The long-term robustness of protected area networks could be limited if some or all of the prioritized sites for a given species actually represent sinks.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273271" y="83109"/>
            <a:ext cx="1165023" cy="762000"/>
            <a:chOff x="0" y="0"/>
            <a:chExt cx="1553364" cy="1016000"/>
          </a:xfrm>
        </p:grpSpPr>
        <p:grpSp>
          <p:nvGrpSpPr>
            <p:cNvPr name="Group 18" id="18"/>
            <p:cNvGrpSpPr/>
            <p:nvPr/>
          </p:nvGrpSpPr>
          <p:grpSpPr>
            <a:xfrm rot="151353">
              <a:off x="19287" y="73325"/>
              <a:ext cx="1514790" cy="909781"/>
              <a:chOff x="0" y="0"/>
              <a:chExt cx="1188381" cy="71374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-25400" y="-100330"/>
                <a:ext cx="1258231" cy="838200"/>
              </a:xfrm>
              <a:custGeom>
                <a:avLst/>
                <a:gdLst/>
                <a:ahLst/>
                <a:cxnLst/>
                <a:rect r="r" b="b" t="t" l="l"/>
                <a:pathLst>
                  <a:path h="838200" w="1258231">
                    <a:moveTo>
                      <a:pt x="41854" y="302260"/>
                    </a:moveTo>
                    <a:cubicBezTo>
                      <a:pt x="247939" y="295910"/>
                      <a:pt x="302648" y="273050"/>
                      <a:pt x="377924" y="257810"/>
                    </a:cubicBezTo>
                    <a:cubicBezTo>
                      <a:pt x="488988" y="236220"/>
                      <a:pt x="654760" y="210820"/>
                      <a:pt x="791739" y="193040"/>
                    </a:cubicBezTo>
                    <a:cubicBezTo>
                      <a:pt x="926661" y="175260"/>
                      <a:pt x="1142618" y="0"/>
                      <a:pt x="1194447" y="151130"/>
                    </a:cubicBezTo>
                    <a:cubicBezTo>
                      <a:pt x="1250610" y="242570"/>
                      <a:pt x="1258231" y="508000"/>
                      <a:pt x="1197327" y="608330"/>
                    </a:cubicBezTo>
                    <a:cubicBezTo>
                      <a:pt x="1144263" y="781050"/>
                      <a:pt x="910618" y="632460"/>
                      <a:pt x="753895" y="655320"/>
                    </a:cubicBezTo>
                    <a:cubicBezTo>
                      <a:pt x="577016" y="680720"/>
                      <a:pt x="315811" y="745490"/>
                      <a:pt x="188705" y="759460"/>
                    </a:cubicBezTo>
                    <a:cubicBezTo>
                      <a:pt x="123712" y="765810"/>
                      <a:pt x="66535" y="838200"/>
                      <a:pt x="41854" y="763270"/>
                    </a:cubicBezTo>
                    <a:cubicBezTo>
                      <a:pt x="0" y="687070"/>
                      <a:pt x="41854" y="302260"/>
                      <a:pt x="41854" y="302260"/>
                    </a:cubicBezTo>
                  </a:path>
                </a:pathLst>
              </a:custGeom>
              <a:solidFill>
                <a:srgbClr val="272727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20" id="20"/>
            <p:cNvSpPr txBox="true"/>
            <p:nvPr/>
          </p:nvSpPr>
          <p:spPr>
            <a:xfrm rot="0">
              <a:off x="250663" y="-9525"/>
              <a:ext cx="1052039" cy="1025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000"/>
                </a:lnSpc>
                <a:spcBef>
                  <a:spcPct val="0"/>
                </a:spcBef>
              </a:pPr>
              <a:r>
                <a:rPr lang="en-US" b="true" sz="5000">
                  <a:solidFill>
                    <a:srgbClr val="F6F6E9"/>
                  </a:solidFill>
                  <a:latin typeface="Linotype Feltpen Medium"/>
                  <a:ea typeface="Linotype Feltpen Medium"/>
                  <a:cs typeface="Linotype Feltpen Medium"/>
                  <a:sym typeface="Linotype Feltpen Medium"/>
                </a:rPr>
                <a:t>02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887450" y="1209674"/>
            <a:ext cx="4151252" cy="3385145"/>
            <a:chOff x="0" y="0"/>
            <a:chExt cx="5535003" cy="4513527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28575"/>
              <a:ext cx="5535003" cy="1405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1F5014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CONSERVATION VALUE OF SELECTIVELY LOGGED FORESTS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1714235"/>
              <a:ext cx="5535003" cy="27992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1F5014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Most studies of logging impacts have been patches adjacent to intact primary forest</a:t>
              </a:r>
              <a:r>
                <a:rPr lang="en-US" sz="2000">
                  <a:solidFill>
                    <a:srgbClr val="1F5014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, and in most cases, impacts are assessed using relative measures of abundance, density or incidence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151353">
            <a:off x="12481134" y="6379593"/>
            <a:ext cx="1136093" cy="682336"/>
            <a:chOff x="0" y="0"/>
            <a:chExt cx="1188381" cy="7137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-25400" y="-100330"/>
              <a:ext cx="1258231" cy="838200"/>
            </a:xfrm>
            <a:custGeom>
              <a:avLst/>
              <a:gdLst/>
              <a:ahLst/>
              <a:cxnLst/>
              <a:rect r="r" b="b" t="t" l="l"/>
              <a:pathLst>
                <a:path h="838200" w="1258231">
                  <a:moveTo>
                    <a:pt x="41854" y="302260"/>
                  </a:moveTo>
                  <a:cubicBezTo>
                    <a:pt x="247939" y="295910"/>
                    <a:pt x="302648" y="273050"/>
                    <a:pt x="377924" y="257810"/>
                  </a:cubicBezTo>
                  <a:cubicBezTo>
                    <a:pt x="488988" y="236220"/>
                    <a:pt x="654760" y="210820"/>
                    <a:pt x="791739" y="193040"/>
                  </a:cubicBezTo>
                  <a:cubicBezTo>
                    <a:pt x="926661" y="175260"/>
                    <a:pt x="1142618" y="0"/>
                    <a:pt x="1194447" y="151130"/>
                  </a:cubicBezTo>
                  <a:cubicBezTo>
                    <a:pt x="1250610" y="242570"/>
                    <a:pt x="1258231" y="508000"/>
                    <a:pt x="1197327" y="608330"/>
                  </a:cubicBezTo>
                  <a:cubicBezTo>
                    <a:pt x="1144263" y="781050"/>
                    <a:pt x="910618" y="632460"/>
                    <a:pt x="753895" y="655320"/>
                  </a:cubicBezTo>
                  <a:cubicBezTo>
                    <a:pt x="577016" y="680720"/>
                    <a:pt x="315811" y="745490"/>
                    <a:pt x="188705" y="759460"/>
                  </a:cubicBezTo>
                  <a:cubicBezTo>
                    <a:pt x="123712" y="765810"/>
                    <a:pt x="66535" y="838200"/>
                    <a:pt x="41854" y="763270"/>
                  </a:cubicBezTo>
                  <a:cubicBezTo>
                    <a:pt x="0" y="687070"/>
                    <a:pt x="41854" y="302260"/>
                    <a:pt x="41854" y="302260"/>
                  </a:cubicBezTo>
                </a:path>
              </a:pathLst>
            </a:custGeom>
            <a:solidFill>
              <a:srgbClr val="272727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2654666" y="6315075"/>
            <a:ext cx="78902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F6F6E9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03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055995" y="7505700"/>
            <a:ext cx="7382300" cy="2007691"/>
            <a:chOff x="0" y="0"/>
            <a:chExt cx="9843067" cy="2676922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28575"/>
              <a:ext cx="9843067" cy="503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1F5014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SPECIES DISTRIBUTION MODELLING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817430"/>
              <a:ext cx="9843067" cy="18594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1F5014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In source-sink systems, species distribution models (SDMs) overestimate the bioclimatic niche of a species by including areas of low suitability for population growth (sinks), and consequently produce unreliable predictions of current and future distributions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2100590" y="-892804"/>
            <a:ext cx="1878271" cy="1921504"/>
          </a:xfrm>
          <a:custGeom>
            <a:avLst/>
            <a:gdLst/>
            <a:ahLst/>
            <a:cxnLst/>
            <a:rect r="r" b="b" t="t" l="l"/>
            <a:pathLst>
              <a:path h="1921504" w="1878271">
                <a:moveTo>
                  <a:pt x="0" y="0"/>
                </a:moveTo>
                <a:lnTo>
                  <a:pt x="1878270" y="0"/>
                </a:lnTo>
                <a:lnTo>
                  <a:pt x="1878270" y="1921504"/>
                </a:lnTo>
                <a:lnTo>
                  <a:pt x="0" y="1921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6662705" y="4775793"/>
            <a:ext cx="1809566" cy="1388842"/>
          </a:xfrm>
          <a:custGeom>
            <a:avLst/>
            <a:gdLst/>
            <a:ahLst/>
            <a:cxnLst/>
            <a:rect r="r" b="b" t="t" l="l"/>
            <a:pathLst>
              <a:path h="1388842" w="1809566">
                <a:moveTo>
                  <a:pt x="0" y="0"/>
                </a:moveTo>
                <a:lnTo>
                  <a:pt x="1809566" y="0"/>
                </a:lnTo>
                <a:lnTo>
                  <a:pt x="1809566" y="1388842"/>
                </a:lnTo>
                <a:lnTo>
                  <a:pt x="0" y="1388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2" id="32"/>
          <p:cNvSpPr txBox="true"/>
          <p:nvPr/>
        </p:nvSpPr>
        <p:spPr>
          <a:xfrm rot="0">
            <a:off x="914400" y="3322916"/>
            <a:ext cx="5809037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60"/>
              </a:lnSpc>
              <a:spcBef>
                <a:spcPct val="0"/>
              </a:spcBef>
            </a:pPr>
            <a:r>
              <a:rPr lang="en-US" b="true" sz="7800" spc="-117">
                <a:solidFill>
                  <a:srgbClr val="F6F6E9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patterns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878401" y="1640167"/>
            <a:ext cx="6227249" cy="1543403"/>
            <a:chOff x="0" y="0"/>
            <a:chExt cx="8302998" cy="2057871"/>
          </a:xfrm>
        </p:grpSpPr>
        <p:sp>
          <p:nvSpPr>
            <p:cNvPr name="TextBox 34" id="34"/>
            <p:cNvSpPr txBox="true"/>
            <p:nvPr/>
          </p:nvSpPr>
          <p:spPr>
            <a:xfrm rot="0">
              <a:off x="169088" y="0"/>
              <a:ext cx="8133910" cy="198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760"/>
                </a:lnSpc>
                <a:spcBef>
                  <a:spcPct val="0"/>
                </a:spcBef>
              </a:pPr>
              <a:r>
                <a:rPr lang="en-US" b="true" sz="9800">
                  <a:solidFill>
                    <a:srgbClr val="F6F6E9"/>
                  </a:solidFill>
                  <a:latin typeface="Linotype Feltpen Medium"/>
                  <a:ea typeface="Linotype Feltpen Medium"/>
                  <a:cs typeface="Linotype Feltpen Medium"/>
                  <a:sym typeface="Linotype Feltpen Medium"/>
                </a:rPr>
                <a:t>Source-sink</a:t>
              </a:r>
            </a:p>
          </p:txBody>
        </p:sp>
        <p:grpSp>
          <p:nvGrpSpPr>
            <p:cNvPr name="Group 35" id="35"/>
            <p:cNvGrpSpPr/>
            <p:nvPr/>
          </p:nvGrpSpPr>
          <p:grpSpPr>
            <a:xfrm rot="0">
              <a:off x="0" y="1781079"/>
              <a:ext cx="6497456" cy="276792"/>
              <a:chOff x="0" y="0"/>
              <a:chExt cx="4561256" cy="19431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81600" y="41910"/>
                <a:ext cx="4400147" cy="116840"/>
              </a:xfrm>
              <a:custGeom>
                <a:avLst/>
                <a:gdLst/>
                <a:ahLst/>
                <a:cxnLst/>
                <a:rect r="r" b="b" t="t" l="l"/>
                <a:pathLst>
                  <a:path h="116840" w="4400147">
                    <a:moveTo>
                      <a:pt x="54401" y="31750"/>
                    </a:moveTo>
                    <a:cubicBezTo>
                      <a:pt x="2531707" y="34290"/>
                      <a:pt x="2726292" y="19050"/>
                      <a:pt x="3006663" y="13970"/>
                    </a:cubicBezTo>
                    <a:cubicBezTo>
                      <a:pt x="3307957" y="8890"/>
                      <a:pt x="3692944" y="5080"/>
                      <a:pt x="3941930" y="8890"/>
                    </a:cubicBezTo>
                    <a:cubicBezTo>
                      <a:pt x="4109315" y="11430"/>
                      <a:pt x="4299716" y="0"/>
                      <a:pt x="4360394" y="25400"/>
                    </a:cubicBezTo>
                    <a:cubicBezTo>
                      <a:pt x="4387594" y="36830"/>
                      <a:pt x="4398055" y="57150"/>
                      <a:pt x="4395963" y="69850"/>
                    </a:cubicBezTo>
                    <a:cubicBezTo>
                      <a:pt x="4393871" y="81280"/>
                      <a:pt x="4372947" y="95250"/>
                      <a:pt x="4354116" y="99060"/>
                    </a:cubicBezTo>
                    <a:cubicBezTo>
                      <a:pt x="4333193" y="102870"/>
                      <a:pt x="4291347" y="96520"/>
                      <a:pt x="4276701" y="86360"/>
                    </a:cubicBezTo>
                    <a:cubicBezTo>
                      <a:pt x="4264147" y="77470"/>
                      <a:pt x="4257870" y="58420"/>
                      <a:pt x="4266239" y="48260"/>
                    </a:cubicBezTo>
                    <a:cubicBezTo>
                      <a:pt x="4274609" y="36830"/>
                      <a:pt x="4312270" y="21590"/>
                      <a:pt x="4333193" y="21590"/>
                    </a:cubicBezTo>
                    <a:cubicBezTo>
                      <a:pt x="4352024" y="21590"/>
                      <a:pt x="4377132" y="31750"/>
                      <a:pt x="4387594" y="40640"/>
                    </a:cubicBezTo>
                    <a:cubicBezTo>
                      <a:pt x="4395963" y="48260"/>
                      <a:pt x="4400148" y="57150"/>
                      <a:pt x="4395963" y="66040"/>
                    </a:cubicBezTo>
                    <a:cubicBezTo>
                      <a:pt x="4389686" y="77470"/>
                      <a:pt x="4372947" y="95250"/>
                      <a:pt x="4341563" y="101600"/>
                    </a:cubicBezTo>
                    <a:cubicBezTo>
                      <a:pt x="4272516" y="116840"/>
                      <a:pt x="4082115" y="78740"/>
                      <a:pt x="3937745" y="72390"/>
                    </a:cubicBezTo>
                    <a:cubicBezTo>
                      <a:pt x="3772452" y="64770"/>
                      <a:pt x="3657374" y="64770"/>
                      <a:pt x="3404204" y="64770"/>
                    </a:cubicBezTo>
                    <a:cubicBezTo>
                      <a:pt x="2791154" y="63500"/>
                      <a:pt x="677912" y="100330"/>
                      <a:pt x="242710" y="96520"/>
                    </a:cubicBezTo>
                    <a:cubicBezTo>
                      <a:pt x="129724" y="95250"/>
                      <a:pt x="64862" y="104140"/>
                      <a:pt x="29293" y="90170"/>
                    </a:cubicBezTo>
                    <a:cubicBezTo>
                      <a:pt x="10462" y="82550"/>
                      <a:pt x="0" y="67310"/>
                      <a:pt x="2093" y="58420"/>
                    </a:cubicBezTo>
                    <a:cubicBezTo>
                      <a:pt x="6277" y="48260"/>
                      <a:pt x="54401" y="31750"/>
                      <a:pt x="54401" y="31750"/>
                    </a:cubicBezTo>
                  </a:path>
                </a:pathLst>
              </a:custGeom>
              <a:solidFill>
                <a:srgbClr val="F6F6E9"/>
              </a:solidFill>
              <a:ln cap="sq">
                <a:noFill/>
                <a:prstDash val="solid"/>
                <a:miter/>
              </a:ln>
            </p:spPr>
          </p:sp>
        </p:grpSp>
      </p:grpSp>
      <p:sp>
        <p:nvSpPr>
          <p:cNvPr name="TextBox 37" id="37"/>
          <p:cNvSpPr txBox="true"/>
          <p:nvPr/>
        </p:nvSpPr>
        <p:spPr>
          <a:xfrm rot="0">
            <a:off x="914400" y="5305425"/>
            <a:ext cx="5809037" cy="256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4200" spc="-63">
                <a:solidFill>
                  <a:srgbClr val="F6F6E9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Issues encountered when conservationists ignore them...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932767"/>
            <a:ext cx="18288000" cy="3354233"/>
            <a:chOff x="0" y="0"/>
            <a:chExt cx="4816593" cy="8834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883419"/>
            </a:xfrm>
            <a:custGeom>
              <a:avLst/>
              <a:gdLst/>
              <a:ahLst/>
              <a:cxnLst/>
              <a:rect r="r" b="b" t="t" l="l"/>
              <a:pathLst>
                <a:path h="88341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83419"/>
                  </a:lnTo>
                  <a:lnTo>
                    <a:pt x="0" y="883419"/>
                  </a:lnTo>
                  <a:close/>
                </a:path>
              </a:pathLst>
            </a:custGeom>
            <a:solidFill>
              <a:srgbClr val="0F401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931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1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337686" y="3757594"/>
            <a:ext cx="5612628" cy="6529406"/>
          </a:xfrm>
          <a:custGeom>
            <a:avLst/>
            <a:gdLst/>
            <a:ahLst/>
            <a:cxnLst/>
            <a:rect r="r" b="b" t="t" l="l"/>
            <a:pathLst>
              <a:path h="6529406" w="5612628">
                <a:moveTo>
                  <a:pt x="0" y="0"/>
                </a:moveTo>
                <a:lnTo>
                  <a:pt x="5612628" y="0"/>
                </a:lnTo>
                <a:lnTo>
                  <a:pt x="5612628" y="6529406"/>
                </a:lnTo>
                <a:lnTo>
                  <a:pt x="0" y="6529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3553" t="0" r="-10729" b="0"/>
            </a:stretch>
          </a:blipFill>
        </p:spPr>
      </p:sp>
      <p:sp>
        <p:nvSpPr>
          <p:cNvPr name="AutoShape 6" id="6"/>
          <p:cNvSpPr/>
          <p:nvPr/>
        </p:nvSpPr>
        <p:spPr>
          <a:xfrm flipH="true">
            <a:off x="-914413" y="2129583"/>
            <a:ext cx="4206763" cy="0"/>
          </a:xfrm>
          <a:prstGeom prst="line">
            <a:avLst/>
          </a:prstGeom>
          <a:ln cap="flat" w="66675">
            <a:solidFill>
              <a:srgbClr val="20573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-10800000">
            <a:off x="14607186" y="2029571"/>
            <a:ext cx="5031037" cy="0"/>
          </a:xfrm>
          <a:prstGeom prst="line">
            <a:avLst/>
          </a:prstGeom>
          <a:ln cap="flat" w="66675">
            <a:solidFill>
              <a:srgbClr val="20573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4012619" y="2129583"/>
            <a:ext cx="4275381" cy="8157417"/>
          </a:xfrm>
          <a:custGeom>
            <a:avLst/>
            <a:gdLst/>
            <a:ahLst/>
            <a:cxnLst/>
            <a:rect r="r" b="b" t="t" l="l"/>
            <a:pathLst>
              <a:path h="8157417" w="4275381">
                <a:moveTo>
                  <a:pt x="0" y="0"/>
                </a:moveTo>
                <a:lnTo>
                  <a:pt x="4275381" y="0"/>
                </a:lnTo>
                <a:lnTo>
                  <a:pt x="4275381" y="8157417"/>
                </a:lnTo>
                <a:lnTo>
                  <a:pt x="0" y="81574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2119" t="0" r="-104259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2129583"/>
            <a:ext cx="6695652" cy="8157417"/>
          </a:xfrm>
          <a:custGeom>
            <a:avLst/>
            <a:gdLst/>
            <a:ahLst/>
            <a:cxnLst/>
            <a:rect r="r" b="b" t="t" l="l"/>
            <a:pathLst>
              <a:path h="8157417" w="6695652">
                <a:moveTo>
                  <a:pt x="0" y="0"/>
                </a:moveTo>
                <a:lnTo>
                  <a:pt x="6695652" y="0"/>
                </a:lnTo>
                <a:lnTo>
                  <a:pt x="6695652" y="8157417"/>
                </a:lnTo>
                <a:lnTo>
                  <a:pt x="0" y="81574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115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037733" y="1557900"/>
            <a:ext cx="10212534" cy="964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49"/>
              </a:lnSpc>
              <a:spcBef>
                <a:spcPct val="0"/>
              </a:spcBef>
            </a:pPr>
            <a:r>
              <a:rPr lang="en-US" b="true" sz="5535">
                <a:solidFill>
                  <a:srgbClr val="000000"/>
                </a:solidFill>
                <a:latin typeface="Now Heavy"/>
                <a:ea typeface="Now Heavy"/>
                <a:cs typeface="Now Heavy"/>
                <a:sym typeface="Now Heavy"/>
              </a:rPr>
              <a:t>Ecological Traps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14607" y="2779064"/>
            <a:ext cx="7458785" cy="794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1"/>
              </a:lnSpc>
            </a:pPr>
            <a:r>
              <a:rPr lang="en-US" sz="2363" spc="2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Areas of low-quality habitat that reduce survival and reproduction.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91450" y="0"/>
            <a:ext cx="10496550" cy="10287000"/>
            <a:chOff x="0" y="0"/>
            <a:chExt cx="276452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64524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64524">
                  <a:moveTo>
                    <a:pt x="0" y="0"/>
                  </a:moveTo>
                  <a:lnTo>
                    <a:pt x="2764524" y="0"/>
                  </a:lnTo>
                  <a:lnTo>
                    <a:pt x="276452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14B3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76452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0" y="496114"/>
            <a:ext cx="4091663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FFEBEB"/>
                </a:solidFill>
                <a:latin typeface="Linotype Feltpen Medium"/>
                <a:ea typeface="Linotype Feltpen Medium"/>
                <a:cs typeface="Linotype Feltpen Medium"/>
                <a:sym typeface="Linotype Feltpen Medium"/>
              </a:rPr>
              <a:t>Key Elements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144000" y="3788320"/>
            <a:ext cx="7040610" cy="1376357"/>
            <a:chOff x="0" y="0"/>
            <a:chExt cx="9387480" cy="1835143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9387480" cy="516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9F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2. HABITAT QUALITY AND CONNECTIVITY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591179"/>
              <a:ext cx="9387480" cy="1243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2" indent="-194311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FFF9F3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The theory emphasizes the importance of habitat quality and connectivity between patches for maintaining metapopulation persistence.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614529" y="266054"/>
            <a:ext cx="1839773" cy="1882121"/>
          </a:xfrm>
          <a:custGeom>
            <a:avLst/>
            <a:gdLst/>
            <a:ahLst/>
            <a:cxnLst/>
            <a:rect r="r" b="b" t="t" l="l"/>
            <a:pathLst>
              <a:path h="1882121" w="1839773">
                <a:moveTo>
                  <a:pt x="0" y="0"/>
                </a:moveTo>
                <a:lnTo>
                  <a:pt x="1839773" y="0"/>
                </a:lnTo>
                <a:lnTo>
                  <a:pt x="1839773" y="1882121"/>
                </a:lnTo>
                <a:lnTo>
                  <a:pt x="0" y="18821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9649657">
            <a:off x="7101968" y="9223420"/>
            <a:ext cx="3301539" cy="1124221"/>
          </a:xfrm>
          <a:custGeom>
            <a:avLst/>
            <a:gdLst/>
            <a:ahLst/>
            <a:cxnLst/>
            <a:rect r="r" b="b" t="t" l="l"/>
            <a:pathLst>
              <a:path h="1124221" w="3301539">
                <a:moveTo>
                  <a:pt x="0" y="0"/>
                </a:moveTo>
                <a:lnTo>
                  <a:pt x="3301539" y="0"/>
                </a:lnTo>
                <a:lnTo>
                  <a:pt x="3301539" y="1124222"/>
                </a:lnTo>
                <a:lnTo>
                  <a:pt x="0" y="11242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893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32770" y="1197590"/>
            <a:ext cx="5912615" cy="765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92"/>
              </a:lnSpc>
              <a:spcBef>
                <a:spcPct val="0"/>
              </a:spcBef>
            </a:pPr>
            <a:r>
              <a:rPr lang="en-US" b="true" sz="4993">
                <a:solidFill>
                  <a:srgbClr val="5D534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In Summary: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0" y="2402594"/>
            <a:ext cx="7670721" cy="1333500"/>
            <a:chOff x="0" y="0"/>
            <a:chExt cx="10227627" cy="177800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887934" y="0"/>
              <a:ext cx="9148269" cy="1778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559"/>
                </a:lnSpc>
                <a:spcBef>
                  <a:spcPct val="0"/>
                </a:spcBef>
              </a:pPr>
              <a:r>
                <a:rPr lang="en-US" b="true" sz="8799">
                  <a:solidFill>
                    <a:srgbClr val="5D5340"/>
                  </a:solidFill>
                  <a:latin typeface="Linotype Feltpen Medium"/>
                  <a:ea typeface="Linotype Feltpen Medium"/>
                  <a:cs typeface="Linotype Feltpen Medium"/>
                  <a:sym typeface="Linotype Feltpen Medium"/>
                </a:rPr>
                <a:t>Metapopulation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0" y="1550053"/>
              <a:ext cx="10227627" cy="227947"/>
              <a:chOff x="0" y="0"/>
              <a:chExt cx="10010860" cy="223115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883311" y="59599"/>
                <a:ext cx="8266887" cy="116142"/>
              </a:xfrm>
              <a:custGeom>
                <a:avLst/>
                <a:gdLst/>
                <a:ahLst/>
                <a:cxnLst/>
                <a:rect r="r" b="b" t="t" l="l"/>
                <a:pathLst>
                  <a:path h="116142" w="8266887">
                    <a:moveTo>
                      <a:pt x="860662" y="1529"/>
                    </a:moveTo>
                    <a:cubicBezTo>
                      <a:pt x="3918278" y="19867"/>
                      <a:pt x="5662251" y="0"/>
                      <a:pt x="6568212" y="1529"/>
                    </a:cubicBezTo>
                    <a:cubicBezTo>
                      <a:pt x="7089139" y="3057"/>
                      <a:pt x="7542119" y="0"/>
                      <a:pt x="7813907" y="12226"/>
                    </a:cubicBezTo>
                    <a:cubicBezTo>
                      <a:pt x="8040397" y="22923"/>
                      <a:pt x="8244237" y="45846"/>
                      <a:pt x="8221588" y="61128"/>
                    </a:cubicBezTo>
                    <a:cubicBezTo>
                      <a:pt x="8221588" y="73353"/>
                      <a:pt x="8040397" y="90163"/>
                      <a:pt x="7859205" y="94748"/>
                    </a:cubicBezTo>
                    <a:cubicBezTo>
                      <a:pt x="7655363" y="100861"/>
                      <a:pt x="7202384" y="94748"/>
                      <a:pt x="7043840" y="85579"/>
                    </a:cubicBezTo>
                    <a:cubicBezTo>
                      <a:pt x="6907947" y="76410"/>
                      <a:pt x="6817350" y="56543"/>
                      <a:pt x="6885297" y="44318"/>
                    </a:cubicBezTo>
                    <a:cubicBezTo>
                      <a:pt x="6953245" y="30564"/>
                      <a:pt x="7292980" y="9169"/>
                      <a:pt x="7519470" y="9169"/>
                    </a:cubicBezTo>
                    <a:cubicBezTo>
                      <a:pt x="7745960" y="9169"/>
                      <a:pt x="8108343" y="27508"/>
                      <a:pt x="8198940" y="41261"/>
                    </a:cubicBezTo>
                    <a:cubicBezTo>
                      <a:pt x="8266887" y="53487"/>
                      <a:pt x="8176290" y="73353"/>
                      <a:pt x="8085695" y="82522"/>
                    </a:cubicBezTo>
                    <a:cubicBezTo>
                      <a:pt x="7995098" y="90163"/>
                      <a:pt x="7927152" y="94748"/>
                      <a:pt x="7723310" y="99333"/>
                    </a:cubicBezTo>
                    <a:cubicBezTo>
                      <a:pt x="6907947" y="116143"/>
                      <a:pt x="2332848" y="113086"/>
                      <a:pt x="1200398" y="102389"/>
                    </a:cubicBezTo>
                    <a:cubicBezTo>
                      <a:pt x="792716" y="99333"/>
                      <a:pt x="588875" y="96276"/>
                      <a:pt x="385033" y="87107"/>
                    </a:cubicBezTo>
                    <a:cubicBezTo>
                      <a:pt x="203842" y="79466"/>
                      <a:pt x="45298" y="64184"/>
                      <a:pt x="22649" y="51959"/>
                    </a:cubicBezTo>
                    <a:cubicBezTo>
                      <a:pt x="0" y="39733"/>
                      <a:pt x="113246" y="21395"/>
                      <a:pt x="249140" y="12226"/>
                    </a:cubicBezTo>
                    <a:cubicBezTo>
                      <a:pt x="385033" y="3057"/>
                      <a:pt x="860663" y="1529"/>
                      <a:pt x="860663" y="1529"/>
                    </a:cubicBezTo>
                  </a:path>
                </a:pathLst>
              </a:custGeom>
              <a:solidFill>
                <a:srgbClr val="5D5340"/>
              </a:solidFill>
              <a:ln cap="sq">
                <a:noFill/>
                <a:prstDash val="solid"/>
                <a:miter/>
              </a:ln>
            </p:spPr>
          </p:sp>
        </p:grpSp>
      </p:grpSp>
      <p:grpSp>
        <p:nvGrpSpPr>
          <p:cNvPr name="Group 16" id="16"/>
          <p:cNvGrpSpPr/>
          <p:nvPr/>
        </p:nvGrpSpPr>
        <p:grpSpPr>
          <a:xfrm rot="0">
            <a:off x="532770" y="3727231"/>
            <a:ext cx="3302590" cy="1333500"/>
            <a:chOff x="0" y="0"/>
            <a:chExt cx="4403453" cy="1778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1453867"/>
              <a:ext cx="4403453" cy="324133"/>
              <a:chOff x="0" y="0"/>
              <a:chExt cx="2639763" cy="19431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47225" y="41910"/>
                <a:ext cx="2546524" cy="116840"/>
              </a:xfrm>
              <a:custGeom>
                <a:avLst/>
                <a:gdLst/>
                <a:ahLst/>
                <a:cxnLst/>
                <a:rect r="r" b="b" t="t" l="l"/>
                <a:pathLst>
                  <a:path h="116840" w="2546524">
                    <a:moveTo>
                      <a:pt x="31484" y="31750"/>
                    </a:moveTo>
                    <a:cubicBezTo>
                      <a:pt x="1465190" y="34290"/>
                      <a:pt x="1577804" y="19050"/>
                      <a:pt x="1740064" y="13970"/>
                    </a:cubicBezTo>
                    <a:cubicBezTo>
                      <a:pt x="1914434" y="8890"/>
                      <a:pt x="2137240" y="5080"/>
                      <a:pt x="2281337" y="8890"/>
                    </a:cubicBezTo>
                    <a:cubicBezTo>
                      <a:pt x="2378209" y="11430"/>
                      <a:pt x="2488401" y="0"/>
                      <a:pt x="2523517" y="25400"/>
                    </a:cubicBezTo>
                    <a:cubicBezTo>
                      <a:pt x="2539259" y="36830"/>
                      <a:pt x="2545313" y="57150"/>
                      <a:pt x="2544102" y="69850"/>
                    </a:cubicBezTo>
                    <a:cubicBezTo>
                      <a:pt x="2542891" y="81280"/>
                      <a:pt x="2530782" y="95250"/>
                      <a:pt x="2519884" y="99060"/>
                    </a:cubicBezTo>
                    <a:cubicBezTo>
                      <a:pt x="2507775" y="102870"/>
                      <a:pt x="2483557" y="96520"/>
                      <a:pt x="2475081" y="86360"/>
                    </a:cubicBezTo>
                    <a:cubicBezTo>
                      <a:pt x="2467816" y="77470"/>
                      <a:pt x="2464183" y="58420"/>
                      <a:pt x="2469026" y="48260"/>
                    </a:cubicBezTo>
                    <a:cubicBezTo>
                      <a:pt x="2473870" y="36830"/>
                      <a:pt x="2495666" y="21590"/>
                      <a:pt x="2507775" y="21590"/>
                    </a:cubicBezTo>
                    <a:cubicBezTo>
                      <a:pt x="2518673" y="21590"/>
                      <a:pt x="2533204" y="31750"/>
                      <a:pt x="2539259" y="40640"/>
                    </a:cubicBezTo>
                    <a:cubicBezTo>
                      <a:pt x="2544102" y="48260"/>
                      <a:pt x="2546524" y="57150"/>
                      <a:pt x="2544102" y="66040"/>
                    </a:cubicBezTo>
                    <a:cubicBezTo>
                      <a:pt x="2540470" y="77470"/>
                      <a:pt x="2530782" y="95250"/>
                      <a:pt x="2512619" y="101600"/>
                    </a:cubicBezTo>
                    <a:cubicBezTo>
                      <a:pt x="2472659" y="116840"/>
                      <a:pt x="2362467" y="78740"/>
                      <a:pt x="2278915" y="72390"/>
                    </a:cubicBezTo>
                    <a:cubicBezTo>
                      <a:pt x="2183254" y="64770"/>
                      <a:pt x="2116654" y="64770"/>
                      <a:pt x="1970135" y="64770"/>
                    </a:cubicBezTo>
                    <a:cubicBezTo>
                      <a:pt x="1615342" y="63500"/>
                      <a:pt x="392332" y="100330"/>
                      <a:pt x="140465" y="96520"/>
                    </a:cubicBezTo>
                    <a:cubicBezTo>
                      <a:pt x="75076" y="95250"/>
                      <a:pt x="37538" y="104140"/>
                      <a:pt x="16953" y="90170"/>
                    </a:cubicBezTo>
                    <a:cubicBezTo>
                      <a:pt x="6055" y="82550"/>
                      <a:pt x="0" y="67310"/>
                      <a:pt x="1211" y="58420"/>
                    </a:cubicBezTo>
                    <a:cubicBezTo>
                      <a:pt x="3633" y="48260"/>
                      <a:pt x="31484" y="31750"/>
                      <a:pt x="31484" y="31750"/>
                    </a:cubicBezTo>
                  </a:path>
                </a:pathLst>
              </a:custGeom>
              <a:solidFill>
                <a:srgbClr val="AB8742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233228" y="0"/>
              <a:ext cx="3888594" cy="1778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559"/>
                </a:lnSpc>
                <a:spcBef>
                  <a:spcPct val="0"/>
                </a:spcBef>
              </a:pPr>
              <a:r>
                <a:rPr lang="en-US" b="true" sz="8799">
                  <a:solidFill>
                    <a:srgbClr val="5D5340"/>
                  </a:solidFill>
                  <a:latin typeface="Linotype Feltpen Medium"/>
                  <a:ea typeface="Linotype Feltpen Medium"/>
                  <a:cs typeface="Linotype Feltpen Medium"/>
                  <a:sym typeface="Linotype Feltpen Medium"/>
                </a:rPr>
                <a:t>Theory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532770" y="5634078"/>
            <a:ext cx="6182733" cy="2743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5D5340"/>
                </a:solidFill>
                <a:latin typeface="Georgia Pro"/>
                <a:ea typeface="Georgia Pro"/>
                <a:cs typeface="Georgia Pro"/>
                <a:sym typeface="Georgia Pro"/>
              </a:rPr>
              <a:t>Metapopulation theory focuses on understanding how </a:t>
            </a:r>
            <a:r>
              <a:rPr lang="en-US" b="true" sz="2600">
                <a:solidFill>
                  <a:srgbClr val="5D534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spatially structured populations</a:t>
            </a:r>
            <a:r>
              <a:rPr lang="en-US" sz="2600">
                <a:solidFill>
                  <a:srgbClr val="5D5340"/>
                </a:solidFill>
                <a:latin typeface="Georgia Pro"/>
                <a:ea typeface="Georgia Pro"/>
                <a:cs typeface="Georgia Pro"/>
                <a:sym typeface="Georgia Pro"/>
              </a:rPr>
              <a:t> persist in a landscape of habitat patches that may go through cycles of local </a:t>
            </a:r>
            <a:r>
              <a:rPr lang="en-US" b="true" sz="2600">
                <a:solidFill>
                  <a:srgbClr val="5D534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extinction</a:t>
            </a:r>
            <a:r>
              <a:rPr lang="en-US" sz="2600">
                <a:solidFill>
                  <a:srgbClr val="5D5340"/>
                </a:solidFill>
                <a:latin typeface="Georgia Pro"/>
                <a:ea typeface="Georgia Pro"/>
                <a:cs typeface="Georgia Pro"/>
                <a:sym typeface="Georgia Pro"/>
              </a:rPr>
              <a:t> and </a:t>
            </a:r>
            <a:r>
              <a:rPr lang="en-US" b="true" sz="2600">
                <a:solidFill>
                  <a:srgbClr val="5D534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recolonization</a:t>
            </a:r>
            <a:r>
              <a:rPr lang="en-US" sz="2600">
                <a:solidFill>
                  <a:srgbClr val="5D5340"/>
                </a:solidFill>
                <a:latin typeface="Georgia Pro"/>
                <a:ea typeface="Georgia Pro"/>
                <a:cs typeface="Georgia Pro"/>
                <a:sym typeface="Georgia Pro"/>
              </a:rPr>
              <a:t>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144000" y="7272321"/>
            <a:ext cx="7040610" cy="2224805"/>
            <a:chOff x="0" y="0"/>
            <a:chExt cx="9387480" cy="2966407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9525"/>
              <a:ext cx="5455551" cy="1025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000"/>
                </a:lnSpc>
                <a:spcBef>
                  <a:spcPct val="0"/>
                </a:spcBef>
              </a:pPr>
              <a:r>
                <a:rPr lang="en-US" b="true" sz="5000">
                  <a:solidFill>
                    <a:srgbClr val="FFEBEB"/>
                  </a:solidFill>
                  <a:latin typeface="Linotype Feltpen Medium"/>
                  <a:ea typeface="Linotype Feltpen Medium"/>
                  <a:cs typeface="Linotype Feltpen Medium"/>
                  <a:sym typeface="Linotype Feltpen Medium"/>
                </a:rPr>
                <a:t>Implications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1303342"/>
              <a:ext cx="9387480" cy="1663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FFF9F3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Metapopulation theory is particularly relevant for understanding population viability in fragmented landscapes, conservation strategies (like creating corridors between habitat patches), and disease spread in human-altered landscapes.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0" y="1612302"/>
            <a:ext cx="7040610" cy="1787632"/>
            <a:chOff x="0" y="0"/>
            <a:chExt cx="9387480" cy="2383510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586105"/>
              <a:ext cx="9387480" cy="824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2" indent="-194311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FFF9F3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Metapopulation theory considers the dynamics of interconnected populations inhabiting patches of suitable habitat.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-47625"/>
              <a:ext cx="9387480" cy="516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9F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1. POPULATION DYNAMICS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1558645"/>
              <a:ext cx="9387480" cy="824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2" indent="-194311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FFF9F3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These populations may experience local extinctions and recolonizations over time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44000" y="5553063"/>
            <a:ext cx="7040610" cy="1376357"/>
            <a:chOff x="0" y="0"/>
            <a:chExt cx="9387480" cy="1835143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-47625"/>
              <a:ext cx="9387480" cy="516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9F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3. SOURCE-SINK DYNAMICS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591179"/>
              <a:ext cx="9387480" cy="1243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2" indent="-194311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FFF9F3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Metapopulations often involve a balance between source populations (sustainable and exporting individuals) and sink populations (dependent on immigration to persist).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DAGzu3ahYxA</dc:identifier>
  <dcterms:modified xsi:type="dcterms:W3CDTF">2011-08-01T06:04:30Z</dcterms:modified>
  <cp:revision>1</cp:revision>
  <dc:title>9-4_metapopulations</dc:title>
</cp:coreProperties>
</file>