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Clear Sans Bold" charset="1" panose="020B0803030202020304"/>
      <p:regular r:id="rId25"/>
    </p:embeddedFont>
    <p:embeddedFont>
      <p:font typeface="Clear Sans Medium" charset="1" panose="020B0603030202020304"/>
      <p:regular r:id="rId26"/>
    </p:embeddedFont>
    <p:embeddedFont>
      <p:font typeface="Clear Sans" charset="1" panose="020B0503030202020304"/>
      <p:regular r:id="rId27"/>
    </p:embeddedFont>
    <p:embeddedFont>
      <p:font typeface="Caveat Brush" charset="1" panose="00000000000000000000"/>
      <p:regular r:id="rId28"/>
    </p:embeddedFont>
    <p:embeddedFont>
      <p:font typeface="Nunito Sans" charset="1" panose="00000000000000000000"/>
      <p:regular r:id="rId29"/>
    </p:embeddedFont>
    <p:embeddedFont>
      <p:font typeface="Nunito Sans Bold" charset="1" panose="00000000000000000000"/>
      <p:regular r:id="rId30"/>
    </p:embeddedFont>
    <p:embeddedFont>
      <p:font typeface="Intro Rust" charset="1" panose="00000500000000000000"/>
      <p:regular r:id="rId31"/>
    </p:embeddedFont>
    <p:embeddedFont>
      <p:font typeface="Arimo" charset="1" panose="020B0604020202020204"/>
      <p:regular r:id="rId32"/>
    </p:embeddedFont>
    <p:embeddedFont>
      <p:font typeface="Metal" charset="1" panose="02060603050605020204"/>
      <p:regular r:id="rId33"/>
    </p:embeddedFont>
    <p:embeddedFont>
      <p:font typeface="Poppins Bold" charset="1" panose="00000800000000000000"/>
      <p:regular r:id="rId34"/>
    </p:embeddedFont>
    <p:embeddedFont>
      <p:font typeface="Open Sans" charset="1" panose="020B0606030504020204"/>
      <p:regular r:id="rId35"/>
    </p:embeddedFont>
    <p:embeddedFont>
      <p:font typeface="Raleway Bold" charset="1" panose="020B0803030101060003"/>
      <p:regular r:id="rId36"/>
    </p:embeddedFont>
    <p:embeddedFont>
      <p:font typeface="Now Heavy" charset="1" panose="00000A00000000000000"/>
      <p:regular r:id="rId37"/>
    </p:embeddedFont>
    <p:embeddedFont>
      <p:font typeface="Canva Sans" charset="1" panose="020B0503030501040103"/>
      <p:regular r:id="rId38"/>
    </p:embeddedFont>
    <p:embeddedFont>
      <p:font typeface="Open Sans Bold" charset="1" panose="020B0806030504020204"/>
      <p:regular r:id="rId39"/>
    </p:embeddedFont>
    <p:embeddedFont>
      <p:font typeface="Poppins" charset="1" panose="00000500000000000000"/>
      <p:regular r:id="rId40"/>
    </p:embeddedFont>
    <p:embeddedFont>
      <p:font typeface="Open Sans Italics" charset="1" panose="020B0606030504020204"/>
      <p:regular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jpeg" Type="http://schemas.openxmlformats.org/officeDocument/2006/relationships/image"/><Relationship Id="rId6"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https://youtu.be/EDpCLIgfHXo?si=xUz189F2paflXz3i" TargetMode="External" Type="http://schemas.openxmlformats.org/officeDocument/2006/relationships/video"/></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4.png" Type="http://schemas.openxmlformats.org/officeDocument/2006/relationships/image"/><Relationship Id="rId4" Target="../media/image22.png" Type="http://schemas.openxmlformats.org/officeDocument/2006/relationships/image"/><Relationship Id="rId5" Target="../media/image23.jpeg" Type="http://schemas.openxmlformats.org/officeDocument/2006/relationships/image"/><Relationship Id="rId6" Target="../media/image6.png" Type="http://schemas.openxmlformats.org/officeDocument/2006/relationships/image"/><Relationship Id="rId7" Target="../media/image2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png" Type="http://schemas.openxmlformats.org/officeDocument/2006/relationships/image"/><Relationship Id="rId4" Target="../media/image2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jpeg" Type="http://schemas.openxmlformats.org/officeDocument/2006/relationships/image"/><Relationship Id="rId3" Target="../media/image29.jpe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16.png" Type="http://schemas.openxmlformats.org/officeDocument/2006/relationships/image"/><Relationship Id="rId9" Target="../media/image17.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16.png" Type="http://schemas.openxmlformats.org/officeDocument/2006/relationships/image"/><Relationship Id="rId8" Target="../media/image1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32020"/>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54000"/>
            </a:blip>
            <a:stretch>
              <a:fillRect l="0" t="-9259" r="0" b="-9259"/>
            </a:stretch>
          </a:blipFill>
        </p:spPr>
      </p:sp>
      <p:grpSp>
        <p:nvGrpSpPr>
          <p:cNvPr name="Group 3" id="3"/>
          <p:cNvGrpSpPr/>
          <p:nvPr/>
        </p:nvGrpSpPr>
        <p:grpSpPr>
          <a:xfrm rot="0">
            <a:off x="1201928" y="2668417"/>
            <a:ext cx="8995265" cy="4950166"/>
            <a:chOff x="0" y="0"/>
            <a:chExt cx="11993687" cy="6600222"/>
          </a:xfrm>
        </p:grpSpPr>
        <p:sp>
          <p:nvSpPr>
            <p:cNvPr name="TextBox 4" id="4"/>
            <p:cNvSpPr txBox="true"/>
            <p:nvPr/>
          </p:nvSpPr>
          <p:spPr>
            <a:xfrm rot="0">
              <a:off x="0" y="1532059"/>
              <a:ext cx="11993687" cy="3776346"/>
            </a:xfrm>
            <a:prstGeom prst="rect">
              <a:avLst/>
            </a:prstGeom>
          </p:spPr>
          <p:txBody>
            <a:bodyPr anchor="t" rtlCol="false" tIns="0" lIns="0" bIns="0" rIns="0">
              <a:spAutoFit/>
            </a:bodyPr>
            <a:lstStyle/>
            <a:p>
              <a:pPr algn="l">
                <a:lnSpc>
                  <a:spcPts val="10815"/>
                </a:lnSpc>
              </a:pPr>
              <a:r>
                <a:rPr lang="en-US" sz="10300" b="true">
                  <a:solidFill>
                    <a:srgbClr val="FFFFFF"/>
                  </a:solidFill>
                  <a:latin typeface="Clear Sans Bold"/>
                  <a:ea typeface="Clear Sans Bold"/>
                  <a:cs typeface="Clear Sans Bold"/>
                  <a:sym typeface="Clear Sans Bold"/>
                </a:rPr>
                <a:t>Habitat Fragmentation</a:t>
              </a:r>
            </a:p>
          </p:txBody>
        </p:sp>
        <p:sp>
          <p:nvSpPr>
            <p:cNvPr name="TextBox 5" id="5"/>
            <p:cNvSpPr txBox="true"/>
            <p:nvPr/>
          </p:nvSpPr>
          <p:spPr>
            <a:xfrm rot="0">
              <a:off x="0" y="-76200"/>
              <a:ext cx="11993687" cy="783167"/>
            </a:xfrm>
            <a:prstGeom prst="rect">
              <a:avLst/>
            </a:prstGeom>
          </p:spPr>
          <p:txBody>
            <a:bodyPr anchor="t" rtlCol="false" tIns="0" lIns="0" bIns="0" rIns="0">
              <a:spAutoFit/>
            </a:bodyPr>
            <a:lstStyle/>
            <a:p>
              <a:pPr algn="l">
                <a:lnSpc>
                  <a:spcPts val="4900"/>
                </a:lnSpc>
              </a:pPr>
              <a:r>
                <a:rPr lang="en-US" b="true" sz="3500">
                  <a:solidFill>
                    <a:srgbClr val="FFFFFF"/>
                  </a:solidFill>
                  <a:latin typeface="Clear Sans Medium"/>
                  <a:ea typeface="Clear Sans Medium"/>
                  <a:cs typeface="Clear Sans Medium"/>
                  <a:sym typeface="Clear Sans Medium"/>
                </a:rPr>
                <a:t>CONSERVATION BIO</a:t>
              </a:r>
            </a:p>
          </p:txBody>
        </p:sp>
        <p:sp>
          <p:nvSpPr>
            <p:cNvPr name="TextBox 6" id="6"/>
            <p:cNvSpPr txBox="true"/>
            <p:nvPr/>
          </p:nvSpPr>
          <p:spPr>
            <a:xfrm rot="0">
              <a:off x="0" y="5933472"/>
              <a:ext cx="11993687" cy="666750"/>
            </a:xfrm>
            <a:prstGeom prst="rect">
              <a:avLst/>
            </a:prstGeom>
          </p:spPr>
          <p:txBody>
            <a:bodyPr anchor="t" rtlCol="false" tIns="0" lIns="0" bIns="0" rIns="0">
              <a:spAutoFit/>
            </a:bodyPr>
            <a:lstStyle/>
            <a:p>
              <a:pPr algn="l">
                <a:lnSpc>
                  <a:spcPts val="4200"/>
                </a:lnSpc>
              </a:pPr>
              <a:r>
                <a:rPr lang="en-US" sz="3000">
                  <a:solidFill>
                    <a:srgbClr val="FFFFFF"/>
                  </a:solidFill>
                  <a:latin typeface="Clear Sans"/>
                  <a:ea typeface="Clear Sans"/>
                  <a:cs typeface="Clear Sans"/>
                  <a:sym typeface="Clear Sans"/>
                </a:rPr>
                <a:t>Chapter 9: Part 2</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C4703B"/>
        </a:solidFill>
      </p:bgPr>
    </p:bg>
    <p:spTree>
      <p:nvGrpSpPr>
        <p:cNvPr id="1" name=""/>
        <p:cNvGrpSpPr/>
        <p:nvPr/>
      </p:nvGrpSpPr>
      <p:grpSpPr>
        <a:xfrm>
          <a:off x="0" y="0"/>
          <a:ext cx="0" cy="0"/>
          <a:chOff x="0" y="0"/>
          <a:chExt cx="0" cy="0"/>
        </a:xfrm>
      </p:grpSpPr>
      <p:sp>
        <p:nvSpPr>
          <p:cNvPr name="Freeform 2" id="2"/>
          <p:cNvSpPr/>
          <p:nvPr/>
        </p:nvSpPr>
        <p:spPr>
          <a:xfrm flipH="false" flipV="false" rot="0">
            <a:off x="-186498" y="-212437"/>
            <a:ext cx="18660997" cy="10697914"/>
          </a:xfrm>
          <a:custGeom>
            <a:avLst/>
            <a:gdLst/>
            <a:ahLst/>
            <a:cxnLst/>
            <a:rect r="r" b="b" t="t" l="l"/>
            <a:pathLst>
              <a:path h="10697914" w="18660997">
                <a:moveTo>
                  <a:pt x="0" y="0"/>
                </a:moveTo>
                <a:lnTo>
                  <a:pt x="18660996" y="0"/>
                </a:lnTo>
                <a:lnTo>
                  <a:pt x="18660996" y="10697914"/>
                </a:lnTo>
                <a:lnTo>
                  <a:pt x="0" y="10697914"/>
                </a:lnTo>
                <a:lnTo>
                  <a:pt x="0" y="0"/>
                </a:lnTo>
                <a:close/>
              </a:path>
            </a:pathLst>
          </a:custGeom>
          <a:blipFill>
            <a:blip r:embed="rId2"/>
            <a:stretch>
              <a:fillRect l="0" t="-8077" r="0" b="-19696"/>
            </a:stretch>
          </a:blipFill>
        </p:spPr>
      </p:sp>
      <p:sp>
        <p:nvSpPr>
          <p:cNvPr name="Freeform 3" id="3"/>
          <p:cNvSpPr/>
          <p:nvPr/>
        </p:nvSpPr>
        <p:spPr>
          <a:xfrm flipH="false" flipV="false" rot="5400000">
            <a:off x="13636306" y="2161071"/>
            <a:ext cx="3367136" cy="2513963"/>
          </a:xfrm>
          <a:custGeom>
            <a:avLst/>
            <a:gdLst/>
            <a:ahLst/>
            <a:cxnLst/>
            <a:rect r="r" b="b" t="t" l="l"/>
            <a:pathLst>
              <a:path h="2513963" w="3367136">
                <a:moveTo>
                  <a:pt x="0" y="0"/>
                </a:moveTo>
                <a:lnTo>
                  <a:pt x="3367136" y="0"/>
                </a:lnTo>
                <a:lnTo>
                  <a:pt x="3367136" y="2513963"/>
                </a:lnTo>
                <a:lnTo>
                  <a:pt x="0" y="2513963"/>
                </a:lnTo>
                <a:lnTo>
                  <a:pt x="0" y="0"/>
                </a:lnTo>
                <a:close/>
              </a:path>
            </a:pathLst>
          </a:custGeom>
          <a:blipFill>
            <a:blip r:embed="rId3"/>
            <a:stretch>
              <a:fillRect l="0" t="0" r="-77766" b="0"/>
            </a:stretch>
          </a:blipFill>
        </p:spPr>
      </p:sp>
      <p:sp>
        <p:nvSpPr>
          <p:cNvPr name="Freeform 4" id="4"/>
          <p:cNvSpPr/>
          <p:nvPr/>
        </p:nvSpPr>
        <p:spPr>
          <a:xfrm flipH="false" flipV="false" rot="-5400000">
            <a:off x="11295040" y="2798550"/>
            <a:ext cx="4527681" cy="7674036"/>
          </a:xfrm>
          <a:custGeom>
            <a:avLst/>
            <a:gdLst/>
            <a:ahLst/>
            <a:cxnLst/>
            <a:rect r="r" b="b" t="t" l="l"/>
            <a:pathLst>
              <a:path h="7674036" w="4527681">
                <a:moveTo>
                  <a:pt x="0" y="0"/>
                </a:moveTo>
                <a:lnTo>
                  <a:pt x="4527681" y="0"/>
                </a:lnTo>
                <a:lnTo>
                  <a:pt x="4527681" y="7674036"/>
                </a:lnTo>
                <a:lnTo>
                  <a:pt x="0" y="7674036"/>
                </a:lnTo>
                <a:lnTo>
                  <a:pt x="0" y="0"/>
                </a:lnTo>
                <a:close/>
              </a:path>
            </a:pathLst>
          </a:custGeom>
          <a:blipFill>
            <a:blip r:embed="rId4"/>
            <a:stretch>
              <a:fillRect l="0" t="0" r="0" b="0"/>
            </a:stretch>
          </a:blipFill>
        </p:spPr>
      </p:sp>
      <p:grpSp>
        <p:nvGrpSpPr>
          <p:cNvPr name="Group 5" id="5"/>
          <p:cNvGrpSpPr>
            <a:grpSpLocks noChangeAspect="true"/>
          </p:cNvGrpSpPr>
          <p:nvPr/>
        </p:nvGrpSpPr>
        <p:grpSpPr>
          <a:xfrm rot="0">
            <a:off x="9287372" y="1976151"/>
            <a:ext cx="7603277" cy="6250939"/>
            <a:chOff x="0" y="0"/>
            <a:chExt cx="4991100" cy="4103370"/>
          </a:xfrm>
        </p:grpSpPr>
        <p:sp>
          <p:nvSpPr>
            <p:cNvPr name="Freeform 6" id="6"/>
            <p:cNvSpPr/>
            <p:nvPr/>
          </p:nvSpPr>
          <p:spPr>
            <a:xfrm flipH="false" flipV="false" rot="0">
              <a:off x="0" y="54610"/>
              <a:ext cx="4991100" cy="4048760"/>
            </a:xfrm>
            <a:custGeom>
              <a:avLst/>
              <a:gdLst/>
              <a:ahLst/>
              <a:cxnLst/>
              <a:rect r="r" b="b" t="t" l="l"/>
              <a:pathLst>
                <a:path h="4048760" w="4991100">
                  <a:moveTo>
                    <a:pt x="4991100" y="194310"/>
                  </a:moveTo>
                  <a:lnTo>
                    <a:pt x="4991100" y="4048760"/>
                  </a:lnTo>
                  <a:lnTo>
                    <a:pt x="0" y="4048760"/>
                  </a:lnTo>
                  <a:lnTo>
                    <a:pt x="0" y="361950"/>
                  </a:lnTo>
                  <a:lnTo>
                    <a:pt x="0" y="334010"/>
                  </a:lnTo>
                  <a:lnTo>
                    <a:pt x="138430" y="278130"/>
                  </a:lnTo>
                  <a:cubicBezTo>
                    <a:pt x="138430" y="278130"/>
                    <a:pt x="248920" y="278130"/>
                    <a:pt x="304800" y="250190"/>
                  </a:cubicBezTo>
                  <a:cubicBezTo>
                    <a:pt x="360680" y="222250"/>
                    <a:pt x="499110" y="139700"/>
                    <a:pt x="499110" y="139700"/>
                  </a:cubicBezTo>
                  <a:cubicBezTo>
                    <a:pt x="499110" y="139700"/>
                    <a:pt x="637540" y="55880"/>
                    <a:pt x="721360" y="139700"/>
                  </a:cubicBezTo>
                  <a:cubicBezTo>
                    <a:pt x="721360" y="139700"/>
                    <a:pt x="859790" y="139700"/>
                    <a:pt x="887730" y="111760"/>
                  </a:cubicBezTo>
                  <a:lnTo>
                    <a:pt x="998220" y="139700"/>
                  </a:lnTo>
                  <a:lnTo>
                    <a:pt x="1330960" y="139700"/>
                  </a:lnTo>
                  <a:lnTo>
                    <a:pt x="1553210" y="139700"/>
                  </a:lnTo>
                  <a:lnTo>
                    <a:pt x="1913890" y="139700"/>
                  </a:lnTo>
                  <a:cubicBezTo>
                    <a:pt x="1913890" y="139700"/>
                    <a:pt x="2136140" y="139700"/>
                    <a:pt x="2190750" y="111760"/>
                  </a:cubicBezTo>
                  <a:cubicBezTo>
                    <a:pt x="2245360" y="83820"/>
                    <a:pt x="2413000" y="111760"/>
                    <a:pt x="2413000" y="111760"/>
                  </a:cubicBezTo>
                  <a:cubicBezTo>
                    <a:pt x="2413000" y="111760"/>
                    <a:pt x="2717800" y="167640"/>
                    <a:pt x="2801620" y="139700"/>
                  </a:cubicBezTo>
                  <a:cubicBezTo>
                    <a:pt x="2885440" y="111760"/>
                    <a:pt x="3051810" y="111760"/>
                    <a:pt x="3051810" y="111760"/>
                  </a:cubicBezTo>
                  <a:cubicBezTo>
                    <a:pt x="3051810" y="111760"/>
                    <a:pt x="3134360" y="167640"/>
                    <a:pt x="3274060" y="111760"/>
                  </a:cubicBezTo>
                  <a:cubicBezTo>
                    <a:pt x="3274060" y="111760"/>
                    <a:pt x="3329940" y="139700"/>
                    <a:pt x="3522980" y="83820"/>
                  </a:cubicBezTo>
                  <a:cubicBezTo>
                    <a:pt x="3522980" y="83820"/>
                    <a:pt x="3661410" y="83820"/>
                    <a:pt x="3717290" y="27940"/>
                  </a:cubicBezTo>
                  <a:cubicBezTo>
                    <a:pt x="3717290" y="27940"/>
                    <a:pt x="3827780" y="0"/>
                    <a:pt x="3939540" y="55880"/>
                  </a:cubicBezTo>
                  <a:cubicBezTo>
                    <a:pt x="3939540" y="55880"/>
                    <a:pt x="3995420" y="83820"/>
                    <a:pt x="4023360" y="55880"/>
                  </a:cubicBezTo>
                  <a:lnTo>
                    <a:pt x="4189730" y="83820"/>
                  </a:lnTo>
                  <a:cubicBezTo>
                    <a:pt x="4189730" y="83820"/>
                    <a:pt x="4245610" y="139700"/>
                    <a:pt x="4384040" y="167640"/>
                  </a:cubicBezTo>
                  <a:lnTo>
                    <a:pt x="4632960" y="167640"/>
                  </a:lnTo>
                  <a:cubicBezTo>
                    <a:pt x="4632960" y="167640"/>
                    <a:pt x="4771390" y="139700"/>
                    <a:pt x="4827270" y="167640"/>
                  </a:cubicBezTo>
                  <a:cubicBezTo>
                    <a:pt x="4883150" y="195580"/>
                    <a:pt x="4991100" y="194310"/>
                    <a:pt x="4991100" y="194310"/>
                  </a:cubicBezTo>
                  <a:close/>
                </a:path>
              </a:pathLst>
            </a:custGeom>
            <a:blipFill>
              <a:blip r:embed="rId5"/>
              <a:stretch>
                <a:fillRect l="-27340" t="-14395" r="-4999" b="-8597"/>
              </a:stretch>
            </a:blipFill>
          </p:spPr>
        </p:sp>
        <p:sp>
          <p:nvSpPr>
            <p:cNvPr name="Freeform 7" id="7"/>
            <p:cNvSpPr/>
            <p:nvPr/>
          </p:nvSpPr>
          <p:spPr>
            <a:xfrm flipH="false" flipV="false" rot="0">
              <a:off x="0" y="0"/>
              <a:ext cx="4991100" cy="443230"/>
            </a:xfrm>
            <a:custGeom>
              <a:avLst/>
              <a:gdLst/>
              <a:ahLst/>
              <a:cxnLst/>
              <a:rect r="r" b="b" t="t" l="l"/>
              <a:pathLst>
                <a:path h="443230" w="4991100">
                  <a:moveTo>
                    <a:pt x="4991100" y="443230"/>
                  </a:moveTo>
                  <a:lnTo>
                    <a:pt x="0" y="443230"/>
                  </a:lnTo>
                  <a:lnTo>
                    <a:pt x="0" y="0"/>
                  </a:lnTo>
                  <a:lnTo>
                    <a:pt x="4991100" y="0"/>
                  </a:lnTo>
                  <a:lnTo>
                    <a:pt x="4991100" y="443230"/>
                  </a:lnTo>
                  <a:close/>
                </a:path>
              </a:pathLst>
            </a:custGeom>
            <a:blipFill>
              <a:blip r:embed="rId6"/>
              <a:stretch>
                <a:fillRect l="-2856" t="-34555" r="-838" b="-85845"/>
              </a:stretch>
            </a:blipFill>
          </p:spPr>
        </p:sp>
      </p:grpSp>
      <p:sp>
        <p:nvSpPr>
          <p:cNvPr name="TextBox 8" id="8"/>
          <p:cNvSpPr txBox="true"/>
          <p:nvPr/>
        </p:nvSpPr>
        <p:spPr>
          <a:xfrm rot="0">
            <a:off x="1297360" y="1028700"/>
            <a:ext cx="7027203" cy="2190750"/>
          </a:xfrm>
          <a:prstGeom prst="rect">
            <a:avLst/>
          </a:prstGeom>
        </p:spPr>
        <p:txBody>
          <a:bodyPr anchor="t" rtlCol="false" tIns="0" lIns="0" bIns="0" rIns="0">
            <a:spAutoFit/>
          </a:bodyPr>
          <a:lstStyle/>
          <a:p>
            <a:pPr algn="ctr" marL="0" indent="0" lvl="0">
              <a:lnSpc>
                <a:spcPts val="8640"/>
              </a:lnSpc>
              <a:spcBef>
                <a:spcPct val="0"/>
              </a:spcBef>
            </a:pPr>
            <a:r>
              <a:rPr lang="en-US" sz="7200">
                <a:solidFill>
                  <a:srgbClr val="000000"/>
                </a:solidFill>
                <a:latin typeface="Caveat Brush"/>
                <a:ea typeface="Caveat Brush"/>
                <a:cs typeface="Caveat Brush"/>
                <a:sym typeface="Caveat Brush"/>
              </a:rPr>
              <a:t>HABITAT FRAGMENTATION</a:t>
            </a:r>
          </a:p>
        </p:txBody>
      </p:sp>
      <p:sp>
        <p:nvSpPr>
          <p:cNvPr name="TextBox 9" id="9"/>
          <p:cNvSpPr txBox="true"/>
          <p:nvPr/>
        </p:nvSpPr>
        <p:spPr>
          <a:xfrm rot="0">
            <a:off x="1297360" y="3707835"/>
            <a:ext cx="7027203" cy="1337310"/>
          </a:xfrm>
          <a:prstGeom prst="rect">
            <a:avLst/>
          </a:prstGeom>
        </p:spPr>
        <p:txBody>
          <a:bodyPr anchor="t" rtlCol="false" tIns="0" lIns="0" bIns="0" rIns="0">
            <a:spAutoFit/>
          </a:bodyPr>
          <a:lstStyle/>
          <a:p>
            <a:pPr algn="ctr">
              <a:lnSpc>
                <a:spcPts val="3570"/>
              </a:lnSpc>
            </a:pPr>
            <a:r>
              <a:rPr lang="en-US" sz="3000">
                <a:solidFill>
                  <a:srgbClr val="000000"/>
                </a:solidFill>
                <a:latin typeface="Nunito Sans"/>
                <a:ea typeface="Nunito Sans"/>
                <a:cs typeface="Nunito Sans"/>
                <a:sym typeface="Nunito Sans"/>
              </a:rPr>
              <a:t>The process by which a larger expanse of habitat is subdivided into smaller pieces, or patches, within a landscape.</a:t>
            </a:r>
          </a:p>
        </p:txBody>
      </p:sp>
      <p:sp>
        <p:nvSpPr>
          <p:cNvPr name="TextBox 10" id="10"/>
          <p:cNvSpPr txBox="true"/>
          <p:nvPr/>
        </p:nvSpPr>
        <p:spPr>
          <a:xfrm rot="0">
            <a:off x="1297360" y="5557119"/>
            <a:ext cx="7027203" cy="1719326"/>
          </a:xfrm>
          <a:prstGeom prst="rect">
            <a:avLst/>
          </a:prstGeom>
        </p:spPr>
        <p:txBody>
          <a:bodyPr anchor="t" rtlCol="false" tIns="0" lIns="0" bIns="0" rIns="0">
            <a:spAutoFit/>
          </a:bodyPr>
          <a:lstStyle/>
          <a:p>
            <a:pPr algn="ctr">
              <a:lnSpc>
                <a:spcPts val="4522"/>
              </a:lnSpc>
            </a:pPr>
            <a:r>
              <a:rPr lang="en-US" b="true" sz="3800">
                <a:solidFill>
                  <a:srgbClr val="000000"/>
                </a:solidFill>
                <a:latin typeface="Nunito Sans Bold"/>
                <a:ea typeface="Nunito Sans Bold"/>
                <a:cs typeface="Nunito Sans Bold"/>
                <a:sym typeface="Nunito Sans Bold"/>
              </a:rPr>
              <a:t>Habitat Fragmentation</a:t>
            </a:r>
            <a:r>
              <a:rPr lang="en-US" sz="3800">
                <a:solidFill>
                  <a:srgbClr val="000000"/>
                </a:solidFill>
                <a:latin typeface="Nunito Sans"/>
                <a:ea typeface="Nunito Sans"/>
                <a:cs typeface="Nunito Sans"/>
                <a:sym typeface="Nunito Sans"/>
              </a:rPr>
              <a:t> and </a:t>
            </a:r>
            <a:r>
              <a:rPr lang="en-US" b="true" sz="3800">
                <a:solidFill>
                  <a:srgbClr val="000000"/>
                </a:solidFill>
                <a:latin typeface="Nunito Sans Bold"/>
                <a:ea typeface="Nunito Sans Bold"/>
                <a:cs typeface="Nunito Sans Bold"/>
                <a:sym typeface="Nunito Sans Bold"/>
              </a:rPr>
              <a:t>Habitat Loss</a:t>
            </a:r>
            <a:r>
              <a:rPr lang="en-US" sz="3800">
                <a:solidFill>
                  <a:srgbClr val="000000"/>
                </a:solidFill>
                <a:latin typeface="Nunito Sans"/>
                <a:ea typeface="Nunito Sans"/>
                <a:cs typeface="Nunito Sans"/>
                <a:sym typeface="Nunito Sans"/>
              </a:rPr>
              <a:t> almost always occur together.</a:t>
            </a:r>
          </a:p>
        </p:txBody>
      </p:sp>
      <p:sp>
        <p:nvSpPr>
          <p:cNvPr name="TextBox 11" id="11"/>
          <p:cNvSpPr txBox="true"/>
          <p:nvPr/>
        </p:nvSpPr>
        <p:spPr>
          <a:xfrm rot="0">
            <a:off x="1297360" y="7797943"/>
            <a:ext cx="7027203" cy="889635"/>
          </a:xfrm>
          <a:prstGeom prst="rect">
            <a:avLst/>
          </a:prstGeom>
        </p:spPr>
        <p:txBody>
          <a:bodyPr anchor="t" rtlCol="false" tIns="0" lIns="0" bIns="0" rIns="0">
            <a:spAutoFit/>
          </a:bodyPr>
          <a:lstStyle/>
          <a:p>
            <a:pPr algn="ctr">
              <a:lnSpc>
                <a:spcPts val="3570"/>
              </a:lnSpc>
            </a:pPr>
            <a:r>
              <a:rPr lang="en-US" sz="3000">
                <a:solidFill>
                  <a:srgbClr val="000000"/>
                </a:solidFill>
                <a:latin typeface="Nunito Sans"/>
                <a:ea typeface="Nunito Sans"/>
                <a:cs typeface="Nunito Sans"/>
                <a:sym typeface="Nunito Sans"/>
              </a:rPr>
              <a:t>One consequence of fragmentation is further loss of total habitat area.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a:videoFile r:link="rId3"/>
          </p:nvPr>
        </p:nvPicPr>
        <p:blipFill>
          <a:blip r:embed="rId2"/>
          <a:stretch>
            <a:fillRect/>
          </a:stretch>
        </p:blipFill>
        <p:spPr>
          <a:xfrm rot="0">
            <a:off x="2045997" y="0"/>
            <a:ext cx="13947405" cy="7839291"/>
          </a:xfrm>
          <a:prstGeom prst="rect">
            <a:avLst/>
          </a:prstGeom>
        </p:spPr>
      </p:pic>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68963C"/>
        </a:solidFill>
      </p:bgPr>
    </p:bg>
    <p:spTree>
      <p:nvGrpSpPr>
        <p:cNvPr id="1" name=""/>
        <p:cNvGrpSpPr/>
        <p:nvPr/>
      </p:nvGrpSpPr>
      <p:grpSpPr>
        <a:xfrm>
          <a:off x="0" y="0"/>
          <a:ext cx="0" cy="0"/>
          <a:chOff x="0" y="0"/>
          <a:chExt cx="0" cy="0"/>
        </a:xfrm>
      </p:grpSpPr>
      <p:sp>
        <p:nvSpPr>
          <p:cNvPr name="AutoShape 2" id="2"/>
          <p:cNvSpPr/>
          <p:nvPr/>
        </p:nvSpPr>
        <p:spPr>
          <a:xfrm rot="0">
            <a:off x="-52517" y="3436302"/>
            <a:ext cx="8157248" cy="0"/>
          </a:xfrm>
          <a:prstGeom prst="line">
            <a:avLst/>
          </a:prstGeom>
          <a:ln cap="flat" w="28575">
            <a:solidFill>
              <a:srgbClr val="FFFFFF"/>
            </a:solidFill>
            <a:prstDash val="solid"/>
            <a:headEnd type="none" len="sm" w="sm"/>
            <a:tailEnd type="none" len="sm" w="sm"/>
          </a:ln>
        </p:spPr>
      </p:sp>
      <p:sp>
        <p:nvSpPr>
          <p:cNvPr name="Freeform 3" id="3"/>
          <p:cNvSpPr/>
          <p:nvPr/>
        </p:nvSpPr>
        <p:spPr>
          <a:xfrm flipH="false" flipV="false" rot="0">
            <a:off x="7065461" y="8964706"/>
            <a:ext cx="2078539" cy="587187"/>
          </a:xfrm>
          <a:custGeom>
            <a:avLst/>
            <a:gdLst/>
            <a:ahLst/>
            <a:cxnLst/>
            <a:rect r="r" b="b" t="t" l="l"/>
            <a:pathLst>
              <a:path h="587187" w="2078539">
                <a:moveTo>
                  <a:pt x="0" y="0"/>
                </a:moveTo>
                <a:lnTo>
                  <a:pt x="2078539" y="0"/>
                </a:lnTo>
                <a:lnTo>
                  <a:pt x="2078539" y="587188"/>
                </a:lnTo>
                <a:lnTo>
                  <a:pt x="0" y="5871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0183270" y="0"/>
            <a:ext cx="8104730" cy="10287000"/>
            <a:chOff x="0" y="0"/>
            <a:chExt cx="2134579" cy="2709333"/>
          </a:xfrm>
        </p:grpSpPr>
        <p:sp>
          <p:nvSpPr>
            <p:cNvPr name="Freeform 5" id="5"/>
            <p:cNvSpPr/>
            <p:nvPr/>
          </p:nvSpPr>
          <p:spPr>
            <a:xfrm flipH="false" flipV="false" rot="0">
              <a:off x="0" y="0"/>
              <a:ext cx="2134579" cy="2709333"/>
            </a:xfrm>
            <a:custGeom>
              <a:avLst/>
              <a:gdLst/>
              <a:ahLst/>
              <a:cxnLst/>
              <a:rect r="r" b="b" t="t" l="l"/>
              <a:pathLst>
                <a:path h="2709333" w="2134579">
                  <a:moveTo>
                    <a:pt x="0" y="0"/>
                  </a:moveTo>
                  <a:lnTo>
                    <a:pt x="2134579" y="0"/>
                  </a:lnTo>
                  <a:lnTo>
                    <a:pt x="2134579" y="2709333"/>
                  </a:lnTo>
                  <a:lnTo>
                    <a:pt x="0" y="2709333"/>
                  </a:lnTo>
                  <a:close/>
                </a:path>
              </a:pathLst>
            </a:custGeom>
            <a:solidFill>
              <a:srgbClr val="FFFFFF"/>
            </a:solidFill>
          </p:spPr>
        </p:sp>
        <p:sp>
          <p:nvSpPr>
            <p:cNvPr name="TextBox 6" id="6"/>
            <p:cNvSpPr txBox="true"/>
            <p:nvPr/>
          </p:nvSpPr>
          <p:spPr>
            <a:xfrm>
              <a:off x="0" y="-57150"/>
              <a:ext cx="2134579" cy="2766483"/>
            </a:xfrm>
            <a:prstGeom prst="rect">
              <a:avLst/>
            </a:prstGeom>
          </p:spPr>
          <p:txBody>
            <a:bodyPr anchor="ctr" rtlCol="false" tIns="50800" lIns="50800" bIns="50800" rIns="50800"/>
            <a:lstStyle/>
            <a:p>
              <a:pPr algn="ctr">
                <a:lnSpc>
                  <a:spcPts val="3587"/>
                </a:lnSpc>
              </a:pPr>
            </a:p>
          </p:txBody>
        </p:sp>
      </p:grpSp>
      <p:grpSp>
        <p:nvGrpSpPr>
          <p:cNvPr name="Group 7" id="7"/>
          <p:cNvGrpSpPr/>
          <p:nvPr/>
        </p:nvGrpSpPr>
        <p:grpSpPr>
          <a:xfrm rot="0">
            <a:off x="10547548" y="1028700"/>
            <a:ext cx="7046078" cy="7162742"/>
            <a:chOff x="0" y="0"/>
            <a:chExt cx="9394771" cy="9550322"/>
          </a:xfrm>
        </p:grpSpPr>
        <p:sp>
          <p:nvSpPr>
            <p:cNvPr name="Freeform 8" id="8"/>
            <p:cNvSpPr/>
            <p:nvPr/>
          </p:nvSpPr>
          <p:spPr>
            <a:xfrm flipH="false" flipV="false" rot="0">
              <a:off x="2511451" y="596056"/>
              <a:ext cx="3450691" cy="8954266"/>
            </a:xfrm>
            <a:custGeom>
              <a:avLst/>
              <a:gdLst/>
              <a:ahLst/>
              <a:cxnLst/>
              <a:rect r="r" b="b" t="t" l="l"/>
              <a:pathLst>
                <a:path h="8954266" w="3450691">
                  <a:moveTo>
                    <a:pt x="0" y="0"/>
                  </a:moveTo>
                  <a:lnTo>
                    <a:pt x="3450691" y="0"/>
                  </a:lnTo>
                  <a:lnTo>
                    <a:pt x="3450691" y="8954266"/>
                  </a:lnTo>
                  <a:lnTo>
                    <a:pt x="0" y="8954266"/>
                  </a:lnTo>
                  <a:lnTo>
                    <a:pt x="0" y="0"/>
                  </a:lnTo>
                  <a:close/>
                </a:path>
              </a:pathLst>
            </a:custGeom>
            <a:blipFill>
              <a:blip r:embed="rId4"/>
              <a:stretch>
                <a:fillRect l="-73281" t="-6656" r="-299931" b="0"/>
              </a:stretch>
            </a:blipFill>
          </p:spPr>
        </p:sp>
        <p:sp>
          <p:nvSpPr>
            <p:cNvPr name="Freeform 9" id="9"/>
            <p:cNvSpPr/>
            <p:nvPr/>
          </p:nvSpPr>
          <p:spPr>
            <a:xfrm flipH="false" flipV="false" rot="0">
              <a:off x="5962142" y="596056"/>
              <a:ext cx="3432629" cy="8954266"/>
            </a:xfrm>
            <a:custGeom>
              <a:avLst/>
              <a:gdLst/>
              <a:ahLst/>
              <a:cxnLst/>
              <a:rect r="r" b="b" t="t" l="l"/>
              <a:pathLst>
                <a:path h="8954266" w="3432629">
                  <a:moveTo>
                    <a:pt x="0" y="0"/>
                  </a:moveTo>
                  <a:lnTo>
                    <a:pt x="3432629" y="0"/>
                  </a:lnTo>
                  <a:lnTo>
                    <a:pt x="3432629" y="8954266"/>
                  </a:lnTo>
                  <a:lnTo>
                    <a:pt x="0" y="8954266"/>
                  </a:lnTo>
                  <a:lnTo>
                    <a:pt x="0" y="0"/>
                  </a:lnTo>
                  <a:close/>
                </a:path>
              </a:pathLst>
            </a:custGeom>
            <a:blipFill>
              <a:blip r:embed="rId4"/>
              <a:stretch>
                <a:fillRect l="-375702" t="-6656" r="0" b="0"/>
              </a:stretch>
            </a:blipFill>
          </p:spPr>
        </p:sp>
        <p:sp>
          <p:nvSpPr>
            <p:cNvPr name="Freeform 10" id="10"/>
            <p:cNvSpPr/>
            <p:nvPr/>
          </p:nvSpPr>
          <p:spPr>
            <a:xfrm flipH="false" flipV="false" rot="0">
              <a:off x="0" y="0"/>
              <a:ext cx="2511451" cy="9550322"/>
            </a:xfrm>
            <a:custGeom>
              <a:avLst/>
              <a:gdLst/>
              <a:ahLst/>
              <a:cxnLst/>
              <a:rect r="r" b="b" t="t" l="l"/>
              <a:pathLst>
                <a:path h="9550322" w="2511451">
                  <a:moveTo>
                    <a:pt x="0" y="0"/>
                  </a:moveTo>
                  <a:lnTo>
                    <a:pt x="2511451" y="0"/>
                  </a:lnTo>
                  <a:lnTo>
                    <a:pt x="2511451" y="9550322"/>
                  </a:lnTo>
                  <a:lnTo>
                    <a:pt x="0" y="9550322"/>
                  </a:lnTo>
                  <a:lnTo>
                    <a:pt x="0" y="0"/>
                  </a:lnTo>
                  <a:close/>
                </a:path>
              </a:pathLst>
            </a:custGeom>
            <a:blipFill>
              <a:blip r:embed="rId4"/>
              <a:stretch>
                <a:fillRect l="0" t="0" r="-550186" b="0"/>
              </a:stretch>
            </a:blipFill>
          </p:spPr>
        </p:sp>
      </p:grpSp>
      <p:sp>
        <p:nvSpPr>
          <p:cNvPr name="TextBox 11" id="11"/>
          <p:cNvSpPr txBox="true"/>
          <p:nvPr/>
        </p:nvSpPr>
        <p:spPr>
          <a:xfrm rot="0">
            <a:off x="1030828" y="1200150"/>
            <a:ext cx="9152442" cy="962660"/>
          </a:xfrm>
          <a:prstGeom prst="rect">
            <a:avLst/>
          </a:prstGeom>
        </p:spPr>
        <p:txBody>
          <a:bodyPr anchor="t" rtlCol="false" tIns="0" lIns="0" bIns="0" rIns="0">
            <a:spAutoFit/>
          </a:bodyPr>
          <a:lstStyle/>
          <a:p>
            <a:pPr algn="l">
              <a:lnSpc>
                <a:spcPts val="7840"/>
              </a:lnSpc>
            </a:pPr>
            <a:r>
              <a:rPr lang="en-US" sz="5600" spc="632">
                <a:solidFill>
                  <a:srgbClr val="FFFFFF"/>
                </a:solidFill>
                <a:latin typeface="Intro Rust"/>
                <a:ea typeface="Intro Rust"/>
                <a:cs typeface="Intro Rust"/>
                <a:sym typeface="Intro Rust"/>
              </a:rPr>
              <a:t>Loss and</a:t>
            </a:r>
          </a:p>
        </p:txBody>
      </p:sp>
      <p:sp>
        <p:nvSpPr>
          <p:cNvPr name="TextBox 12" id="12"/>
          <p:cNvSpPr txBox="true"/>
          <p:nvPr/>
        </p:nvSpPr>
        <p:spPr>
          <a:xfrm rot="0">
            <a:off x="984703" y="2029460"/>
            <a:ext cx="9198567" cy="1226820"/>
          </a:xfrm>
          <a:prstGeom prst="rect">
            <a:avLst/>
          </a:prstGeom>
        </p:spPr>
        <p:txBody>
          <a:bodyPr anchor="t" rtlCol="false" tIns="0" lIns="0" bIns="0" rIns="0">
            <a:spAutoFit/>
          </a:bodyPr>
          <a:lstStyle/>
          <a:p>
            <a:pPr algn="l">
              <a:lnSpc>
                <a:spcPts val="10080"/>
              </a:lnSpc>
            </a:pPr>
            <a:r>
              <a:rPr lang="en-US" sz="7200" spc="403">
                <a:solidFill>
                  <a:srgbClr val="FFCE66"/>
                </a:solidFill>
                <a:latin typeface="Intro Rust"/>
                <a:ea typeface="Intro Rust"/>
                <a:cs typeface="Intro Rust"/>
                <a:sym typeface="Intro Rust"/>
              </a:rPr>
              <a:t>FRAGMENTATION</a:t>
            </a:r>
          </a:p>
        </p:txBody>
      </p:sp>
      <p:sp>
        <p:nvSpPr>
          <p:cNvPr name="TextBox 13" id="13"/>
          <p:cNvSpPr txBox="true"/>
          <p:nvPr/>
        </p:nvSpPr>
        <p:spPr>
          <a:xfrm rot="0">
            <a:off x="984703" y="3900464"/>
            <a:ext cx="7361846" cy="3493008"/>
          </a:xfrm>
          <a:prstGeom prst="rect">
            <a:avLst/>
          </a:prstGeom>
        </p:spPr>
        <p:txBody>
          <a:bodyPr anchor="t" rtlCol="false" tIns="0" lIns="0" bIns="0" rIns="0">
            <a:spAutoFit/>
          </a:bodyPr>
          <a:lstStyle/>
          <a:p>
            <a:pPr algn="l">
              <a:lnSpc>
                <a:spcPts val="3935"/>
              </a:lnSpc>
            </a:pPr>
            <a:r>
              <a:rPr lang="en-US" sz="3199">
                <a:solidFill>
                  <a:srgbClr val="FFFFFF"/>
                </a:solidFill>
                <a:latin typeface="Arimo"/>
                <a:ea typeface="Arimo"/>
                <a:cs typeface="Arimo"/>
                <a:sym typeface="Arimo"/>
              </a:rPr>
              <a:t>Time series showing the loss and fragmentation of habitat from a natural landscape</a:t>
            </a:r>
          </a:p>
          <a:p>
            <a:pPr algn="l">
              <a:lnSpc>
                <a:spcPts val="3935"/>
              </a:lnSpc>
            </a:pPr>
          </a:p>
          <a:p>
            <a:pPr algn="l">
              <a:lnSpc>
                <a:spcPts val="3935"/>
              </a:lnSpc>
            </a:pPr>
            <a:r>
              <a:rPr lang="en-US" sz="3199">
                <a:solidFill>
                  <a:srgbClr val="FFFFFF"/>
                </a:solidFill>
                <a:latin typeface="Arimo"/>
                <a:ea typeface="Arimo"/>
                <a:cs typeface="Arimo"/>
                <a:sym typeface="Arimo"/>
              </a:rPr>
              <a:t>habitat loss and fragmentation are both associated with a loss of area of habitat type 1</a:t>
            </a:r>
          </a:p>
        </p:txBody>
      </p:sp>
      <p:sp>
        <p:nvSpPr>
          <p:cNvPr name="TextBox 14" id="14"/>
          <p:cNvSpPr txBox="true"/>
          <p:nvPr/>
        </p:nvSpPr>
        <p:spPr>
          <a:xfrm rot="0">
            <a:off x="13241603" y="7965782"/>
            <a:ext cx="3866331" cy="586740"/>
          </a:xfrm>
          <a:prstGeom prst="rect">
            <a:avLst/>
          </a:prstGeom>
        </p:spPr>
        <p:txBody>
          <a:bodyPr anchor="t" rtlCol="false" tIns="0" lIns="0" bIns="0" rIns="0">
            <a:spAutoFit/>
          </a:bodyPr>
          <a:lstStyle/>
          <a:p>
            <a:pPr algn="ctr">
              <a:lnSpc>
                <a:spcPts val="4409"/>
              </a:lnSpc>
            </a:pPr>
            <a:r>
              <a:rPr lang="en-US" sz="3150">
                <a:solidFill>
                  <a:srgbClr val="000000"/>
                </a:solidFill>
                <a:latin typeface="Metal"/>
                <a:ea typeface="Metal"/>
                <a:cs typeface="Metal"/>
                <a:sym typeface="Metal"/>
              </a:rPr>
              <a:t>landscape conversion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68963C"/>
        </a:solidFill>
      </p:bgPr>
    </p:bg>
    <p:spTree>
      <p:nvGrpSpPr>
        <p:cNvPr id="1" name=""/>
        <p:cNvGrpSpPr/>
        <p:nvPr/>
      </p:nvGrpSpPr>
      <p:grpSpPr>
        <a:xfrm>
          <a:off x="0" y="0"/>
          <a:ext cx="0" cy="0"/>
          <a:chOff x="0" y="0"/>
          <a:chExt cx="0" cy="0"/>
        </a:xfrm>
      </p:grpSpPr>
      <p:sp>
        <p:nvSpPr>
          <p:cNvPr name="AutoShape 2" id="2"/>
          <p:cNvSpPr/>
          <p:nvPr/>
        </p:nvSpPr>
        <p:spPr>
          <a:xfrm rot="0">
            <a:off x="-52517" y="3436302"/>
            <a:ext cx="8157248" cy="0"/>
          </a:xfrm>
          <a:prstGeom prst="line">
            <a:avLst/>
          </a:prstGeom>
          <a:ln cap="flat" w="28575">
            <a:solidFill>
              <a:srgbClr val="FFFFFF"/>
            </a:solidFill>
            <a:prstDash val="solid"/>
            <a:headEnd type="none" len="sm" w="sm"/>
            <a:tailEnd type="none" len="sm" w="sm"/>
          </a:ln>
        </p:spPr>
      </p:sp>
      <p:sp>
        <p:nvSpPr>
          <p:cNvPr name="Freeform 3" id="3"/>
          <p:cNvSpPr/>
          <p:nvPr/>
        </p:nvSpPr>
        <p:spPr>
          <a:xfrm flipH="false" flipV="false" rot="0">
            <a:off x="7065461" y="8964706"/>
            <a:ext cx="2078539" cy="587187"/>
          </a:xfrm>
          <a:custGeom>
            <a:avLst/>
            <a:gdLst/>
            <a:ahLst/>
            <a:cxnLst/>
            <a:rect r="r" b="b" t="t" l="l"/>
            <a:pathLst>
              <a:path h="587187" w="2078539">
                <a:moveTo>
                  <a:pt x="0" y="0"/>
                </a:moveTo>
                <a:lnTo>
                  <a:pt x="2078539" y="0"/>
                </a:lnTo>
                <a:lnTo>
                  <a:pt x="2078539" y="587188"/>
                </a:lnTo>
                <a:lnTo>
                  <a:pt x="0" y="5871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0183270" y="0"/>
            <a:ext cx="8104730" cy="10287000"/>
            <a:chOff x="0" y="0"/>
            <a:chExt cx="2134579" cy="2709333"/>
          </a:xfrm>
        </p:grpSpPr>
        <p:sp>
          <p:nvSpPr>
            <p:cNvPr name="Freeform 5" id="5"/>
            <p:cNvSpPr/>
            <p:nvPr/>
          </p:nvSpPr>
          <p:spPr>
            <a:xfrm flipH="false" flipV="false" rot="0">
              <a:off x="0" y="0"/>
              <a:ext cx="2134579" cy="2709333"/>
            </a:xfrm>
            <a:custGeom>
              <a:avLst/>
              <a:gdLst/>
              <a:ahLst/>
              <a:cxnLst/>
              <a:rect r="r" b="b" t="t" l="l"/>
              <a:pathLst>
                <a:path h="2709333" w="2134579">
                  <a:moveTo>
                    <a:pt x="0" y="0"/>
                  </a:moveTo>
                  <a:lnTo>
                    <a:pt x="2134579" y="0"/>
                  </a:lnTo>
                  <a:lnTo>
                    <a:pt x="2134579" y="2709333"/>
                  </a:lnTo>
                  <a:lnTo>
                    <a:pt x="0" y="2709333"/>
                  </a:lnTo>
                  <a:close/>
                </a:path>
              </a:pathLst>
            </a:custGeom>
            <a:solidFill>
              <a:srgbClr val="FFFFFF"/>
            </a:solidFill>
          </p:spPr>
        </p:sp>
        <p:sp>
          <p:nvSpPr>
            <p:cNvPr name="TextBox 6" id="6"/>
            <p:cNvSpPr txBox="true"/>
            <p:nvPr/>
          </p:nvSpPr>
          <p:spPr>
            <a:xfrm>
              <a:off x="0" y="-57150"/>
              <a:ext cx="2134579" cy="2766483"/>
            </a:xfrm>
            <a:prstGeom prst="rect">
              <a:avLst/>
            </a:prstGeom>
          </p:spPr>
          <p:txBody>
            <a:bodyPr anchor="ctr" rtlCol="false" tIns="50800" lIns="50800" bIns="50800" rIns="50800"/>
            <a:lstStyle/>
            <a:p>
              <a:pPr algn="ctr">
                <a:lnSpc>
                  <a:spcPts val="3587"/>
                </a:lnSpc>
              </a:pPr>
            </a:p>
          </p:txBody>
        </p:sp>
      </p:grpSp>
      <p:sp>
        <p:nvSpPr>
          <p:cNvPr name="TextBox 7" id="7"/>
          <p:cNvSpPr txBox="true"/>
          <p:nvPr/>
        </p:nvSpPr>
        <p:spPr>
          <a:xfrm rot="0">
            <a:off x="1030828" y="1200150"/>
            <a:ext cx="9152442" cy="962660"/>
          </a:xfrm>
          <a:prstGeom prst="rect">
            <a:avLst/>
          </a:prstGeom>
        </p:spPr>
        <p:txBody>
          <a:bodyPr anchor="t" rtlCol="false" tIns="0" lIns="0" bIns="0" rIns="0">
            <a:spAutoFit/>
          </a:bodyPr>
          <a:lstStyle/>
          <a:p>
            <a:pPr algn="l">
              <a:lnSpc>
                <a:spcPts val="7840"/>
              </a:lnSpc>
            </a:pPr>
            <a:r>
              <a:rPr lang="en-US" sz="5600" spc="632">
                <a:solidFill>
                  <a:srgbClr val="FFFFFF"/>
                </a:solidFill>
                <a:latin typeface="Intro Rust"/>
                <a:ea typeface="Intro Rust"/>
                <a:cs typeface="Intro Rust"/>
                <a:sym typeface="Intro Rust"/>
              </a:rPr>
              <a:t>Loss and</a:t>
            </a:r>
          </a:p>
        </p:txBody>
      </p:sp>
      <p:sp>
        <p:nvSpPr>
          <p:cNvPr name="TextBox 8" id="8"/>
          <p:cNvSpPr txBox="true"/>
          <p:nvPr/>
        </p:nvSpPr>
        <p:spPr>
          <a:xfrm rot="0">
            <a:off x="984703" y="2029460"/>
            <a:ext cx="9198567" cy="1226820"/>
          </a:xfrm>
          <a:prstGeom prst="rect">
            <a:avLst/>
          </a:prstGeom>
        </p:spPr>
        <p:txBody>
          <a:bodyPr anchor="t" rtlCol="false" tIns="0" lIns="0" bIns="0" rIns="0">
            <a:spAutoFit/>
          </a:bodyPr>
          <a:lstStyle/>
          <a:p>
            <a:pPr algn="l">
              <a:lnSpc>
                <a:spcPts val="10080"/>
              </a:lnSpc>
            </a:pPr>
            <a:r>
              <a:rPr lang="en-US" sz="7200" spc="403">
                <a:solidFill>
                  <a:srgbClr val="FFCE66"/>
                </a:solidFill>
                <a:latin typeface="Intro Rust"/>
                <a:ea typeface="Intro Rust"/>
                <a:cs typeface="Intro Rust"/>
                <a:sym typeface="Intro Rust"/>
              </a:rPr>
              <a:t>FRAGMENTATION</a:t>
            </a:r>
          </a:p>
        </p:txBody>
      </p:sp>
      <p:sp>
        <p:nvSpPr>
          <p:cNvPr name="TextBox 9" id="9"/>
          <p:cNvSpPr txBox="true"/>
          <p:nvPr/>
        </p:nvSpPr>
        <p:spPr>
          <a:xfrm rot="0">
            <a:off x="984703" y="3900464"/>
            <a:ext cx="7361846" cy="1511808"/>
          </a:xfrm>
          <a:prstGeom prst="rect">
            <a:avLst/>
          </a:prstGeom>
        </p:spPr>
        <p:txBody>
          <a:bodyPr anchor="t" rtlCol="false" tIns="0" lIns="0" bIns="0" rIns="0">
            <a:spAutoFit/>
          </a:bodyPr>
          <a:lstStyle/>
          <a:p>
            <a:pPr algn="l">
              <a:lnSpc>
                <a:spcPts val="3935"/>
              </a:lnSpc>
            </a:pPr>
            <a:r>
              <a:rPr lang="en-US" sz="3199">
                <a:solidFill>
                  <a:srgbClr val="FFFFFF"/>
                </a:solidFill>
                <a:latin typeface="Arimo"/>
                <a:ea typeface="Arimo"/>
                <a:cs typeface="Arimo"/>
                <a:sym typeface="Arimo"/>
              </a:rPr>
              <a:t>Habitat loss and fragmentation are both associated with a loss of area of habitat type 1</a:t>
            </a:r>
          </a:p>
        </p:txBody>
      </p:sp>
      <p:sp>
        <p:nvSpPr>
          <p:cNvPr name="Freeform 10" id="10"/>
          <p:cNvSpPr/>
          <p:nvPr/>
        </p:nvSpPr>
        <p:spPr>
          <a:xfrm flipH="false" flipV="false" rot="0">
            <a:off x="10580385" y="2709545"/>
            <a:ext cx="7707615" cy="3379058"/>
          </a:xfrm>
          <a:custGeom>
            <a:avLst/>
            <a:gdLst/>
            <a:ahLst/>
            <a:cxnLst/>
            <a:rect r="r" b="b" t="t" l="l"/>
            <a:pathLst>
              <a:path h="3379058" w="7707615">
                <a:moveTo>
                  <a:pt x="0" y="0"/>
                </a:moveTo>
                <a:lnTo>
                  <a:pt x="7707615" y="0"/>
                </a:lnTo>
                <a:lnTo>
                  <a:pt x="7707615" y="3379058"/>
                </a:lnTo>
                <a:lnTo>
                  <a:pt x="0" y="3379058"/>
                </a:lnTo>
                <a:lnTo>
                  <a:pt x="0" y="0"/>
                </a:lnTo>
                <a:close/>
              </a:path>
            </a:pathLst>
          </a:custGeom>
          <a:blipFill>
            <a:blip r:embed="rId4"/>
            <a:stretch>
              <a:fillRect l="0" t="0" r="-72513" b="-130145"/>
            </a:stretch>
          </a:blipFill>
        </p:spPr>
      </p:sp>
      <p:sp>
        <p:nvSpPr>
          <p:cNvPr name="Freeform 11" id="11"/>
          <p:cNvSpPr/>
          <p:nvPr/>
        </p:nvSpPr>
        <p:spPr>
          <a:xfrm flipH="false" flipV="false" rot="0">
            <a:off x="10183270" y="6088603"/>
            <a:ext cx="8104730" cy="1467023"/>
          </a:xfrm>
          <a:custGeom>
            <a:avLst/>
            <a:gdLst/>
            <a:ahLst/>
            <a:cxnLst/>
            <a:rect r="r" b="b" t="t" l="l"/>
            <a:pathLst>
              <a:path h="1467023" w="8104730">
                <a:moveTo>
                  <a:pt x="0" y="0"/>
                </a:moveTo>
                <a:lnTo>
                  <a:pt x="8104730" y="0"/>
                </a:lnTo>
                <a:lnTo>
                  <a:pt x="8104730" y="1467023"/>
                </a:lnTo>
                <a:lnTo>
                  <a:pt x="0" y="1467023"/>
                </a:lnTo>
                <a:lnTo>
                  <a:pt x="0" y="0"/>
                </a:lnTo>
                <a:close/>
              </a:path>
            </a:pathLst>
          </a:custGeom>
          <a:blipFill>
            <a:blip r:embed="rId4"/>
            <a:stretch>
              <a:fillRect l="0" t="-430103" r="-6406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68963C"/>
        </a:solidFill>
      </p:bgPr>
    </p:bg>
    <p:spTree>
      <p:nvGrpSpPr>
        <p:cNvPr id="1" name=""/>
        <p:cNvGrpSpPr/>
        <p:nvPr/>
      </p:nvGrpSpPr>
      <p:grpSpPr>
        <a:xfrm>
          <a:off x="0" y="0"/>
          <a:ext cx="0" cy="0"/>
          <a:chOff x="0" y="0"/>
          <a:chExt cx="0" cy="0"/>
        </a:xfrm>
      </p:grpSpPr>
      <p:sp>
        <p:nvSpPr>
          <p:cNvPr name="AutoShape 2" id="2"/>
          <p:cNvSpPr/>
          <p:nvPr/>
        </p:nvSpPr>
        <p:spPr>
          <a:xfrm rot="0">
            <a:off x="-52517" y="3436302"/>
            <a:ext cx="8157248" cy="0"/>
          </a:xfrm>
          <a:prstGeom prst="line">
            <a:avLst/>
          </a:prstGeom>
          <a:ln cap="flat" w="28575">
            <a:solidFill>
              <a:srgbClr val="FFFFFF"/>
            </a:solidFill>
            <a:prstDash val="solid"/>
            <a:headEnd type="none" len="sm" w="sm"/>
            <a:tailEnd type="none" len="sm" w="sm"/>
          </a:ln>
        </p:spPr>
      </p:sp>
      <p:sp>
        <p:nvSpPr>
          <p:cNvPr name="Freeform 3" id="3"/>
          <p:cNvSpPr/>
          <p:nvPr/>
        </p:nvSpPr>
        <p:spPr>
          <a:xfrm flipH="false" flipV="false" rot="0">
            <a:off x="7065461" y="8964706"/>
            <a:ext cx="2078539" cy="587187"/>
          </a:xfrm>
          <a:custGeom>
            <a:avLst/>
            <a:gdLst/>
            <a:ahLst/>
            <a:cxnLst/>
            <a:rect r="r" b="b" t="t" l="l"/>
            <a:pathLst>
              <a:path h="587187" w="2078539">
                <a:moveTo>
                  <a:pt x="0" y="0"/>
                </a:moveTo>
                <a:lnTo>
                  <a:pt x="2078539" y="0"/>
                </a:lnTo>
                <a:lnTo>
                  <a:pt x="2078539" y="587188"/>
                </a:lnTo>
                <a:lnTo>
                  <a:pt x="0" y="5871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0183270" y="0"/>
            <a:ext cx="8104730" cy="10287000"/>
            <a:chOff x="0" y="0"/>
            <a:chExt cx="2134579" cy="2709333"/>
          </a:xfrm>
        </p:grpSpPr>
        <p:sp>
          <p:nvSpPr>
            <p:cNvPr name="Freeform 5" id="5"/>
            <p:cNvSpPr/>
            <p:nvPr/>
          </p:nvSpPr>
          <p:spPr>
            <a:xfrm flipH="false" flipV="false" rot="0">
              <a:off x="0" y="0"/>
              <a:ext cx="2134579" cy="2709333"/>
            </a:xfrm>
            <a:custGeom>
              <a:avLst/>
              <a:gdLst/>
              <a:ahLst/>
              <a:cxnLst/>
              <a:rect r="r" b="b" t="t" l="l"/>
              <a:pathLst>
                <a:path h="2709333" w="2134579">
                  <a:moveTo>
                    <a:pt x="0" y="0"/>
                  </a:moveTo>
                  <a:lnTo>
                    <a:pt x="2134579" y="0"/>
                  </a:lnTo>
                  <a:lnTo>
                    <a:pt x="2134579" y="2709333"/>
                  </a:lnTo>
                  <a:lnTo>
                    <a:pt x="0" y="2709333"/>
                  </a:lnTo>
                  <a:close/>
                </a:path>
              </a:pathLst>
            </a:custGeom>
            <a:solidFill>
              <a:srgbClr val="FFFFFF"/>
            </a:solidFill>
          </p:spPr>
        </p:sp>
        <p:sp>
          <p:nvSpPr>
            <p:cNvPr name="TextBox 6" id="6"/>
            <p:cNvSpPr txBox="true"/>
            <p:nvPr/>
          </p:nvSpPr>
          <p:spPr>
            <a:xfrm>
              <a:off x="0" y="-57150"/>
              <a:ext cx="2134579" cy="2766483"/>
            </a:xfrm>
            <a:prstGeom prst="rect">
              <a:avLst/>
            </a:prstGeom>
          </p:spPr>
          <p:txBody>
            <a:bodyPr anchor="ctr" rtlCol="false" tIns="50800" lIns="50800" bIns="50800" rIns="50800"/>
            <a:lstStyle/>
            <a:p>
              <a:pPr algn="ctr">
                <a:lnSpc>
                  <a:spcPts val="3587"/>
                </a:lnSpc>
              </a:pPr>
            </a:p>
          </p:txBody>
        </p:sp>
      </p:grpSp>
      <p:sp>
        <p:nvSpPr>
          <p:cNvPr name="TextBox 7" id="7"/>
          <p:cNvSpPr txBox="true"/>
          <p:nvPr/>
        </p:nvSpPr>
        <p:spPr>
          <a:xfrm rot="0">
            <a:off x="1030828" y="1200150"/>
            <a:ext cx="9152442" cy="962660"/>
          </a:xfrm>
          <a:prstGeom prst="rect">
            <a:avLst/>
          </a:prstGeom>
        </p:spPr>
        <p:txBody>
          <a:bodyPr anchor="t" rtlCol="false" tIns="0" lIns="0" bIns="0" rIns="0">
            <a:spAutoFit/>
          </a:bodyPr>
          <a:lstStyle/>
          <a:p>
            <a:pPr algn="l">
              <a:lnSpc>
                <a:spcPts val="7840"/>
              </a:lnSpc>
            </a:pPr>
            <a:r>
              <a:rPr lang="en-US" sz="5600" spc="632">
                <a:solidFill>
                  <a:srgbClr val="FFFFFF"/>
                </a:solidFill>
                <a:latin typeface="Intro Rust"/>
                <a:ea typeface="Intro Rust"/>
                <a:cs typeface="Intro Rust"/>
                <a:sym typeface="Intro Rust"/>
              </a:rPr>
              <a:t>Loss and</a:t>
            </a:r>
          </a:p>
        </p:txBody>
      </p:sp>
      <p:sp>
        <p:nvSpPr>
          <p:cNvPr name="TextBox 8" id="8"/>
          <p:cNvSpPr txBox="true"/>
          <p:nvPr/>
        </p:nvSpPr>
        <p:spPr>
          <a:xfrm rot="0">
            <a:off x="984703" y="2029460"/>
            <a:ext cx="9198567" cy="1226820"/>
          </a:xfrm>
          <a:prstGeom prst="rect">
            <a:avLst/>
          </a:prstGeom>
        </p:spPr>
        <p:txBody>
          <a:bodyPr anchor="t" rtlCol="false" tIns="0" lIns="0" bIns="0" rIns="0">
            <a:spAutoFit/>
          </a:bodyPr>
          <a:lstStyle/>
          <a:p>
            <a:pPr algn="l">
              <a:lnSpc>
                <a:spcPts val="10080"/>
              </a:lnSpc>
            </a:pPr>
            <a:r>
              <a:rPr lang="en-US" sz="7200" spc="403">
                <a:solidFill>
                  <a:srgbClr val="FFCE66"/>
                </a:solidFill>
                <a:latin typeface="Intro Rust"/>
                <a:ea typeface="Intro Rust"/>
                <a:cs typeface="Intro Rust"/>
                <a:sym typeface="Intro Rust"/>
              </a:rPr>
              <a:t>FRAGMENTATION</a:t>
            </a:r>
          </a:p>
        </p:txBody>
      </p:sp>
      <p:sp>
        <p:nvSpPr>
          <p:cNvPr name="TextBox 9" id="9"/>
          <p:cNvSpPr txBox="true"/>
          <p:nvPr/>
        </p:nvSpPr>
        <p:spPr>
          <a:xfrm rot="0">
            <a:off x="984703" y="3900464"/>
            <a:ext cx="7361846" cy="1511808"/>
          </a:xfrm>
          <a:prstGeom prst="rect">
            <a:avLst/>
          </a:prstGeom>
        </p:spPr>
        <p:txBody>
          <a:bodyPr anchor="t" rtlCol="false" tIns="0" lIns="0" bIns="0" rIns="0">
            <a:spAutoFit/>
          </a:bodyPr>
          <a:lstStyle/>
          <a:p>
            <a:pPr algn="l">
              <a:lnSpc>
                <a:spcPts val="3935"/>
              </a:lnSpc>
            </a:pPr>
            <a:r>
              <a:rPr lang="en-US" sz="3199">
                <a:solidFill>
                  <a:srgbClr val="FFFFFF"/>
                </a:solidFill>
                <a:latin typeface="Arimo"/>
                <a:ea typeface="Arimo"/>
                <a:cs typeface="Arimo"/>
                <a:sym typeface="Arimo"/>
              </a:rPr>
              <a:t>Habitat loss and fragmentation are both associated with a loss of area of habitat type 1</a:t>
            </a:r>
          </a:p>
        </p:txBody>
      </p:sp>
      <p:sp>
        <p:nvSpPr>
          <p:cNvPr name="Freeform 10" id="10"/>
          <p:cNvSpPr/>
          <p:nvPr/>
        </p:nvSpPr>
        <p:spPr>
          <a:xfrm flipH="false" flipV="false" rot="0">
            <a:off x="11174279" y="1885448"/>
            <a:ext cx="6738565" cy="6721844"/>
          </a:xfrm>
          <a:custGeom>
            <a:avLst/>
            <a:gdLst/>
            <a:ahLst/>
            <a:cxnLst/>
            <a:rect r="r" b="b" t="t" l="l"/>
            <a:pathLst>
              <a:path h="6721844" w="6738565">
                <a:moveTo>
                  <a:pt x="0" y="0"/>
                </a:moveTo>
                <a:lnTo>
                  <a:pt x="6738565" y="0"/>
                </a:lnTo>
                <a:lnTo>
                  <a:pt x="6738565" y="6721844"/>
                </a:lnTo>
                <a:lnTo>
                  <a:pt x="0" y="6721844"/>
                </a:lnTo>
                <a:lnTo>
                  <a:pt x="0" y="0"/>
                </a:lnTo>
                <a:close/>
              </a:path>
            </a:pathLst>
          </a:custGeom>
          <a:blipFill>
            <a:blip r:embed="rId4"/>
            <a:stretch>
              <a:fillRect l="0" t="0" r="-72513" b="-1147"/>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68963C"/>
        </a:solidFill>
      </p:bgPr>
    </p:bg>
    <p:spTree>
      <p:nvGrpSpPr>
        <p:cNvPr id="1" name=""/>
        <p:cNvGrpSpPr/>
        <p:nvPr/>
      </p:nvGrpSpPr>
      <p:grpSpPr>
        <a:xfrm>
          <a:off x="0" y="0"/>
          <a:ext cx="0" cy="0"/>
          <a:chOff x="0" y="0"/>
          <a:chExt cx="0" cy="0"/>
        </a:xfrm>
      </p:grpSpPr>
      <p:sp>
        <p:nvSpPr>
          <p:cNvPr name="AutoShape 2" id="2"/>
          <p:cNvSpPr/>
          <p:nvPr/>
        </p:nvSpPr>
        <p:spPr>
          <a:xfrm rot="0">
            <a:off x="-52517" y="3436302"/>
            <a:ext cx="8157248" cy="0"/>
          </a:xfrm>
          <a:prstGeom prst="line">
            <a:avLst/>
          </a:prstGeom>
          <a:ln cap="flat" w="28575">
            <a:solidFill>
              <a:srgbClr val="FFFFFF"/>
            </a:solidFill>
            <a:prstDash val="solid"/>
            <a:headEnd type="none" len="sm" w="sm"/>
            <a:tailEnd type="none" len="sm" w="sm"/>
          </a:ln>
        </p:spPr>
      </p:sp>
      <p:sp>
        <p:nvSpPr>
          <p:cNvPr name="Freeform 3" id="3"/>
          <p:cNvSpPr/>
          <p:nvPr/>
        </p:nvSpPr>
        <p:spPr>
          <a:xfrm flipH="false" flipV="false" rot="0">
            <a:off x="7065461" y="8964706"/>
            <a:ext cx="2078539" cy="587187"/>
          </a:xfrm>
          <a:custGeom>
            <a:avLst/>
            <a:gdLst/>
            <a:ahLst/>
            <a:cxnLst/>
            <a:rect r="r" b="b" t="t" l="l"/>
            <a:pathLst>
              <a:path h="587187" w="2078539">
                <a:moveTo>
                  <a:pt x="0" y="0"/>
                </a:moveTo>
                <a:lnTo>
                  <a:pt x="2078539" y="0"/>
                </a:lnTo>
                <a:lnTo>
                  <a:pt x="2078539" y="587188"/>
                </a:lnTo>
                <a:lnTo>
                  <a:pt x="0" y="5871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0183270" y="0"/>
            <a:ext cx="8104730" cy="10287000"/>
            <a:chOff x="0" y="0"/>
            <a:chExt cx="2134579" cy="2709333"/>
          </a:xfrm>
        </p:grpSpPr>
        <p:sp>
          <p:nvSpPr>
            <p:cNvPr name="Freeform 5" id="5"/>
            <p:cNvSpPr/>
            <p:nvPr/>
          </p:nvSpPr>
          <p:spPr>
            <a:xfrm flipH="false" flipV="false" rot="0">
              <a:off x="0" y="0"/>
              <a:ext cx="2134579" cy="2709333"/>
            </a:xfrm>
            <a:custGeom>
              <a:avLst/>
              <a:gdLst/>
              <a:ahLst/>
              <a:cxnLst/>
              <a:rect r="r" b="b" t="t" l="l"/>
              <a:pathLst>
                <a:path h="2709333" w="2134579">
                  <a:moveTo>
                    <a:pt x="0" y="0"/>
                  </a:moveTo>
                  <a:lnTo>
                    <a:pt x="2134579" y="0"/>
                  </a:lnTo>
                  <a:lnTo>
                    <a:pt x="2134579" y="2709333"/>
                  </a:lnTo>
                  <a:lnTo>
                    <a:pt x="0" y="2709333"/>
                  </a:lnTo>
                  <a:close/>
                </a:path>
              </a:pathLst>
            </a:custGeom>
            <a:solidFill>
              <a:srgbClr val="FFFFFF"/>
            </a:solidFill>
          </p:spPr>
        </p:sp>
        <p:sp>
          <p:nvSpPr>
            <p:cNvPr name="TextBox 6" id="6"/>
            <p:cNvSpPr txBox="true"/>
            <p:nvPr/>
          </p:nvSpPr>
          <p:spPr>
            <a:xfrm>
              <a:off x="0" y="-57150"/>
              <a:ext cx="2134579" cy="2766483"/>
            </a:xfrm>
            <a:prstGeom prst="rect">
              <a:avLst/>
            </a:prstGeom>
          </p:spPr>
          <p:txBody>
            <a:bodyPr anchor="ctr" rtlCol="false" tIns="50800" lIns="50800" bIns="50800" rIns="50800"/>
            <a:lstStyle/>
            <a:p>
              <a:pPr algn="ctr">
                <a:lnSpc>
                  <a:spcPts val="3587"/>
                </a:lnSpc>
              </a:pPr>
            </a:p>
          </p:txBody>
        </p:sp>
      </p:grpSp>
      <p:sp>
        <p:nvSpPr>
          <p:cNvPr name="TextBox 7" id="7"/>
          <p:cNvSpPr txBox="true"/>
          <p:nvPr/>
        </p:nvSpPr>
        <p:spPr>
          <a:xfrm rot="0">
            <a:off x="1030828" y="1200150"/>
            <a:ext cx="9152442" cy="962660"/>
          </a:xfrm>
          <a:prstGeom prst="rect">
            <a:avLst/>
          </a:prstGeom>
        </p:spPr>
        <p:txBody>
          <a:bodyPr anchor="t" rtlCol="false" tIns="0" lIns="0" bIns="0" rIns="0">
            <a:spAutoFit/>
          </a:bodyPr>
          <a:lstStyle/>
          <a:p>
            <a:pPr algn="l">
              <a:lnSpc>
                <a:spcPts val="7840"/>
              </a:lnSpc>
            </a:pPr>
            <a:r>
              <a:rPr lang="en-US" sz="5600" spc="632">
                <a:solidFill>
                  <a:srgbClr val="FFFFFF"/>
                </a:solidFill>
                <a:latin typeface="Intro Rust"/>
                <a:ea typeface="Intro Rust"/>
                <a:cs typeface="Intro Rust"/>
                <a:sym typeface="Intro Rust"/>
              </a:rPr>
              <a:t>Loss and</a:t>
            </a:r>
          </a:p>
        </p:txBody>
      </p:sp>
      <p:sp>
        <p:nvSpPr>
          <p:cNvPr name="TextBox 8" id="8"/>
          <p:cNvSpPr txBox="true"/>
          <p:nvPr/>
        </p:nvSpPr>
        <p:spPr>
          <a:xfrm rot="0">
            <a:off x="984703" y="2029460"/>
            <a:ext cx="9198567" cy="1226820"/>
          </a:xfrm>
          <a:prstGeom prst="rect">
            <a:avLst/>
          </a:prstGeom>
        </p:spPr>
        <p:txBody>
          <a:bodyPr anchor="t" rtlCol="false" tIns="0" lIns="0" bIns="0" rIns="0">
            <a:spAutoFit/>
          </a:bodyPr>
          <a:lstStyle/>
          <a:p>
            <a:pPr algn="l">
              <a:lnSpc>
                <a:spcPts val="10080"/>
              </a:lnSpc>
            </a:pPr>
            <a:r>
              <a:rPr lang="en-US" sz="7200" spc="403">
                <a:solidFill>
                  <a:srgbClr val="FFCE66"/>
                </a:solidFill>
                <a:latin typeface="Intro Rust"/>
                <a:ea typeface="Intro Rust"/>
                <a:cs typeface="Intro Rust"/>
                <a:sym typeface="Intro Rust"/>
              </a:rPr>
              <a:t>FRAGMENTATION</a:t>
            </a:r>
          </a:p>
        </p:txBody>
      </p:sp>
      <p:sp>
        <p:nvSpPr>
          <p:cNvPr name="TextBox 9" id="9"/>
          <p:cNvSpPr txBox="true"/>
          <p:nvPr/>
        </p:nvSpPr>
        <p:spPr>
          <a:xfrm rot="0">
            <a:off x="984703" y="3900464"/>
            <a:ext cx="7361846" cy="1511808"/>
          </a:xfrm>
          <a:prstGeom prst="rect">
            <a:avLst/>
          </a:prstGeom>
        </p:spPr>
        <p:txBody>
          <a:bodyPr anchor="t" rtlCol="false" tIns="0" lIns="0" bIns="0" rIns="0">
            <a:spAutoFit/>
          </a:bodyPr>
          <a:lstStyle/>
          <a:p>
            <a:pPr algn="l">
              <a:lnSpc>
                <a:spcPts val="3935"/>
              </a:lnSpc>
            </a:pPr>
            <a:r>
              <a:rPr lang="en-US" sz="3199">
                <a:solidFill>
                  <a:srgbClr val="FFFFFF"/>
                </a:solidFill>
                <a:latin typeface="Arimo"/>
                <a:ea typeface="Arimo"/>
                <a:cs typeface="Arimo"/>
                <a:sym typeface="Arimo"/>
              </a:rPr>
              <a:t>during time steps 2 and 3 fragmentation also changes the configuration of patches</a:t>
            </a:r>
          </a:p>
        </p:txBody>
      </p:sp>
      <p:sp>
        <p:nvSpPr>
          <p:cNvPr name="Freeform 10" id="10"/>
          <p:cNvSpPr/>
          <p:nvPr/>
        </p:nvSpPr>
        <p:spPr>
          <a:xfrm flipH="false" flipV="false" rot="0">
            <a:off x="12508257" y="1738630"/>
            <a:ext cx="4976912" cy="6721844"/>
          </a:xfrm>
          <a:custGeom>
            <a:avLst/>
            <a:gdLst/>
            <a:ahLst/>
            <a:cxnLst/>
            <a:rect r="r" b="b" t="t" l="l"/>
            <a:pathLst>
              <a:path h="6721844" w="4976912">
                <a:moveTo>
                  <a:pt x="0" y="0"/>
                </a:moveTo>
                <a:lnTo>
                  <a:pt x="4976913" y="0"/>
                </a:lnTo>
                <a:lnTo>
                  <a:pt x="4976913" y="6721844"/>
                </a:lnTo>
                <a:lnTo>
                  <a:pt x="0" y="6721844"/>
                </a:lnTo>
                <a:lnTo>
                  <a:pt x="0" y="0"/>
                </a:lnTo>
                <a:close/>
              </a:path>
            </a:pathLst>
          </a:custGeom>
          <a:blipFill>
            <a:blip r:embed="rId4"/>
            <a:stretch>
              <a:fillRect l="-85520" t="0" r="-48056" b="-1147"/>
            </a:stretch>
          </a:blipFill>
        </p:spPr>
      </p:sp>
      <p:sp>
        <p:nvSpPr>
          <p:cNvPr name="Freeform 11" id="11"/>
          <p:cNvSpPr/>
          <p:nvPr/>
        </p:nvSpPr>
        <p:spPr>
          <a:xfrm flipH="false" flipV="false" rot="0">
            <a:off x="10453623" y="1782578"/>
            <a:ext cx="1787935" cy="6721844"/>
          </a:xfrm>
          <a:custGeom>
            <a:avLst/>
            <a:gdLst/>
            <a:ahLst/>
            <a:cxnLst/>
            <a:rect r="r" b="b" t="t" l="l"/>
            <a:pathLst>
              <a:path h="6721844" w="1787935">
                <a:moveTo>
                  <a:pt x="0" y="0"/>
                </a:moveTo>
                <a:lnTo>
                  <a:pt x="1787934" y="0"/>
                </a:lnTo>
                <a:lnTo>
                  <a:pt x="1787934" y="6721844"/>
                </a:lnTo>
                <a:lnTo>
                  <a:pt x="0" y="6721844"/>
                </a:lnTo>
                <a:lnTo>
                  <a:pt x="0" y="0"/>
                </a:lnTo>
                <a:close/>
              </a:path>
            </a:pathLst>
          </a:custGeom>
          <a:blipFill>
            <a:blip r:embed="rId4"/>
            <a:stretch>
              <a:fillRect l="0" t="0" r="-550186" b="-1147"/>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FFC"/>
        </a:solidFill>
      </p:bgPr>
    </p:bg>
    <p:spTree>
      <p:nvGrpSpPr>
        <p:cNvPr id="1" name=""/>
        <p:cNvGrpSpPr/>
        <p:nvPr/>
      </p:nvGrpSpPr>
      <p:grpSpPr>
        <a:xfrm>
          <a:off x="0" y="0"/>
          <a:ext cx="0" cy="0"/>
          <a:chOff x="0" y="0"/>
          <a:chExt cx="0" cy="0"/>
        </a:xfrm>
      </p:grpSpPr>
      <p:sp>
        <p:nvSpPr>
          <p:cNvPr name="Freeform 2" id="2" descr="An illustration shows habitat loss and habitat fragmentation in four time steps. During habitat loss and fragmentation, 100 percent habitat type 1 is at time step 1, 50 percent habitat type 1 and 50 percent habitat type 2 are at time step 2, 25 pe..."/>
          <p:cNvSpPr/>
          <p:nvPr/>
        </p:nvSpPr>
        <p:spPr>
          <a:xfrm flipH="false" flipV="false" rot="0">
            <a:off x="371615" y="0"/>
            <a:ext cx="17544770" cy="10287000"/>
          </a:xfrm>
          <a:custGeom>
            <a:avLst/>
            <a:gdLst/>
            <a:ahLst/>
            <a:cxnLst/>
            <a:rect r="r" b="b" t="t" l="l"/>
            <a:pathLst>
              <a:path h="10287000" w="17544770">
                <a:moveTo>
                  <a:pt x="0" y="0"/>
                </a:moveTo>
                <a:lnTo>
                  <a:pt x="17544770" y="0"/>
                </a:lnTo>
                <a:lnTo>
                  <a:pt x="17544770" y="10287000"/>
                </a:lnTo>
                <a:lnTo>
                  <a:pt x="0" y="10287000"/>
                </a:lnTo>
                <a:lnTo>
                  <a:pt x="0" y="0"/>
                </a:lnTo>
                <a:close/>
              </a:path>
            </a:pathLst>
          </a:custGeom>
          <a:blipFill>
            <a:blip r:embed="rId2"/>
            <a:stretch>
              <a:fillRect l="0" t="0" r="-1960" b="-6201"/>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3D25"/>
        </a:solidFill>
      </p:bgPr>
    </p:bg>
    <p:spTree>
      <p:nvGrpSpPr>
        <p:cNvPr id="1" name=""/>
        <p:cNvGrpSpPr/>
        <p:nvPr/>
      </p:nvGrpSpPr>
      <p:grpSpPr>
        <a:xfrm>
          <a:off x="0" y="0"/>
          <a:ext cx="0" cy="0"/>
          <a:chOff x="0" y="0"/>
          <a:chExt cx="0" cy="0"/>
        </a:xfrm>
      </p:grpSpPr>
      <p:sp>
        <p:nvSpPr>
          <p:cNvPr name="Freeform 2" id="2"/>
          <p:cNvSpPr/>
          <p:nvPr/>
        </p:nvSpPr>
        <p:spPr>
          <a:xfrm flipH="false" flipV="false" rot="-5339161">
            <a:off x="-2921756" y="-2940431"/>
            <a:ext cx="5843512" cy="5880861"/>
          </a:xfrm>
          <a:custGeom>
            <a:avLst/>
            <a:gdLst/>
            <a:ahLst/>
            <a:cxnLst/>
            <a:rect r="r" b="b" t="t" l="l"/>
            <a:pathLst>
              <a:path h="5880861" w="5843512">
                <a:moveTo>
                  <a:pt x="0" y="0"/>
                </a:moveTo>
                <a:lnTo>
                  <a:pt x="5843512" y="0"/>
                </a:lnTo>
                <a:lnTo>
                  <a:pt x="5843512" y="5880862"/>
                </a:lnTo>
                <a:lnTo>
                  <a:pt x="0" y="58808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95661" y="329621"/>
            <a:ext cx="1693979" cy="1472137"/>
          </a:xfrm>
          <a:custGeom>
            <a:avLst/>
            <a:gdLst/>
            <a:ahLst/>
            <a:cxnLst/>
            <a:rect r="r" b="b" t="t" l="l"/>
            <a:pathLst>
              <a:path h="1472137" w="1693979">
                <a:moveTo>
                  <a:pt x="0" y="0"/>
                </a:moveTo>
                <a:lnTo>
                  <a:pt x="1693979" y="0"/>
                </a:lnTo>
                <a:lnTo>
                  <a:pt x="1693979" y="1472137"/>
                </a:lnTo>
                <a:lnTo>
                  <a:pt x="0" y="14721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090965">
            <a:off x="-1783347" y="8087572"/>
            <a:ext cx="4370918" cy="4398856"/>
          </a:xfrm>
          <a:custGeom>
            <a:avLst/>
            <a:gdLst/>
            <a:ahLst/>
            <a:cxnLst/>
            <a:rect r="r" b="b" t="t" l="l"/>
            <a:pathLst>
              <a:path h="4398856" w="4370918">
                <a:moveTo>
                  <a:pt x="0" y="0"/>
                </a:moveTo>
                <a:lnTo>
                  <a:pt x="4370919" y="0"/>
                </a:lnTo>
                <a:lnTo>
                  <a:pt x="4370919" y="4398856"/>
                </a:lnTo>
                <a:lnTo>
                  <a:pt x="0" y="43988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7932697">
            <a:off x="467093" y="8687001"/>
            <a:ext cx="1123215" cy="1953417"/>
          </a:xfrm>
          <a:custGeom>
            <a:avLst/>
            <a:gdLst/>
            <a:ahLst/>
            <a:cxnLst/>
            <a:rect r="r" b="b" t="t" l="l"/>
            <a:pathLst>
              <a:path h="1953417" w="1123215">
                <a:moveTo>
                  <a:pt x="1123214" y="0"/>
                </a:moveTo>
                <a:lnTo>
                  <a:pt x="0" y="0"/>
                </a:lnTo>
                <a:lnTo>
                  <a:pt x="0" y="1953417"/>
                </a:lnTo>
                <a:lnTo>
                  <a:pt x="1123214" y="1953417"/>
                </a:lnTo>
                <a:lnTo>
                  <a:pt x="1123214"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709034">
            <a:off x="15939368" y="-1775030"/>
            <a:ext cx="4101281" cy="4127494"/>
          </a:xfrm>
          <a:custGeom>
            <a:avLst/>
            <a:gdLst/>
            <a:ahLst/>
            <a:cxnLst/>
            <a:rect r="r" b="b" t="t" l="l"/>
            <a:pathLst>
              <a:path h="4127494" w="4101281">
                <a:moveTo>
                  <a:pt x="0" y="0"/>
                </a:moveTo>
                <a:lnTo>
                  <a:pt x="4101281" y="0"/>
                </a:lnTo>
                <a:lnTo>
                  <a:pt x="4101281" y="4127495"/>
                </a:lnTo>
                <a:lnTo>
                  <a:pt x="0" y="41274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2867302">
            <a:off x="16506070" y="-261716"/>
            <a:ext cx="1362984" cy="2370408"/>
          </a:xfrm>
          <a:custGeom>
            <a:avLst/>
            <a:gdLst/>
            <a:ahLst/>
            <a:cxnLst/>
            <a:rect r="r" b="b" t="t" l="l"/>
            <a:pathLst>
              <a:path h="2370408" w="1362984">
                <a:moveTo>
                  <a:pt x="1362984" y="0"/>
                </a:moveTo>
                <a:lnTo>
                  <a:pt x="0" y="0"/>
                </a:lnTo>
                <a:lnTo>
                  <a:pt x="0" y="2370407"/>
                </a:lnTo>
                <a:lnTo>
                  <a:pt x="1362984" y="2370407"/>
                </a:lnTo>
                <a:lnTo>
                  <a:pt x="1362984"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5460838">
            <a:off x="16206000" y="8105968"/>
            <a:ext cx="4164000" cy="4190615"/>
          </a:xfrm>
          <a:custGeom>
            <a:avLst/>
            <a:gdLst/>
            <a:ahLst/>
            <a:cxnLst/>
            <a:rect r="r" b="b" t="t" l="l"/>
            <a:pathLst>
              <a:path h="4190615" w="4164000">
                <a:moveTo>
                  <a:pt x="0" y="0"/>
                </a:moveTo>
                <a:lnTo>
                  <a:pt x="4164000" y="0"/>
                </a:lnTo>
                <a:lnTo>
                  <a:pt x="4164000" y="4190614"/>
                </a:lnTo>
                <a:lnTo>
                  <a:pt x="0" y="41906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16319057" y="8500319"/>
            <a:ext cx="1687000" cy="1466073"/>
          </a:xfrm>
          <a:custGeom>
            <a:avLst/>
            <a:gdLst/>
            <a:ahLst/>
            <a:cxnLst/>
            <a:rect r="r" b="b" t="t" l="l"/>
            <a:pathLst>
              <a:path h="1466073" w="1687000">
                <a:moveTo>
                  <a:pt x="0" y="0"/>
                </a:moveTo>
                <a:lnTo>
                  <a:pt x="1687001" y="0"/>
                </a:lnTo>
                <a:lnTo>
                  <a:pt x="1687001" y="1466073"/>
                </a:lnTo>
                <a:lnTo>
                  <a:pt x="0" y="14660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3478275" y="3274669"/>
            <a:ext cx="11301259" cy="6229819"/>
          </a:xfrm>
          <a:custGeom>
            <a:avLst/>
            <a:gdLst/>
            <a:ahLst/>
            <a:cxnLst/>
            <a:rect r="r" b="b" t="t" l="l"/>
            <a:pathLst>
              <a:path h="6229819" w="11301259">
                <a:moveTo>
                  <a:pt x="0" y="0"/>
                </a:moveTo>
                <a:lnTo>
                  <a:pt x="11301259" y="0"/>
                </a:lnTo>
                <a:lnTo>
                  <a:pt x="11301259" y="6229819"/>
                </a:lnTo>
                <a:lnTo>
                  <a:pt x="0" y="6229819"/>
                </a:lnTo>
                <a:lnTo>
                  <a:pt x="0" y="0"/>
                </a:lnTo>
                <a:close/>
              </a:path>
            </a:pathLst>
          </a:custGeom>
          <a:blipFill>
            <a:blip r:embed="rId8"/>
            <a:stretch>
              <a:fillRect l="0" t="0" r="0" b="0"/>
            </a:stretch>
          </a:blipFill>
        </p:spPr>
      </p:sp>
      <p:sp>
        <p:nvSpPr>
          <p:cNvPr name="TextBox 11" id="11"/>
          <p:cNvSpPr txBox="true"/>
          <p:nvPr/>
        </p:nvSpPr>
        <p:spPr>
          <a:xfrm rot="0">
            <a:off x="2604752" y="771088"/>
            <a:ext cx="13078495" cy="984250"/>
          </a:xfrm>
          <a:prstGeom prst="rect">
            <a:avLst/>
          </a:prstGeom>
        </p:spPr>
        <p:txBody>
          <a:bodyPr anchor="t" rtlCol="false" tIns="0" lIns="0" bIns="0" rIns="0">
            <a:spAutoFit/>
          </a:bodyPr>
          <a:lstStyle/>
          <a:p>
            <a:pPr algn="ctr">
              <a:lnSpc>
                <a:spcPts val="7699"/>
              </a:lnSpc>
              <a:spcBef>
                <a:spcPct val="0"/>
              </a:spcBef>
            </a:pPr>
            <a:r>
              <a:rPr lang="en-US" b="true" sz="5499">
                <a:solidFill>
                  <a:srgbClr val="B6F61A"/>
                </a:solidFill>
                <a:latin typeface="Poppins Bold"/>
                <a:ea typeface="Poppins Bold"/>
                <a:cs typeface="Poppins Bold"/>
                <a:sym typeface="Poppins Bold"/>
              </a:rPr>
              <a:t>THE SLOSS DEBATE</a:t>
            </a:r>
          </a:p>
        </p:txBody>
      </p:sp>
      <p:sp>
        <p:nvSpPr>
          <p:cNvPr name="TextBox 12" id="12"/>
          <p:cNvSpPr txBox="true"/>
          <p:nvPr/>
        </p:nvSpPr>
        <p:spPr>
          <a:xfrm rot="0">
            <a:off x="1521412" y="2036527"/>
            <a:ext cx="15245177" cy="692150"/>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Open Sans"/>
                <a:ea typeface="Open Sans"/>
                <a:cs typeface="Open Sans"/>
                <a:sym typeface="Open Sans"/>
              </a:rPr>
              <a:t>Which of the other two scenarios is better for biodiversity—having a landscape composed of just one or a few large patches, or having a landscape composed of a greater number of smaller patches (assuming they are large enough for a species to persist)?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3D25"/>
        </a:solidFill>
      </p:bgPr>
    </p:bg>
    <p:spTree>
      <p:nvGrpSpPr>
        <p:cNvPr id="1" name=""/>
        <p:cNvGrpSpPr/>
        <p:nvPr/>
      </p:nvGrpSpPr>
      <p:grpSpPr>
        <a:xfrm>
          <a:off x="0" y="0"/>
          <a:ext cx="0" cy="0"/>
          <a:chOff x="0" y="0"/>
          <a:chExt cx="0" cy="0"/>
        </a:xfrm>
      </p:grpSpPr>
      <p:grpSp>
        <p:nvGrpSpPr>
          <p:cNvPr name="Group 2" id="2"/>
          <p:cNvGrpSpPr/>
          <p:nvPr/>
        </p:nvGrpSpPr>
        <p:grpSpPr>
          <a:xfrm rot="0">
            <a:off x="1023303" y="3533772"/>
            <a:ext cx="3219468" cy="3219455"/>
            <a:chOff x="0" y="0"/>
            <a:chExt cx="6350000" cy="6349975"/>
          </a:xfrm>
        </p:grpSpPr>
        <p:sp>
          <p:nvSpPr>
            <p:cNvPr name="Freeform 3" id="3" descr="This alt text was created for the whole figure, and some of it may not apply to this partial figure.  Four scatterplots, A, show the habitat loss as a percent of landscape, and six photos, B, show examples of fragmented landscapes. A. In all scatt..."/>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2"/>
              <a:stretch>
                <a:fillRect l="-7022" t="-85498" r="-104268" b="-9974"/>
              </a:stretch>
            </a:blipFill>
          </p:spPr>
        </p:sp>
      </p:grpSp>
      <p:grpSp>
        <p:nvGrpSpPr>
          <p:cNvPr name="Group 4" id="4"/>
          <p:cNvGrpSpPr/>
          <p:nvPr/>
        </p:nvGrpSpPr>
        <p:grpSpPr>
          <a:xfrm rot="0">
            <a:off x="3473917" y="1028700"/>
            <a:ext cx="3219468" cy="3219455"/>
            <a:chOff x="0" y="0"/>
            <a:chExt cx="6350000" cy="6349975"/>
          </a:xfrm>
        </p:grpSpPr>
        <p:sp>
          <p:nvSpPr>
            <p:cNvPr name="Freeform 5" id="5" descr="This alt text was created for the whole figure, and some of it may not apply to this partial figure.  Four scatterplots, A, show the habitat loss as a percent of landscape, and six photos, B, show examples of fragmented landscapes. A. In all scatt..."/>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2"/>
              <a:stretch>
                <a:fillRect l="-9948" t="0" r="-99645" b="-93903"/>
              </a:stretch>
            </a:blipFill>
          </p:spPr>
        </p:sp>
      </p:grpSp>
      <p:grpSp>
        <p:nvGrpSpPr>
          <p:cNvPr name="Group 6" id="6"/>
          <p:cNvGrpSpPr/>
          <p:nvPr/>
        </p:nvGrpSpPr>
        <p:grpSpPr>
          <a:xfrm rot="0">
            <a:off x="3473917" y="6038845"/>
            <a:ext cx="3219468" cy="3219455"/>
            <a:chOff x="0" y="0"/>
            <a:chExt cx="6350000" cy="6349975"/>
          </a:xfrm>
        </p:grpSpPr>
        <p:sp>
          <p:nvSpPr>
            <p:cNvPr name="Freeform 7" id="7" descr="This alt text was created for the whole figure, and some of it may not apply to this partial figure.  Four scatterplots, A, show the habitat loss as a percent of landscape, and six photos, B, show examples of fragmented landscapes. A. In all scatt..."/>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2"/>
              <a:stretch>
                <a:fillRect l="-101741" t="-83247" r="0" b="-3390"/>
              </a:stretch>
            </a:blipFill>
          </p:spPr>
        </p:sp>
      </p:grpSp>
      <p:grpSp>
        <p:nvGrpSpPr>
          <p:cNvPr name="Group 8" id="8"/>
          <p:cNvGrpSpPr/>
          <p:nvPr/>
        </p:nvGrpSpPr>
        <p:grpSpPr>
          <a:xfrm rot="0">
            <a:off x="5924532" y="3533772"/>
            <a:ext cx="3219468" cy="3219455"/>
            <a:chOff x="0" y="0"/>
            <a:chExt cx="6350000" cy="6349975"/>
          </a:xfrm>
        </p:grpSpPr>
        <p:sp>
          <p:nvSpPr>
            <p:cNvPr name="Freeform 9" id="9" descr="This alt text was created for the whole figure, and some of it may not apply to this partial figure.  Four scatterplots, A, show the habitat loss as a percent of landscape, and six photos, B, show examples of fragmented landscapes. A. In all scatt..."/>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2"/>
              <a:stretch>
                <a:fillRect l="-118220" t="0" r="-5266" b="-106756"/>
              </a:stretch>
            </a:blipFill>
          </p:spPr>
        </p:sp>
      </p:grpSp>
      <p:sp>
        <p:nvSpPr>
          <p:cNvPr name="Freeform 10" id="10"/>
          <p:cNvSpPr/>
          <p:nvPr/>
        </p:nvSpPr>
        <p:spPr>
          <a:xfrm flipH="false" flipV="false" rot="-709034">
            <a:off x="15939368" y="-1775030"/>
            <a:ext cx="4101281" cy="4127494"/>
          </a:xfrm>
          <a:custGeom>
            <a:avLst/>
            <a:gdLst/>
            <a:ahLst/>
            <a:cxnLst/>
            <a:rect r="r" b="b" t="t" l="l"/>
            <a:pathLst>
              <a:path h="4127494" w="4101281">
                <a:moveTo>
                  <a:pt x="0" y="0"/>
                </a:moveTo>
                <a:lnTo>
                  <a:pt x="4101281" y="0"/>
                </a:lnTo>
                <a:lnTo>
                  <a:pt x="4101281" y="4127495"/>
                </a:lnTo>
                <a:lnTo>
                  <a:pt x="0" y="412749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true" flipV="false" rot="2867302">
            <a:off x="16506070" y="-261716"/>
            <a:ext cx="1362984" cy="2370408"/>
          </a:xfrm>
          <a:custGeom>
            <a:avLst/>
            <a:gdLst/>
            <a:ahLst/>
            <a:cxnLst/>
            <a:rect r="r" b="b" t="t" l="l"/>
            <a:pathLst>
              <a:path h="2370408" w="1362984">
                <a:moveTo>
                  <a:pt x="1362984" y="0"/>
                </a:moveTo>
                <a:lnTo>
                  <a:pt x="0" y="0"/>
                </a:lnTo>
                <a:lnTo>
                  <a:pt x="0" y="2370407"/>
                </a:lnTo>
                <a:lnTo>
                  <a:pt x="1362984" y="2370407"/>
                </a:lnTo>
                <a:lnTo>
                  <a:pt x="1362984"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5460838">
            <a:off x="16206000" y="8105968"/>
            <a:ext cx="4164000" cy="4190615"/>
          </a:xfrm>
          <a:custGeom>
            <a:avLst/>
            <a:gdLst/>
            <a:ahLst/>
            <a:cxnLst/>
            <a:rect r="r" b="b" t="t" l="l"/>
            <a:pathLst>
              <a:path h="4190615" w="4164000">
                <a:moveTo>
                  <a:pt x="0" y="0"/>
                </a:moveTo>
                <a:lnTo>
                  <a:pt x="4164000" y="0"/>
                </a:lnTo>
                <a:lnTo>
                  <a:pt x="4164000" y="4190614"/>
                </a:lnTo>
                <a:lnTo>
                  <a:pt x="0" y="41906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10800000">
            <a:off x="16319057" y="8500319"/>
            <a:ext cx="1687000" cy="1466073"/>
          </a:xfrm>
          <a:custGeom>
            <a:avLst/>
            <a:gdLst/>
            <a:ahLst/>
            <a:cxnLst/>
            <a:rect r="r" b="b" t="t" l="l"/>
            <a:pathLst>
              <a:path h="1466073" w="1687000">
                <a:moveTo>
                  <a:pt x="0" y="0"/>
                </a:moveTo>
                <a:lnTo>
                  <a:pt x="1687001" y="0"/>
                </a:lnTo>
                <a:lnTo>
                  <a:pt x="1687001" y="1466073"/>
                </a:lnTo>
                <a:lnTo>
                  <a:pt x="0" y="146607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4" id="14"/>
          <p:cNvSpPr/>
          <p:nvPr/>
        </p:nvSpPr>
        <p:spPr>
          <a:xfrm flipH="false" flipV="false" rot="10090965">
            <a:off x="-2007843" y="6460378"/>
            <a:ext cx="5843512" cy="5880861"/>
          </a:xfrm>
          <a:custGeom>
            <a:avLst/>
            <a:gdLst/>
            <a:ahLst/>
            <a:cxnLst/>
            <a:rect r="r" b="b" t="t" l="l"/>
            <a:pathLst>
              <a:path h="5880861" w="5843512">
                <a:moveTo>
                  <a:pt x="0" y="0"/>
                </a:moveTo>
                <a:lnTo>
                  <a:pt x="5843512" y="0"/>
                </a:lnTo>
                <a:lnTo>
                  <a:pt x="5843512" y="5880862"/>
                </a:lnTo>
                <a:lnTo>
                  <a:pt x="0" y="58808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true" flipV="false" rot="-7932697">
            <a:off x="874234" y="6438987"/>
            <a:ext cx="2366010" cy="4114800"/>
          </a:xfrm>
          <a:custGeom>
            <a:avLst/>
            <a:gdLst/>
            <a:ahLst/>
            <a:cxnLst/>
            <a:rect r="r" b="b" t="t" l="l"/>
            <a:pathLst>
              <a:path h="4114800" w="2366010">
                <a:moveTo>
                  <a:pt x="2366010" y="0"/>
                </a:moveTo>
                <a:lnTo>
                  <a:pt x="0" y="0"/>
                </a:lnTo>
                <a:lnTo>
                  <a:pt x="0" y="4114800"/>
                </a:lnTo>
                <a:lnTo>
                  <a:pt x="2366010" y="4114800"/>
                </a:lnTo>
                <a:lnTo>
                  <a:pt x="236601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false" rot="-5339161">
            <a:off x="-3048968" y="-3099562"/>
            <a:ext cx="6392809" cy="6433669"/>
          </a:xfrm>
          <a:custGeom>
            <a:avLst/>
            <a:gdLst/>
            <a:ahLst/>
            <a:cxnLst/>
            <a:rect r="r" b="b" t="t" l="l"/>
            <a:pathLst>
              <a:path h="6433669" w="6392809">
                <a:moveTo>
                  <a:pt x="0" y="0"/>
                </a:moveTo>
                <a:lnTo>
                  <a:pt x="6392809" y="0"/>
                </a:lnTo>
                <a:lnTo>
                  <a:pt x="6392809" y="6433670"/>
                </a:lnTo>
                <a:lnTo>
                  <a:pt x="0" y="64336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7" id="17"/>
          <p:cNvSpPr/>
          <p:nvPr/>
        </p:nvSpPr>
        <p:spPr>
          <a:xfrm flipH="false" flipV="false" rot="0">
            <a:off x="580290" y="477879"/>
            <a:ext cx="2589979" cy="2250798"/>
          </a:xfrm>
          <a:custGeom>
            <a:avLst/>
            <a:gdLst/>
            <a:ahLst/>
            <a:cxnLst/>
            <a:rect r="r" b="b" t="t" l="l"/>
            <a:pathLst>
              <a:path h="2250798" w="2589979">
                <a:moveTo>
                  <a:pt x="0" y="0"/>
                </a:moveTo>
                <a:lnTo>
                  <a:pt x="2589979" y="0"/>
                </a:lnTo>
                <a:lnTo>
                  <a:pt x="2589979" y="2250798"/>
                </a:lnTo>
                <a:lnTo>
                  <a:pt x="0" y="22507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8" id="18"/>
          <p:cNvSpPr txBox="true"/>
          <p:nvPr/>
        </p:nvSpPr>
        <p:spPr>
          <a:xfrm rot="0">
            <a:off x="10348985" y="3654958"/>
            <a:ext cx="916794" cy="613410"/>
          </a:xfrm>
          <a:prstGeom prst="rect">
            <a:avLst/>
          </a:prstGeom>
        </p:spPr>
        <p:txBody>
          <a:bodyPr anchor="t" rtlCol="false" tIns="0" lIns="0" bIns="0" rIns="0">
            <a:spAutoFit/>
          </a:bodyPr>
          <a:lstStyle/>
          <a:p>
            <a:pPr algn="l">
              <a:lnSpc>
                <a:spcPts val="5040"/>
              </a:lnSpc>
              <a:spcBef>
                <a:spcPct val="0"/>
              </a:spcBef>
            </a:pPr>
            <a:r>
              <a:rPr lang="en-US" sz="3600" b="true">
                <a:solidFill>
                  <a:srgbClr val="A5E800"/>
                </a:solidFill>
                <a:latin typeface="Poppins Bold"/>
                <a:ea typeface="Poppins Bold"/>
                <a:cs typeface="Poppins Bold"/>
                <a:sym typeface="Poppins Bold"/>
              </a:rPr>
              <a:t>01.</a:t>
            </a:r>
          </a:p>
        </p:txBody>
      </p:sp>
      <p:sp>
        <p:nvSpPr>
          <p:cNvPr name="TextBox 19" id="19"/>
          <p:cNvSpPr txBox="true"/>
          <p:nvPr/>
        </p:nvSpPr>
        <p:spPr>
          <a:xfrm rot="0">
            <a:off x="10348985" y="4827024"/>
            <a:ext cx="916794" cy="613410"/>
          </a:xfrm>
          <a:prstGeom prst="rect">
            <a:avLst/>
          </a:prstGeom>
        </p:spPr>
        <p:txBody>
          <a:bodyPr anchor="t" rtlCol="false" tIns="0" lIns="0" bIns="0" rIns="0">
            <a:spAutoFit/>
          </a:bodyPr>
          <a:lstStyle/>
          <a:p>
            <a:pPr algn="l">
              <a:lnSpc>
                <a:spcPts val="5040"/>
              </a:lnSpc>
              <a:spcBef>
                <a:spcPct val="0"/>
              </a:spcBef>
            </a:pPr>
            <a:r>
              <a:rPr lang="en-US" sz="3600" b="true">
                <a:solidFill>
                  <a:srgbClr val="A5E800"/>
                </a:solidFill>
                <a:latin typeface="Poppins Bold"/>
                <a:ea typeface="Poppins Bold"/>
                <a:cs typeface="Poppins Bold"/>
                <a:sym typeface="Poppins Bold"/>
              </a:rPr>
              <a:t>02.</a:t>
            </a:r>
          </a:p>
        </p:txBody>
      </p:sp>
      <p:sp>
        <p:nvSpPr>
          <p:cNvPr name="TextBox 20" id="20"/>
          <p:cNvSpPr txBox="true"/>
          <p:nvPr/>
        </p:nvSpPr>
        <p:spPr>
          <a:xfrm rot="0">
            <a:off x="10348985" y="5999091"/>
            <a:ext cx="916794" cy="613410"/>
          </a:xfrm>
          <a:prstGeom prst="rect">
            <a:avLst/>
          </a:prstGeom>
        </p:spPr>
        <p:txBody>
          <a:bodyPr anchor="t" rtlCol="false" tIns="0" lIns="0" bIns="0" rIns="0">
            <a:spAutoFit/>
          </a:bodyPr>
          <a:lstStyle/>
          <a:p>
            <a:pPr algn="l">
              <a:lnSpc>
                <a:spcPts val="5040"/>
              </a:lnSpc>
              <a:spcBef>
                <a:spcPct val="0"/>
              </a:spcBef>
            </a:pPr>
            <a:r>
              <a:rPr lang="en-US" sz="3600" b="true">
                <a:solidFill>
                  <a:srgbClr val="A5E800"/>
                </a:solidFill>
                <a:latin typeface="Poppins Bold"/>
                <a:ea typeface="Poppins Bold"/>
                <a:cs typeface="Poppins Bold"/>
                <a:sym typeface="Poppins Bold"/>
              </a:rPr>
              <a:t>03.</a:t>
            </a:r>
          </a:p>
        </p:txBody>
      </p:sp>
      <p:sp>
        <p:nvSpPr>
          <p:cNvPr name="TextBox 21" id="21"/>
          <p:cNvSpPr txBox="true"/>
          <p:nvPr/>
        </p:nvSpPr>
        <p:spPr>
          <a:xfrm rot="0">
            <a:off x="11354286" y="3777830"/>
            <a:ext cx="5588597" cy="396241"/>
          </a:xfrm>
          <a:prstGeom prst="rect">
            <a:avLst/>
          </a:prstGeom>
        </p:spPr>
        <p:txBody>
          <a:bodyPr anchor="t" rtlCol="false" tIns="0" lIns="0" bIns="0" rIns="0">
            <a:spAutoFit/>
          </a:bodyPr>
          <a:lstStyle/>
          <a:p>
            <a:pPr algn="l">
              <a:lnSpc>
                <a:spcPts val="3359"/>
              </a:lnSpc>
              <a:spcBef>
                <a:spcPct val="0"/>
              </a:spcBef>
            </a:pPr>
            <a:r>
              <a:rPr lang="en-US" sz="2399">
                <a:solidFill>
                  <a:srgbClr val="FFFFFF"/>
                </a:solidFill>
                <a:latin typeface="Open Sans"/>
                <a:ea typeface="Open Sans"/>
                <a:cs typeface="Open Sans"/>
                <a:sym typeface="Open Sans"/>
              </a:rPr>
              <a:t>Increases the amount of edge habitat.</a:t>
            </a:r>
          </a:p>
        </p:txBody>
      </p:sp>
      <p:sp>
        <p:nvSpPr>
          <p:cNvPr name="TextBox 22" id="22"/>
          <p:cNvSpPr txBox="true"/>
          <p:nvPr/>
        </p:nvSpPr>
        <p:spPr>
          <a:xfrm rot="0">
            <a:off x="10348985" y="7417677"/>
            <a:ext cx="916794" cy="613410"/>
          </a:xfrm>
          <a:prstGeom prst="rect">
            <a:avLst/>
          </a:prstGeom>
        </p:spPr>
        <p:txBody>
          <a:bodyPr anchor="t" rtlCol="false" tIns="0" lIns="0" bIns="0" rIns="0">
            <a:spAutoFit/>
          </a:bodyPr>
          <a:lstStyle/>
          <a:p>
            <a:pPr algn="l">
              <a:lnSpc>
                <a:spcPts val="5040"/>
              </a:lnSpc>
              <a:spcBef>
                <a:spcPct val="0"/>
              </a:spcBef>
            </a:pPr>
            <a:r>
              <a:rPr lang="en-US" sz="3600" b="true">
                <a:solidFill>
                  <a:srgbClr val="A5E800"/>
                </a:solidFill>
                <a:latin typeface="Poppins Bold"/>
                <a:ea typeface="Poppins Bold"/>
                <a:cs typeface="Poppins Bold"/>
                <a:sym typeface="Poppins Bold"/>
              </a:rPr>
              <a:t>04.</a:t>
            </a:r>
          </a:p>
        </p:txBody>
      </p:sp>
      <p:sp>
        <p:nvSpPr>
          <p:cNvPr name="TextBox 23" id="23"/>
          <p:cNvSpPr txBox="true"/>
          <p:nvPr/>
        </p:nvSpPr>
        <p:spPr>
          <a:xfrm rot="0">
            <a:off x="10348985" y="1384833"/>
            <a:ext cx="6910315" cy="1955800"/>
          </a:xfrm>
          <a:prstGeom prst="rect">
            <a:avLst/>
          </a:prstGeom>
        </p:spPr>
        <p:txBody>
          <a:bodyPr anchor="t" rtlCol="false" tIns="0" lIns="0" bIns="0" rIns="0">
            <a:spAutoFit/>
          </a:bodyPr>
          <a:lstStyle/>
          <a:p>
            <a:pPr algn="l">
              <a:lnSpc>
                <a:spcPts val="7699"/>
              </a:lnSpc>
              <a:spcBef>
                <a:spcPct val="0"/>
              </a:spcBef>
            </a:pPr>
            <a:r>
              <a:rPr lang="en-US" b="true" sz="5499">
                <a:solidFill>
                  <a:srgbClr val="B6F61A"/>
                </a:solidFill>
                <a:latin typeface="Poppins Bold"/>
                <a:ea typeface="Poppins Bold"/>
                <a:cs typeface="Poppins Bold"/>
                <a:sym typeface="Poppins Bold"/>
              </a:rPr>
              <a:t>HABITAT FRAGMENTATION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FFC"/>
        </a:solidFill>
      </p:bgPr>
    </p:bg>
    <p:spTree>
      <p:nvGrpSpPr>
        <p:cNvPr id="1" name=""/>
        <p:cNvGrpSpPr/>
        <p:nvPr/>
      </p:nvGrpSpPr>
      <p:grpSpPr>
        <a:xfrm>
          <a:off x="0" y="0"/>
          <a:ext cx="0" cy="0"/>
          <a:chOff x="0" y="0"/>
          <a:chExt cx="0" cy="0"/>
        </a:xfrm>
      </p:grpSpPr>
      <p:grpSp>
        <p:nvGrpSpPr>
          <p:cNvPr name="Group 2" id="2"/>
          <p:cNvGrpSpPr/>
          <p:nvPr/>
        </p:nvGrpSpPr>
        <p:grpSpPr>
          <a:xfrm rot="0">
            <a:off x="1457384" y="3438423"/>
            <a:ext cx="13932735" cy="5143500"/>
            <a:chOff x="0" y="0"/>
            <a:chExt cx="18576981" cy="6858000"/>
          </a:xfrm>
        </p:grpSpPr>
        <p:pic>
          <p:nvPicPr>
            <p:cNvPr name="Picture 3" id="3"/>
            <p:cNvPicPr>
              <a:picLocks noChangeAspect="true"/>
            </p:cNvPicPr>
            <p:nvPr/>
          </p:nvPicPr>
          <p:blipFill>
            <a:blip r:embed="rId2"/>
            <a:srcRect l="0" t="24114" r="0" b="20213"/>
            <a:stretch>
              <a:fillRect/>
            </a:stretch>
          </p:blipFill>
          <p:spPr>
            <a:xfrm flipH="false" flipV="false">
              <a:off x="0" y="0"/>
              <a:ext cx="18576981" cy="6858000"/>
            </a:xfrm>
            <a:prstGeom prst="rect">
              <a:avLst/>
            </a:prstGeom>
          </p:spPr>
        </p:pic>
      </p:grpSp>
      <p:sp>
        <p:nvSpPr>
          <p:cNvPr name="TextBox 4" id="4"/>
          <p:cNvSpPr txBox="true"/>
          <p:nvPr/>
        </p:nvSpPr>
        <p:spPr>
          <a:xfrm rot="0">
            <a:off x="1457384" y="318220"/>
            <a:ext cx="7686616" cy="2076451"/>
          </a:xfrm>
          <a:prstGeom prst="rect">
            <a:avLst/>
          </a:prstGeom>
        </p:spPr>
        <p:txBody>
          <a:bodyPr anchor="t" rtlCol="false" tIns="0" lIns="0" bIns="0" rIns="0">
            <a:spAutoFit/>
          </a:bodyPr>
          <a:lstStyle/>
          <a:p>
            <a:pPr algn="l">
              <a:lnSpc>
                <a:spcPts val="8399"/>
              </a:lnSpc>
              <a:spcBef>
                <a:spcPct val="0"/>
              </a:spcBef>
            </a:pPr>
            <a:r>
              <a:rPr lang="en-US" sz="5999" b="true">
                <a:solidFill>
                  <a:srgbClr val="171616"/>
                </a:solidFill>
                <a:latin typeface="Raleway Bold"/>
                <a:ea typeface="Raleway Bold"/>
                <a:cs typeface="Raleway Bold"/>
                <a:sym typeface="Raleway Bold"/>
              </a:rPr>
              <a:t>Edge effects and fragmentation</a:t>
            </a:r>
          </a:p>
        </p:txBody>
      </p:sp>
      <p:sp>
        <p:nvSpPr>
          <p:cNvPr name="TextBox 5" id="5"/>
          <p:cNvSpPr txBox="true"/>
          <p:nvPr/>
        </p:nvSpPr>
        <p:spPr>
          <a:xfrm rot="0">
            <a:off x="8832536" y="401405"/>
            <a:ext cx="7041864" cy="1967230"/>
          </a:xfrm>
          <a:prstGeom prst="rect">
            <a:avLst/>
          </a:prstGeom>
        </p:spPr>
        <p:txBody>
          <a:bodyPr anchor="t" rtlCol="false" tIns="0" lIns="0" bIns="0" rIns="0">
            <a:spAutoFit/>
          </a:bodyPr>
          <a:lstStyle/>
          <a:p>
            <a:pPr algn="l">
              <a:lnSpc>
                <a:spcPts val="3919"/>
              </a:lnSpc>
              <a:spcBef>
                <a:spcPct val="0"/>
              </a:spcBef>
            </a:pPr>
            <a:r>
              <a:rPr lang="en-US" sz="2799">
                <a:solidFill>
                  <a:srgbClr val="171616"/>
                </a:solidFill>
                <a:latin typeface="Open Sans"/>
                <a:ea typeface="Open Sans"/>
                <a:cs typeface="Open Sans"/>
                <a:sym typeface="Open Sans"/>
              </a:rPr>
              <a:t>As patch sizes are reduced in a landscape, the proportion of core (interior) habitat declines, and the proportion of edge habitat increases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FFC"/>
        </a:solidFill>
      </p:bgPr>
    </p:bg>
    <p:spTree>
      <p:nvGrpSpPr>
        <p:cNvPr id="1" name=""/>
        <p:cNvGrpSpPr/>
        <p:nvPr/>
      </p:nvGrpSpPr>
      <p:grpSpPr>
        <a:xfrm>
          <a:off x="0" y="0"/>
          <a:ext cx="0" cy="0"/>
          <a:chOff x="0" y="0"/>
          <a:chExt cx="0" cy="0"/>
        </a:xfrm>
      </p:grpSpPr>
      <p:grpSp>
        <p:nvGrpSpPr>
          <p:cNvPr name="Group 2" id="2"/>
          <p:cNvGrpSpPr/>
          <p:nvPr/>
        </p:nvGrpSpPr>
        <p:grpSpPr>
          <a:xfrm rot="0">
            <a:off x="1172508" y="2486974"/>
            <a:ext cx="11333741" cy="7048928"/>
            <a:chOff x="0" y="0"/>
            <a:chExt cx="15111654" cy="9398571"/>
          </a:xfrm>
        </p:grpSpPr>
        <p:pic>
          <p:nvPicPr>
            <p:cNvPr name="Picture 3" id="3"/>
            <p:cNvPicPr>
              <a:picLocks noChangeAspect="true"/>
            </p:cNvPicPr>
            <p:nvPr/>
          </p:nvPicPr>
          <p:blipFill>
            <a:blip r:embed="rId2"/>
            <a:srcRect l="0" t="435" r="0" b="5774"/>
            <a:stretch>
              <a:fillRect/>
            </a:stretch>
          </p:blipFill>
          <p:spPr>
            <a:xfrm flipH="false" flipV="false">
              <a:off x="0" y="0"/>
              <a:ext cx="15111654" cy="9398571"/>
            </a:xfrm>
            <a:prstGeom prst="rect">
              <a:avLst/>
            </a:prstGeom>
          </p:spPr>
        </p:pic>
      </p:grpSp>
      <p:sp>
        <p:nvSpPr>
          <p:cNvPr name="TextBox 4" id="4"/>
          <p:cNvSpPr txBox="true"/>
          <p:nvPr/>
        </p:nvSpPr>
        <p:spPr>
          <a:xfrm rot="0">
            <a:off x="1172508" y="60061"/>
            <a:ext cx="7686616" cy="2076451"/>
          </a:xfrm>
          <a:prstGeom prst="rect">
            <a:avLst/>
          </a:prstGeom>
        </p:spPr>
        <p:txBody>
          <a:bodyPr anchor="t" rtlCol="false" tIns="0" lIns="0" bIns="0" rIns="0">
            <a:spAutoFit/>
          </a:bodyPr>
          <a:lstStyle/>
          <a:p>
            <a:pPr algn="l">
              <a:lnSpc>
                <a:spcPts val="8399"/>
              </a:lnSpc>
              <a:spcBef>
                <a:spcPct val="0"/>
              </a:spcBef>
            </a:pPr>
            <a:r>
              <a:rPr lang="en-US" sz="5999" b="true">
                <a:solidFill>
                  <a:srgbClr val="171616"/>
                </a:solidFill>
                <a:latin typeface="Raleway Bold"/>
                <a:ea typeface="Raleway Bold"/>
                <a:cs typeface="Raleway Bold"/>
                <a:sym typeface="Raleway Bold"/>
              </a:rPr>
              <a:t>Edge effects and fragmentation</a:t>
            </a:r>
          </a:p>
        </p:txBody>
      </p:sp>
      <p:sp>
        <p:nvSpPr>
          <p:cNvPr name="TextBox 5" id="5"/>
          <p:cNvSpPr txBox="true"/>
          <p:nvPr/>
        </p:nvSpPr>
        <p:spPr>
          <a:xfrm rot="0">
            <a:off x="8859124" y="422646"/>
            <a:ext cx="7041864" cy="1275080"/>
          </a:xfrm>
          <a:prstGeom prst="rect">
            <a:avLst/>
          </a:prstGeom>
        </p:spPr>
        <p:txBody>
          <a:bodyPr anchor="t" rtlCol="false" tIns="0" lIns="0" bIns="0" rIns="0">
            <a:spAutoFit/>
          </a:bodyPr>
          <a:lstStyle/>
          <a:p>
            <a:pPr algn="l">
              <a:lnSpc>
                <a:spcPts val="5319"/>
              </a:lnSpc>
            </a:pPr>
            <a:r>
              <a:rPr lang="en-US" sz="2799">
                <a:solidFill>
                  <a:srgbClr val="171616"/>
                </a:solidFill>
                <a:latin typeface="Open Sans"/>
                <a:ea typeface="Open Sans"/>
                <a:cs typeface="Open Sans"/>
                <a:sym typeface="Open Sans"/>
              </a:rPr>
              <a:t>Edge effects have a greater influence on the dynamics of small patches.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C4703B"/>
        </a:solidFill>
      </p:bgPr>
    </p:bg>
    <p:spTree>
      <p:nvGrpSpPr>
        <p:cNvPr id="1" name=""/>
        <p:cNvGrpSpPr/>
        <p:nvPr/>
      </p:nvGrpSpPr>
      <p:grpSpPr>
        <a:xfrm>
          <a:off x="0" y="0"/>
          <a:ext cx="0" cy="0"/>
          <a:chOff x="0" y="0"/>
          <a:chExt cx="0" cy="0"/>
        </a:xfrm>
      </p:grpSpPr>
      <p:sp>
        <p:nvSpPr>
          <p:cNvPr name="Freeform 2" id="2"/>
          <p:cNvSpPr/>
          <p:nvPr/>
        </p:nvSpPr>
        <p:spPr>
          <a:xfrm flipH="false" flipV="false" rot="0">
            <a:off x="-186498" y="-212437"/>
            <a:ext cx="18660997" cy="10697914"/>
          </a:xfrm>
          <a:custGeom>
            <a:avLst/>
            <a:gdLst/>
            <a:ahLst/>
            <a:cxnLst/>
            <a:rect r="r" b="b" t="t" l="l"/>
            <a:pathLst>
              <a:path h="10697914" w="18660997">
                <a:moveTo>
                  <a:pt x="0" y="0"/>
                </a:moveTo>
                <a:lnTo>
                  <a:pt x="18660996" y="0"/>
                </a:lnTo>
                <a:lnTo>
                  <a:pt x="18660996" y="10697914"/>
                </a:lnTo>
                <a:lnTo>
                  <a:pt x="0" y="10697914"/>
                </a:lnTo>
                <a:lnTo>
                  <a:pt x="0" y="0"/>
                </a:lnTo>
                <a:close/>
              </a:path>
            </a:pathLst>
          </a:custGeom>
          <a:blipFill>
            <a:blip r:embed="rId2"/>
            <a:stretch>
              <a:fillRect l="0" t="-8077" r="0" b="-19696"/>
            </a:stretch>
          </a:blipFill>
        </p:spPr>
      </p:sp>
      <p:sp>
        <p:nvSpPr>
          <p:cNvPr name="Freeform 3" id="3"/>
          <p:cNvSpPr/>
          <p:nvPr/>
        </p:nvSpPr>
        <p:spPr>
          <a:xfrm flipH="false" flipV="false" rot="-5400000">
            <a:off x="9313309" y="2789245"/>
            <a:ext cx="5957754" cy="10097889"/>
          </a:xfrm>
          <a:custGeom>
            <a:avLst/>
            <a:gdLst/>
            <a:ahLst/>
            <a:cxnLst/>
            <a:rect r="r" b="b" t="t" l="l"/>
            <a:pathLst>
              <a:path h="10097889" w="5957754">
                <a:moveTo>
                  <a:pt x="0" y="0"/>
                </a:moveTo>
                <a:lnTo>
                  <a:pt x="5957754" y="0"/>
                </a:lnTo>
                <a:lnTo>
                  <a:pt x="5957754" y="10097888"/>
                </a:lnTo>
                <a:lnTo>
                  <a:pt x="0" y="10097888"/>
                </a:lnTo>
                <a:lnTo>
                  <a:pt x="0" y="0"/>
                </a:lnTo>
                <a:close/>
              </a:path>
            </a:pathLst>
          </a:custGeom>
          <a:blipFill>
            <a:blip r:embed="rId3"/>
            <a:stretch>
              <a:fillRect l="0" t="0" r="0" b="0"/>
            </a:stretch>
          </a:blipFill>
        </p:spPr>
      </p:sp>
      <p:sp>
        <p:nvSpPr>
          <p:cNvPr name="Freeform 4" id="4"/>
          <p:cNvSpPr/>
          <p:nvPr/>
        </p:nvSpPr>
        <p:spPr>
          <a:xfrm flipH="false" flipV="false" rot="0">
            <a:off x="8640956" y="0"/>
            <a:ext cx="6415007" cy="8848285"/>
          </a:xfrm>
          <a:custGeom>
            <a:avLst/>
            <a:gdLst/>
            <a:ahLst/>
            <a:cxnLst/>
            <a:rect r="r" b="b" t="t" l="l"/>
            <a:pathLst>
              <a:path h="8848285" w="6415007">
                <a:moveTo>
                  <a:pt x="0" y="0"/>
                </a:moveTo>
                <a:lnTo>
                  <a:pt x="6415006" y="0"/>
                </a:lnTo>
                <a:lnTo>
                  <a:pt x="6415006" y="8848285"/>
                </a:lnTo>
                <a:lnTo>
                  <a:pt x="0" y="8848285"/>
                </a:lnTo>
                <a:lnTo>
                  <a:pt x="0" y="0"/>
                </a:lnTo>
                <a:close/>
              </a:path>
            </a:pathLst>
          </a:custGeom>
          <a:blipFill>
            <a:blip r:embed="rId4"/>
            <a:stretch>
              <a:fillRect l="0" t="0" r="0" b="0"/>
            </a:stretch>
          </a:blipFill>
        </p:spPr>
      </p:sp>
      <p:grpSp>
        <p:nvGrpSpPr>
          <p:cNvPr name="Group 5" id="5"/>
          <p:cNvGrpSpPr>
            <a:grpSpLocks noChangeAspect="true"/>
          </p:cNvGrpSpPr>
          <p:nvPr/>
        </p:nvGrpSpPr>
        <p:grpSpPr>
          <a:xfrm rot="0">
            <a:off x="6928093" y="733478"/>
            <a:ext cx="10728187" cy="8820043"/>
            <a:chOff x="0" y="0"/>
            <a:chExt cx="4991100" cy="4103370"/>
          </a:xfrm>
        </p:grpSpPr>
        <p:sp>
          <p:nvSpPr>
            <p:cNvPr name="Freeform 6" id="6" descr="An illustration shows the edge of an intact forest affected by various factors. Trees at the edge of the forest fall due to wind, dry up due to drought, and are burnt during fire. The growth or biomass response for these factors is negative. Due t..."/>
            <p:cNvSpPr/>
            <p:nvPr/>
          </p:nvSpPr>
          <p:spPr>
            <a:xfrm flipH="false" flipV="false" rot="0">
              <a:off x="0" y="54610"/>
              <a:ext cx="4991100" cy="4048760"/>
            </a:xfrm>
            <a:custGeom>
              <a:avLst/>
              <a:gdLst/>
              <a:ahLst/>
              <a:cxnLst/>
              <a:rect r="r" b="b" t="t" l="l"/>
              <a:pathLst>
                <a:path h="4048760" w="4991100">
                  <a:moveTo>
                    <a:pt x="4991100" y="194310"/>
                  </a:moveTo>
                  <a:lnTo>
                    <a:pt x="4991100" y="4048760"/>
                  </a:lnTo>
                  <a:lnTo>
                    <a:pt x="0" y="4048760"/>
                  </a:lnTo>
                  <a:lnTo>
                    <a:pt x="0" y="361950"/>
                  </a:lnTo>
                  <a:lnTo>
                    <a:pt x="0" y="334010"/>
                  </a:lnTo>
                  <a:lnTo>
                    <a:pt x="138430" y="278130"/>
                  </a:lnTo>
                  <a:cubicBezTo>
                    <a:pt x="138430" y="278130"/>
                    <a:pt x="248920" y="278130"/>
                    <a:pt x="304800" y="250190"/>
                  </a:cubicBezTo>
                  <a:cubicBezTo>
                    <a:pt x="360680" y="222250"/>
                    <a:pt x="499110" y="139700"/>
                    <a:pt x="499110" y="139700"/>
                  </a:cubicBezTo>
                  <a:cubicBezTo>
                    <a:pt x="499110" y="139700"/>
                    <a:pt x="637540" y="55880"/>
                    <a:pt x="721360" y="139700"/>
                  </a:cubicBezTo>
                  <a:cubicBezTo>
                    <a:pt x="721360" y="139700"/>
                    <a:pt x="859790" y="139700"/>
                    <a:pt x="887730" y="111760"/>
                  </a:cubicBezTo>
                  <a:lnTo>
                    <a:pt x="998220" y="139700"/>
                  </a:lnTo>
                  <a:lnTo>
                    <a:pt x="1330960" y="139700"/>
                  </a:lnTo>
                  <a:lnTo>
                    <a:pt x="1553210" y="139700"/>
                  </a:lnTo>
                  <a:lnTo>
                    <a:pt x="1913890" y="139700"/>
                  </a:lnTo>
                  <a:cubicBezTo>
                    <a:pt x="1913890" y="139700"/>
                    <a:pt x="2136140" y="139700"/>
                    <a:pt x="2190750" y="111760"/>
                  </a:cubicBezTo>
                  <a:cubicBezTo>
                    <a:pt x="2245360" y="83820"/>
                    <a:pt x="2413000" y="111760"/>
                    <a:pt x="2413000" y="111760"/>
                  </a:cubicBezTo>
                  <a:cubicBezTo>
                    <a:pt x="2413000" y="111760"/>
                    <a:pt x="2717800" y="167640"/>
                    <a:pt x="2801620" y="139700"/>
                  </a:cubicBezTo>
                  <a:cubicBezTo>
                    <a:pt x="2885440" y="111760"/>
                    <a:pt x="3051810" y="111760"/>
                    <a:pt x="3051810" y="111760"/>
                  </a:cubicBezTo>
                  <a:cubicBezTo>
                    <a:pt x="3051810" y="111760"/>
                    <a:pt x="3134360" y="167640"/>
                    <a:pt x="3274060" y="111760"/>
                  </a:cubicBezTo>
                  <a:cubicBezTo>
                    <a:pt x="3274060" y="111760"/>
                    <a:pt x="3329940" y="139700"/>
                    <a:pt x="3522980" y="83820"/>
                  </a:cubicBezTo>
                  <a:cubicBezTo>
                    <a:pt x="3522980" y="83820"/>
                    <a:pt x="3661410" y="83820"/>
                    <a:pt x="3717290" y="27940"/>
                  </a:cubicBezTo>
                  <a:cubicBezTo>
                    <a:pt x="3717290" y="27940"/>
                    <a:pt x="3827780" y="0"/>
                    <a:pt x="3939540" y="55880"/>
                  </a:cubicBezTo>
                  <a:cubicBezTo>
                    <a:pt x="3939540" y="55880"/>
                    <a:pt x="3995420" y="83820"/>
                    <a:pt x="4023360" y="55880"/>
                  </a:cubicBezTo>
                  <a:lnTo>
                    <a:pt x="4189730" y="83820"/>
                  </a:lnTo>
                  <a:cubicBezTo>
                    <a:pt x="4189730" y="83820"/>
                    <a:pt x="4245610" y="139700"/>
                    <a:pt x="4384040" y="167640"/>
                  </a:cubicBezTo>
                  <a:lnTo>
                    <a:pt x="4632960" y="167640"/>
                  </a:lnTo>
                  <a:cubicBezTo>
                    <a:pt x="4632960" y="167640"/>
                    <a:pt x="4771390" y="139700"/>
                    <a:pt x="4827270" y="167640"/>
                  </a:cubicBezTo>
                  <a:cubicBezTo>
                    <a:pt x="4883150" y="195580"/>
                    <a:pt x="4991100" y="194310"/>
                    <a:pt x="4991100" y="194310"/>
                  </a:cubicBezTo>
                  <a:close/>
                </a:path>
              </a:pathLst>
            </a:custGeom>
            <a:blipFill>
              <a:blip r:embed="rId5"/>
              <a:stretch>
                <a:fillRect l="0" t="0" r="0" b="-4403"/>
              </a:stretch>
            </a:blipFill>
          </p:spPr>
        </p:sp>
        <p:sp>
          <p:nvSpPr>
            <p:cNvPr name="Freeform 7" id="7"/>
            <p:cNvSpPr/>
            <p:nvPr/>
          </p:nvSpPr>
          <p:spPr>
            <a:xfrm flipH="false" flipV="false" rot="0">
              <a:off x="0" y="0"/>
              <a:ext cx="4991100" cy="443230"/>
            </a:xfrm>
            <a:custGeom>
              <a:avLst/>
              <a:gdLst/>
              <a:ahLst/>
              <a:cxnLst/>
              <a:rect r="r" b="b" t="t" l="l"/>
              <a:pathLst>
                <a:path h="443230" w="4991100">
                  <a:moveTo>
                    <a:pt x="4991100" y="443230"/>
                  </a:moveTo>
                  <a:lnTo>
                    <a:pt x="0" y="443230"/>
                  </a:lnTo>
                  <a:lnTo>
                    <a:pt x="0" y="0"/>
                  </a:lnTo>
                  <a:lnTo>
                    <a:pt x="4991100" y="0"/>
                  </a:lnTo>
                  <a:lnTo>
                    <a:pt x="4991100" y="443230"/>
                  </a:lnTo>
                  <a:close/>
                </a:path>
              </a:pathLst>
            </a:custGeom>
            <a:blipFill>
              <a:blip r:embed="rId6"/>
              <a:stretch>
                <a:fillRect l="-2856" t="-34555" r="-838" b="-85845"/>
              </a:stretch>
            </a:blipFill>
          </p:spPr>
        </p:sp>
      </p:grpSp>
      <p:sp>
        <p:nvSpPr>
          <p:cNvPr name="TextBox 8" id="8"/>
          <p:cNvSpPr txBox="true"/>
          <p:nvPr/>
        </p:nvSpPr>
        <p:spPr>
          <a:xfrm rot="0">
            <a:off x="1028700" y="2535700"/>
            <a:ext cx="5614150" cy="1095375"/>
          </a:xfrm>
          <a:prstGeom prst="rect">
            <a:avLst/>
          </a:prstGeom>
        </p:spPr>
        <p:txBody>
          <a:bodyPr anchor="t" rtlCol="false" tIns="0" lIns="0" bIns="0" rIns="0">
            <a:spAutoFit/>
          </a:bodyPr>
          <a:lstStyle/>
          <a:p>
            <a:pPr algn="l" marL="0" indent="0" lvl="0">
              <a:lnSpc>
                <a:spcPts val="8640"/>
              </a:lnSpc>
              <a:spcBef>
                <a:spcPct val="0"/>
              </a:spcBef>
            </a:pPr>
            <a:r>
              <a:rPr lang="en-US" sz="7200">
                <a:solidFill>
                  <a:srgbClr val="000000"/>
                </a:solidFill>
                <a:latin typeface="Caveat Brush"/>
                <a:ea typeface="Caveat Brush"/>
                <a:cs typeface="Caveat Brush"/>
                <a:sym typeface="Caveat Brush"/>
              </a:rPr>
              <a:t>EDGE EFFECTS</a:t>
            </a:r>
          </a:p>
        </p:txBody>
      </p:sp>
      <p:sp>
        <p:nvSpPr>
          <p:cNvPr name="TextBox 9" id="9"/>
          <p:cNvSpPr txBox="true"/>
          <p:nvPr/>
        </p:nvSpPr>
        <p:spPr>
          <a:xfrm rot="0">
            <a:off x="1028700" y="4086992"/>
            <a:ext cx="5614150" cy="2099056"/>
          </a:xfrm>
          <a:prstGeom prst="rect">
            <a:avLst/>
          </a:prstGeom>
        </p:spPr>
        <p:txBody>
          <a:bodyPr anchor="t" rtlCol="false" tIns="0" lIns="0" bIns="0" rIns="0">
            <a:spAutoFit/>
          </a:bodyPr>
          <a:lstStyle/>
          <a:p>
            <a:pPr algn="l">
              <a:lnSpc>
                <a:spcPts val="3331"/>
              </a:lnSpc>
            </a:pPr>
            <a:r>
              <a:rPr lang="en-US" sz="2799">
                <a:solidFill>
                  <a:srgbClr val="000000"/>
                </a:solidFill>
                <a:latin typeface="Nunito Sans"/>
                <a:ea typeface="Nunito Sans"/>
                <a:cs typeface="Nunito Sans"/>
                <a:sym typeface="Nunito Sans"/>
              </a:rPr>
              <a:t>Changes in the forest edge microenvironment include exposure to more wind, drought, fire, light, and nitrogen deposition.</a:t>
            </a:r>
          </a:p>
        </p:txBody>
      </p:sp>
      <p:sp>
        <p:nvSpPr>
          <p:cNvPr name="Freeform 10" id="10"/>
          <p:cNvSpPr/>
          <p:nvPr/>
        </p:nvSpPr>
        <p:spPr>
          <a:xfrm flipH="false" flipV="false" rot="0">
            <a:off x="8034879" y="9196231"/>
            <a:ext cx="3108024" cy="714582"/>
          </a:xfrm>
          <a:custGeom>
            <a:avLst/>
            <a:gdLst/>
            <a:ahLst/>
            <a:cxnLst/>
            <a:rect r="r" b="b" t="t" l="l"/>
            <a:pathLst>
              <a:path h="714582" w="3108024">
                <a:moveTo>
                  <a:pt x="0" y="0"/>
                </a:moveTo>
                <a:lnTo>
                  <a:pt x="3108024" y="0"/>
                </a:lnTo>
                <a:lnTo>
                  <a:pt x="3108024" y="714582"/>
                </a:lnTo>
                <a:lnTo>
                  <a:pt x="0" y="714582"/>
                </a:lnTo>
                <a:lnTo>
                  <a:pt x="0" y="0"/>
                </a:lnTo>
                <a:close/>
              </a:path>
            </a:pathLst>
          </a:custGeom>
          <a:blipFill>
            <a:blip r:embed="rId7"/>
            <a:stretch>
              <a:fillRect l="0" t="-67863" r="-89477" b="-24430"/>
            </a:stretch>
          </a:blipFill>
        </p:spPr>
      </p:sp>
      <p:sp>
        <p:nvSpPr>
          <p:cNvPr name="TextBox 11" id="11"/>
          <p:cNvSpPr txBox="true"/>
          <p:nvPr/>
        </p:nvSpPr>
        <p:spPr>
          <a:xfrm rot="0">
            <a:off x="1028700" y="6652773"/>
            <a:ext cx="5267499" cy="1250442"/>
          </a:xfrm>
          <a:prstGeom prst="rect">
            <a:avLst/>
          </a:prstGeom>
        </p:spPr>
        <p:txBody>
          <a:bodyPr anchor="t" rtlCol="false" tIns="0" lIns="0" bIns="0" rIns="0">
            <a:spAutoFit/>
          </a:bodyPr>
          <a:lstStyle/>
          <a:p>
            <a:pPr algn="l" marL="453390" indent="-226695" lvl="1">
              <a:lnSpc>
                <a:spcPts val="2499"/>
              </a:lnSpc>
              <a:buFont typeface="Arial"/>
              <a:buChar char="•"/>
            </a:pPr>
            <a:r>
              <a:rPr lang="en-US" sz="2100">
                <a:solidFill>
                  <a:srgbClr val="000000"/>
                </a:solidFill>
                <a:latin typeface="Nunito Sans"/>
                <a:ea typeface="Nunito Sans"/>
                <a:cs typeface="Nunito Sans"/>
                <a:sym typeface="Nunito Sans"/>
              </a:rPr>
              <a:t>The positive (+) sign and negative (–) signs indicate favorable and adverse conditions, respectively, for growth and biomass.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FFFE"/>
        </a:solidFill>
      </p:bgPr>
    </p:bg>
    <p:spTree>
      <p:nvGrpSpPr>
        <p:cNvPr id="1" name=""/>
        <p:cNvGrpSpPr/>
        <p:nvPr/>
      </p:nvGrpSpPr>
      <p:grpSpPr>
        <a:xfrm>
          <a:off x="0" y="0"/>
          <a:ext cx="0" cy="0"/>
          <a:chOff x="0" y="0"/>
          <a:chExt cx="0" cy="0"/>
        </a:xfrm>
      </p:grpSpPr>
      <p:grpSp>
        <p:nvGrpSpPr>
          <p:cNvPr name="Group 2" id="2"/>
          <p:cNvGrpSpPr/>
          <p:nvPr/>
        </p:nvGrpSpPr>
        <p:grpSpPr>
          <a:xfrm rot="0">
            <a:off x="0" y="6932767"/>
            <a:ext cx="18288000" cy="3354233"/>
            <a:chOff x="0" y="0"/>
            <a:chExt cx="4816593" cy="883419"/>
          </a:xfrm>
        </p:grpSpPr>
        <p:sp>
          <p:nvSpPr>
            <p:cNvPr name="Freeform 3" id="3"/>
            <p:cNvSpPr/>
            <p:nvPr/>
          </p:nvSpPr>
          <p:spPr>
            <a:xfrm flipH="false" flipV="false" rot="0">
              <a:off x="0" y="0"/>
              <a:ext cx="4816592" cy="883419"/>
            </a:xfrm>
            <a:custGeom>
              <a:avLst/>
              <a:gdLst/>
              <a:ahLst/>
              <a:cxnLst/>
              <a:rect r="r" b="b" t="t" l="l"/>
              <a:pathLst>
                <a:path h="883419" w="4816592">
                  <a:moveTo>
                    <a:pt x="0" y="0"/>
                  </a:moveTo>
                  <a:lnTo>
                    <a:pt x="4816592" y="0"/>
                  </a:lnTo>
                  <a:lnTo>
                    <a:pt x="4816592" y="883419"/>
                  </a:lnTo>
                  <a:lnTo>
                    <a:pt x="0" y="883419"/>
                  </a:lnTo>
                  <a:close/>
                </a:path>
              </a:pathLst>
            </a:custGeom>
            <a:solidFill>
              <a:srgbClr val="0F401F"/>
            </a:solidFill>
            <a:ln cap="sq">
              <a:noFill/>
              <a:prstDash val="solid"/>
              <a:miter/>
            </a:ln>
          </p:spPr>
        </p:sp>
        <p:sp>
          <p:nvSpPr>
            <p:cNvPr name="TextBox 4" id="4"/>
            <p:cNvSpPr txBox="true"/>
            <p:nvPr/>
          </p:nvSpPr>
          <p:spPr>
            <a:xfrm>
              <a:off x="0" y="-47625"/>
              <a:ext cx="4816593" cy="931044"/>
            </a:xfrm>
            <a:prstGeom prst="rect">
              <a:avLst/>
            </a:prstGeom>
          </p:spPr>
          <p:txBody>
            <a:bodyPr anchor="ctr" rtlCol="false" tIns="50800" lIns="50800" bIns="50800" rIns="50800"/>
            <a:lstStyle/>
            <a:p>
              <a:pPr algn="ctr" marL="0" indent="0" lvl="0">
                <a:lnSpc>
                  <a:spcPts val="3214"/>
                </a:lnSpc>
                <a:spcBef>
                  <a:spcPct val="0"/>
                </a:spcBef>
              </a:pPr>
            </a:p>
          </p:txBody>
        </p:sp>
      </p:grpSp>
      <p:sp>
        <p:nvSpPr>
          <p:cNvPr name="AutoShape 5" id="5"/>
          <p:cNvSpPr/>
          <p:nvPr/>
        </p:nvSpPr>
        <p:spPr>
          <a:xfrm flipH="true">
            <a:off x="-914413" y="2129583"/>
            <a:ext cx="4206763" cy="0"/>
          </a:xfrm>
          <a:prstGeom prst="line">
            <a:avLst/>
          </a:prstGeom>
          <a:ln cap="flat" w="66675">
            <a:solidFill>
              <a:srgbClr val="205732"/>
            </a:solidFill>
            <a:prstDash val="solid"/>
            <a:headEnd type="none" len="sm" w="sm"/>
            <a:tailEnd type="none" len="sm" w="sm"/>
          </a:ln>
        </p:spPr>
      </p:sp>
      <p:sp>
        <p:nvSpPr>
          <p:cNvPr name="AutoShape 6" id="6"/>
          <p:cNvSpPr/>
          <p:nvPr/>
        </p:nvSpPr>
        <p:spPr>
          <a:xfrm rot="-10800000">
            <a:off x="14607186" y="2029571"/>
            <a:ext cx="5031037" cy="0"/>
          </a:xfrm>
          <a:prstGeom prst="line">
            <a:avLst/>
          </a:prstGeom>
          <a:ln cap="flat" w="66675">
            <a:solidFill>
              <a:srgbClr val="205732"/>
            </a:solidFill>
            <a:prstDash val="solid"/>
            <a:headEnd type="none" len="sm" w="sm"/>
            <a:tailEnd type="none" len="sm" w="sm"/>
          </a:ln>
        </p:spPr>
      </p:sp>
      <p:sp>
        <p:nvSpPr>
          <p:cNvPr name="Freeform 7" id="7"/>
          <p:cNvSpPr/>
          <p:nvPr/>
        </p:nvSpPr>
        <p:spPr>
          <a:xfrm flipH="true" flipV="false" rot="0">
            <a:off x="8627527" y="4136477"/>
            <a:ext cx="9302893" cy="6285716"/>
          </a:xfrm>
          <a:custGeom>
            <a:avLst/>
            <a:gdLst/>
            <a:ahLst/>
            <a:cxnLst/>
            <a:rect r="r" b="b" t="t" l="l"/>
            <a:pathLst>
              <a:path h="6285716" w="9302893">
                <a:moveTo>
                  <a:pt x="9302893" y="0"/>
                </a:moveTo>
                <a:lnTo>
                  <a:pt x="0" y="0"/>
                </a:lnTo>
                <a:lnTo>
                  <a:pt x="0" y="6285717"/>
                </a:lnTo>
                <a:lnTo>
                  <a:pt x="9302893" y="6285717"/>
                </a:lnTo>
                <a:lnTo>
                  <a:pt x="9302893" y="0"/>
                </a:lnTo>
                <a:close/>
              </a:path>
            </a:pathLst>
          </a:custGeom>
          <a:blipFill>
            <a:blip r:embed="rId2"/>
            <a:stretch>
              <a:fillRect l="-64282" t="-48092" r="-20485" b="-26921"/>
            </a:stretch>
          </a:blipFill>
        </p:spPr>
      </p:sp>
      <p:sp>
        <p:nvSpPr>
          <p:cNvPr name="Freeform 8" id="8"/>
          <p:cNvSpPr/>
          <p:nvPr/>
        </p:nvSpPr>
        <p:spPr>
          <a:xfrm flipH="false" flipV="false" rot="0">
            <a:off x="-472669" y="5423767"/>
            <a:ext cx="9022244" cy="5112726"/>
          </a:xfrm>
          <a:custGeom>
            <a:avLst/>
            <a:gdLst/>
            <a:ahLst/>
            <a:cxnLst/>
            <a:rect r="r" b="b" t="t" l="l"/>
            <a:pathLst>
              <a:path h="5112726" w="9022244">
                <a:moveTo>
                  <a:pt x="0" y="0"/>
                </a:moveTo>
                <a:lnTo>
                  <a:pt x="9022244" y="0"/>
                </a:lnTo>
                <a:lnTo>
                  <a:pt x="9022244" y="5112727"/>
                </a:lnTo>
                <a:lnTo>
                  <a:pt x="0" y="5112727"/>
                </a:lnTo>
                <a:lnTo>
                  <a:pt x="0" y="0"/>
                </a:lnTo>
                <a:close/>
              </a:path>
            </a:pathLst>
          </a:custGeom>
          <a:blipFill>
            <a:blip r:embed="rId3"/>
            <a:stretch>
              <a:fillRect l="0" t="0" r="0" b="-17350"/>
            </a:stretch>
          </a:blipFill>
        </p:spPr>
      </p:sp>
      <p:sp>
        <p:nvSpPr>
          <p:cNvPr name="Freeform 9" id="9"/>
          <p:cNvSpPr/>
          <p:nvPr/>
        </p:nvSpPr>
        <p:spPr>
          <a:xfrm flipH="false" flipV="false" rot="0">
            <a:off x="5911601" y="8724339"/>
            <a:ext cx="2240374" cy="1562661"/>
          </a:xfrm>
          <a:custGeom>
            <a:avLst/>
            <a:gdLst/>
            <a:ahLst/>
            <a:cxnLst/>
            <a:rect r="r" b="b" t="t" l="l"/>
            <a:pathLst>
              <a:path h="1562661" w="2240374">
                <a:moveTo>
                  <a:pt x="0" y="0"/>
                </a:moveTo>
                <a:lnTo>
                  <a:pt x="2240374" y="0"/>
                </a:lnTo>
                <a:lnTo>
                  <a:pt x="2240374" y="1562661"/>
                </a:lnTo>
                <a:lnTo>
                  <a:pt x="0" y="1562661"/>
                </a:lnTo>
                <a:lnTo>
                  <a:pt x="0" y="0"/>
                </a:lnTo>
                <a:close/>
              </a:path>
            </a:pathLst>
          </a:custGeom>
          <a:blipFill>
            <a:blip r:embed="rId4"/>
            <a:stretch>
              <a:fillRect l="0" t="0" r="0" b="0"/>
            </a:stretch>
          </a:blipFill>
        </p:spPr>
      </p:sp>
      <p:sp>
        <p:nvSpPr>
          <p:cNvPr name="TextBox 10" id="10"/>
          <p:cNvSpPr txBox="true"/>
          <p:nvPr/>
        </p:nvSpPr>
        <p:spPr>
          <a:xfrm rot="0">
            <a:off x="4037733" y="1557900"/>
            <a:ext cx="10212534" cy="964297"/>
          </a:xfrm>
          <a:prstGeom prst="rect">
            <a:avLst/>
          </a:prstGeom>
        </p:spPr>
        <p:txBody>
          <a:bodyPr anchor="t" rtlCol="false" tIns="0" lIns="0" bIns="0" rIns="0">
            <a:spAutoFit/>
          </a:bodyPr>
          <a:lstStyle/>
          <a:p>
            <a:pPr algn="ctr" marL="0" indent="0" lvl="0">
              <a:lnSpc>
                <a:spcPts val="7749"/>
              </a:lnSpc>
              <a:spcBef>
                <a:spcPct val="0"/>
              </a:spcBef>
            </a:pPr>
            <a:r>
              <a:rPr lang="en-US" b="true" sz="5535">
                <a:solidFill>
                  <a:srgbClr val="000000"/>
                </a:solidFill>
                <a:latin typeface="Now Heavy"/>
                <a:ea typeface="Now Heavy"/>
                <a:cs typeface="Now Heavy"/>
                <a:sym typeface="Now Heavy"/>
              </a:rPr>
              <a:t>Species-Specific Responses</a:t>
            </a:r>
          </a:p>
        </p:txBody>
      </p:sp>
      <p:sp>
        <p:nvSpPr>
          <p:cNvPr name="TextBox 11" id="11"/>
          <p:cNvSpPr txBox="true"/>
          <p:nvPr/>
        </p:nvSpPr>
        <p:spPr>
          <a:xfrm rot="0">
            <a:off x="5009027" y="3064992"/>
            <a:ext cx="8269947" cy="1199898"/>
          </a:xfrm>
          <a:prstGeom prst="rect">
            <a:avLst/>
          </a:prstGeom>
        </p:spPr>
        <p:txBody>
          <a:bodyPr anchor="t" rtlCol="false" tIns="0" lIns="0" bIns="0" rIns="0">
            <a:spAutoFit/>
          </a:bodyPr>
          <a:lstStyle/>
          <a:p>
            <a:pPr algn="ctr">
              <a:lnSpc>
                <a:spcPts val="3261"/>
              </a:lnSpc>
            </a:pPr>
            <a:r>
              <a:rPr lang="en-US" sz="2363" spc="231">
                <a:solidFill>
                  <a:srgbClr val="000000"/>
                </a:solidFill>
                <a:latin typeface="Canva Sans"/>
                <a:ea typeface="Canva Sans"/>
                <a:cs typeface="Canva Sans"/>
                <a:sym typeface="Canva Sans"/>
              </a:rPr>
              <a:t>Some generalists thrive in edge habitats or human-dominated landscapes, while the same zones may be hostile to other species.</a:t>
            </a:r>
          </a:p>
        </p:txBody>
      </p:sp>
    </p:spTree>
  </p:cSld>
  <p:clrMapOvr>
    <a:masterClrMapping/>
  </p:clrMapOvr>
  <p:transition spd="fast">
    <p:fade/>
  </p:transition>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03D25"/>
        </a:solidFill>
      </p:bgPr>
    </p:bg>
    <p:spTree>
      <p:nvGrpSpPr>
        <p:cNvPr id="1" name=""/>
        <p:cNvGrpSpPr/>
        <p:nvPr/>
      </p:nvGrpSpPr>
      <p:grpSpPr>
        <a:xfrm>
          <a:off x="0" y="0"/>
          <a:ext cx="0" cy="0"/>
          <a:chOff x="0" y="0"/>
          <a:chExt cx="0" cy="0"/>
        </a:xfrm>
      </p:grpSpPr>
      <p:grpSp>
        <p:nvGrpSpPr>
          <p:cNvPr name="Group 2" id="2"/>
          <p:cNvGrpSpPr/>
          <p:nvPr/>
        </p:nvGrpSpPr>
        <p:grpSpPr>
          <a:xfrm rot="0">
            <a:off x="1023303" y="3533772"/>
            <a:ext cx="3219468" cy="3219455"/>
            <a:chOff x="0" y="0"/>
            <a:chExt cx="6350000" cy="6349975"/>
          </a:xfrm>
        </p:grpSpPr>
        <p:sp>
          <p:nvSpPr>
            <p:cNvPr name="Freeform 3" id="3" descr="This alt text was created for the whole figure, and some of it may not apply to this partial figure.  Four scatterplots, A, show the habitat loss as a percent of landscape, and six photos, B, show examples of fragmented landscapes. A. In all scatt..."/>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2"/>
              <a:stretch>
                <a:fillRect l="-7022" t="-85498" r="-104268" b="-9974"/>
              </a:stretch>
            </a:blipFill>
          </p:spPr>
        </p:sp>
      </p:grpSp>
      <p:grpSp>
        <p:nvGrpSpPr>
          <p:cNvPr name="Group 4" id="4"/>
          <p:cNvGrpSpPr/>
          <p:nvPr/>
        </p:nvGrpSpPr>
        <p:grpSpPr>
          <a:xfrm rot="0">
            <a:off x="3473917" y="1028700"/>
            <a:ext cx="3219468" cy="3219455"/>
            <a:chOff x="0" y="0"/>
            <a:chExt cx="6350000" cy="6349975"/>
          </a:xfrm>
        </p:grpSpPr>
        <p:sp>
          <p:nvSpPr>
            <p:cNvPr name="Freeform 5" id="5" descr="This alt text was created for the whole figure, and some of it may not apply to this partial figure.  Four scatterplots, A, show the habitat loss as a percent of landscape, and six photos, B, show examples of fragmented landscapes. A. In all scatt..."/>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2"/>
              <a:stretch>
                <a:fillRect l="-9948" t="0" r="-99645" b="-93903"/>
              </a:stretch>
            </a:blipFill>
          </p:spPr>
        </p:sp>
      </p:grpSp>
      <p:grpSp>
        <p:nvGrpSpPr>
          <p:cNvPr name="Group 6" id="6"/>
          <p:cNvGrpSpPr/>
          <p:nvPr/>
        </p:nvGrpSpPr>
        <p:grpSpPr>
          <a:xfrm rot="0">
            <a:off x="3473917" y="6038845"/>
            <a:ext cx="3219468" cy="3219455"/>
            <a:chOff x="0" y="0"/>
            <a:chExt cx="6350000" cy="6349975"/>
          </a:xfrm>
        </p:grpSpPr>
        <p:sp>
          <p:nvSpPr>
            <p:cNvPr name="Freeform 7" id="7" descr="This alt text was created for the whole figure, and some of it may not apply to this partial figure.  Four scatterplots, A, show the habitat loss as a percent of landscape, and six photos, B, show examples of fragmented landscapes. A. In all scatt..."/>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2"/>
              <a:stretch>
                <a:fillRect l="-101741" t="-83247" r="0" b="-3390"/>
              </a:stretch>
            </a:blipFill>
          </p:spPr>
        </p:sp>
      </p:grpSp>
      <p:grpSp>
        <p:nvGrpSpPr>
          <p:cNvPr name="Group 8" id="8"/>
          <p:cNvGrpSpPr/>
          <p:nvPr/>
        </p:nvGrpSpPr>
        <p:grpSpPr>
          <a:xfrm rot="0">
            <a:off x="5924532" y="3533772"/>
            <a:ext cx="3219468" cy="3219455"/>
            <a:chOff x="0" y="0"/>
            <a:chExt cx="6350000" cy="6349975"/>
          </a:xfrm>
        </p:grpSpPr>
        <p:sp>
          <p:nvSpPr>
            <p:cNvPr name="Freeform 9" id="9" descr="This alt text was created for the whole figure, and some of it may not apply to this partial figure.  Four scatterplots, A, show the habitat loss as a percent of landscape, and six photos, B, show examples of fragmented landscapes. A. In all scatt..."/>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2"/>
              <a:stretch>
                <a:fillRect l="-118220" t="0" r="-5266" b="-106756"/>
              </a:stretch>
            </a:blipFill>
          </p:spPr>
        </p:sp>
      </p:grpSp>
      <p:sp>
        <p:nvSpPr>
          <p:cNvPr name="Freeform 10" id="10"/>
          <p:cNvSpPr/>
          <p:nvPr/>
        </p:nvSpPr>
        <p:spPr>
          <a:xfrm flipH="false" flipV="false" rot="-709034">
            <a:off x="15939368" y="-1775030"/>
            <a:ext cx="4101281" cy="4127494"/>
          </a:xfrm>
          <a:custGeom>
            <a:avLst/>
            <a:gdLst/>
            <a:ahLst/>
            <a:cxnLst/>
            <a:rect r="r" b="b" t="t" l="l"/>
            <a:pathLst>
              <a:path h="4127494" w="4101281">
                <a:moveTo>
                  <a:pt x="0" y="0"/>
                </a:moveTo>
                <a:lnTo>
                  <a:pt x="4101281" y="0"/>
                </a:lnTo>
                <a:lnTo>
                  <a:pt x="4101281" y="4127495"/>
                </a:lnTo>
                <a:lnTo>
                  <a:pt x="0" y="412749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true" flipV="false" rot="2867302">
            <a:off x="16506070" y="-261716"/>
            <a:ext cx="1362984" cy="2370408"/>
          </a:xfrm>
          <a:custGeom>
            <a:avLst/>
            <a:gdLst/>
            <a:ahLst/>
            <a:cxnLst/>
            <a:rect r="r" b="b" t="t" l="l"/>
            <a:pathLst>
              <a:path h="2370408" w="1362984">
                <a:moveTo>
                  <a:pt x="1362984" y="0"/>
                </a:moveTo>
                <a:lnTo>
                  <a:pt x="0" y="0"/>
                </a:lnTo>
                <a:lnTo>
                  <a:pt x="0" y="2370407"/>
                </a:lnTo>
                <a:lnTo>
                  <a:pt x="1362984" y="2370407"/>
                </a:lnTo>
                <a:lnTo>
                  <a:pt x="1362984"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5460838">
            <a:off x="16206000" y="8105968"/>
            <a:ext cx="4164000" cy="4190615"/>
          </a:xfrm>
          <a:custGeom>
            <a:avLst/>
            <a:gdLst/>
            <a:ahLst/>
            <a:cxnLst/>
            <a:rect r="r" b="b" t="t" l="l"/>
            <a:pathLst>
              <a:path h="4190615" w="4164000">
                <a:moveTo>
                  <a:pt x="0" y="0"/>
                </a:moveTo>
                <a:lnTo>
                  <a:pt x="4164000" y="0"/>
                </a:lnTo>
                <a:lnTo>
                  <a:pt x="4164000" y="4190614"/>
                </a:lnTo>
                <a:lnTo>
                  <a:pt x="0" y="41906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10800000">
            <a:off x="16319057" y="8500319"/>
            <a:ext cx="1687000" cy="1466073"/>
          </a:xfrm>
          <a:custGeom>
            <a:avLst/>
            <a:gdLst/>
            <a:ahLst/>
            <a:cxnLst/>
            <a:rect r="r" b="b" t="t" l="l"/>
            <a:pathLst>
              <a:path h="1466073" w="1687000">
                <a:moveTo>
                  <a:pt x="0" y="0"/>
                </a:moveTo>
                <a:lnTo>
                  <a:pt x="1687001" y="0"/>
                </a:lnTo>
                <a:lnTo>
                  <a:pt x="1687001" y="1466073"/>
                </a:lnTo>
                <a:lnTo>
                  <a:pt x="0" y="146607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4" id="14"/>
          <p:cNvSpPr/>
          <p:nvPr/>
        </p:nvSpPr>
        <p:spPr>
          <a:xfrm flipH="false" flipV="false" rot="10090965">
            <a:off x="-2007843" y="6460378"/>
            <a:ext cx="5843512" cy="5880861"/>
          </a:xfrm>
          <a:custGeom>
            <a:avLst/>
            <a:gdLst/>
            <a:ahLst/>
            <a:cxnLst/>
            <a:rect r="r" b="b" t="t" l="l"/>
            <a:pathLst>
              <a:path h="5880861" w="5843512">
                <a:moveTo>
                  <a:pt x="0" y="0"/>
                </a:moveTo>
                <a:lnTo>
                  <a:pt x="5843512" y="0"/>
                </a:lnTo>
                <a:lnTo>
                  <a:pt x="5843512" y="5880862"/>
                </a:lnTo>
                <a:lnTo>
                  <a:pt x="0" y="58808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true" flipV="false" rot="-7932697">
            <a:off x="874234" y="6438987"/>
            <a:ext cx="2366010" cy="4114800"/>
          </a:xfrm>
          <a:custGeom>
            <a:avLst/>
            <a:gdLst/>
            <a:ahLst/>
            <a:cxnLst/>
            <a:rect r="r" b="b" t="t" l="l"/>
            <a:pathLst>
              <a:path h="4114800" w="2366010">
                <a:moveTo>
                  <a:pt x="2366010" y="0"/>
                </a:moveTo>
                <a:lnTo>
                  <a:pt x="0" y="0"/>
                </a:lnTo>
                <a:lnTo>
                  <a:pt x="0" y="4114800"/>
                </a:lnTo>
                <a:lnTo>
                  <a:pt x="2366010" y="4114800"/>
                </a:lnTo>
                <a:lnTo>
                  <a:pt x="236601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false" rot="-5339161">
            <a:off x="-3048968" y="-3099562"/>
            <a:ext cx="6392809" cy="6433669"/>
          </a:xfrm>
          <a:custGeom>
            <a:avLst/>
            <a:gdLst/>
            <a:ahLst/>
            <a:cxnLst/>
            <a:rect r="r" b="b" t="t" l="l"/>
            <a:pathLst>
              <a:path h="6433669" w="6392809">
                <a:moveTo>
                  <a:pt x="0" y="0"/>
                </a:moveTo>
                <a:lnTo>
                  <a:pt x="6392809" y="0"/>
                </a:lnTo>
                <a:lnTo>
                  <a:pt x="6392809" y="6433670"/>
                </a:lnTo>
                <a:lnTo>
                  <a:pt x="0" y="64336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7" id="17"/>
          <p:cNvSpPr/>
          <p:nvPr/>
        </p:nvSpPr>
        <p:spPr>
          <a:xfrm flipH="false" flipV="false" rot="0">
            <a:off x="580290" y="477879"/>
            <a:ext cx="2589979" cy="2250798"/>
          </a:xfrm>
          <a:custGeom>
            <a:avLst/>
            <a:gdLst/>
            <a:ahLst/>
            <a:cxnLst/>
            <a:rect r="r" b="b" t="t" l="l"/>
            <a:pathLst>
              <a:path h="2250798" w="2589979">
                <a:moveTo>
                  <a:pt x="0" y="0"/>
                </a:moveTo>
                <a:lnTo>
                  <a:pt x="2589979" y="0"/>
                </a:lnTo>
                <a:lnTo>
                  <a:pt x="2589979" y="2250798"/>
                </a:lnTo>
                <a:lnTo>
                  <a:pt x="0" y="22507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8" id="18"/>
          <p:cNvSpPr txBox="true"/>
          <p:nvPr/>
        </p:nvSpPr>
        <p:spPr>
          <a:xfrm rot="0">
            <a:off x="11403214" y="4866389"/>
            <a:ext cx="4915843" cy="396241"/>
          </a:xfrm>
          <a:prstGeom prst="rect">
            <a:avLst/>
          </a:prstGeom>
        </p:spPr>
        <p:txBody>
          <a:bodyPr anchor="t" rtlCol="false" tIns="0" lIns="0" bIns="0" rIns="0">
            <a:spAutoFit/>
          </a:bodyPr>
          <a:lstStyle/>
          <a:p>
            <a:pPr algn="l">
              <a:lnSpc>
                <a:spcPts val="3359"/>
              </a:lnSpc>
              <a:spcBef>
                <a:spcPct val="0"/>
              </a:spcBef>
            </a:pPr>
            <a:r>
              <a:rPr lang="en-US" sz="2399">
                <a:solidFill>
                  <a:srgbClr val="FFFFFF"/>
                </a:solidFill>
                <a:latin typeface="Open Sans"/>
                <a:ea typeface="Open Sans"/>
                <a:cs typeface="Open Sans"/>
                <a:sym typeface="Open Sans"/>
              </a:rPr>
              <a:t>Alters the size of habitat patches.</a:t>
            </a:r>
          </a:p>
        </p:txBody>
      </p:sp>
      <p:sp>
        <p:nvSpPr>
          <p:cNvPr name="TextBox 19" id="19"/>
          <p:cNvSpPr txBox="true"/>
          <p:nvPr/>
        </p:nvSpPr>
        <p:spPr>
          <a:xfrm rot="0">
            <a:off x="10348985" y="3654958"/>
            <a:ext cx="916794" cy="613410"/>
          </a:xfrm>
          <a:prstGeom prst="rect">
            <a:avLst/>
          </a:prstGeom>
        </p:spPr>
        <p:txBody>
          <a:bodyPr anchor="t" rtlCol="false" tIns="0" lIns="0" bIns="0" rIns="0">
            <a:spAutoFit/>
          </a:bodyPr>
          <a:lstStyle/>
          <a:p>
            <a:pPr algn="l">
              <a:lnSpc>
                <a:spcPts val="5040"/>
              </a:lnSpc>
              <a:spcBef>
                <a:spcPct val="0"/>
              </a:spcBef>
            </a:pPr>
            <a:r>
              <a:rPr lang="en-US" sz="3600" b="true">
                <a:solidFill>
                  <a:srgbClr val="A5E800"/>
                </a:solidFill>
                <a:latin typeface="Poppins Bold"/>
                <a:ea typeface="Poppins Bold"/>
                <a:cs typeface="Poppins Bold"/>
                <a:sym typeface="Poppins Bold"/>
              </a:rPr>
              <a:t>01.</a:t>
            </a:r>
          </a:p>
        </p:txBody>
      </p:sp>
      <p:sp>
        <p:nvSpPr>
          <p:cNvPr name="TextBox 20" id="20"/>
          <p:cNvSpPr txBox="true"/>
          <p:nvPr/>
        </p:nvSpPr>
        <p:spPr>
          <a:xfrm rot="0">
            <a:off x="10348985" y="4827024"/>
            <a:ext cx="916794" cy="613410"/>
          </a:xfrm>
          <a:prstGeom prst="rect">
            <a:avLst/>
          </a:prstGeom>
        </p:spPr>
        <p:txBody>
          <a:bodyPr anchor="t" rtlCol="false" tIns="0" lIns="0" bIns="0" rIns="0">
            <a:spAutoFit/>
          </a:bodyPr>
          <a:lstStyle/>
          <a:p>
            <a:pPr algn="l">
              <a:lnSpc>
                <a:spcPts val="5040"/>
              </a:lnSpc>
              <a:spcBef>
                <a:spcPct val="0"/>
              </a:spcBef>
            </a:pPr>
            <a:r>
              <a:rPr lang="en-US" sz="3600" b="true">
                <a:solidFill>
                  <a:srgbClr val="A5E800"/>
                </a:solidFill>
                <a:latin typeface="Poppins Bold"/>
                <a:ea typeface="Poppins Bold"/>
                <a:cs typeface="Poppins Bold"/>
                <a:sym typeface="Poppins Bold"/>
              </a:rPr>
              <a:t>02.</a:t>
            </a:r>
          </a:p>
        </p:txBody>
      </p:sp>
      <p:sp>
        <p:nvSpPr>
          <p:cNvPr name="TextBox 21" id="21"/>
          <p:cNvSpPr txBox="true"/>
          <p:nvPr/>
        </p:nvSpPr>
        <p:spPr>
          <a:xfrm rot="0">
            <a:off x="10348985" y="5999091"/>
            <a:ext cx="916794" cy="613410"/>
          </a:xfrm>
          <a:prstGeom prst="rect">
            <a:avLst/>
          </a:prstGeom>
        </p:spPr>
        <p:txBody>
          <a:bodyPr anchor="t" rtlCol="false" tIns="0" lIns="0" bIns="0" rIns="0">
            <a:spAutoFit/>
          </a:bodyPr>
          <a:lstStyle/>
          <a:p>
            <a:pPr algn="l">
              <a:lnSpc>
                <a:spcPts val="5040"/>
              </a:lnSpc>
              <a:spcBef>
                <a:spcPct val="0"/>
              </a:spcBef>
            </a:pPr>
            <a:r>
              <a:rPr lang="en-US" sz="3600" b="true">
                <a:solidFill>
                  <a:srgbClr val="A5E800"/>
                </a:solidFill>
                <a:latin typeface="Poppins Bold"/>
                <a:ea typeface="Poppins Bold"/>
                <a:cs typeface="Poppins Bold"/>
                <a:sym typeface="Poppins Bold"/>
              </a:rPr>
              <a:t>03.</a:t>
            </a:r>
          </a:p>
        </p:txBody>
      </p:sp>
      <p:sp>
        <p:nvSpPr>
          <p:cNvPr name="TextBox 22" id="22"/>
          <p:cNvSpPr txBox="true"/>
          <p:nvPr/>
        </p:nvSpPr>
        <p:spPr>
          <a:xfrm rot="0">
            <a:off x="11403214" y="3777830"/>
            <a:ext cx="5588597" cy="396241"/>
          </a:xfrm>
          <a:prstGeom prst="rect">
            <a:avLst/>
          </a:prstGeom>
        </p:spPr>
        <p:txBody>
          <a:bodyPr anchor="t" rtlCol="false" tIns="0" lIns="0" bIns="0" rIns="0">
            <a:spAutoFit/>
          </a:bodyPr>
          <a:lstStyle/>
          <a:p>
            <a:pPr algn="l">
              <a:lnSpc>
                <a:spcPts val="3359"/>
              </a:lnSpc>
              <a:spcBef>
                <a:spcPct val="0"/>
              </a:spcBef>
            </a:pPr>
            <a:r>
              <a:rPr lang="en-US" sz="2399">
                <a:solidFill>
                  <a:srgbClr val="FFFFFF"/>
                </a:solidFill>
                <a:latin typeface="Open Sans"/>
                <a:ea typeface="Open Sans"/>
                <a:cs typeface="Open Sans"/>
                <a:sym typeface="Open Sans"/>
              </a:rPr>
              <a:t>Increases the amount of edge habitat.</a:t>
            </a:r>
          </a:p>
        </p:txBody>
      </p:sp>
      <p:sp>
        <p:nvSpPr>
          <p:cNvPr name="TextBox 23" id="23"/>
          <p:cNvSpPr txBox="true"/>
          <p:nvPr/>
        </p:nvSpPr>
        <p:spPr>
          <a:xfrm rot="0">
            <a:off x="10348985" y="7417677"/>
            <a:ext cx="916794" cy="613410"/>
          </a:xfrm>
          <a:prstGeom prst="rect">
            <a:avLst/>
          </a:prstGeom>
        </p:spPr>
        <p:txBody>
          <a:bodyPr anchor="t" rtlCol="false" tIns="0" lIns="0" bIns="0" rIns="0">
            <a:spAutoFit/>
          </a:bodyPr>
          <a:lstStyle/>
          <a:p>
            <a:pPr algn="l">
              <a:lnSpc>
                <a:spcPts val="5040"/>
              </a:lnSpc>
              <a:spcBef>
                <a:spcPct val="0"/>
              </a:spcBef>
            </a:pPr>
            <a:r>
              <a:rPr lang="en-US" sz="3600" b="true">
                <a:solidFill>
                  <a:srgbClr val="A5E800"/>
                </a:solidFill>
                <a:latin typeface="Poppins Bold"/>
                <a:ea typeface="Poppins Bold"/>
                <a:cs typeface="Poppins Bold"/>
                <a:sym typeface="Poppins Bold"/>
              </a:rPr>
              <a:t>04.</a:t>
            </a:r>
          </a:p>
        </p:txBody>
      </p:sp>
      <p:sp>
        <p:nvSpPr>
          <p:cNvPr name="TextBox 24" id="24"/>
          <p:cNvSpPr txBox="true"/>
          <p:nvPr/>
        </p:nvSpPr>
        <p:spPr>
          <a:xfrm rot="0">
            <a:off x="10348985" y="1384833"/>
            <a:ext cx="6910315" cy="1955800"/>
          </a:xfrm>
          <a:prstGeom prst="rect">
            <a:avLst/>
          </a:prstGeom>
        </p:spPr>
        <p:txBody>
          <a:bodyPr anchor="t" rtlCol="false" tIns="0" lIns="0" bIns="0" rIns="0">
            <a:spAutoFit/>
          </a:bodyPr>
          <a:lstStyle/>
          <a:p>
            <a:pPr algn="l">
              <a:lnSpc>
                <a:spcPts val="7699"/>
              </a:lnSpc>
              <a:spcBef>
                <a:spcPct val="0"/>
              </a:spcBef>
            </a:pPr>
            <a:r>
              <a:rPr lang="en-US" b="true" sz="5499">
                <a:solidFill>
                  <a:srgbClr val="B6F61A"/>
                </a:solidFill>
                <a:latin typeface="Poppins Bold"/>
                <a:ea typeface="Poppins Bold"/>
                <a:cs typeface="Poppins Bold"/>
                <a:sym typeface="Poppins Bold"/>
              </a:rPr>
              <a:t>HABITAT FRAGMENTATION</a:t>
            </a:r>
          </a:p>
        </p:txBody>
      </p:sp>
      <p:sp>
        <p:nvSpPr>
          <p:cNvPr name="TextBox 25" id="25"/>
          <p:cNvSpPr txBox="true"/>
          <p:nvPr/>
        </p:nvSpPr>
        <p:spPr>
          <a:xfrm rot="0">
            <a:off x="11403214" y="6121963"/>
            <a:ext cx="4915843" cy="396241"/>
          </a:xfrm>
          <a:prstGeom prst="rect">
            <a:avLst/>
          </a:prstGeom>
        </p:spPr>
        <p:txBody>
          <a:bodyPr anchor="t" rtlCol="false" tIns="0" lIns="0" bIns="0" rIns="0">
            <a:spAutoFit/>
          </a:bodyPr>
          <a:lstStyle/>
          <a:p>
            <a:pPr algn="l">
              <a:lnSpc>
                <a:spcPts val="3359"/>
              </a:lnSpc>
              <a:spcBef>
                <a:spcPct val="0"/>
              </a:spcBef>
            </a:pPr>
            <a:r>
              <a:rPr lang="en-US" sz="2399">
                <a:solidFill>
                  <a:srgbClr val="FFFFFF"/>
                </a:solidFill>
                <a:latin typeface="Open Sans"/>
                <a:ea typeface="Open Sans"/>
                <a:cs typeface="Open Sans"/>
                <a:sym typeface="Open Sans"/>
              </a:rPr>
              <a:t>Changes the number of patches.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03D25"/>
        </a:solidFill>
      </p:bgPr>
    </p:bg>
    <p:spTree>
      <p:nvGrpSpPr>
        <p:cNvPr id="1" name=""/>
        <p:cNvGrpSpPr/>
        <p:nvPr/>
      </p:nvGrpSpPr>
      <p:grpSpPr>
        <a:xfrm>
          <a:off x="0" y="0"/>
          <a:ext cx="0" cy="0"/>
          <a:chOff x="0" y="0"/>
          <a:chExt cx="0" cy="0"/>
        </a:xfrm>
      </p:grpSpPr>
      <p:grpSp>
        <p:nvGrpSpPr>
          <p:cNvPr name="Group 2" id="2"/>
          <p:cNvGrpSpPr/>
          <p:nvPr/>
        </p:nvGrpSpPr>
        <p:grpSpPr>
          <a:xfrm rot="0">
            <a:off x="11208269" y="658710"/>
            <a:ext cx="7634067" cy="10830597"/>
            <a:chOff x="-36830" y="-113030"/>
            <a:chExt cx="3351530" cy="4754880"/>
          </a:xfrm>
        </p:grpSpPr>
        <p:sp>
          <p:nvSpPr>
            <p:cNvPr name="Freeform 3" id="3"/>
            <p:cNvSpPr/>
            <p:nvPr/>
          </p:nvSpPr>
          <p:spPr>
            <a:xfrm flipH="false" flipV="false" rot="0">
              <a:off x="0" y="0"/>
              <a:ext cx="3351530" cy="4754880"/>
            </a:xfrm>
            <a:custGeom>
              <a:avLst/>
              <a:gdLst/>
              <a:ahLst/>
              <a:cxnLst/>
              <a:rect r="r" b="b" t="t" l="l"/>
              <a:pathLst>
                <a:path h="4754880" w="3351530">
                  <a:moveTo>
                    <a:pt x="3351530" y="2602230"/>
                  </a:moveTo>
                  <a:cubicBezTo>
                    <a:pt x="3351530" y="2837180"/>
                    <a:pt x="3218180" y="3070860"/>
                    <a:pt x="2955290" y="3163570"/>
                  </a:cubicBezTo>
                  <a:cubicBezTo>
                    <a:pt x="2592070" y="3293110"/>
                    <a:pt x="2547620" y="3620770"/>
                    <a:pt x="2589530" y="3953510"/>
                  </a:cubicBezTo>
                  <a:cubicBezTo>
                    <a:pt x="2645410" y="4399280"/>
                    <a:pt x="2184400" y="4754880"/>
                    <a:pt x="1771650" y="4575810"/>
                  </a:cubicBezTo>
                  <a:cubicBezTo>
                    <a:pt x="1681480" y="4536440"/>
                    <a:pt x="1595120" y="4485640"/>
                    <a:pt x="1497330" y="4470400"/>
                  </a:cubicBezTo>
                  <a:cubicBezTo>
                    <a:pt x="1374140" y="4450080"/>
                    <a:pt x="1245870" y="4479290"/>
                    <a:pt x="1121410" y="4460240"/>
                  </a:cubicBezTo>
                  <a:cubicBezTo>
                    <a:pt x="687070" y="4391660"/>
                    <a:pt x="351790" y="4328160"/>
                    <a:pt x="154940" y="3891280"/>
                  </a:cubicBezTo>
                  <a:cubicBezTo>
                    <a:pt x="0" y="3548380"/>
                    <a:pt x="13970" y="3124200"/>
                    <a:pt x="252730" y="2821940"/>
                  </a:cubicBezTo>
                  <a:cubicBezTo>
                    <a:pt x="384810" y="2658110"/>
                    <a:pt x="450850" y="2442210"/>
                    <a:pt x="450850" y="2221230"/>
                  </a:cubicBezTo>
                  <a:cubicBezTo>
                    <a:pt x="450850" y="1993900"/>
                    <a:pt x="382270" y="1760220"/>
                    <a:pt x="243840" y="1569720"/>
                  </a:cubicBezTo>
                  <a:cubicBezTo>
                    <a:pt x="100330" y="1369060"/>
                    <a:pt x="36830" y="1141730"/>
                    <a:pt x="36830" y="924560"/>
                  </a:cubicBezTo>
                  <a:cubicBezTo>
                    <a:pt x="36830" y="688340"/>
                    <a:pt x="143510" y="400050"/>
                    <a:pt x="314960" y="231140"/>
                  </a:cubicBezTo>
                  <a:cubicBezTo>
                    <a:pt x="551180" y="0"/>
                    <a:pt x="885190" y="137160"/>
                    <a:pt x="1047750" y="391160"/>
                  </a:cubicBezTo>
                  <a:cubicBezTo>
                    <a:pt x="1168400" y="581660"/>
                    <a:pt x="1416050" y="709930"/>
                    <a:pt x="1642110" y="659130"/>
                  </a:cubicBezTo>
                  <a:cubicBezTo>
                    <a:pt x="1723390" y="641350"/>
                    <a:pt x="1799590" y="608330"/>
                    <a:pt x="1877060" y="580390"/>
                  </a:cubicBezTo>
                  <a:cubicBezTo>
                    <a:pt x="2180590" y="472440"/>
                    <a:pt x="2548890" y="610870"/>
                    <a:pt x="2668270" y="919480"/>
                  </a:cubicBezTo>
                  <a:cubicBezTo>
                    <a:pt x="2739390" y="1103630"/>
                    <a:pt x="2664460" y="1231900"/>
                    <a:pt x="2644140" y="1412240"/>
                  </a:cubicBezTo>
                  <a:cubicBezTo>
                    <a:pt x="2613660" y="1678940"/>
                    <a:pt x="2744470" y="1948180"/>
                    <a:pt x="2994660" y="2057400"/>
                  </a:cubicBezTo>
                  <a:cubicBezTo>
                    <a:pt x="3233420" y="2161540"/>
                    <a:pt x="3351530" y="2382520"/>
                    <a:pt x="3351530" y="2602230"/>
                  </a:cubicBezTo>
                  <a:close/>
                </a:path>
              </a:pathLst>
            </a:custGeom>
            <a:blipFill>
              <a:blip r:embed="rId2"/>
              <a:stretch>
                <a:fillRect l="-71036" t="0" r="-71036" b="0"/>
              </a:stretch>
            </a:blipFill>
          </p:spPr>
        </p:sp>
      </p:grpSp>
      <p:grpSp>
        <p:nvGrpSpPr>
          <p:cNvPr name="Group 4" id="4"/>
          <p:cNvGrpSpPr/>
          <p:nvPr/>
        </p:nvGrpSpPr>
        <p:grpSpPr>
          <a:xfrm rot="0">
            <a:off x="8722858" y="4077652"/>
            <a:ext cx="3024023" cy="3024011"/>
            <a:chOff x="0" y="0"/>
            <a:chExt cx="6350000" cy="6349975"/>
          </a:xfrm>
        </p:grpSpPr>
        <p:sp>
          <p:nvSpPr>
            <p:cNvPr name="Freeform 5" id="5"/>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3"/>
              <a:stretch>
                <a:fillRect l="-24999" t="0" r="-24999" b="0"/>
              </a:stretch>
            </a:blipFill>
          </p:spPr>
        </p:sp>
      </p:grpSp>
      <p:sp>
        <p:nvSpPr>
          <p:cNvPr name="Freeform 6" id="6"/>
          <p:cNvSpPr/>
          <p:nvPr/>
        </p:nvSpPr>
        <p:spPr>
          <a:xfrm flipH="false" flipV="false" rot="-709034">
            <a:off x="14399578" y="-2199651"/>
            <a:ext cx="5843512" cy="5880861"/>
          </a:xfrm>
          <a:custGeom>
            <a:avLst/>
            <a:gdLst/>
            <a:ahLst/>
            <a:cxnLst/>
            <a:rect r="r" b="b" t="t" l="l"/>
            <a:pathLst>
              <a:path h="5880861" w="5843512">
                <a:moveTo>
                  <a:pt x="0" y="0"/>
                </a:moveTo>
                <a:lnTo>
                  <a:pt x="5843511" y="0"/>
                </a:lnTo>
                <a:lnTo>
                  <a:pt x="5843511" y="5880861"/>
                </a:lnTo>
                <a:lnTo>
                  <a:pt x="0" y="58808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false" rot="2867302">
            <a:off x="14995002" y="-412199"/>
            <a:ext cx="2366010" cy="4114800"/>
          </a:xfrm>
          <a:custGeom>
            <a:avLst/>
            <a:gdLst/>
            <a:ahLst/>
            <a:cxnLst/>
            <a:rect r="r" b="b" t="t" l="l"/>
            <a:pathLst>
              <a:path h="4114800" w="2366010">
                <a:moveTo>
                  <a:pt x="2366010" y="0"/>
                </a:moveTo>
                <a:lnTo>
                  <a:pt x="0" y="0"/>
                </a:lnTo>
                <a:lnTo>
                  <a:pt x="0" y="4114800"/>
                </a:lnTo>
                <a:lnTo>
                  <a:pt x="2366010" y="4114800"/>
                </a:lnTo>
                <a:lnTo>
                  <a:pt x="236601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5339161">
            <a:off x="-2921756" y="-2940431"/>
            <a:ext cx="5843512" cy="5880861"/>
          </a:xfrm>
          <a:custGeom>
            <a:avLst/>
            <a:gdLst/>
            <a:ahLst/>
            <a:cxnLst/>
            <a:rect r="r" b="b" t="t" l="l"/>
            <a:pathLst>
              <a:path h="5880861" w="5843512">
                <a:moveTo>
                  <a:pt x="0" y="0"/>
                </a:moveTo>
                <a:lnTo>
                  <a:pt x="5843512" y="0"/>
                </a:lnTo>
                <a:lnTo>
                  <a:pt x="5843512" y="5880862"/>
                </a:lnTo>
                <a:lnTo>
                  <a:pt x="0" y="58808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395661" y="329621"/>
            <a:ext cx="1693979" cy="1472137"/>
          </a:xfrm>
          <a:custGeom>
            <a:avLst/>
            <a:gdLst/>
            <a:ahLst/>
            <a:cxnLst/>
            <a:rect r="r" b="b" t="t" l="l"/>
            <a:pathLst>
              <a:path h="1472137" w="1693979">
                <a:moveTo>
                  <a:pt x="0" y="0"/>
                </a:moveTo>
                <a:lnTo>
                  <a:pt x="1693979" y="0"/>
                </a:lnTo>
                <a:lnTo>
                  <a:pt x="1693979" y="1472137"/>
                </a:lnTo>
                <a:lnTo>
                  <a:pt x="0" y="147213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10090965">
            <a:off x="-1783347" y="8087572"/>
            <a:ext cx="4370918" cy="4398856"/>
          </a:xfrm>
          <a:custGeom>
            <a:avLst/>
            <a:gdLst/>
            <a:ahLst/>
            <a:cxnLst/>
            <a:rect r="r" b="b" t="t" l="l"/>
            <a:pathLst>
              <a:path h="4398856" w="4370918">
                <a:moveTo>
                  <a:pt x="0" y="0"/>
                </a:moveTo>
                <a:lnTo>
                  <a:pt x="4370919" y="0"/>
                </a:lnTo>
                <a:lnTo>
                  <a:pt x="4370919" y="4398856"/>
                </a:lnTo>
                <a:lnTo>
                  <a:pt x="0" y="43988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true" flipV="false" rot="-7932697">
            <a:off x="467093" y="8687001"/>
            <a:ext cx="1123215" cy="1953417"/>
          </a:xfrm>
          <a:custGeom>
            <a:avLst/>
            <a:gdLst/>
            <a:ahLst/>
            <a:cxnLst/>
            <a:rect r="r" b="b" t="t" l="l"/>
            <a:pathLst>
              <a:path h="1953417" w="1123215">
                <a:moveTo>
                  <a:pt x="1123214" y="0"/>
                </a:moveTo>
                <a:lnTo>
                  <a:pt x="0" y="0"/>
                </a:lnTo>
                <a:lnTo>
                  <a:pt x="0" y="1953417"/>
                </a:lnTo>
                <a:lnTo>
                  <a:pt x="1123214" y="1953417"/>
                </a:lnTo>
                <a:lnTo>
                  <a:pt x="1123214"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5460838">
            <a:off x="14891406" y="6807481"/>
            <a:ext cx="6392809" cy="6433669"/>
          </a:xfrm>
          <a:custGeom>
            <a:avLst/>
            <a:gdLst/>
            <a:ahLst/>
            <a:cxnLst/>
            <a:rect r="r" b="b" t="t" l="l"/>
            <a:pathLst>
              <a:path h="6433669" w="6392809">
                <a:moveTo>
                  <a:pt x="0" y="0"/>
                </a:moveTo>
                <a:lnTo>
                  <a:pt x="6392808" y="0"/>
                </a:lnTo>
                <a:lnTo>
                  <a:pt x="6392808" y="6433669"/>
                </a:lnTo>
                <a:lnTo>
                  <a:pt x="0" y="64336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10800000">
            <a:off x="15064977" y="7412911"/>
            <a:ext cx="2589979" cy="2250798"/>
          </a:xfrm>
          <a:custGeom>
            <a:avLst/>
            <a:gdLst/>
            <a:ahLst/>
            <a:cxnLst/>
            <a:rect r="r" b="b" t="t" l="l"/>
            <a:pathLst>
              <a:path h="2250798" w="2589979">
                <a:moveTo>
                  <a:pt x="0" y="0"/>
                </a:moveTo>
                <a:lnTo>
                  <a:pt x="2589979" y="0"/>
                </a:lnTo>
                <a:lnTo>
                  <a:pt x="2589979" y="2250798"/>
                </a:lnTo>
                <a:lnTo>
                  <a:pt x="0" y="22507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4" id="14"/>
          <p:cNvSpPr txBox="true"/>
          <p:nvPr/>
        </p:nvSpPr>
        <p:spPr>
          <a:xfrm rot="0">
            <a:off x="2027176" y="2275840"/>
            <a:ext cx="8207693" cy="984250"/>
          </a:xfrm>
          <a:prstGeom prst="rect">
            <a:avLst/>
          </a:prstGeom>
        </p:spPr>
        <p:txBody>
          <a:bodyPr anchor="t" rtlCol="false" tIns="0" lIns="0" bIns="0" rIns="0">
            <a:spAutoFit/>
          </a:bodyPr>
          <a:lstStyle/>
          <a:p>
            <a:pPr algn="l">
              <a:lnSpc>
                <a:spcPts val="7699"/>
              </a:lnSpc>
              <a:spcBef>
                <a:spcPct val="0"/>
              </a:spcBef>
            </a:pPr>
            <a:r>
              <a:rPr lang="en-US" b="true" sz="5499">
                <a:solidFill>
                  <a:srgbClr val="B6F61A"/>
                </a:solidFill>
                <a:latin typeface="Poppins Bold"/>
                <a:ea typeface="Poppins Bold"/>
                <a:cs typeface="Poppins Bold"/>
                <a:sym typeface="Poppins Bold"/>
              </a:rPr>
              <a:t>PATCH SIZE &amp; NUMBER</a:t>
            </a:r>
          </a:p>
        </p:txBody>
      </p:sp>
      <p:sp>
        <p:nvSpPr>
          <p:cNvPr name="TextBox 15" id="15"/>
          <p:cNvSpPr txBox="true"/>
          <p:nvPr/>
        </p:nvSpPr>
        <p:spPr>
          <a:xfrm rot="0">
            <a:off x="2027176" y="3525016"/>
            <a:ext cx="4581132" cy="448311"/>
          </a:xfrm>
          <a:prstGeom prst="rect">
            <a:avLst/>
          </a:prstGeom>
        </p:spPr>
        <p:txBody>
          <a:bodyPr anchor="t" rtlCol="false" tIns="0" lIns="0" bIns="0" rIns="0">
            <a:spAutoFit/>
          </a:bodyPr>
          <a:lstStyle/>
          <a:p>
            <a:pPr algn="l">
              <a:lnSpc>
                <a:spcPts val="3639"/>
              </a:lnSpc>
              <a:spcBef>
                <a:spcPct val="0"/>
              </a:spcBef>
            </a:pPr>
            <a:r>
              <a:rPr lang="en-US" b="true" sz="2599">
                <a:solidFill>
                  <a:srgbClr val="A5E800"/>
                </a:solidFill>
                <a:latin typeface="Open Sans Bold"/>
                <a:ea typeface="Open Sans Bold"/>
                <a:cs typeface="Open Sans Bold"/>
                <a:sym typeface="Open Sans Bold"/>
              </a:rPr>
              <a:t>Extinction Threshold</a:t>
            </a:r>
          </a:p>
        </p:txBody>
      </p:sp>
      <p:sp>
        <p:nvSpPr>
          <p:cNvPr name="TextBox 16" id="16"/>
          <p:cNvSpPr txBox="true"/>
          <p:nvPr/>
        </p:nvSpPr>
        <p:spPr>
          <a:xfrm rot="0">
            <a:off x="2027176" y="4259077"/>
            <a:ext cx="6033900" cy="1153795"/>
          </a:xfrm>
          <a:prstGeom prst="rect">
            <a:avLst/>
          </a:prstGeom>
        </p:spPr>
        <p:txBody>
          <a:bodyPr anchor="t" rtlCol="false" tIns="0" lIns="0" bIns="0" rIns="0">
            <a:spAutoFit/>
          </a:bodyPr>
          <a:lstStyle/>
          <a:p>
            <a:pPr algn="l">
              <a:lnSpc>
                <a:spcPts val="3079"/>
              </a:lnSpc>
              <a:spcBef>
                <a:spcPct val="0"/>
              </a:spcBef>
            </a:pPr>
            <a:r>
              <a:rPr lang="en-US" sz="2199">
                <a:solidFill>
                  <a:srgbClr val="FFFFFF"/>
                </a:solidFill>
                <a:latin typeface="Open Sans"/>
                <a:ea typeface="Open Sans"/>
                <a:cs typeface="Open Sans"/>
                <a:sym typeface="Open Sans"/>
              </a:rPr>
              <a:t>Thresholds of habitat size that are required for species to persist and complete their life cycles.</a:t>
            </a:r>
          </a:p>
        </p:txBody>
      </p:sp>
      <p:sp>
        <p:nvSpPr>
          <p:cNvPr name="TextBox 17" id="17"/>
          <p:cNvSpPr txBox="true"/>
          <p:nvPr/>
        </p:nvSpPr>
        <p:spPr>
          <a:xfrm rot="0">
            <a:off x="2027176" y="5740633"/>
            <a:ext cx="6033900" cy="1544320"/>
          </a:xfrm>
          <a:prstGeom prst="rect">
            <a:avLst/>
          </a:prstGeom>
        </p:spPr>
        <p:txBody>
          <a:bodyPr anchor="t" rtlCol="false" tIns="0" lIns="0" bIns="0" rIns="0">
            <a:spAutoFit/>
          </a:bodyPr>
          <a:lstStyle/>
          <a:p>
            <a:pPr algn="l" marL="474976" indent="-237488" lvl="1">
              <a:lnSpc>
                <a:spcPts val="3079"/>
              </a:lnSpc>
              <a:buFont typeface="Arial"/>
              <a:buChar char="•"/>
            </a:pPr>
            <a:r>
              <a:rPr lang="en-US" sz="2199">
                <a:solidFill>
                  <a:srgbClr val="FFFFFF"/>
                </a:solidFill>
                <a:latin typeface="Open Sans"/>
                <a:ea typeface="Open Sans"/>
                <a:cs typeface="Open Sans"/>
                <a:sym typeface="Open Sans"/>
              </a:rPr>
              <a:t>L</a:t>
            </a:r>
            <a:r>
              <a:rPr lang="en-US" sz="2199">
                <a:solidFill>
                  <a:srgbClr val="FFFFFF"/>
                </a:solidFill>
                <a:latin typeface="Open Sans"/>
                <a:ea typeface="Open Sans"/>
                <a:cs typeface="Open Sans"/>
                <a:sym typeface="Open Sans"/>
              </a:rPr>
              <a:t>arge-bodied, mobile organisms require larger areas to complete their life cycles.</a:t>
            </a:r>
          </a:p>
          <a:p>
            <a:pPr algn="l" marL="949952" indent="-316651" lvl="2">
              <a:lnSpc>
                <a:spcPts val="3079"/>
              </a:lnSpc>
              <a:buFont typeface="Arial"/>
              <a:buChar char="⚬"/>
            </a:pPr>
            <a:r>
              <a:rPr lang="en-US" sz="2199">
                <a:solidFill>
                  <a:srgbClr val="FFFFFF"/>
                </a:solidFill>
                <a:latin typeface="Open Sans"/>
                <a:ea typeface="Open Sans"/>
                <a:cs typeface="Open Sans"/>
                <a:sym typeface="Open Sans"/>
              </a:rPr>
              <a:t>They reach their extinction threshold more easily.</a:t>
            </a:r>
          </a:p>
        </p:txBody>
      </p:sp>
      <p:sp>
        <p:nvSpPr>
          <p:cNvPr name="TextBox 18" id="18"/>
          <p:cNvSpPr txBox="true"/>
          <p:nvPr/>
        </p:nvSpPr>
        <p:spPr>
          <a:xfrm rot="0">
            <a:off x="2027176" y="7536769"/>
            <a:ext cx="7671008" cy="905511"/>
          </a:xfrm>
          <a:prstGeom prst="rect">
            <a:avLst/>
          </a:prstGeom>
        </p:spPr>
        <p:txBody>
          <a:bodyPr anchor="t" rtlCol="false" tIns="0" lIns="0" bIns="0" rIns="0">
            <a:spAutoFit/>
          </a:bodyPr>
          <a:lstStyle/>
          <a:p>
            <a:pPr algn="l">
              <a:lnSpc>
                <a:spcPts val="3639"/>
              </a:lnSpc>
              <a:spcBef>
                <a:spcPct val="0"/>
              </a:spcBef>
            </a:pPr>
            <a:r>
              <a:rPr lang="en-US" b="true" sz="2599">
                <a:solidFill>
                  <a:srgbClr val="A5E800"/>
                </a:solidFill>
                <a:latin typeface="Open Sans Bold"/>
                <a:ea typeface="Open Sans Bold"/>
                <a:cs typeface="Open Sans Bold"/>
                <a:sym typeface="Open Sans Bold"/>
              </a:rPr>
              <a:t>Late stages of fragmentation = more species have reached their extinction threshold</a:t>
            </a:r>
          </a:p>
        </p:txBody>
      </p:sp>
      <p:sp>
        <p:nvSpPr>
          <p:cNvPr name="TextBox 19" id="19"/>
          <p:cNvSpPr txBox="true"/>
          <p:nvPr/>
        </p:nvSpPr>
        <p:spPr>
          <a:xfrm rot="0">
            <a:off x="2027176" y="8495030"/>
            <a:ext cx="7726906" cy="763270"/>
          </a:xfrm>
          <a:prstGeom prst="rect">
            <a:avLst/>
          </a:prstGeom>
        </p:spPr>
        <p:txBody>
          <a:bodyPr anchor="t" rtlCol="false" tIns="0" lIns="0" bIns="0" rIns="0">
            <a:spAutoFit/>
          </a:bodyPr>
          <a:lstStyle/>
          <a:p>
            <a:pPr algn="l">
              <a:lnSpc>
                <a:spcPts val="3079"/>
              </a:lnSpc>
              <a:spcBef>
                <a:spcPct val="0"/>
              </a:spcBef>
            </a:pPr>
            <a:r>
              <a:rPr lang="en-US" sz="2199">
                <a:solidFill>
                  <a:srgbClr val="FFFFFF"/>
                </a:solidFill>
                <a:latin typeface="Open Sans"/>
                <a:ea typeface="Open Sans"/>
                <a:cs typeface="Open Sans"/>
                <a:sym typeface="Open Sans"/>
              </a:rPr>
              <a:t>This causes disproportionate biodiversity loss relative to early stages of habitat fragmentation.</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03D25"/>
        </a:solidFill>
      </p:bgPr>
    </p:bg>
    <p:spTree>
      <p:nvGrpSpPr>
        <p:cNvPr id="1" name=""/>
        <p:cNvGrpSpPr/>
        <p:nvPr/>
      </p:nvGrpSpPr>
      <p:grpSpPr>
        <a:xfrm>
          <a:off x="0" y="0"/>
          <a:ext cx="0" cy="0"/>
          <a:chOff x="0" y="0"/>
          <a:chExt cx="0" cy="0"/>
        </a:xfrm>
      </p:grpSpPr>
      <p:sp>
        <p:nvSpPr>
          <p:cNvPr name="Freeform 2" id="2"/>
          <p:cNvSpPr/>
          <p:nvPr/>
        </p:nvSpPr>
        <p:spPr>
          <a:xfrm flipH="false" flipV="false" rot="0">
            <a:off x="2963636" y="4166243"/>
            <a:ext cx="1169260" cy="1099104"/>
          </a:xfrm>
          <a:custGeom>
            <a:avLst/>
            <a:gdLst/>
            <a:ahLst/>
            <a:cxnLst/>
            <a:rect r="r" b="b" t="t" l="l"/>
            <a:pathLst>
              <a:path h="1099104" w="1169260">
                <a:moveTo>
                  <a:pt x="0" y="0"/>
                </a:moveTo>
                <a:lnTo>
                  <a:pt x="1169260" y="0"/>
                </a:lnTo>
                <a:lnTo>
                  <a:pt x="1169260" y="1099104"/>
                </a:lnTo>
                <a:lnTo>
                  <a:pt x="0" y="10991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032678" y="4498624"/>
            <a:ext cx="1031176" cy="396241"/>
          </a:xfrm>
          <a:prstGeom prst="rect">
            <a:avLst/>
          </a:prstGeom>
        </p:spPr>
        <p:txBody>
          <a:bodyPr anchor="t" rtlCol="false" tIns="0" lIns="0" bIns="0" rIns="0">
            <a:spAutoFit/>
          </a:bodyPr>
          <a:lstStyle/>
          <a:p>
            <a:pPr algn="ctr">
              <a:lnSpc>
                <a:spcPts val="3359"/>
              </a:lnSpc>
              <a:spcBef>
                <a:spcPct val="0"/>
              </a:spcBef>
            </a:pPr>
            <a:r>
              <a:rPr lang="en-US" b="true" sz="2399">
                <a:solidFill>
                  <a:srgbClr val="003D25"/>
                </a:solidFill>
                <a:latin typeface="Open Sans Bold"/>
                <a:ea typeface="Open Sans Bold"/>
                <a:cs typeface="Open Sans Bold"/>
                <a:sym typeface="Open Sans Bold"/>
              </a:rPr>
              <a:t>01</a:t>
            </a:r>
          </a:p>
        </p:txBody>
      </p:sp>
      <p:sp>
        <p:nvSpPr>
          <p:cNvPr name="Freeform 4" id="4"/>
          <p:cNvSpPr/>
          <p:nvPr/>
        </p:nvSpPr>
        <p:spPr>
          <a:xfrm flipH="false" flipV="false" rot="0">
            <a:off x="2963636" y="6652292"/>
            <a:ext cx="1169260" cy="1099104"/>
          </a:xfrm>
          <a:custGeom>
            <a:avLst/>
            <a:gdLst/>
            <a:ahLst/>
            <a:cxnLst/>
            <a:rect r="r" b="b" t="t" l="l"/>
            <a:pathLst>
              <a:path h="1099104" w="1169260">
                <a:moveTo>
                  <a:pt x="0" y="0"/>
                </a:moveTo>
                <a:lnTo>
                  <a:pt x="1169260" y="0"/>
                </a:lnTo>
                <a:lnTo>
                  <a:pt x="1169260" y="1099104"/>
                </a:lnTo>
                <a:lnTo>
                  <a:pt x="0" y="10991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3032678" y="6984674"/>
            <a:ext cx="1031176" cy="396241"/>
          </a:xfrm>
          <a:prstGeom prst="rect">
            <a:avLst/>
          </a:prstGeom>
        </p:spPr>
        <p:txBody>
          <a:bodyPr anchor="t" rtlCol="false" tIns="0" lIns="0" bIns="0" rIns="0">
            <a:spAutoFit/>
          </a:bodyPr>
          <a:lstStyle/>
          <a:p>
            <a:pPr algn="ctr">
              <a:lnSpc>
                <a:spcPts val="3359"/>
              </a:lnSpc>
              <a:spcBef>
                <a:spcPct val="0"/>
              </a:spcBef>
            </a:pPr>
            <a:r>
              <a:rPr lang="en-US" b="true" sz="2399">
                <a:solidFill>
                  <a:srgbClr val="003D25"/>
                </a:solidFill>
                <a:latin typeface="Open Sans Bold"/>
                <a:ea typeface="Open Sans Bold"/>
                <a:cs typeface="Open Sans Bold"/>
                <a:sym typeface="Open Sans Bold"/>
              </a:rPr>
              <a:t>02</a:t>
            </a:r>
          </a:p>
        </p:txBody>
      </p:sp>
      <p:sp>
        <p:nvSpPr>
          <p:cNvPr name="TextBox 6" id="6"/>
          <p:cNvSpPr txBox="true"/>
          <p:nvPr/>
        </p:nvSpPr>
        <p:spPr>
          <a:xfrm rot="0">
            <a:off x="4503559" y="4109093"/>
            <a:ext cx="11230377" cy="1417321"/>
          </a:xfrm>
          <a:prstGeom prst="rect">
            <a:avLst/>
          </a:prstGeom>
        </p:spPr>
        <p:txBody>
          <a:bodyPr anchor="t" rtlCol="false" tIns="0" lIns="0" bIns="0" rIns="0">
            <a:spAutoFit/>
          </a:bodyPr>
          <a:lstStyle/>
          <a:p>
            <a:pPr algn="l">
              <a:lnSpc>
                <a:spcPts val="3779"/>
              </a:lnSpc>
              <a:spcBef>
                <a:spcPct val="0"/>
              </a:spcBef>
            </a:pPr>
            <a:r>
              <a:rPr lang="en-US" sz="2699">
                <a:solidFill>
                  <a:srgbClr val="FFFFFF"/>
                </a:solidFill>
                <a:latin typeface="Open Sans"/>
                <a:ea typeface="Open Sans"/>
                <a:cs typeface="Open Sans"/>
                <a:sym typeface="Open Sans"/>
              </a:rPr>
              <a:t>Whether species can disperse among the patches in a landscape, ultimately behaving like a set of populations that are </a:t>
            </a:r>
            <a:r>
              <a:rPr lang="en-US" b="true" sz="2699">
                <a:solidFill>
                  <a:srgbClr val="FFFFFF"/>
                </a:solidFill>
                <a:latin typeface="Open Sans Bold"/>
                <a:ea typeface="Open Sans Bold"/>
                <a:cs typeface="Open Sans Bold"/>
                <a:sym typeface="Open Sans Bold"/>
              </a:rPr>
              <a:t>linked by dispersal</a:t>
            </a:r>
            <a:r>
              <a:rPr lang="en-US" sz="2699">
                <a:solidFill>
                  <a:srgbClr val="FFFFFF"/>
                </a:solidFill>
                <a:latin typeface="Open Sans"/>
                <a:ea typeface="Open Sans"/>
                <a:cs typeface="Open Sans"/>
                <a:sym typeface="Open Sans"/>
              </a:rPr>
              <a:t>.</a:t>
            </a:r>
          </a:p>
        </p:txBody>
      </p:sp>
      <p:sp>
        <p:nvSpPr>
          <p:cNvPr name="TextBox 7" id="7"/>
          <p:cNvSpPr txBox="true"/>
          <p:nvPr/>
        </p:nvSpPr>
        <p:spPr>
          <a:xfrm rot="0">
            <a:off x="4503559" y="6595142"/>
            <a:ext cx="11230377" cy="941071"/>
          </a:xfrm>
          <a:prstGeom prst="rect">
            <a:avLst/>
          </a:prstGeom>
        </p:spPr>
        <p:txBody>
          <a:bodyPr anchor="t" rtlCol="false" tIns="0" lIns="0" bIns="0" rIns="0">
            <a:spAutoFit/>
          </a:bodyPr>
          <a:lstStyle/>
          <a:p>
            <a:pPr algn="l">
              <a:lnSpc>
                <a:spcPts val="3779"/>
              </a:lnSpc>
              <a:spcBef>
                <a:spcPct val="0"/>
              </a:spcBef>
            </a:pPr>
            <a:r>
              <a:rPr lang="en-US" sz="2699">
                <a:solidFill>
                  <a:srgbClr val="FFFFFF"/>
                </a:solidFill>
                <a:latin typeface="Open Sans"/>
                <a:ea typeface="Open Sans"/>
                <a:cs typeface="Open Sans"/>
                <a:sym typeface="Open Sans"/>
              </a:rPr>
              <a:t>Whether patches in a landscape are </a:t>
            </a:r>
            <a:r>
              <a:rPr lang="en-US" b="true" sz="2699">
                <a:solidFill>
                  <a:srgbClr val="FFFFFF"/>
                </a:solidFill>
                <a:latin typeface="Open Sans Bold"/>
                <a:ea typeface="Open Sans Bold"/>
                <a:cs typeface="Open Sans Bold"/>
                <a:sym typeface="Open Sans Bold"/>
              </a:rPr>
              <a:t>sufficiently heterogeneous</a:t>
            </a:r>
            <a:r>
              <a:rPr lang="en-US" sz="2699">
                <a:solidFill>
                  <a:srgbClr val="FFFFFF"/>
                </a:solidFill>
                <a:latin typeface="Open Sans"/>
                <a:ea typeface="Open Sans"/>
                <a:cs typeface="Open Sans"/>
                <a:sym typeface="Open Sans"/>
              </a:rPr>
              <a:t> that they increase diversity across the landscape by adding new species.</a:t>
            </a:r>
          </a:p>
        </p:txBody>
      </p:sp>
      <p:sp>
        <p:nvSpPr>
          <p:cNvPr name="Freeform 8" id="8"/>
          <p:cNvSpPr/>
          <p:nvPr/>
        </p:nvSpPr>
        <p:spPr>
          <a:xfrm flipH="false" flipV="false" rot="-5339161">
            <a:off x="-2921756" y="-2940431"/>
            <a:ext cx="5843512" cy="5880861"/>
          </a:xfrm>
          <a:custGeom>
            <a:avLst/>
            <a:gdLst/>
            <a:ahLst/>
            <a:cxnLst/>
            <a:rect r="r" b="b" t="t" l="l"/>
            <a:pathLst>
              <a:path h="5880861" w="5843512">
                <a:moveTo>
                  <a:pt x="0" y="0"/>
                </a:moveTo>
                <a:lnTo>
                  <a:pt x="5843512" y="0"/>
                </a:lnTo>
                <a:lnTo>
                  <a:pt x="5843512" y="5880862"/>
                </a:lnTo>
                <a:lnTo>
                  <a:pt x="0" y="58808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395661" y="329621"/>
            <a:ext cx="1693979" cy="1472137"/>
          </a:xfrm>
          <a:custGeom>
            <a:avLst/>
            <a:gdLst/>
            <a:ahLst/>
            <a:cxnLst/>
            <a:rect r="r" b="b" t="t" l="l"/>
            <a:pathLst>
              <a:path h="1472137" w="1693979">
                <a:moveTo>
                  <a:pt x="0" y="0"/>
                </a:moveTo>
                <a:lnTo>
                  <a:pt x="1693979" y="0"/>
                </a:lnTo>
                <a:lnTo>
                  <a:pt x="1693979" y="1472137"/>
                </a:lnTo>
                <a:lnTo>
                  <a:pt x="0" y="14721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10090965">
            <a:off x="-1783347" y="8087572"/>
            <a:ext cx="4370918" cy="4398856"/>
          </a:xfrm>
          <a:custGeom>
            <a:avLst/>
            <a:gdLst/>
            <a:ahLst/>
            <a:cxnLst/>
            <a:rect r="r" b="b" t="t" l="l"/>
            <a:pathLst>
              <a:path h="4398856" w="4370918">
                <a:moveTo>
                  <a:pt x="0" y="0"/>
                </a:moveTo>
                <a:lnTo>
                  <a:pt x="4370919" y="0"/>
                </a:lnTo>
                <a:lnTo>
                  <a:pt x="4370919" y="4398856"/>
                </a:lnTo>
                <a:lnTo>
                  <a:pt x="0" y="43988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true" flipV="false" rot="-7932697">
            <a:off x="467093" y="8687001"/>
            <a:ext cx="1123215" cy="1953417"/>
          </a:xfrm>
          <a:custGeom>
            <a:avLst/>
            <a:gdLst/>
            <a:ahLst/>
            <a:cxnLst/>
            <a:rect r="r" b="b" t="t" l="l"/>
            <a:pathLst>
              <a:path h="1953417" w="1123215">
                <a:moveTo>
                  <a:pt x="1123214" y="0"/>
                </a:moveTo>
                <a:lnTo>
                  <a:pt x="0" y="0"/>
                </a:lnTo>
                <a:lnTo>
                  <a:pt x="0" y="1953417"/>
                </a:lnTo>
                <a:lnTo>
                  <a:pt x="1123214" y="1953417"/>
                </a:lnTo>
                <a:lnTo>
                  <a:pt x="1123214"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709034">
            <a:off x="15939368" y="-1775030"/>
            <a:ext cx="4101281" cy="4127494"/>
          </a:xfrm>
          <a:custGeom>
            <a:avLst/>
            <a:gdLst/>
            <a:ahLst/>
            <a:cxnLst/>
            <a:rect r="r" b="b" t="t" l="l"/>
            <a:pathLst>
              <a:path h="4127494" w="4101281">
                <a:moveTo>
                  <a:pt x="0" y="0"/>
                </a:moveTo>
                <a:lnTo>
                  <a:pt x="4101281" y="0"/>
                </a:lnTo>
                <a:lnTo>
                  <a:pt x="4101281" y="4127495"/>
                </a:lnTo>
                <a:lnTo>
                  <a:pt x="0" y="41274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true" flipV="false" rot="2867302">
            <a:off x="16506070" y="-261716"/>
            <a:ext cx="1362984" cy="2370408"/>
          </a:xfrm>
          <a:custGeom>
            <a:avLst/>
            <a:gdLst/>
            <a:ahLst/>
            <a:cxnLst/>
            <a:rect r="r" b="b" t="t" l="l"/>
            <a:pathLst>
              <a:path h="2370408" w="1362984">
                <a:moveTo>
                  <a:pt x="1362984" y="0"/>
                </a:moveTo>
                <a:lnTo>
                  <a:pt x="0" y="0"/>
                </a:lnTo>
                <a:lnTo>
                  <a:pt x="0" y="2370407"/>
                </a:lnTo>
                <a:lnTo>
                  <a:pt x="1362984" y="2370407"/>
                </a:lnTo>
                <a:lnTo>
                  <a:pt x="1362984"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5460838">
            <a:off x="16206000" y="8105968"/>
            <a:ext cx="4164000" cy="4190615"/>
          </a:xfrm>
          <a:custGeom>
            <a:avLst/>
            <a:gdLst/>
            <a:ahLst/>
            <a:cxnLst/>
            <a:rect r="r" b="b" t="t" l="l"/>
            <a:pathLst>
              <a:path h="4190615" w="4164000">
                <a:moveTo>
                  <a:pt x="0" y="0"/>
                </a:moveTo>
                <a:lnTo>
                  <a:pt x="4164000" y="0"/>
                </a:lnTo>
                <a:lnTo>
                  <a:pt x="4164000" y="4190614"/>
                </a:lnTo>
                <a:lnTo>
                  <a:pt x="0" y="41906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10800000">
            <a:off x="16319057" y="8500319"/>
            <a:ext cx="1687000" cy="1466073"/>
          </a:xfrm>
          <a:custGeom>
            <a:avLst/>
            <a:gdLst/>
            <a:ahLst/>
            <a:cxnLst/>
            <a:rect r="r" b="b" t="t" l="l"/>
            <a:pathLst>
              <a:path h="1466073" w="1687000">
                <a:moveTo>
                  <a:pt x="0" y="0"/>
                </a:moveTo>
                <a:lnTo>
                  <a:pt x="1687001" y="0"/>
                </a:lnTo>
                <a:lnTo>
                  <a:pt x="1687001" y="1466073"/>
                </a:lnTo>
                <a:lnTo>
                  <a:pt x="0" y="14660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6" id="16"/>
          <p:cNvSpPr txBox="true"/>
          <p:nvPr/>
        </p:nvSpPr>
        <p:spPr>
          <a:xfrm rot="0">
            <a:off x="2727806" y="1631323"/>
            <a:ext cx="12832387" cy="984250"/>
          </a:xfrm>
          <a:prstGeom prst="rect">
            <a:avLst/>
          </a:prstGeom>
        </p:spPr>
        <p:txBody>
          <a:bodyPr anchor="t" rtlCol="false" tIns="0" lIns="0" bIns="0" rIns="0">
            <a:spAutoFit/>
          </a:bodyPr>
          <a:lstStyle/>
          <a:p>
            <a:pPr algn="ctr">
              <a:lnSpc>
                <a:spcPts val="7699"/>
              </a:lnSpc>
              <a:spcBef>
                <a:spcPct val="0"/>
              </a:spcBef>
            </a:pPr>
            <a:r>
              <a:rPr lang="en-US" b="true" sz="5499">
                <a:solidFill>
                  <a:srgbClr val="B6F61A"/>
                </a:solidFill>
                <a:latin typeface="Poppins Bold"/>
                <a:ea typeface="Poppins Bold"/>
                <a:cs typeface="Poppins Bold"/>
                <a:sym typeface="Poppins Bold"/>
              </a:rPr>
              <a:t>PATCH SIZE AND NUMBER</a:t>
            </a:r>
          </a:p>
        </p:txBody>
      </p:sp>
      <p:sp>
        <p:nvSpPr>
          <p:cNvPr name="TextBox 17" id="17"/>
          <p:cNvSpPr txBox="true"/>
          <p:nvPr/>
        </p:nvSpPr>
        <p:spPr>
          <a:xfrm rot="0">
            <a:off x="2963636" y="773931"/>
            <a:ext cx="12360728" cy="984250"/>
          </a:xfrm>
          <a:prstGeom prst="rect">
            <a:avLst/>
          </a:prstGeom>
        </p:spPr>
        <p:txBody>
          <a:bodyPr anchor="t" rtlCol="false" tIns="0" lIns="0" bIns="0" rIns="0">
            <a:spAutoFit/>
          </a:bodyPr>
          <a:lstStyle/>
          <a:p>
            <a:pPr algn="ctr">
              <a:lnSpc>
                <a:spcPts val="7699"/>
              </a:lnSpc>
              <a:spcBef>
                <a:spcPct val="0"/>
              </a:spcBef>
            </a:pPr>
            <a:r>
              <a:rPr lang="en-US" sz="5499">
                <a:solidFill>
                  <a:srgbClr val="FFFFFF"/>
                </a:solidFill>
                <a:latin typeface="Poppins"/>
                <a:ea typeface="Poppins"/>
                <a:cs typeface="Poppins"/>
                <a:sym typeface="Poppins"/>
              </a:rPr>
              <a:t>THE ULTIMATE EFFECTS OF</a:t>
            </a:r>
          </a:p>
        </p:txBody>
      </p:sp>
      <p:sp>
        <p:nvSpPr>
          <p:cNvPr name="TextBox 18" id="18"/>
          <p:cNvSpPr txBox="true"/>
          <p:nvPr/>
        </p:nvSpPr>
        <p:spPr>
          <a:xfrm rot="0">
            <a:off x="2991675" y="2529848"/>
            <a:ext cx="12360728" cy="750569"/>
          </a:xfrm>
          <a:prstGeom prst="rect">
            <a:avLst/>
          </a:prstGeom>
        </p:spPr>
        <p:txBody>
          <a:bodyPr anchor="t" rtlCol="false" tIns="0" lIns="0" bIns="0" rIns="0">
            <a:spAutoFit/>
          </a:bodyPr>
          <a:lstStyle/>
          <a:p>
            <a:pPr algn="ctr">
              <a:lnSpc>
                <a:spcPts val="5880"/>
              </a:lnSpc>
              <a:spcBef>
                <a:spcPct val="0"/>
              </a:spcBef>
            </a:pPr>
            <a:r>
              <a:rPr lang="en-US" sz="4200">
                <a:solidFill>
                  <a:srgbClr val="FFFFFF"/>
                </a:solidFill>
                <a:latin typeface="Poppins"/>
                <a:ea typeface="Poppins"/>
                <a:cs typeface="Poppins"/>
                <a:sym typeface="Poppins"/>
              </a:rPr>
              <a:t>DEPEND ON:</a:t>
            </a:r>
          </a:p>
        </p:txBody>
      </p:sp>
      <p:sp>
        <p:nvSpPr>
          <p:cNvPr name="TextBox 19" id="19"/>
          <p:cNvSpPr txBox="true"/>
          <p:nvPr/>
        </p:nvSpPr>
        <p:spPr>
          <a:xfrm rot="0">
            <a:off x="4503559" y="7713296"/>
            <a:ext cx="11230377" cy="815341"/>
          </a:xfrm>
          <a:prstGeom prst="rect">
            <a:avLst/>
          </a:prstGeom>
        </p:spPr>
        <p:txBody>
          <a:bodyPr anchor="t" rtlCol="false" tIns="0" lIns="0" bIns="0" rIns="0">
            <a:spAutoFit/>
          </a:bodyPr>
          <a:lstStyle/>
          <a:p>
            <a:pPr algn="l" marL="518155" indent="-259078" lvl="1">
              <a:lnSpc>
                <a:spcPts val="3359"/>
              </a:lnSpc>
              <a:buFont typeface="Arial"/>
              <a:buChar char="•"/>
            </a:pPr>
            <a:r>
              <a:rPr lang="en-US" sz="2399" i="true">
                <a:solidFill>
                  <a:srgbClr val="FFFFFF"/>
                </a:solidFill>
                <a:latin typeface="Open Sans Italics"/>
                <a:ea typeface="Open Sans Italics"/>
                <a:cs typeface="Open Sans Italics"/>
                <a:sym typeface="Open Sans Italics"/>
              </a:rPr>
              <a:t>such as when patches repre</a:t>
            </a:r>
            <a:r>
              <a:rPr lang="en-US" sz="2399" i="true">
                <a:solidFill>
                  <a:srgbClr val="FFFFFF"/>
                </a:solidFill>
                <a:latin typeface="Open Sans Italics"/>
                <a:ea typeface="Open Sans Italics"/>
                <a:cs typeface="Open Sans Italics"/>
                <a:sym typeface="Open Sans Italics"/>
              </a:rPr>
              <a:t>sent no</a:t>
            </a:r>
            <a:r>
              <a:rPr lang="en-US" sz="2399" i="true">
                <a:solidFill>
                  <a:srgbClr val="FFFFFF"/>
                </a:solidFill>
                <a:latin typeface="Open Sans Italics"/>
                <a:ea typeface="Open Sans Italics"/>
                <a:cs typeface="Open Sans Italics"/>
                <a:sym typeface="Open Sans Italics"/>
              </a:rPr>
              <a:t>vel environments with new niche opportunities.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03D25"/>
        </a:solidFill>
      </p:bgPr>
    </p:bg>
    <p:spTree>
      <p:nvGrpSpPr>
        <p:cNvPr id="1" name=""/>
        <p:cNvGrpSpPr/>
        <p:nvPr/>
      </p:nvGrpSpPr>
      <p:grpSpPr>
        <a:xfrm>
          <a:off x="0" y="0"/>
          <a:ext cx="0" cy="0"/>
          <a:chOff x="0" y="0"/>
          <a:chExt cx="0" cy="0"/>
        </a:xfrm>
      </p:grpSpPr>
      <p:grpSp>
        <p:nvGrpSpPr>
          <p:cNvPr name="Group 2" id="2"/>
          <p:cNvGrpSpPr/>
          <p:nvPr/>
        </p:nvGrpSpPr>
        <p:grpSpPr>
          <a:xfrm rot="0">
            <a:off x="1023303" y="3533772"/>
            <a:ext cx="3219468" cy="3219455"/>
            <a:chOff x="0" y="0"/>
            <a:chExt cx="6350000" cy="6349975"/>
          </a:xfrm>
        </p:grpSpPr>
        <p:sp>
          <p:nvSpPr>
            <p:cNvPr name="Freeform 3" id="3" descr="This alt text was created for the whole figure, and some of it may not apply to this partial figure.  Four scatterplots, A, show the habitat loss as a percent of landscape, and six photos, B, show examples of fragmented landscapes. A. In all scatt..."/>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2"/>
              <a:stretch>
                <a:fillRect l="-7022" t="-85498" r="-104268" b="-9974"/>
              </a:stretch>
            </a:blipFill>
          </p:spPr>
        </p:sp>
      </p:grpSp>
      <p:grpSp>
        <p:nvGrpSpPr>
          <p:cNvPr name="Group 4" id="4"/>
          <p:cNvGrpSpPr/>
          <p:nvPr/>
        </p:nvGrpSpPr>
        <p:grpSpPr>
          <a:xfrm rot="0">
            <a:off x="3473917" y="1028700"/>
            <a:ext cx="3219468" cy="3219455"/>
            <a:chOff x="0" y="0"/>
            <a:chExt cx="6350000" cy="6349975"/>
          </a:xfrm>
        </p:grpSpPr>
        <p:sp>
          <p:nvSpPr>
            <p:cNvPr name="Freeform 5" id="5" descr="This alt text was created for the whole figure, and some of it may not apply to this partial figure.  Four scatterplots, A, show the habitat loss as a percent of landscape, and six photos, B, show examples of fragmented landscapes. A. In all scatt..."/>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2"/>
              <a:stretch>
                <a:fillRect l="-9948" t="0" r="-99645" b="-93903"/>
              </a:stretch>
            </a:blipFill>
          </p:spPr>
        </p:sp>
      </p:grpSp>
      <p:grpSp>
        <p:nvGrpSpPr>
          <p:cNvPr name="Group 6" id="6"/>
          <p:cNvGrpSpPr/>
          <p:nvPr/>
        </p:nvGrpSpPr>
        <p:grpSpPr>
          <a:xfrm rot="0">
            <a:off x="3473917" y="6038845"/>
            <a:ext cx="3219468" cy="3219455"/>
            <a:chOff x="0" y="0"/>
            <a:chExt cx="6350000" cy="6349975"/>
          </a:xfrm>
        </p:grpSpPr>
        <p:sp>
          <p:nvSpPr>
            <p:cNvPr name="Freeform 7" id="7" descr="This alt text was created for the whole figure, and some of it may not apply to this partial figure.  Four scatterplots, A, show the habitat loss as a percent of landscape, and six photos, B, show examples of fragmented landscapes. A. In all scatt..."/>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2"/>
              <a:stretch>
                <a:fillRect l="-101741" t="-83247" r="0" b="-3390"/>
              </a:stretch>
            </a:blipFill>
          </p:spPr>
        </p:sp>
      </p:grpSp>
      <p:grpSp>
        <p:nvGrpSpPr>
          <p:cNvPr name="Group 8" id="8"/>
          <p:cNvGrpSpPr/>
          <p:nvPr/>
        </p:nvGrpSpPr>
        <p:grpSpPr>
          <a:xfrm rot="0">
            <a:off x="5924532" y="3533772"/>
            <a:ext cx="3219468" cy="3219455"/>
            <a:chOff x="0" y="0"/>
            <a:chExt cx="6350000" cy="6349975"/>
          </a:xfrm>
        </p:grpSpPr>
        <p:sp>
          <p:nvSpPr>
            <p:cNvPr name="Freeform 9" id="9" descr="This alt text was created for the whole figure, and some of it may not apply to this partial figure.  Four scatterplots, A, show the habitat loss as a percent of landscape, and six photos, B, show examples of fragmented landscapes. A. In all scatt..."/>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2"/>
              <a:stretch>
                <a:fillRect l="-118220" t="0" r="-5266" b="-106756"/>
              </a:stretch>
            </a:blipFill>
          </p:spPr>
        </p:sp>
      </p:grpSp>
      <p:sp>
        <p:nvSpPr>
          <p:cNvPr name="Freeform 10" id="10"/>
          <p:cNvSpPr/>
          <p:nvPr/>
        </p:nvSpPr>
        <p:spPr>
          <a:xfrm flipH="false" flipV="false" rot="-709034">
            <a:off x="15939368" y="-1775030"/>
            <a:ext cx="4101281" cy="4127494"/>
          </a:xfrm>
          <a:custGeom>
            <a:avLst/>
            <a:gdLst/>
            <a:ahLst/>
            <a:cxnLst/>
            <a:rect r="r" b="b" t="t" l="l"/>
            <a:pathLst>
              <a:path h="4127494" w="4101281">
                <a:moveTo>
                  <a:pt x="0" y="0"/>
                </a:moveTo>
                <a:lnTo>
                  <a:pt x="4101281" y="0"/>
                </a:lnTo>
                <a:lnTo>
                  <a:pt x="4101281" y="4127495"/>
                </a:lnTo>
                <a:lnTo>
                  <a:pt x="0" y="412749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true" flipV="false" rot="2867302">
            <a:off x="16506070" y="-261716"/>
            <a:ext cx="1362984" cy="2370408"/>
          </a:xfrm>
          <a:custGeom>
            <a:avLst/>
            <a:gdLst/>
            <a:ahLst/>
            <a:cxnLst/>
            <a:rect r="r" b="b" t="t" l="l"/>
            <a:pathLst>
              <a:path h="2370408" w="1362984">
                <a:moveTo>
                  <a:pt x="1362984" y="0"/>
                </a:moveTo>
                <a:lnTo>
                  <a:pt x="0" y="0"/>
                </a:lnTo>
                <a:lnTo>
                  <a:pt x="0" y="2370407"/>
                </a:lnTo>
                <a:lnTo>
                  <a:pt x="1362984" y="2370407"/>
                </a:lnTo>
                <a:lnTo>
                  <a:pt x="1362984"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5460838">
            <a:off x="16206000" y="8105968"/>
            <a:ext cx="4164000" cy="4190615"/>
          </a:xfrm>
          <a:custGeom>
            <a:avLst/>
            <a:gdLst/>
            <a:ahLst/>
            <a:cxnLst/>
            <a:rect r="r" b="b" t="t" l="l"/>
            <a:pathLst>
              <a:path h="4190615" w="4164000">
                <a:moveTo>
                  <a:pt x="0" y="0"/>
                </a:moveTo>
                <a:lnTo>
                  <a:pt x="4164000" y="0"/>
                </a:lnTo>
                <a:lnTo>
                  <a:pt x="4164000" y="4190614"/>
                </a:lnTo>
                <a:lnTo>
                  <a:pt x="0" y="41906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10800000">
            <a:off x="16319057" y="8500319"/>
            <a:ext cx="1687000" cy="1466073"/>
          </a:xfrm>
          <a:custGeom>
            <a:avLst/>
            <a:gdLst/>
            <a:ahLst/>
            <a:cxnLst/>
            <a:rect r="r" b="b" t="t" l="l"/>
            <a:pathLst>
              <a:path h="1466073" w="1687000">
                <a:moveTo>
                  <a:pt x="0" y="0"/>
                </a:moveTo>
                <a:lnTo>
                  <a:pt x="1687001" y="0"/>
                </a:lnTo>
                <a:lnTo>
                  <a:pt x="1687001" y="1466073"/>
                </a:lnTo>
                <a:lnTo>
                  <a:pt x="0" y="146607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4" id="14"/>
          <p:cNvSpPr/>
          <p:nvPr/>
        </p:nvSpPr>
        <p:spPr>
          <a:xfrm flipH="false" flipV="false" rot="10090965">
            <a:off x="-2007843" y="6460378"/>
            <a:ext cx="5843512" cy="5880861"/>
          </a:xfrm>
          <a:custGeom>
            <a:avLst/>
            <a:gdLst/>
            <a:ahLst/>
            <a:cxnLst/>
            <a:rect r="r" b="b" t="t" l="l"/>
            <a:pathLst>
              <a:path h="5880861" w="5843512">
                <a:moveTo>
                  <a:pt x="0" y="0"/>
                </a:moveTo>
                <a:lnTo>
                  <a:pt x="5843512" y="0"/>
                </a:lnTo>
                <a:lnTo>
                  <a:pt x="5843512" y="5880862"/>
                </a:lnTo>
                <a:lnTo>
                  <a:pt x="0" y="58808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true" flipV="false" rot="-7932697">
            <a:off x="874234" y="6438987"/>
            <a:ext cx="2366010" cy="4114800"/>
          </a:xfrm>
          <a:custGeom>
            <a:avLst/>
            <a:gdLst/>
            <a:ahLst/>
            <a:cxnLst/>
            <a:rect r="r" b="b" t="t" l="l"/>
            <a:pathLst>
              <a:path h="4114800" w="2366010">
                <a:moveTo>
                  <a:pt x="2366010" y="0"/>
                </a:moveTo>
                <a:lnTo>
                  <a:pt x="0" y="0"/>
                </a:lnTo>
                <a:lnTo>
                  <a:pt x="0" y="4114800"/>
                </a:lnTo>
                <a:lnTo>
                  <a:pt x="2366010" y="4114800"/>
                </a:lnTo>
                <a:lnTo>
                  <a:pt x="236601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false" rot="-5339161">
            <a:off x="-3048968" y="-3099562"/>
            <a:ext cx="6392809" cy="6433669"/>
          </a:xfrm>
          <a:custGeom>
            <a:avLst/>
            <a:gdLst/>
            <a:ahLst/>
            <a:cxnLst/>
            <a:rect r="r" b="b" t="t" l="l"/>
            <a:pathLst>
              <a:path h="6433669" w="6392809">
                <a:moveTo>
                  <a:pt x="0" y="0"/>
                </a:moveTo>
                <a:lnTo>
                  <a:pt x="6392809" y="0"/>
                </a:lnTo>
                <a:lnTo>
                  <a:pt x="6392809" y="6433670"/>
                </a:lnTo>
                <a:lnTo>
                  <a:pt x="0" y="64336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7" id="17"/>
          <p:cNvSpPr/>
          <p:nvPr/>
        </p:nvSpPr>
        <p:spPr>
          <a:xfrm flipH="false" flipV="false" rot="0">
            <a:off x="580290" y="477879"/>
            <a:ext cx="2589979" cy="2250798"/>
          </a:xfrm>
          <a:custGeom>
            <a:avLst/>
            <a:gdLst/>
            <a:ahLst/>
            <a:cxnLst/>
            <a:rect r="r" b="b" t="t" l="l"/>
            <a:pathLst>
              <a:path h="2250798" w="2589979">
                <a:moveTo>
                  <a:pt x="0" y="0"/>
                </a:moveTo>
                <a:lnTo>
                  <a:pt x="2589979" y="0"/>
                </a:lnTo>
                <a:lnTo>
                  <a:pt x="2589979" y="2250798"/>
                </a:lnTo>
                <a:lnTo>
                  <a:pt x="0" y="22507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8" id="18"/>
          <p:cNvSpPr txBox="true"/>
          <p:nvPr/>
        </p:nvSpPr>
        <p:spPr>
          <a:xfrm rot="0">
            <a:off x="11403214" y="4866389"/>
            <a:ext cx="4915843" cy="396241"/>
          </a:xfrm>
          <a:prstGeom prst="rect">
            <a:avLst/>
          </a:prstGeom>
        </p:spPr>
        <p:txBody>
          <a:bodyPr anchor="t" rtlCol="false" tIns="0" lIns="0" bIns="0" rIns="0">
            <a:spAutoFit/>
          </a:bodyPr>
          <a:lstStyle/>
          <a:p>
            <a:pPr algn="l">
              <a:lnSpc>
                <a:spcPts val="3359"/>
              </a:lnSpc>
              <a:spcBef>
                <a:spcPct val="0"/>
              </a:spcBef>
            </a:pPr>
            <a:r>
              <a:rPr lang="en-US" sz="2399">
                <a:solidFill>
                  <a:srgbClr val="FFFFFF"/>
                </a:solidFill>
                <a:latin typeface="Open Sans"/>
                <a:ea typeface="Open Sans"/>
                <a:cs typeface="Open Sans"/>
                <a:sym typeface="Open Sans"/>
              </a:rPr>
              <a:t>Alters the size of habitat patches.</a:t>
            </a:r>
          </a:p>
        </p:txBody>
      </p:sp>
      <p:sp>
        <p:nvSpPr>
          <p:cNvPr name="TextBox 19" id="19"/>
          <p:cNvSpPr txBox="true"/>
          <p:nvPr/>
        </p:nvSpPr>
        <p:spPr>
          <a:xfrm rot="0">
            <a:off x="10348985" y="3654958"/>
            <a:ext cx="916794" cy="613410"/>
          </a:xfrm>
          <a:prstGeom prst="rect">
            <a:avLst/>
          </a:prstGeom>
        </p:spPr>
        <p:txBody>
          <a:bodyPr anchor="t" rtlCol="false" tIns="0" lIns="0" bIns="0" rIns="0">
            <a:spAutoFit/>
          </a:bodyPr>
          <a:lstStyle/>
          <a:p>
            <a:pPr algn="l">
              <a:lnSpc>
                <a:spcPts val="5040"/>
              </a:lnSpc>
              <a:spcBef>
                <a:spcPct val="0"/>
              </a:spcBef>
            </a:pPr>
            <a:r>
              <a:rPr lang="en-US" sz="3600" b="true">
                <a:solidFill>
                  <a:srgbClr val="A5E800"/>
                </a:solidFill>
                <a:latin typeface="Poppins Bold"/>
                <a:ea typeface="Poppins Bold"/>
                <a:cs typeface="Poppins Bold"/>
                <a:sym typeface="Poppins Bold"/>
              </a:rPr>
              <a:t>01.</a:t>
            </a:r>
          </a:p>
        </p:txBody>
      </p:sp>
      <p:sp>
        <p:nvSpPr>
          <p:cNvPr name="TextBox 20" id="20"/>
          <p:cNvSpPr txBox="true"/>
          <p:nvPr/>
        </p:nvSpPr>
        <p:spPr>
          <a:xfrm rot="0">
            <a:off x="11403214" y="6043680"/>
            <a:ext cx="4915843" cy="396241"/>
          </a:xfrm>
          <a:prstGeom prst="rect">
            <a:avLst/>
          </a:prstGeom>
        </p:spPr>
        <p:txBody>
          <a:bodyPr anchor="t" rtlCol="false" tIns="0" lIns="0" bIns="0" rIns="0">
            <a:spAutoFit/>
          </a:bodyPr>
          <a:lstStyle/>
          <a:p>
            <a:pPr algn="l">
              <a:lnSpc>
                <a:spcPts val="3359"/>
              </a:lnSpc>
              <a:spcBef>
                <a:spcPct val="0"/>
              </a:spcBef>
            </a:pPr>
            <a:r>
              <a:rPr lang="en-US" sz="2399">
                <a:solidFill>
                  <a:srgbClr val="FFFFFF"/>
                </a:solidFill>
                <a:latin typeface="Open Sans"/>
                <a:ea typeface="Open Sans"/>
                <a:cs typeface="Open Sans"/>
                <a:sym typeface="Open Sans"/>
              </a:rPr>
              <a:t>Changes the number of patches.</a:t>
            </a:r>
          </a:p>
        </p:txBody>
      </p:sp>
      <p:sp>
        <p:nvSpPr>
          <p:cNvPr name="TextBox 21" id="21"/>
          <p:cNvSpPr txBox="true"/>
          <p:nvPr/>
        </p:nvSpPr>
        <p:spPr>
          <a:xfrm rot="0">
            <a:off x="10348985" y="4827024"/>
            <a:ext cx="916794" cy="613410"/>
          </a:xfrm>
          <a:prstGeom prst="rect">
            <a:avLst/>
          </a:prstGeom>
        </p:spPr>
        <p:txBody>
          <a:bodyPr anchor="t" rtlCol="false" tIns="0" lIns="0" bIns="0" rIns="0">
            <a:spAutoFit/>
          </a:bodyPr>
          <a:lstStyle/>
          <a:p>
            <a:pPr algn="l">
              <a:lnSpc>
                <a:spcPts val="5040"/>
              </a:lnSpc>
              <a:spcBef>
                <a:spcPct val="0"/>
              </a:spcBef>
            </a:pPr>
            <a:r>
              <a:rPr lang="en-US" sz="3600" b="true">
                <a:solidFill>
                  <a:srgbClr val="A5E800"/>
                </a:solidFill>
                <a:latin typeface="Poppins Bold"/>
                <a:ea typeface="Poppins Bold"/>
                <a:cs typeface="Poppins Bold"/>
                <a:sym typeface="Poppins Bold"/>
              </a:rPr>
              <a:t>02.</a:t>
            </a:r>
          </a:p>
        </p:txBody>
      </p:sp>
      <p:sp>
        <p:nvSpPr>
          <p:cNvPr name="TextBox 22" id="22"/>
          <p:cNvSpPr txBox="true"/>
          <p:nvPr/>
        </p:nvSpPr>
        <p:spPr>
          <a:xfrm rot="0">
            <a:off x="11403214" y="7267181"/>
            <a:ext cx="5674220" cy="815341"/>
          </a:xfrm>
          <a:prstGeom prst="rect">
            <a:avLst/>
          </a:prstGeom>
        </p:spPr>
        <p:txBody>
          <a:bodyPr anchor="t" rtlCol="false" tIns="0" lIns="0" bIns="0" rIns="0">
            <a:spAutoFit/>
          </a:bodyPr>
          <a:lstStyle/>
          <a:p>
            <a:pPr algn="l">
              <a:lnSpc>
                <a:spcPts val="3359"/>
              </a:lnSpc>
              <a:spcBef>
                <a:spcPct val="0"/>
              </a:spcBef>
            </a:pPr>
            <a:r>
              <a:rPr lang="en-US" sz="2399">
                <a:solidFill>
                  <a:srgbClr val="FFFFFF"/>
                </a:solidFill>
                <a:latin typeface="Open Sans"/>
                <a:ea typeface="Open Sans"/>
                <a:cs typeface="Open Sans"/>
                <a:sym typeface="Open Sans"/>
              </a:rPr>
              <a:t>Increases the distance between habitat patches.</a:t>
            </a:r>
          </a:p>
        </p:txBody>
      </p:sp>
      <p:sp>
        <p:nvSpPr>
          <p:cNvPr name="TextBox 23" id="23"/>
          <p:cNvSpPr txBox="true"/>
          <p:nvPr/>
        </p:nvSpPr>
        <p:spPr>
          <a:xfrm rot="0">
            <a:off x="10348985" y="5999091"/>
            <a:ext cx="916794" cy="613410"/>
          </a:xfrm>
          <a:prstGeom prst="rect">
            <a:avLst/>
          </a:prstGeom>
        </p:spPr>
        <p:txBody>
          <a:bodyPr anchor="t" rtlCol="false" tIns="0" lIns="0" bIns="0" rIns="0">
            <a:spAutoFit/>
          </a:bodyPr>
          <a:lstStyle/>
          <a:p>
            <a:pPr algn="l">
              <a:lnSpc>
                <a:spcPts val="5040"/>
              </a:lnSpc>
              <a:spcBef>
                <a:spcPct val="0"/>
              </a:spcBef>
            </a:pPr>
            <a:r>
              <a:rPr lang="en-US" sz="3600" b="true">
                <a:solidFill>
                  <a:srgbClr val="A5E800"/>
                </a:solidFill>
                <a:latin typeface="Poppins Bold"/>
                <a:ea typeface="Poppins Bold"/>
                <a:cs typeface="Poppins Bold"/>
                <a:sym typeface="Poppins Bold"/>
              </a:rPr>
              <a:t>03.</a:t>
            </a:r>
          </a:p>
        </p:txBody>
      </p:sp>
      <p:sp>
        <p:nvSpPr>
          <p:cNvPr name="TextBox 24" id="24"/>
          <p:cNvSpPr txBox="true"/>
          <p:nvPr/>
        </p:nvSpPr>
        <p:spPr>
          <a:xfrm rot="0">
            <a:off x="11403214" y="3777830"/>
            <a:ext cx="5588597" cy="396241"/>
          </a:xfrm>
          <a:prstGeom prst="rect">
            <a:avLst/>
          </a:prstGeom>
        </p:spPr>
        <p:txBody>
          <a:bodyPr anchor="t" rtlCol="false" tIns="0" lIns="0" bIns="0" rIns="0">
            <a:spAutoFit/>
          </a:bodyPr>
          <a:lstStyle/>
          <a:p>
            <a:pPr algn="l">
              <a:lnSpc>
                <a:spcPts val="3359"/>
              </a:lnSpc>
              <a:spcBef>
                <a:spcPct val="0"/>
              </a:spcBef>
            </a:pPr>
            <a:r>
              <a:rPr lang="en-US" sz="2399">
                <a:solidFill>
                  <a:srgbClr val="FFFFFF"/>
                </a:solidFill>
                <a:latin typeface="Open Sans"/>
                <a:ea typeface="Open Sans"/>
                <a:cs typeface="Open Sans"/>
                <a:sym typeface="Open Sans"/>
              </a:rPr>
              <a:t>Increases the amount of edge habitat.</a:t>
            </a:r>
          </a:p>
        </p:txBody>
      </p:sp>
      <p:sp>
        <p:nvSpPr>
          <p:cNvPr name="TextBox 25" id="25"/>
          <p:cNvSpPr txBox="true"/>
          <p:nvPr/>
        </p:nvSpPr>
        <p:spPr>
          <a:xfrm rot="0">
            <a:off x="10348985" y="7417677"/>
            <a:ext cx="916794" cy="613410"/>
          </a:xfrm>
          <a:prstGeom prst="rect">
            <a:avLst/>
          </a:prstGeom>
        </p:spPr>
        <p:txBody>
          <a:bodyPr anchor="t" rtlCol="false" tIns="0" lIns="0" bIns="0" rIns="0">
            <a:spAutoFit/>
          </a:bodyPr>
          <a:lstStyle/>
          <a:p>
            <a:pPr algn="l">
              <a:lnSpc>
                <a:spcPts val="5040"/>
              </a:lnSpc>
              <a:spcBef>
                <a:spcPct val="0"/>
              </a:spcBef>
            </a:pPr>
            <a:r>
              <a:rPr lang="en-US" sz="3600" b="true">
                <a:solidFill>
                  <a:srgbClr val="A5E800"/>
                </a:solidFill>
                <a:latin typeface="Poppins Bold"/>
                <a:ea typeface="Poppins Bold"/>
                <a:cs typeface="Poppins Bold"/>
                <a:sym typeface="Poppins Bold"/>
              </a:rPr>
              <a:t>04.</a:t>
            </a:r>
          </a:p>
        </p:txBody>
      </p:sp>
      <p:sp>
        <p:nvSpPr>
          <p:cNvPr name="TextBox 26" id="26"/>
          <p:cNvSpPr txBox="true"/>
          <p:nvPr/>
        </p:nvSpPr>
        <p:spPr>
          <a:xfrm rot="0">
            <a:off x="10348985" y="1384833"/>
            <a:ext cx="6910315" cy="1955800"/>
          </a:xfrm>
          <a:prstGeom prst="rect">
            <a:avLst/>
          </a:prstGeom>
        </p:spPr>
        <p:txBody>
          <a:bodyPr anchor="t" rtlCol="false" tIns="0" lIns="0" bIns="0" rIns="0">
            <a:spAutoFit/>
          </a:bodyPr>
          <a:lstStyle/>
          <a:p>
            <a:pPr algn="l">
              <a:lnSpc>
                <a:spcPts val="7699"/>
              </a:lnSpc>
              <a:spcBef>
                <a:spcPct val="0"/>
              </a:spcBef>
            </a:pPr>
            <a:r>
              <a:rPr lang="en-US" b="true" sz="5499">
                <a:solidFill>
                  <a:srgbClr val="B6F61A"/>
                </a:solidFill>
                <a:latin typeface="Poppins Bold"/>
                <a:ea typeface="Poppins Bold"/>
                <a:cs typeface="Poppins Bold"/>
                <a:sym typeface="Poppins Bold"/>
              </a:rPr>
              <a:t>HABITAT FRAGMENTATION</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03D25"/>
        </a:solidFill>
      </p:bgPr>
    </p:bg>
    <p:spTree>
      <p:nvGrpSpPr>
        <p:cNvPr id="1" name=""/>
        <p:cNvGrpSpPr/>
        <p:nvPr/>
      </p:nvGrpSpPr>
      <p:grpSpPr>
        <a:xfrm>
          <a:off x="0" y="0"/>
          <a:ext cx="0" cy="0"/>
          <a:chOff x="0" y="0"/>
          <a:chExt cx="0" cy="0"/>
        </a:xfrm>
      </p:grpSpPr>
      <p:grpSp>
        <p:nvGrpSpPr>
          <p:cNvPr name="Group 2" id="2"/>
          <p:cNvGrpSpPr/>
          <p:nvPr/>
        </p:nvGrpSpPr>
        <p:grpSpPr>
          <a:xfrm rot="0">
            <a:off x="3078480" y="4796795"/>
            <a:ext cx="12131040" cy="5490205"/>
            <a:chOff x="0" y="0"/>
            <a:chExt cx="6350000" cy="2873851"/>
          </a:xfrm>
        </p:grpSpPr>
        <p:sp>
          <p:nvSpPr>
            <p:cNvPr name="Freeform 3" id="3"/>
            <p:cNvSpPr/>
            <p:nvPr/>
          </p:nvSpPr>
          <p:spPr>
            <a:xfrm flipH="false" flipV="false" rot="0">
              <a:off x="0" y="0"/>
              <a:ext cx="6350000" cy="2873851"/>
            </a:xfrm>
            <a:custGeom>
              <a:avLst/>
              <a:gdLst/>
              <a:ahLst/>
              <a:cxnLst/>
              <a:rect r="r" b="b" t="t" l="l"/>
              <a:pathLst>
                <a:path h="2873851" w="6350000">
                  <a:moveTo>
                    <a:pt x="6350000" y="2873851"/>
                  </a:moveTo>
                  <a:lnTo>
                    <a:pt x="0" y="2873851"/>
                  </a:lnTo>
                  <a:lnTo>
                    <a:pt x="0" y="1425430"/>
                  </a:lnTo>
                  <a:cubicBezTo>
                    <a:pt x="0" y="637995"/>
                    <a:pt x="704850" y="0"/>
                    <a:pt x="1574800" y="0"/>
                  </a:cubicBezTo>
                  <a:lnTo>
                    <a:pt x="4775200" y="0"/>
                  </a:lnTo>
                  <a:cubicBezTo>
                    <a:pt x="5645150" y="0"/>
                    <a:pt x="6350000" y="637995"/>
                    <a:pt x="6350000" y="1425430"/>
                  </a:cubicBezTo>
                  <a:lnTo>
                    <a:pt x="6350000" y="2873851"/>
                  </a:lnTo>
                  <a:close/>
                </a:path>
              </a:pathLst>
            </a:custGeom>
            <a:blipFill>
              <a:blip r:embed="rId2"/>
              <a:stretch>
                <a:fillRect l="0" t="-267" r="0" b="-267"/>
              </a:stretch>
            </a:blipFill>
          </p:spPr>
        </p:sp>
      </p:grpSp>
      <p:sp>
        <p:nvSpPr>
          <p:cNvPr name="Freeform 4" id="4"/>
          <p:cNvSpPr/>
          <p:nvPr/>
        </p:nvSpPr>
        <p:spPr>
          <a:xfrm flipH="false" flipV="false" rot="5460838">
            <a:off x="14891406" y="6807481"/>
            <a:ext cx="6392809" cy="6433669"/>
          </a:xfrm>
          <a:custGeom>
            <a:avLst/>
            <a:gdLst/>
            <a:ahLst/>
            <a:cxnLst/>
            <a:rect r="r" b="b" t="t" l="l"/>
            <a:pathLst>
              <a:path h="6433669" w="6392809">
                <a:moveTo>
                  <a:pt x="0" y="0"/>
                </a:moveTo>
                <a:lnTo>
                  <a:pt x="6392808" y="0"/>
                </a:lnTo>
                <a:lnTo>
                  <a:pt x="6392808" y="6433669"/>
                </a:lnTo>
                <a:lnTo>
                  <a:pt x="0" y="643366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10800000">
            <a:off x="15064977" y="7412911"/>
            <a:ext cx="2589979" cy="2250798"/>
          </a:xfrm>
          <a:custGeom>
            <a:avLst/>
            <a:gdLst/>
            <a:ahLst/>
            <a:cxnLst/>
            <a:rect r="r" b="b" t="t" l="l"/>
            <a:pathLst>
              <a:path h="2250798" w="2589979">
                <a:moveTo>
                  <a:pt x="0" y="0"/>
                </a:moveTo>
                <a:lnTo>
                  <a:pt x="2589979" y="0"/>
                </a:lnTo>
                <a:lnTo>
                  <a:pt x="2589979" y="2250798"/>
                </a:lnTo>
                <a:lnTo>
                  <a:pt x="0" y="22507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10090965">
            <a:off x="-2007843" y="6460378"/>
            <a:ext cx="5843512" cy="5880861"/>
          </a:xfrm>
          <a:custGeom>
            <a:avLst/>
            <a:gdLst/>
            <a:ahLst/>
            <a:cxnLst/>
            <a:rect r="r" b="b" t="t" l="l"/>
            <a:pathLst>
              <a:path h="5880861" w="5843512">
                <a:moveTo>
                  <a:pt x="0" y="0"/>
                </a:moveTo>
                <a:lnTo>
                  <a:pt x="5843512" y="0"/>
                </a:lnTo>
                <a:lnTo>
                  <a:pt x="5843512" y="5880862"/>
                </a:lnTo>
                <a:lnTo>
                  <a:pt x="0" y="58808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true" flipV="false" rot="-7932697">
            <a:off x="874234" y="6438987"/>
            <a:ext cx="2366010" cy="4114800"/>
          </a:xfrm>
          <a:custGeom>
            <a:avLst/>
            <a:gdLst/>
            <a:ahLst/>
            <a:cxnLst/>
            <a:rect r="r" b="b" t="t" l="l"/>
            <a:pathLst>
              <a:path h="4114800" w="2366010">
                <a:moveTo>
                  <a:pt x="2366010" y="0"/>
                </a:moveTo>
                <a:lnTo>
                  <a:pt x="0" y="0"/>
                </a:lnTo>
                <a:lnTo>
                  <a:pt x="0" y="4114800"/>
                </a:lnTo>
                <a:lnTo>
                  <a:pt x="2366010" y="4114800"/>
                </a:lnTo>
                <a:lnTo>
                  <a:pt x="236601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5339161">
            <a:off x="-2921756" y="-2940431"/>
            <a:ext cx="5843512" cy="5880861"/>
          </a:xfrm>
          <a:custGeom>
            <a:avLst/>
            <a:gdLst/>
            <a:ahLst/>
            <a:cxnLst/>
            <a:rect r="r" b="b" t="t" l="l"/>
            <a:pathLst>
              <a:path h="5880861" w="5843512">
                <a:moveTo>
                  <a:pt x="0" y="0"/>
                </a:moveTo>
                <a:lnTo>
                  <a:pt x="5843512" y="0"/>
                </a:lnTo>
                <a:lnTo>
                  <a:pt x="5843512" y="5880862"/>
                </a:lnTo>
                <a:lnTo>
                  <a:pt x="0" y="58808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395661" y="329621"/>
            <a:ext cx="1359207" cy="1181207"/>
          </a:xfrm>
          <a:custGeom>
            <a:avLst/>
            <a:gdLst/>
            <a:ahLst/>
            <a:cxnLst/>
            <a:rect r="r" b="b" t="t" l="l"/>
            <a:pathLst>
              <a:path h="1181207" w="1359207">
                <a:moveTo>
                  <a:pt x="0" y="0"/>
                </a:moveTo>
                <a:lnTo>
                  <a:pt x="1359207" y="0"/>
                </a:lnTo>
                <a:lnTo>
                  <a:pt x="1359207" y="1181207"/>
                </a:lnTo>
                <a:lnTo>
                  <a:pt x="0" y="118120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0" id="10"/>
          <p:cNvGrpSpPr/>
          <p:nvPr/>
        </p:nvGrpSpPr>
        <p:grpSpPr>
          <a:xfrm rot="0">
            <a:off x="4044672" y="612775"/>
            <a:ext cx="9344090" cy="831850"/>
            <a:chOff x="0" y="0"/>
            <a:chExt cx="12458787" cy="1109133"/>
          </a:xfrm>
        </p:grpSpPr>
        <p:sp>
          <p:nvSpPr>
            <p:cNvPr name="TextBox 11" id="11"/>
            <p:cNvSpPr txBox="true"/>
            <p:nvPr/>
          </p:nvSpPr>
          <p:spPr>
            <a:xfrm rot="0">
              <a:off x="4321198" y="-152400"/>
              <a:ext cx="8137589" cy="1261533"/>
            </a:xfrm>
            <a:prstGeom prst="rect">
              <a:avLst/>
            </a:prstGeom>
          </p:spPr>
          <p:txBody>
            <a:bodyPr anchor="t" rtlCol="false" tIns="0" lIns="0" bIns="0" rIns="0">
              <a:spAutoFit/>
            </a:bodyPr>
            <a:lstStyle/>
            <a:p>
              <a:pPr algn="ctr">
                <a:lnSpc>
                  <a:spcPts val="7699"/>
                </a:lnSpc>
                <a:spcBef>
                  <a:spcPct val="0"/>
                </a:spcBef>
              </a:pPr>
              <a:r>
                <a:rPr lang="en-US" b="true" sz="5499">
                  <a:solidFill>
                    <a:srgbClr val="B6F61A"/>
                  </a:solidFill>
                  <a:latin typeface="Poppins Bold"/>
                  <a:ea typeface="Poppins Bold"/>
                  <a:cs typeface="Poppins Bold"/>
                  <a:sym typeface="Poppins Bold"/>
                </a:rPr>
                <a:t>ISOLATION</a:t>
              </a:r>
            </a:p>
          </p:txBody>
        </p:sp>
        <p:sp>
          <p:nvSpPr>
            <p:cNvPr name="TextBox 12" id="12"/>
            <p:cNvSpPr txBox="true"/>
            <p:nvPr/>
          </p:nvSpPr>
          <p:spPr>
            <a:xfrm rot="0">
              <a:off x="0" y="-152400"/>
              <a:ext cx="8137589" cy="1261533"/>
            </a:xfrm>
            <a:prstGeom prst="rect">
              <a:avLst/>
            </a:prstGeom>
          </p:spPr>
          <p:txBody>
            <a:bodyPr anchor="t" rtlCol="false" tIns="0" lIns="0" bIns="0" rIns="0">
              <a:spAutoFit/>
            </a:bodyPr>
            <a:lstStyle/>
            <a:p>
              <a:pPr algn="ctr">
                <a:lnSpc>
                  <a:spcPts val="7699"/>
                </a:lnSpc>
                <a:spcBef>
                  <a:spcPct val="0"/>
                </a:spcBef>
              </a:pPr>
              <a:r>
                <a:rPr lang="en-US" sz="5499">
                  <a:solidFill>
                    <a:srgbClr val="FFFFFF"/>
                  </a:solidFill>
                  <a:latin typeface="Poppins"/>
                  <a:ea typeface="Poppins"/>
                  <a:cs typeface="Poppins"/>
                  <a:sym typeface="Poppins"/>
                </a:rPr>
                <a:t>PATCH</a:t>
              </a:r>
            </a:p>
          </p:txBody>
        </p:sp>
      </p:grpSp>
      <p:sp>
        <p:nvSpPr>
          <p:cNvPr name="TextBox 13" id="13"/>
          <p:cNvSpPr txBox="true"/>
          <p:nvPr/>
        </p:nvSpPr>
        <p:spPr>
          <a:xfrm rot="0">
            <a:off x="1482815" y="1748554"/>
            <a:ext cx="15625278" cy="880110"/>
          </a:xfrm>
          <a:prstGeom prst="rect">
            <a:avLst/>
          </a:prstGeom>
        </p:spPr>
        <p:txBody>
          <a:bodyPr anchor="t" rtlCol="false" tIns="0" lIns="0" bIns="0" rIns="0">
            <a:spAutoFit/>
          </a:bodyPr>
          <a:lstStyle/>
          <a:p>
            <a:pPr algn="ctr">
              <a:lnSpc>
                <a:spcPts val="3509"/>
              </a:lnSpc>
            </a:pPr>
            <a:r>
              <a:rPr lang="en-US" sz="2699">
                <a:solidFill>
                  <a:srgbClr val="FFFFFF"/>
                </a:solidFill>
                <a:latin typeface="Open Sans"/>
                <a:ea typeface="Open Sans"/>
                <a:cs typeface="Open Sans"/>
                <a:sym typeface="Open Sans"/>
              </a:rPr>
              <a:t>Isolation is a function of both the </a:t>
            </a:r>
            <a:r>
              <a:rPr lang="en-US" b="true" sz="2699">
                <a:solidFill>
                  <a:srgbClr val="FFFFFF"/>
                </a:solidFill>
                <a:latin typeface="Open Sans Bold"/>
                <a:ea typeface="Open Sans Bold"/>
                <a:cs typeface="Open Sans Bold"/>
                <a:sym typeface="Open Sans Bold"/>
              </a:rPr>
              <a:t>distance between</a:t>
            </a:r>
            <a:r>
              <a:rPr lang="en-US" sz="2699">
                <a:solidFill>
                  <a:srgbClr val="FFFFFF"/>
                </a:solidFill>
                <a:latin typeface="Open Sans"/>
                <a:ea typeface="Open Sans"/>
                <a:cs typeface="Open Sans"/>
                <a:sym typeface="Open Sans"/>
              </a:rPr>
              <a:t> habitat patches and the </a:t>
            </a:r>
            <a:r>
              <a:rPr lang="en-US" b="true" sz="2699">
                <a:solidFill>
                  <a:srgbClr val="FFFFFF"/>
                </a:solidFill>
                <a:latin typeface="Open Sans Bold"/>
                <a:ea typeface="Open Sans Bold"/>
                <a:cs typeface="Open Sans Bold"/>
                <a:sym typeface="Open Sans Bold"/>
              </a:rPr>
              <a:t>matrix that separates</a:t>
            </a:r>
            <a:r>
              <a:rPr lang="en-US" sz="2699">
                <a:solidFill>
                  <a:srgbClr val="FFFFFF"/>
                </a:solidFill>
                <a:latin typeface="Open Sans"/>
                <a:ea typeface="Open Sans"/>
                <a:cs typeface="Open Sans"/>
                <a:sym typeface="Open Sans"/>
              </a:rPr>
              <a:t> those habitat patches</a:t>
            </a:r>
          </a:p>
        </p:txBody>
      </p:sp>
      <p:sp>
        <p:nvSpPr>
          <p:cNvPr name="TextBox 14" id="14"/>
          <p:cNvSpPr txBox="true"/>
          <p:nvPr/>
        </p:nvSpPr>
        <p:spPr>
          <a:xfrm rot="0">
            <a:off x="1482815" y="2935233"/>
            <a:ext cx="15625278" cy="727710"/>
          </a:xfrm>
          <a:prstGeom prst="rect">
            <a:avLst/>
          </a:prstGeom>
        </p:spPr>
        <p:txBody>
          <a:bodyPr anchor="t" rtlCol="false" tIns="0" lIns="0" bIns="0" rIns="0">
            <a:spAutoFit/>
          </a:bodyPr>
          <a:lstStyle/>
          <a:p>
            <a:pPr algn="ctr">
              <a:lnSpc>
                <a:spcPts val="2939"/>
              </a:lnSpc>
              <a:spcBef>
                <a:spcPct val="0"/>
              </a:spcBef>
            </a:pPr>
            <a:r>
              <a:rPr lang="en-US" sz="2099">
                <a:solidFill>
                  <a:srgbClr val="FFFFFF"/>
                </a:solidFill>
                <a:latin typeface="Open Sans"/>
                <a:ea typeface="Open Sans"/>
                <a:cs typeface="Open Sans"/>
                <a:sym typeface="Open Sans"/>
              </a:rPr>
              <a:t>As the matrix that separates habitat patches becomes increasingly hostile to dispersal, the successful emigration out of patches, and immigration into patches, becomes less likely.</a:t>
            </a:r>
          </a:p>
        </p:txBody>
      </p:sp>
      <p:sp>
        <p:nvSpPr>
          <p:cNvPr name="TextBox 15" id="15"/>
          <p:cNvSpPr txBox="true"/>
          <p:nvPr/>
        </p:nvSpPr>
        <p:spPr>
          <a:xfrm rot="0">
            <a:off x="1331361" y="3958219"/>
            <a:ext cx="15625278" cy="422276"/>
          </a:xfrm>
          <a:prstGeom prst="rect">
            <a:avLst/>
          </a:prstGeom>
        </p:spPr>
        <p:txBody>
          <a:bodyPr anchor="t" rtlCol="false" tIns="0" lIns="0" bIns="0" rIns="0">
            <a:spAutoFit/>
          </a:bodyPr>
          <a:lstStyle/>
          <a:p>
            <a:pPr algn="ctr">
              <a:lnSpc>
                <a:spcPts val="3499"/>
              </a:lnSpc>
              <a:spcBef>
                <a:spcPct val="0"/>
              </a:spcBef>
            </a:pPr>
            <a:r>
              <a:rPr lang="en-US" sz="2499">
                <a:solidFill>
                  <a:srgbClr val="B6F61A"/>
                </a:solidFill>
                <a:latin typeface="Open Sans"/>
                <a:ea typeface="Open Sans"/>
                <a:cs typeface="Open Sans"/>
                <a:sym typeface="Open Sans"/>
              </a:rPr>
              <a:t>Which built environments are disproportionately hostile to animals?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DAGzu-0sWo8</dc:identifier>
  <dcterms:modified xsi:type="dcterms:W3CDTF">2011-08-01T06:04:30Z</dcterms:modified>
  <cp:revision>1</cp:revision>
  <dc:title>9-2_habitat_fragmentation</dc:title>
</cp:coreProperties>
</file>