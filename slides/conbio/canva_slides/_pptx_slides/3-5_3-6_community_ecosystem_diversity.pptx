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Cooper BT Bold" charset="1" panose="0208080404030B020404"/>
      <p:regular r:id="rId23"/>
    </p:embeddedFont>
    <p:embeddedFont>
      <p:font typeface="Canva Sans Bold" charset="1" panose="020B0803030501040103"/>
      <p:regular r:id="rId24"/>
    </p:embeddedFont>
    <p:embeddedFont>
      <p:font typeface="Canva Sans Medium" charset="1" panose="020B0603030501040103"/>
      <p:regular r:id="rId25"/>
    </p:embeddedFont>
    <p:embeddedFont>
      <p:font typeface="Canva Sans Medium Italics" charset="1" panose="020B0603030501040103"/>
      <p:regular r:id="rId26"/>
    </p:embeddedFont>
    <p:embeddedFont>
      <p:font typeface="Futura" charset="1" panose="020B0502020204020303"/>
      <p:regular r:id="rId27"/>
    </p:embeddedFont>
    <p:embeddedFont>
      <p:font typeface="Lilita One" charset="1" panose="02000000000000000000"/>
      <p:regular r:id="rId28"/>
    </p:embeddedFont>
    <p:embeddedFont>
      <p:font typeface="Pangolin" charset="1" panose="00000500000000000000"/>
      <p:regular r:id="rId29"/>
    </p:embeddedFont>
    <p:embeddedFont>
      <p:font typeface="Kapsalon" charset="1" panose="00000000000000000000"/>
      <p:regular r:id="rId30"/>
    </p:embeddedFont>
    <p:embeddedFont>
      <p:font typeface="Sunborn" charset="1" panose="00000500000000000000"/>
      <p:regular r:id="rId31"/>
    </p:embeddedFont>
    <p:embeddedFont>
      <p:font typeface="Cooper BT Bold Italics" charset="1" panose="0208080405030B0904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1.jpeg" Type="http://schemas.openxmlformats.org/officeDocument/2006/relationships/image"/><Relationship Id="rId9" Target="../media/image2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jpeg" Type="http://schemas.openxmlformats.org/officeDocument/2006/relationships/image"/><Relationship Id="rId9" Target="../media/image2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https://youtu.be/W88Sact1kws?si=YneZCS6_LTMRLvuv" TargetMode="External" Type="http://schemas.openxmlformats.org/officeDocument/2006/relationships/video"/></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 Id="rId8" Target="../media/image3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jpeg" Type="http://schemas.openxmlformats.org/officeDocument/2006/relationships/image"/><Relationship Id="rId3" Target="../media/image41.jpeg" Type="http://schemas.openxmlformats.org/officeDocument/2006/relationships/image"/><Relationship Id="rId4" Target="../media/image42.jpeg" Type="http://schemas.openxmlformats.org/officeDocument/2006/relationships/image"/><Relationship Id="rId5" Target="../media/image43.jpeg" Type="http://schemas.openxmlformats.org/officeDocument/2006/relationships/image"/><Relationship Id="rId6" Target="https://vimeo.com/272477469"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jpeg" Type="http://schemas.openxmlformats.org/officeDocument/2006/relationships/image"/><Relationship Id="rId3" Target="https://youtu.be/W1GAQLKXZj8?si=7U_9bf210fkQfe5U&amp;t=22" TargetMode="External" Type="http://schemas.openxmlformats.org/officeDocument/2006/relationships/hyperlink"/></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https://youtu.be/9CVvfFwfI4U?si=UqrnxH69DS4gRLf3" TargetMode="External" Type="http://schemas.openxmlformats.org/officeDocument/2006/relationships/video"/></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5.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https://youtu.be/rN5KzBVxNl4?si=DCyVeHODycaSWeZv" TargetMode="External" Type="http://schemas.openxmlformats.org/officeDocument/2006/relationships/video"/></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grpSp>
        <p:nvGrpSpPr>
          <p:cNvPr name="Group 2" id="2"/>
          <p:cNvGrpSpPr/>
          <p:nvPr/>
        </p:nvGrpSpPr>
        <p:grpSpPr>
          <a:xfrm rot="0">
            <a:off x="-27106" y="0"/>
            <a:ext cx="18342213" cy="10287000"/>
            <a:chOff x="0" y="0"/>
            <a:chExt cx="24456283" cy="13716000"/>
          </a:xfrm>
        </p:grpSpPr>
        <p:sp>
          <p:nvSpPr>
            <p:cNvPr name="Freeform 3" id="3"/>
            <p:cNvSpPr/>
            <p:nvPr/>
          </p:nvSpPr>
          <p:spPr>
            <a:xfrm flipH="false" flipV="false" rot="-10800000">
              <a:off x="2782211"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 id="4"/>
            <p:cNvSpPr/>
            <p:nvPr/>
          </p:nvSpPr>
          <p:spPr>
            <a:xfrm flipH="false" flipV="false" rot="0">
              <a:off x="0" y="0"/>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10800000">
              <a:off x="5491470"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6" id="6"/>
            <p:cNvSpPr/>
            <p:nvPr/>
          </p:nvSpPr>
          <p:spPr>
            <a:xfrm flipH="false" flipV="false" rot="-10800000">
              <a:off x="8200729"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7" id="7"/>
            <p:cNvSpPr/>
            <p:nvPr/>
          </p:nvSpPr>
          <p:spPr>
            <a:xfrm flipH="false" flipV="false" rot="-10800000">
              <a:off x="10909988"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8" id="8"/>
            <p:cNvSpPr/>
            <p:nvPr/>
          </p:nvSpPr>
          <p:spPr>
            <a:xfrm flipH="false" flipV="false" rot="-10800000">
              <a:off x="13619247"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9" id="9"/>
            <p:cNvSpPr/>
            <p:nvPr/>
          </p:nvSpPr>
          <p:spPr>
            <a:xfrm flipH="false" flipV="false" rot="-10800000">
              <a:off x="16328506"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0" id="10"/>
            <p:cNvSpPr/>
            <p:nvPr/>
          </p:nvSpPr>
          <p:spPr>
            <a:xfrm flipH="false" flipV="false" rot="-10800000">
              <a:off x="19037765"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1" id="11"/>
            <p:cNvSpPr/>
            <p:nvPr/>
          </p:nvSpPr>
          <p:spPr>
            <a:xfrm flipH="false" flipV="false" rot="-10800000">
              <a:off x="21747024"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2" id="12"/>
            <p:cNvSpPr/>
            <p:nvPr/>
          </p:nvSpPr>
          <p:spPr>
            <a:xfrm flipH="false" flipV="false" rot="-10800000">
              <a:off x="2782211"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3" id="13"/>
            <p:cNvSpPr/>
            <p:nvPr/>
          </p:nvSpPr>
          <p:spPr>
            <a:xfrm flipH="false" flipV="false" rot="0">
              <a:off x="0" y="2736056"/>
              <a:ext cx="2782211" cy="2771778"/>
            </a:xfrm>
            <a:custGeom>
              <a:avLst/>
              <a:gdLst/>
              <a:ahLst/>
              <a:cxnLst/>
              <a:rect r="r" b="b" t="t" l="l"/>
              <a:pathLst>
                <a:path h="2771778" w="2782211">
                  <a:moveTo>
                    <a:pt x="0" y="0"/>
                  </a:moveTo>
                  <a:lnTo>
                    <a:pt x="2782211" y="0"/>
                  </a:lnTo>
                  <a:lnTo>
                    <a:pt x="2782211"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4" id="14"/>
            <p:cNvSpPr/>
            <p:nvPr/>
          </p:nvSpPr>
          <p:spPr>
            <a:xfrm flipH="false" flipV="false" rot="-10800000">
              <a:off x="5491470"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5" id="15"/>
            <p:cNvSpPr/>
            <p:nvPr/>
          </p:nvSpPr>
          <p:spPr>
            <a:xfrm flipH="false" flipV="false" rot="-10800000">
              <a:off x="8200729"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6" id="16"/>
            <p:cNvSpPr/>
            <p:nvPr/>
          </p:nvSpPr>
          <p:spPr>
            <a:xfrm flipH="false" flipV="false" rot="-10800000">
              <a:off x="10909988"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7" id="17"/>
            <p:cNvSpPr/>
            <p:nvPr/>
          </p:nvSpPr>
          <p:spPr>
            <a:xfrm flipH="false" flipV="false" rot="-10800000">
              <a:off x="13619247"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8" id="18"/>
            <p:cNvSpPr/>
            <p:nvPr/>
          </p:nvSpPr>
          <p:spPr>
            <a:xfrm flipH="false" flipV="false" rot="-10800000">
              <a:off x="16328506"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9" id="19"/>
            <p:cNvSpPr/>
            <p:nvPr/>
          </p:nvSpPr>
          <p:spPr>
            <a:xfrm flipH="false" flipV="false" rot="-10800000">
              <a:off x="19037765"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0" id="20"/>
            <p:cNvSpPr/>
            <p:nvPr/>
          </p:nvSpPr>
          <p:spPr>
            <a:xfrm flipH="false" flipV="false" rot="-10800000">
              <a:off x="21747024"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1" id="21"/>
            <p:cNvSpPr/>
            <p:nvPr/>
          </p:nvSpPr>
          <p:spPr>
            <a:xfrm flipH="false" flipV="false" rot="-10800000">
              <a:off x="2782211"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2" id="22"/>
            <p:cNvSpPr/>
            <p:nvPr/>
          </p:nvSpPr>
          <p:spPr>
            <a:xfrm flipH="false" flipV="false" rot="0">
              <a:off x="0" y="5472111"/>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3" id="23"/>
            <p:cNvSpPr/>
            <p:nvPr/>
          </p:nvSpPr>
          <p:spPr>
            <a:xfrm flipH="false" flipV="false" rot="-10800000">
              <a:off x="5491470"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4" id="24"/>
            <p:cNvSpPr/>
            <p:nvPr/>
          </p:nvSpPr>
          <p:spPr>
            <a:xfrm flipH="false" flipV="false" rot="-10800000">
              <a:off x="8200729"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5" id="25"/>
            <p:cNvSpPr/>
            <p:nvPr/>
          </p:nvSpPr>
          <p:spPr>
            <a:xfrm flipH="false" flipV="false" rot="-10800000">
              <a:off x="10909988"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6" id="26"/>
            <p:cNvSpPr/>
            <p:nvPr/>
          </p:nvSpPr>
          <p:spPr>
            <a:xfrm flipH="false" flipV="false" rot="-10800000">
              <a:off x="13619247"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7" id="27"/>
            <p:cNvSpPr/>
            <p:nvPr/>
          </p:nvSpPr>
          <p:spPr>
            <a:xfrm flipH="false" flipV="false" rot="-10800000">
              <a:off x="16328506"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8" id="28"/>
            <p:cNvSpPr/>
            <p:nvPr/>
          </p:nvSpPr>
          <p:spPr>
            <a:xfrm flipH="false" flipV="false" rot="-10800000">
              <a:off x="19037765"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9" id="29"/>
            <p:cNvSpPr/>
            <p:nvPr/>
          </p:nvSpPr>
          <p:spPr>
            <a:xfrm flipH="false" flipV="false" rot="-10800000">
              <a:off x="21747024"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0" id="30"/>
            <p:cNvSpPr/>
            <p:nvPr/>
          </p:nvSpPr>
          <p:spPr>
            <a:xfrm flipH="false" flipV="false" rot="-10800000">
              <a:off x="2782211"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1" id="31"/>
            <p:cNvSpPr/>
            <p:nvPr/>
          </p:nvSpPr>
          <p:spPr>
            <a:xfrm flipH="false" flipV="false" rot="0">
              <a:off x="0" y="8208167"/>
              <a:ext cx="2782211" cy="2771778"/>
            </a:xfrm>
            <a:custGeom>
              <a:avLst/>
              <a:gdLst/>
              <a:ahLst/>
              <a:cxnLst/>
              <a:rect r="r" b="b" t="t" l="l"/>
              <a:pathLst>
                <a:path h="2771778" w="2782211">
                  <a:moveTo>
                    <a:pt x="0" y="0"/>
                  </a:moveTo>
                  <a:lnTo>
                    <a:pt x="2782211" y="0"/>
                  </a:lnTo>
                  <a:lnTo>
                    <a:pt x="2782211"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2" id="32"/>
            <p:cNvSpPr/>
            <p:nvPr/>
          </p:nvSpPr>
          <p:spPr>
            <a:xfrm flipH="false" flipV="false" rot="-10800000">
              <a:off x="5491470"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3" id="33"/>
            <p:cNvSpPr/>
            <p:nvPr/>
          </p:nvSpPr>
          <p:spPr>
            <a:xfrm flipH="false" flipV="false" rot="-10800000">
              <a:off x="8200729"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4" id="34"/>
            <p:cNvSpPr/>
            <p:nvPr/>
          </p:nvSpPr>
          <p:spPr>
            <a:xfrm flipH="false" flipV="false" rot="-10800000">
              <a:off x="10909988"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5" id="35"/>
            <p:cNvSpPr/>
            <p:nvPr/>
          </p:nvSpPr>
          <p:spPr>
            <a:xfrm flipH="false" flipV="false" rot="-10800000">
              <a:off x="13619247"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6" id="36"/>
            <p:cNvSpPr/>
            <p:nvPr/>
          </p:nvSpPr>
          <p:spPr>
            <a:xfrm flipH="false" flipV="false" rot="-10800000">
              <a:off x="16328506"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7" id="37"/>
            <p:cNvSpPr/>
            <p:nvPr/>
          </p:nvSpPr>
          <p:spPr>
            <a:xfrm flipH="false" flipV="false" rot="-10800000">
              <a:off x="19037765"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8" id="38"/>
            <p:cNvSpPr/>
            <p:nvPr/>
          </p:nvSpPr>
          <p:spPr>
            <a:xfrm flipH="false" flipV="false" rot="-10800000">
              <a:off x="21747024"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9" id="39"/>
            <p:cNvSpPr/>
            <p:nvPr/>
          </p:nvSpPr>
          <p:spPr>
            <a:xfrm flipH="false" flipV="false" rot="-10800000">
              <a:off x="2782211"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0" id="40"/>
            <p:cNvSpPr/>
            <p:nvPr/>
          </p:nvSpPr>
          <p:spPr>
            <a:xfrm flipH="false" flipV="false" rot="0">
              <a:off x="0" y="10944222"/>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1" id="41"/>
            <p:cNvSpPr/>
            <p:nvPr/>
          </p:nvSpPr>
          <p:spPr>
            <a:xfrm flipH="false" flipV="false" rot="-10800000">
              <a:off x="5491470"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2" id="42"/>
            <p:cNvSpPr/>
            <p:nvPr/>
          </p:nvSpPr>
          <p:spPr>
            <a:xfrm flipH="false" flipV="false" rot="-10800000">
              <a:off x="8200729"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3" id="43"/>
            <p:cNvSpPr/>
            <p:nvPr/>
          </p:nvSpPr>
          <p:spPr>
            <a:xfrm flipH="false" flipV="false" rot="-10800000">
              <a:off x="10909988"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4" id="44"/>
            <p:cNvSpPr/>
            <p:nvPr/>
          </p:nvSpPr>
          <p:spPr>
            <a:xfrm flipH="false" flipV="false" rot="-10800000">
              <a:off x="13619247"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5" id="45"/>
            <p:cNvSpPr/>
            <p:nvPr/>
          </p:nvSpPr>
          <p:spPr>
            <a:xfrm flipH="false" flipV="false" rot="-10800000">
              <a:off x="16328506"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6" id="46"/>
            <p:cNvSpPr/>
            <p:nvPr/>
          </p:nvSpPr>
          <p:spPr>
            <a:xfrm flipH="false" flipV="false" rot="-10800000">
              <a:off x="19037765"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7" id="47"/>
            <p:cNvSpPr/>
            <p:nvPr/>
          </p:nvSpPr>
          <p:spPr>
            <a:xfrm flipH="false" flipV="false" rot="-10800000">
              <a:off x="21747024"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grpSp>
      <p:sp>
        <p:nvSpPr>
          <p:cNvPr name="Freeform 48" id="48"/>
          <p:cNvSpPr/>
          <p:nvPr/>
        </p:nvSpPr>
        <p:spPr>
          <a:xfrm flipH="false" flipV="false" rot="-395974">
            <a:off x="5567665" y="6908415"/>
            <a:ext cx="7851202" cy="8584813"/>
          </a:xfrm>
          <a:custGeom>
            <a:avLst/>
            <a:gdLst/>
            <a:ahLst/>
            <a:cxnLst/>
            <a:rect r="r" b="b" t="t" l="l"/>
            <a:pathLst>
              <a:path h="8584813" w="7851202">
                <a:moveTo>
                  <a:pt x="0" y="0"/>
                </a:moveTo>
                <a:lnTo>
                  <a:pt x="7851201" y="0"/>
                </a:lnTo>
                <a:lnTo>
                  <a:pt x="7851201" y="8584813"/>
                </a:lnTo>
                <a:lnTo>
                  <a:pt x="0" y="85848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9" id="49"/>
          <p:cNvSpPr/>
          <p:nvPr/>
        </p:nvSpPr>
        <p:spPr>
          <a:xfrm flipH="false" flipV="false" rot="0">
            <a:off x="-666583" y="4665252"/>
            <a:ext cx="6746241" cy="1226589"/>
          </a:xfrm>
          <a:custGeom>
            <a:avLst/>
            <a:gdLst/>
            <a:ahLst/>
            <a:cxnLst/>
            <a:rect r="r" b="b" t="t" l="l"/>
            <a:pathLst>
              <a:path h="1226589" w="6746241">
                <a:moveTo>
                  <a:pt x="0" y="0"/>
                </a:moveTo>
                <a:lnTo>
                  <a:pt x="6746241" y="0"/>
                </a:lnTo>
                <a:lnTo>
                  <a:pt x="6746241" y="1226589"/>
                </a:lnTo>
                <a:lnTo>
                  <a:pt x="0" y="12265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0" id="50"/>
          <p:cNvSpPr/>
          <p:nvPr/>
        </p:nvSpPr>
        <p:spPr>
          <a:xfrm flipH="true" flipV="false" rot="0">
            <a:off x="-1669062" y="2238045"/>
            <a:ext cx="5615726" cy="4053533"/>
          </a:xfrm>
          <a:custGeom>
            <a:avLst/>
            <a:gdLst/>
            <a:ahLst/>
            <a:cxnLst/>
            <a:rect r="r" b="b" t="t" l="l"/>
            <a:pathLst>
              <a:path h="4053533" w="5615726">
                <a:moveTo>
                  <a:pt x="5615727" y="0"/>
                </a:moveTo>
                <a:lnTo>
                  <a:pt x="0" y="0"/>
                </a:lnTo>
                <a:lnTo>
                  <a:pt x="0" y="4053533"/>
                </a:lnTo>
                <a:lnTo>
                  <a:pt x="5615727" y="4053533"/>
                </a:lnTo>
                <a:lnTo>
                  <a:pt x="5615727"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51" id="51"/>
          <p:cNvSpPr/>
          <p:nvPr/>
        </p:nvSpPr>
        <p:spPr>
          <a:xfrm flipH="false" flipV="false" rot="933903">
            <a:off x="-1763910" y="6435193"/>
            <a:ext cx="7851202" cy="8584813"/>
          </a:xfrm>
          <a:custGeom>
            <a:avLst/>
            <a:gdLst/>
            <a:ahLst/>
            <a:cxnLst/>
            <a:rect r="r" b="b" t="t" l="l"/>
            <a:pathLst>
              <a:path h="8584813" w="7851202">
                <a:moveTo>
                  <a:pt x="0" y="0"/>
                </a:moveTo>
                <a:lnTo>
                  <a:pt x="7851201" y="0"/>
                </a:lnTo>
                <a:lnTo>
                  <a:pt x="7851201" y="8584813"/>
                </a:lnTo>
                <a:lnTo>
                  <a:pt x="0" y="85848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2" id="52"/>
          <p:cNvSpPr/>
          <p:nvPr/>
        </p:nvSpPr>
        <p:spPr>
          <a:xfrm flipH="false" flipV="false" rot="0">
            <a:off x="13886179" y="4665252"/>
            <a:ext cx="6746241" cy="1226589"/>
          </a:xfrm>
          <a:custGeom>
            <a:avLst/>
            <a:gdLst/>
            <a:ahLst/>
            <a:cxnLst/>
            <a:rect r="r" b="b" t="t" l="l"/>
            <a:pathLst>
              <a:path h="1226589" w="6746241">
                <a:moveTo>
                  <a:pt x="0" y="0"/>
                </a:moveTo>
                <a:lnTo>
                  <a:pt x="6746242" y="0"/>
                </a:lnTo>
                <a:lnTo>
                  <a:pt x="6746242" y="1226589"/>
                </a:lnTo>
                <a:lnTo>
                  <a:pt x="0" y="12265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4222890" y="2300321"/>
            <a:ext cx="9842220" cy="6186627"/>
            <a:chOff x="0" y="0"/>
            <a:chExt cx="2592190" cy="1629400"/>
          </a:xfrm>
        </p:grpSpPr>
        <p:sp>
          <p:nvSpPr>
            <p:cNvPr name="Freeform 54" id="54"/>
            <p:cNvSpPr/>
            <p:nvPr/>
          </p:nvSpPr>
          <p:spPr>
            <a:xfrm flipH="false" flipV="false" rot="0">
              <a:off x="0" y="0"/>
              <a:ext cx="2592190" cy="1629400"/>
            </a:xfrm>
            <a:custGeom>
              <a:avLst/>
              <a:gdLst/>
              <a:ahLst/>
              <a:cxnLst/>
              <a:rect r="r" b="b" t="t" l="l"/>
              <a:pathLst>
                <a:path h="1629400" w="2592190">
                  <a:moveTo>
                    <a:pt x="0" y="0"/>
                  </a:moveTo>
                  <a:lnTo>
                    <a:pt x="2592190" y="0"/>
                  </a:lnTo>
                  <a:lnTo>
                    <a:pt x="2592190" y="1629400"/>
                  </a:lnTo>
                  <a:lnTo>
                    <a:pt x="0" y="1629400"/>
                  </a:lnTo>
                  <a:close/>
                </a:path>
              </a:pathLst>
            </a:custGeom>
            <a:solidFill>
              <a:srgbClr val="F6C063"/>
            </a:solidFill>
            <a:ln w="28575" cap="sq">
              <a:solidFill>
                <a:srgbClr val="000000"/>
              </a:solidFill>
              <a:prstDash val="solid"/>
              <a:miter/>
            </a:ln>
          </p:spPr>
        </p:sp>
        <p:sp>
          <p:nvSpPr>
            <p:cNvPr name="TextBox 55" id="55"/>
            <p:cNvSpPr txBox="true"/>
            <p:nvPr/>
          </p:nvSpPr>
          <p:spPr>
            <a:xfrm>
              <a:off x="0" y="-38100"/>
              <a:ext cx="2592190" cy="1667500"/>
            </a:xfrm>
            <a:prstGeom prst="rect">
              <a:avLst/>
            </a:prstGeom>
          </p:spPr>
          <p:txBody>
            <a:bodyPr anchor="ctr" rtlCol="false" tIns="50800" lIns="50800" bIns="50800" rIns="50800"/>
            <a:lstStyle/>
            <a:p>
              <a:pPr algn="ctr">
                <a:lnSpc>
                  <a:spcPts val="2659"/>
                </a:lnSpc>
                <a:spcBef>
                  <a:spcPct val="0"/>
                </a:spcBef>
              </a:pPr>
            </a:p>
          </p:txBody>
        </p:sp>
      </p:grpSp>
      <p:sp>
        <p:nvSpPr>
          <p:cNvPr name="TextBox 56" id="56"/>
          <p:cNvSpPr txBox="true"/>
          <p:nvPr/>
        </p:nvSpPr>
        <p:spPr>
          <a:xfrm rot="0">
            <a:off x="4786585" y="3667299"/>
            <a:ext cx="8714831" cy="3662221"/>
          </a:xfrm>
          <a:prstGeom prst="rect">
            <a:avLst/>
          </a:prstGeom>
        </p:spPr>
        <p:txBody>
          <a:bodyPr anchor="t" rtlCol="false" tIns="0" lIns="0" bIns="0" rIns="0">
            <a:spAutoFit/>
          </a:bodyPr>
          <a:lstStyle/>
          <a:p>
            <a:pPr algn="ctr">
              <a:lnSpc>
                <a:spcPts val="9393"/>
              </a:lnSpc>
            </a:pPr>
            <a:r>
              <a:rPr lang="en-US" sz="9585" b="true">
                <a:solidFill>
                  <a:srgbClr val="000000"/>
                </a:solidFill>
                <a:latin typeface="Cooper BT Bold"/>
                <a:ea typeface="Cooper BT Bold"/>
                <a:cs typeface="Cooper BT Bold"/>
                <a:sym typeface="Cooper BT Bold"/>
              </a:rPr>
              <a:t>Community &amp; Ecosystem Diversity</a:t>
            </a:r>
          </a:p>
        </p:txBody>
      </p:sp>
      <p:grpSp>
        <p:nvGrpSpPr>
          <p:cNvPr name="Group 57" id="57"/>
          <p:cNvGrpSpPr/>
          <p:nvPr/>
        </p:nvGrpSpPr>
        <p:grpSpPr>
          <a:xfrm rot="0">
            <a:off x="5646323" y="1800052"/>
            <a:ext cx="6995354" cy="1000538"/>
            <a:chOff x="0" y="0"/>
            <a:chExt cx="9327139" cy="1334051"/>
          </a:xfrm>
        </p:grpSpPr>
        <p:grpSp>
          <p:nvGrpSpPr>
            <p:cNvPr name="Group 58" id="58"/>
            <p:cNvGrpSpPr/>
            <p:nvPr/>
          </p:nvGrpSpPr>
          <p:grpSpPr>
            <a:xfrm rot="0">
              <a:off x="0" y="0"/>
              <a:ext cx="9327139" cy="1334051"/>
              <a:chOff x="0" y="0"/>
              <a:chExt cx="2097837" cy="300051"/>
            </a:xfrm>
          </p:grpSpPr>
          <p:sp>
            <p:nvSpPr>
              <p:cNvPr name="Freeform 59" id="59"/>
              <p:cNvSpPr/>
              <p:nvPr/>
            </p:nvSpPr>
            <p:spPr>
              <a:xfrm flipH="false" flipV="false" rot="0">
                <a:off x="0" y="0"/>
                <a:ext cx="2097837" cy="300051"/>
              </a:xfrm>
              <a:custGeom>
                <a:avLst/>
                <a:gdLst/>
                <a:ahLst/>
                <a:cxnLst/>
                <a:rect r="r" b="b" t="t" l="l"/>
                <a:pathLst>
                  <a:path h="300051" w="2097837">
                    <a:moveTo>
                      <a:pt x="0" y="0"/>
                    </a:moveTo>
                    <a:lnTo>
                      <a:pt x="2097837" y="0"/>
                    </a:lnTo>
                    <a:lnTo>
                      <a:pt x="2097837" y="300051"/>
                    </a:lnTo>
                    <a:lnTo>
                      <a:pt x="0" y="300051"/>
                    </a:lnTo>
                    <a:close/>
                  </a:path>
                </a:pathLst>
              </a:custGeom>
              <a:solidFill>
                <a:srgbClr val="6D4A20"/>
              </a:solidFill>
              <a:ln w="28575" cap="sq">
                <a:solidFill>
                  <a:srgbClr val="000000"/>
                </a:solidFill>
                <a:prstDash val="solid"/>
                <a:miter/>
              </a:ln>
            </p:spPr>
          </p:sp>
          <p:sp>
            <p:nvSpPr>
              <p:cNvPr name="TextBox 60" id="60"/>
              <p:cNvSpPr txBox="true"/>
              <p:nvPr/>
            </p:nvSpPr>
            <p:spPr>
              <a:xfrm>
                <a:off x="0" y="-38100"/>
                <a:ext cx="2097837" cy="338151"/>
              </a:xfrm>
              <a:prstGeom prst="rect">
                <a:avLst/>
              </a:prstGeom>
            </p:spPr>
            <p:txBody>
              <a:bodyPr anchor="ctr" rtlCol="false" tIns="44614" lIns="44614" bIns="44614" rIns="44614"/>
              <a:lstStyle/>
              <a:p>
                <a:pPr algn="ctr">
                  <a:lnSpc>
                    <a:spcPts val="2659"/>
                  </a:lnSpc>
                  <a:spcBef>
                    <a:spcPct val="0"/>
                  </a:spcBef>
                </a:pPr>
              </a:p>
            </p:txBody>
          </p:sp>
        </p:grpSp>
        <p:sp>
          <p:nvSpPr>
            <p:cNvPr name="TextBox 61" id="61"/>
            <p:cNvSpPr txBox="true"/>
            <p:nvPr/>
          </p:nvSpPr>
          <p:spPr>
            <a:xfrm rot="0">
              <a:off x="311775" y="150746"/>
              <a:ext cx="8703589" cy="911745"/>
            </a:xfrm>
            <a:prstGeom prst="rect">
              <a:avLst/>
            </a:prstGeom>
          </p:spPr>
          <p:txBody>
            <a:bodyPr anchor="t" rtlCol="false" tIns="0" lIns="0" bIns="0" rIns="0">
              <a:spAutoFit/>
            </a:bodyPr>
            <a:lstStyle/>
            <a:p>
              <a:pPr algn="ctr">
                <a:lnSpc>
                  <a:spcPts val="5863"/>
                </a:lnSpc>
                <a:spcBef>
                  <a:spcPct val="0"/>
                </a:spcBef>
              </a:pPr>
              <a:r>
                <a:rPr lang="en-US" b="true" sz="4188">
                  <a:solidFill>
                    <a:srgbClr val="FFFFFF"/>
                  </a:solidFill>
                  <a:latin typeface="Canva Sans Bold"/>
                  <a:ea typeface="Canva Sans Bold"/>
                  <a:cs typeface="Canva Sans Bold"/>
                  <a:sym typeface="Canva Sans Bold"/>
                </a:rPr>
                <a:t>Biodiversity</a:t>
              </a:r>
            </a:p>
          </p:txBody>
        </p:sp>
      </p:grpSp>
      <p:sp>
        <p:nvSpPr>
          <p:cNvPr name="Freeform 62" id="62"/>
          <p:cNvSpPr/>
          <p:nvPr/>
        </p:nvSpPr>
        <p:spPr>
          <a:xfrm flipH="false" flipV="false" rot="-395974">
            <a:off x="12151520" y="6800493"/>
            <a:ext cx="8180553" cy="8944938"/>
          </a:xfrm>
          <a:custGeom>
            <a:avLst/>
            <a:gdLst/>
            <a:ahLst/>
            <a:cxnLst/>
            <a:rect r="r" b="b" t="t" l="l"/>
            <a:pathLst>
              <a:path h="8944938" w="8180553">
                <a:moveTo>
                  <a:pt x="0" y="0"/>
                </a:moveTo>
                <a:lnTo>
                  <a:pt x="8180552" y="0"/>
                </a:lnTo>
                <a:lnTo>
                  <a:pt x="8180552" y="8944938"/>
                </a:lnTo>
                <a:lnTo>
                  <a:pt x="0" y="89449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3" id="63"/>
          <p:cNvSpPr/>
          <p:nvPr/>
        </p:nvSpPr>
        <p:spPr>
          <a:xfrm flipH="false" flipV="false" rot="0">
            <a:off x="12913899" y="-18024"/>
            <a:ext cx="5898981" cy="6501883"/>
          </a:xfrm>
          <a:custGeom>
            <a:avLst/>
            <a:gdLst/>
            <a:ahLst/>
            <a:cxnLst/>
            <a:rect r="r" b="b" t="t" l="l"/>
            <a:pathLst>
              <a:path h="6501883" w="5898981">
                <a:moveTo>
                  <a:pt x="0" y="0"/>
                </a:moveTo>
                <a:lnTo>
                  <a:pt x="5898981" y="0"/>
                </a:lnTo>
                <a:lnTo>
                  <a:pt x="5898981" y="6501883"/>
                </a:lnTo>
                <a:lnTo>
                  <a:pt x="0" y="650188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64" id="64"/>
          <p:cNvSpPr/>
          <p:nvPr/>
        </p:nvSpPr>
        <p:spPr>
          <a:xfrm flipH="false" flipV="false" rot="0">
            <a:off x="756462" y="-520321"/>
            <a:ext cx="2184168" cy="2172254"/>
          </a:xfrm>
          <a:custGeom>
            <a:avLst/>
            <a:gdLst/>
            <a:ahLst/>
            <a:cxnLst/>
            <a:rect r="r" b="b" t="t" l="l"/>
            <a:pathLst>
              <a:path h="2172254" w="2184168">
                <a:moveTo>
                  <a:pt x="0" y="0"/>
                </a:moveTo>
                <a:lnTo>
                  <a:pt x="2184168" y="0"/>
                </a:lnTo>
                <a:lnTo>
                  <a:pt x="2184168" y="2172254"/>
                </a:lnTo>
                <a:lnTo>
                  <a:pt x="0" y="217225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65" id="65"/>
          <p:cNvSpPr/>
          <p:nvPr/>
        </p:nvSpPr>
        <p:spPr>
          <a:xfrm flipH="false" flipV="false" rot="0">
            <a:off x="7185073" y="-1410024"/>
            <a:ext cx="3917854" cy="3276751"/>
          </a:xfrm>
          <a:custGeom>
            <a:avLst/>
            <a:gdLst/>
            <a:ahLst/>
            <a:cxnLst/>
            <a:rect r="r" b="b" t="t" l="l"/>
            <a:pathLst>
              <a:path h="3276751" w="3917854">
                <a:moveTo>
                  <a:pt x="0" y="0"/>
                </a:moveTo>
                <a:lnTo>
                  <a:pt x="3917854" y="0"/>
                </a:lnTo>
                <a:lnTo>
                  <a:pt x="3917854" y="3276751"/>
                </a:lnTo>
                <a:lnTo>
                  <a:pt x="0" y="32767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grpSp>
        <p:nvGrpSpPr>
          <p:cNvPr name="Group 2" id="2"/>
          <p:cNvGrpSpPr/>
          <p:nvPr/>
        </p:nvGrpSpPr>
        <p:grpSpPr>
          <a:xfrm rot="0">
            <a:off x="-27106" y="0"/>
            <a:ext cx="18342213" cy="10287000"/>
            <a:chOff x="0" y="0"/>
            <a:chExt cx="24456283" cy="13716000"/>
          </a:xfrm>
        </p:grpSpPr>
        <p:sp>
          <p:nvSpPr>
            <p:cNvPr name="Freeform 3" id="3"/>
            <p:cNvSpPr/>
            <p:nvPr/>
          </p:nvSpPr>
          <p:spPr>
            <a:xfrm flipH="false" flipV="false" rot="-10800000">
              <a:off x="2782211"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 id="4"/>
            <p:cNvSpPr/>
            <p:nvPr/>
          </p:nvSpPr>
          <p:spPr>
            <a:xfrm flipH="false" flipV="false" rot="0">
              <a:off x="0" y="0"/>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10800000">
              <a:off x="5491470"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6" id="6"/>
            <p:cNvSpPr/>
            <p:nvPr/>
          </p:nvSpPr>
          <p:spPr>
            <a:xfrm flipH="false" flipV="false" rot="-10800000">
              <a:off x="8200729"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7" id="7"/>
            <p:cNvSpPr/>
            <p:nvPr/>
          </p:nvSpPr>
          <p:spPr>
            <a:xfrm flipH="false" flipV="false" rot="-10800000">
              <a:off x="10909988"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8" id="8"/>
            <p:cNvSpPr/>
            <p:nvPr/>
          </p:nvSpPr>
          <p:spPr>
            <a:xfrm flipH="false" flipV="false" rot="-10800000">
              <a:off x="13619247"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9" id="9"/>
            <p:cNvSpPr/>
            <p:nvPr/>
          </p:nvSpPr>
          <p:spPr>
            <a:xfrm flipH="false" flipV="false" rot="-10800000">
              <a:off x="16328506"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0" id="10"/>
            <p:cNvSpPr/>
            <p:nvPr/>
          </p:nvSpPr>
          <p:spPr>
            <a:xfrm flipH="false" flipV="false" rot="-10800000">
              <a:off x="19037765"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1" id="11"/>
            <p:cNvSpPr/>
            <p:nvPr/>
          </p:nvSpPr>
          <p:spPr>
            <a:xfrm flipH="false" flipV="false" rot="-10800000">
              <a:off x="21747024"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2" id="12"/>
            <p:cNvSpPr/>
            <p:nvPr/>
          </p:nvSpPr>
          <p:spPr>
            <a:xfrm flipH="false" flipV="false" rot="-10800000">
              <a:off x="2782211"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3" id="13"/>
            <p:cNvSpPr/>
            <p:nvPr/>
          </p:nvSpPr>
          <p:spPr>
            <a:xfrm flipH="false" flipV="false" rot="0">
              <a:off x="0" y="2736056"/>
              <a:ext cx="2782211" cy="2771778"/>
            </a:xfrm>
            <a:custGeom>
              <a:avLst/>
              <a:gdLst/>
              <a:ahLst/>
              <a:cxnLst/>
              <a:rect r="r" b="b" t="t" l="l"/>
              <a:pathLst>
                <a:path h="2771778" w="2782211">
                  <a:moveTo>
                    <a:pt x="0" y="0"/>
                  </a:moveTo>
                  <a:lnTo>
                    <a:pt x="2782211" y="0"/>
                  </a:lnTo>
                  <a:lnTo>
                    <a:pt x="2782211"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4" id="14"/>
            <p:cNvSpPr/>
            <p:nvPr/>
          </p:nvSpPr>
          <p:spPr>
            <a:xfrm flipH="false" flipV="false" rot="-10800000">
              <a:off x="5491470"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5" id="15"/>
            <p:cNvSpPr/>
            <p:nvPr/>
          </p:nvSpPr>
          <p:spPr>
            <a:xfrm flipH="false" flipV="false" rot="-10800000">
              <a:off x="8200729"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6" id="16"/>
            <p:cNvSpPr/>
            <p:nvPr/>
          </p:nvSpPr>
          <p:spPr>
            <a:xfrm flipH="false" flipV="false" rot="-10800000">
              <a:off x="10909988"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7" id="17"/>
            <p:cNvSpPr/>
            <p:nvPr/>
          </p:nvSpPr>
          <p:spPr>
            <a:xfrm flipH="false" flipV="false" rot="-10800000">
              <a:off x="13619247"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8" id="18"/>
            <p:cNvSpPr/>
            <p:nvPr/>
          </p:nvSpPr>
          <p:spPr>
            <a:xfrm flipH="false" flipV="false" rot="-10800000">
              <a:off x="16328506"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9" id="19"/>
            <p:cNvSpPr/>
            <p:nvPr/>
          </p:nvSpPr>
          <p:spPr>
            <a:xfrm flipH="false" flipV="false" rot="-10800000">
              <a:off x="19037765"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0" id="20"/>
            <p:cNvSpPr/>
            <p:nvPr/>
          </p:nvSpPr>
          <p:spPr>
            <a:xfrm flipH="false" flipV="false" rot="-10800000">
              <a:off x="21747024"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1" id="21"/>
            <p:cNvSpPr/>
            <p:nvPr/>
          </p:nvSpPr>
          <p:spPr>
            <a:xfrm flipH="false" flipV="false" rot="-10800000">
              <a:off x="2782211"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2" id="22"/>
            <p:cNvSpPr/>
            <p:nvPr/>
          </p:nvSpPr>
          <p:spPr>
            <a:xfrm flipH="false" flipV="false" rot="0">
              <a:off x="0" y="5472111"/>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3" id="23"/>
            <p:cNvSpPr/>
            <p:nvPr/>
          </p:nvSpPr>
          <p:spPr>
            <a:xfrm flipH="false" flipV="false" rot="-10800000">
              <a:off x="5491470"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4" id="24"/>
            <p:cNvSpPr/>
            <p:nvPr/>
          </p:nvSpPr>
          <p:spPr>
            <a:xfrm flipH="false" flipV="false" rot="-10800000">
              <a:off x="8200729"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5" id="25"/>
            <p:cNvSpPr/>
            <p:nvPr/>
          </p:nvSpPr>
          <p:spPr>
            <a:xfrm flipH="false" flipV="false" rot="-10800000">
              <a:off x="10909988"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6" id="26"/>
            <p:cNvSpPr/>
            <p:nvPr/>
          </p:nvSpPr>
          <p:spPr>
            <a:xfrm flipH="false" flipV="false" rot="-10800000">
              <a:off x="13619247"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7" id="27"/>
            <p:cNvSpPr/>
            <p:nvPr/>
          </p:nvSpPr>
          <p:spPr>
            <a:xfrm flipH="false" flipV="false" rot="-10800000">
              <a:off x="16328506"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8" id="28"/>
            <p:cNvSpPr/>
            <p:nvPr/>
          </p:nvSpPr>
          <p:spPr>
            <a:xfrm flipH="false" flipV="false" rot="-10800000">
              <a:off x="19037765"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9" id="29"/>
            <p:cNvSpPr/>
            <p:nvPr/>
          </p:nvSpPr>
          <p:spPr>
            <a:xfrm flipH="false" flipV="false" rot="-10800000">
              <a:off x="21747024"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0" id="30"/>
            <p:cNvSpPr/>
            <p:nvPr/>
          </p:nvSpPr>
          <p:spPr>
            <a:xfrm flipH="false" flipV="false" rot="-10800000">
              <a:off x="2782211"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1" id="31"/>
            <p:cNvSpPr/>
            <p:nvPr/>
          </p:nvSpPr>
          <p:spPr>
            <a:xfrm flipH="false" flipV="false" rot="0">
              <a:off x="0" y="8208167"/>
              <a:ext cx="2782211" cy="2771778"/>
            </a:xfrm>
            <a:custGeom>
              <a:avLst/>
              <a:gdLst/>
              <a:ahLst/>
              <a:cxnLst/>
              <a:rect r="r" b="b" t="t" l="l"/>
              <a:pathLst>
                <a:path h="2771778" w="2782211">
                  <a:moveTo>
                    <a:pt x="0" y="0"/>
                  </a:moveTo>
                  <a:lnTo>
                    <a:pt x="2782211" y="0"/>
                  </a:lnTo>
                  <a:lnTo>
                    <a:pt x="2782211"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2" id="32"/>
            <p:cNvSpPr/>
            <p:nvPr/>
          </p:nvSpPr>
          <p:spPr>
            <a:xfrm flipH="false" flipV="false" rot="-10800000">
              <a:off x="5491470"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3" id="33"/>
            <p:cNvSpPr/>
            <p:nvPr/>
          </p:nvSpPr>
          <p:spPr>
            <a:xfrm flipH="false" flipV="false" rot="-10800000">
              <a:off x="8200729"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4" id="34"/>
            <p:cNvSpPr/>
            <p:nvPr/>
          </p:nvSpPr>
          <p:spPr>
            <a:xfrm flipH="false" flipV="false" rot="-10800000">
              <a:off x="10909988"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5" id="35"/>
            <p:cNvSpPr/>
            <p:nvPr/>
          </p:nvSpPr>
          <p:spPr>
            <a:xfrm flipH="false" flipV="false" rot="-10800000">
              <a:off x="13619247"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6" id="36"/>
            <p:cNvSpPr/>
            <p:nvPr/>
          </p:nvSpPr>
          <p:spPr>
            <a:xfrm flipH="false" flipV="false" rot="-10800000">
              <a:off x="16328506"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7" id="37"/>
            <p:cNvSpPr/>
            <p:nvPr/>
          </p:nvSpPr>
          <p:spPr>
            <a:xfrm flipH="false" flipV="false" rot="-10800000">
              <a:off x="19037765"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8" id="38"/>
            <p:cNvSpPr/>
            <p:nvPr/>
          </p:nvSpPr>
          <p:spPr>
            <a:xfrm flipH="false" flipV="false" rot="-10800000">
              <a:off x="21747024"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9" id="39"/>
            <p:cNvSpPr/>
            <p:nvPr/>
          </p:nvSpPr>
          <p:spPr>
            <a:xfrm flipH="false" flipV="false" rot="-10800000">
              <a:off x="2782211"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0" id="40"/>
            <p:cNvSpPr/>
            <p:nvPr/>
          </p:nvSpPr>
          <p:spPr>
            <a:xfrm flipH="false" flipV="false" rot="0">
              <a:off x="0" y="10944222"/>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1" id="41"/>
            <p:cNvSpPr/>
            <p:nvPr/>
          </p:nvSpPr>
          <p:spPr>
            <a:xfrm flipH="false" flipV="false" rot="-10800000">
              <a:off x="5491470"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2" id="42"/>
            <p:cNvSpPr/>
            <p:nvPr/>
          </p:nvSpPr>
          <p:spPr>
            <a:xfrm flipH="false" flipV="false" rot="-10800000">
              <a:off x="8200729"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3" id="43"/>
            <p:cNvSpPr/>
            <p:nvPr/>
          </p:nvSpPr>
          <p:spPr>
            <a:xfrm flipH="false" flipV="false" rot="-10800000">
              <a:off x="10909988"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4" id="44"/>
            <p:cNvSpPr/>
            <p:nvPr/>
          </p:nvSpPr>
          <p:spPr>
            <a:xfrm flipH="false" flipV="false" rot="-10800000">
              <a:off x="13619247"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5" id="45"/>
            <p:cNvSpPr/>
            <p:nvPr/>
          </p:nvSpPr>
          <p:spPr>
            <a:xfrm flipH="false" flipV="false" rot="-10800000">
              <a:off x="16328506"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6" id="46"/>
            <p:cNvSpPr/>
            <p:nvPr/>
          </p:nvSpPr>
          <p:spPr>
            <a:xfrm flipH="false" flipV="false" rot="-10800000">
              <a:off x="19037765"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7" id="47"/>
            <p:cNvSpPr/>
            <p:nvPr/>
          </p:nvSpPr>
          <p:spPr>
            <a:xfrm flipH="false" flipV="false" rot="-10800000">
              <a:off x="21747024"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grpSp>
      <p:sp>
        <p:nvSpPr>
          <p:cNvPr name="Freeform 48" id="48"/>
          <p:cNvSpPr/>
          <p:nvPr/>
        </p:nvSpPr>
        <p:spPr>
          <a:xfrm flipH="false" flipV="false" rot="-395974">
            <a:off x="12206369" y="498626"/>
            <a:ext cx="9260893" cy="10126225"/>
          </a:xfrm>
          <a:custGeom>
            <a:avLst/>
            <a:gdLst/>
            <a:ahLst/>
            <a:cxnLst/>
            <a:rect r="r" b="b" t="t" l="l"/>
            <a:pathLst>
              <a:path h="10126225" w="9260893">
                <a:moveTo>
                  <a:pt x="0" y="0"/>
                </a:moveTo>
                <a:lnTo>
                  <a:pt x="9260893" y="0"/>
                </a:lnTo>
                <a:lnTo>
                  <a:pt x="9260893" y="10126225"/>
                </a:lnTo>
                <a:lnTo>
                  <a:pt x="0" y="101262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9" id="49"/>
          <p:cNvGrpSpPr/>
          <p:nvPr/>
        </p:nvGrpSpPr>
        <p:grpSpPr>
          <a:xfrm rot="0">
            <a:off x="1028700" y="1028700"/>
            <a:ext cx="9550505" cy="1760180"/>
            <a:chOff x="0" y="0"/>
            <a:chExt cx="12734007" cy="2346907"/>
          </a:xfrm>
        </p:grpSpPr>
        <p:grpSp>
          <p:nvGrpSpPr>
            <p:cNvPr name="Group 50" id="50"/>
            <p:cNvGrpSpPr/>
            <p:nvPr/>
          </p:nvGrpSpPr>
          <p:grpSpPr>
            <a:xfrm rot="0">
              <a:off x="0" y="0"/>
              <a:ext cx="12734007" cy="2346907"/>
              <a:chOff x="0" y="0"/>
              <a:chExt cx="4134975" cy="762085"/>
            </a:xfrm>
          </p:grpSpPr>
          <p:sp>
            <p:nvSpPr>
              <p:cNvPr name="Freeform 51" id="51"/>
              <p:cNvSpPr/>
              <p:nvPr/>
            </p:nvSpPr>
            <p:spPr>
              <a:xfrm flipH="false" flipV="false" rot="0">
                <a:off x="0" y="0"/>
                <a:ext cx="4134975" cy="762085"/>
              </a:xfrm>
              <a:custGeom>
                <a:avLst/>
                <a:gdLst/>
                <a:ahLst/>
                <a:cxnLst/>
                <a:rect r="r" b="b" t="t" l="l"/>
                <a:pathLst>
                  <a:path h="762085" w="4134975">
                    <a:moveTo>
                      <a:pt x="0" y="0"/>
                    </a:moveTo>
                    <a:lnTo>
                      <a:pt x="4134975" y="0"/>
                    </a:lnTo>
                    <a:lnTo>
                      <a:pt x="4134975" y="762085"/>
                    </a:lnTo>
                    <a:lnTo>
                      <a:pt x="0" y="762085"/>
                    </a:lnTo>
                    <a:close/>
                  </a:path>
                </a:pathLst>
              </a:custGeom>
              <a:solidFill>
                <a:srgbClr val="6D4A20"/>
              </a:solidFill>
              <a:ln w="28575" cap="sq">
                <a:solidFill>
                  <a:srgbClr val="000000"/>
                </a:solidFill>
                <a:prstDash val="solid"/>
                <a:miter/>
              </a:ln>
            </p:spPr>
          </p:sp>
          <p:sp>
            <p:nvSpPr>
              <p:cNvPr name="TextBox 52" id="52"/>
              <p:cNvSpPr txBox="true"/>
              <p:nvPr/>
            </p:nvSpPr>
            <p:spPr>
              <a:xfrm>
                <a:off x="0" y="-38100"/>
                <a:ext cx="4134975" cy="80018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3" id="53"/>
            <p:cNvSpPr txBox="true"/>
            <p:nvPr/>
          </p:nvSpPr>
          <p:spPr>
            <a:xfrm rot="0">
              <a:off x="750706" y="352400"/>
              <a:ext cx="11232594" cy="1746883"/>
            </a:xfrm>
            <a:prstGeom prst="rect">
              <a:avLst/>
            </a:prstGeom>
          </p:spPr>
          <p:txBody>
            <a:bodyPr anchor="t" rtlCol="false" tIns="0" lIns="0" bIns="0" rIns="0">
              <a:spAutoFit/>
            </a:bodyPr>
            <a:lstStyle/>
            <a:p>
              <a:pPr algn="ctr">
                <a:lnSpc>
                  <a:spcPts val="4944"/>
                </a:lnSpc>
              </a:pPr>
              <a:r>
                <a:rPr lang="en-US" sz="5045" b="true">
                  <a:solidFill>
                    <a:srgbClr val="FFFFFF"/>
                  </a:solidFill>
                  <a:latin typeface="Cooper BT Bold"/>
                  <a:ea typeface="Cooper BT Bold"/>
                  <a:cs typeface="Cooper BT Bold"/>
                  <a:sym typeface="Cooper BT Bold"/>
                </a:rPr>
                <a:t>Community &amp; Ecosystem Diversity</a:t>
              </a:r>
            </a:p>
          </p:txBody>
        </p:sp>
      </p:grpSp>
      <p:grpSp>
        <p:nvGrpSpPr>
          <p:cNvPr name="Group 54" id="54"/>
          <p:cNvGrpSpPr/>
          <p:nvPr/>
        </p:nvGrpSpPr>
        <p:grpSpPr>
          <a:xfrm rot="0">
            <a:off x="1028700" y="2739304"/>
            <a:ext cx="9550505" cy="6518996"/>
            <a:chOff x="0" y="0"/>
            <a:chExt cx="4374500" cy="2985952"/>
          </a:xfrm>
        </p:grpSpPr>
        <p:sp>
          <p:nvSpPr>
            <p:cNvPr name="Freeform 55" id="55"/>
            <p:cNvSpPr/>
            <p:nvPr/>
          </p:nvSpPr>
          <p:spPr>
            <a:xfrm flipH="false" flipV="false" rot="0">
              <a:off x="0" y="0"/>
              <a:ext cx="4374500" cy="2985952"/>
            </a:xfrm>
            <a:custGeom>
              <a:avLst/>
              <a:gdLst/>
              <a:ahLst/>
              <a:cxnLst/>
              <a:rect r="r" b="b" t="t" l="l"/>
              <a:pathLst>
                <a:path h="2985952" w="4374500">
                  <a:moveTo>
                    <a:pt x="0" y="0"/>
                  </a:moveTo>
                  <a:lnTo>
                    <a:pt x="4374500" y="0"/>
                  </a:lnTo>
                  <a:lnTo>
                    <a:pt x="4374500" y="2985952"/>
                  </a:lnTo>
                  <a:lnTo>
                    <a:pt x="0" y="2985952"/>
                  </a:lnTo>
                  <a:close/>
                </a:path>
              </a:pathLst>
            </a:custGeom>
            <a:solidFill>
              <a:srgbClr val="F6C063"/>
            </a:solidFill>
            <a:ln w="28575" cap="sq">
              <a:solidFill>
                <a:srgbClr val="000000"/>
              </a:solidFill>
              <a:prstDash val="solid"/>
              <a:miter/>
            </a:ln>
          </p:spPr>
        </p:sp>
        <p:sp>
          <p:nvSpPr>
            <p:cNvPr name="TextBox 56" id="56"/>
            <p:cNvSpPr txBox="true"/>
            <p:nvPr/>
          </p:nvSpPr>
          <p:spPr>
            <a:xfrm>
              <a:off x="0" y="-38100"/>
              <a:ext cx="4374500" cy="3024052"/>
            </a:xfrm>
            <a:prstGeom prst="rect">
              <a:avLst/>
            </a:prstGeom>
          </p:spPr>
          <p:txBody>
            <a:bodyPr anchor="ctr" rtlCol="false" tIns="46230" lIns="46230" bIns="46230" rIns="46230"/>
            <a:lstStyle/>
            <a:p>
              <a:pPr algn="ctr" marL="0" indent="0" lvl="0">
                <a:lnSpc>
                  <a:spcPts val="2659"/>
                </a:lnSpc>
                <a:spcBef>
                  <a:spcPct val="0"/>
                </a:spcBef>
              </a:pPr>
            </a:p>
          </p:txBody>
        </p:sp>
      </p:grpSp>
      <p:grpSp>
        <p:nvGrpSpPr>
          <p:cNvPr name="Group 57" id="57"/>
          <p:cNvGrpSpPr/>
          <p:nvPr/>
        </p:nvGrpSpPr>
        <p:grpSpPr>
          <a:xfrm rot="0">
            <a:off x="1486618" y="3075920"/>
            <a:ext cx="8634669" cy="1700101"/>
            <a:chOff x="0" y="0"/>
            <a:chExt cx="11512892" cy="2266801"/>
          </a:xfrm>
        </p:grpSpPr>
        <p:grpSp>
          <p:nvGrpSpPr>
            <p:cNvPr name="Group 58" id="58"/>
            <p:cNvGrpSpPr/>
            <p:nvPr/>
          </p:nvGrpSpPr>
          <p:grpSpPr>
            <a:xfrm rot="0">
              <a:off x="0" y="0"/>
              <a:ext cx="5756446" cy="778077"/>
              <a:chOff x="0" y="0"/>
              <a:chExt cx="4458498" cy="602638"/>
            </a:xfrm>
          </p:grpSpPr>
          <p:sp>
            <p:nvSpPr>
              <p:cNvPr name="Freeform 59" id="59"/>
              <p:cNvSpPr/>
              <p:nvPr/>
            </p:nvSpPr>
            <p:spPr>
              <a:xfrm flipH="false" flipV="false" rot="0">
                <a:off x="0" y="0"/>
                <a:ext cx="4458498" cy="602638"/>
              </a:xfrm>
              <a:custGeom>
                <a:avLst/>
                <a:gdLst/>
                <a:ahLst/>
                <a:cxnLst/>
                <a:rect r="r" b="b" t="t" l="l"/>
                <a:pathLst>
                  <a:path h="602638" w="4458498">
                    <a:moveTo>
                      <a:pt x="0" y="0"/>
                    </a:moveTo>
                    <a:lnTo>
                      <a:pt x="4458498" y="0"/>
                    </a:lnTo>
                    <a:lnTo>
                      <a:pt x="4458498" y="602638"/>
                    </a:lnTo>
                    <a:lnTo>
                      <a:pt x="0" y="602638"/>
                    </a:lnTo>
                    <a:close/>
                  </a:path>
                </a:pathLst>
              </a:custGeom>
              <a:solidFill>
                <a:srgbClr val="6D4A20"/>
              </a:solidFill>
              <a:ln w="28575" cap="sq">
                <a:solidFill>
                  <a:srgbClr val="000000"/>
                </a:solidFill>
                <a:prstDash val="solid"/>
                <a:miter/>
              </a:ln>
            </p:spPr>
          </p:sp>
          <p:sp>
            <p:nvSpPr>
              <p:cNvPr name="TextBox 60" id="60"/>
              <p:cNvSpPr txBox="true"/>
              <p:nvPr/>
            </p:nvSpPr>
            <p:spPr>
              <a:xfrm>
                <a:off x="0" y="-38100"/>
                <a:ext cx="4458498" cy="640738"/>
              </a:xfrm>
              <a:prstGeom prst="rect">
                <a:avLst/>
              </a:prstGeom>
            </p:spPr>
            <p:txBody>
              <a:bodyPr anchor="ctr" rtlCol="false" tIns="18965" lIns="18965" bIns="18965" rIns="18965"/>
              <a:lstStyle/>
              <a:p>
                <a:pPr algn="ctr" marL="0" indent="0" lvl="0">
                  <a:lnSpc>
                    <a:spcPts val="2659"/>
                  </a:lnSpc>
                  <a:spcBef>
                    <a:spcPct val="0"/>
                  </a:spcBef>
                </a:pPr>
              </a:p>
            </p:txBody>
          </p:sp>
        </p:grpSp>
        <p:sp>
          <p:nvSpPr>
            <p:cNvPr name="TextBox 61" id="61"/>
            <p:cNvSpPr txBox="true"/>
            <p:nvPr/>
          </p:nvSpPr>
          <p:spPr>
            <a:xfrm rot="0">
              <a:off x="339359" y="160967"/>
              <a:ext cx="5077728" cy="487416"/>
            </a:xfrm>
            <a:prstGeom prst="rect">
              <a:avLst/>
            </a:prstGeom>
          </p:spPr>
          <p:txBody>
            <a:bodyPr anchor="t" rtlCol="false" tIns="0" lIns="0" bIns="0" rIns="0">
              <a:spAutoFit/>
            </a:bodyPr>
            <a:lstStyle/>
            <a:p>
              <a:pPr algn="ctr">
                <a:lnSpc>
                  <a:spcPts val="2632"/>
                </a:lnSpc>
              </a:pPr>
              <a:r>
                <a:rPr lang="en-US" sz="2686" b="true">
                  <a:solidFill>
                    <a:srgbClr val="FFFFFF"/>
                  </a:solidFill>
                  <a:latin typeface="Cooper BT Bold"/>
                  <a:ea typeface="Cooper BT Bold"/>
                  <a:cs typeface="Cooper BT Bold"/>
                  <a:sym typeface="Cooper BT Bold"/>
                </a:rPr>
                <a:t>Biological Community</a:t>
              </a:r>
            </a:p>
          </p:txBody>
        </p:sp>
        <p:sp>
          <p:nvSpPr>
            <p:cNvPr name="TextBox 62" id="62"/>
            <p:cNvSpPr txBox="true"/>
            <p:nvPr/>
          </p:nvSpPr>
          <p:spPr>
            <a:xfrm rot="0">
              <a:off x="0" y="1061989"/>
              <a:ext cx="11512892" cy="1204813"/>
            </a:xfrm>
            <a:prstGeom prst="rect">
              <a:avLst/>
            </a:prstGeom>
          </p:spPr>
          <p:txBody>
            <a:bodyPr anchor="t" rtlCol="false" tIns="0" lIns="0" bIns="0" rIns="0">
              <a:spAutoFit/>
            </a:bodyPr>
            <a:lstStyle/>
            <a:p>
              <a:pPr algn="l">
                <a:lnSpc>
                  <a:spcPts val="3649"/>
                </a:lnSpc>
                <a:spcBef>
                  <a:spcPct val="0"/>
                </a:spcBef>
              </a:pPr>
              <a:r>
                <a:rPr lang="en-US" b="true" sz="2606">
                  <a:solidFill>
                    <a:srgbClr val="000000"/>
                  </a:solidFill>
                  <a:latin typeface="Canva Sans Medium"/>
                  <a:ea typeface="Canva Sans Medium"/>
                  <a:cs typeface="Canva Sans Medium"/>
                  <a:sym typeface="Canva Sans Medium"/>
                </a:rPr>
                <a:t>A biological community is a collection of species that occupy and interact in a particular location. </a:t>
              </a:r>
            </a:p>
          </p:txBody>
        </p:sp>
      </p:grpSp>
      <p:grpSp>
        <p:nvGrpSpPr>
          <p:cNvPr name="Group 63" id="63"/>
          <p:cNvGrpSpPr/>
          <p:nvPr/>
        </p:nvGrpSpPr>
        <p:grpSpPr>
          <a:xfrm rot="0">
            <a:off x="1486618" y="5150006"/>
            <a:ext cx="8634669" cy="1700101"/>
            <a:chOff x="0" y="0"/>
            <a:chExt cx="11512892" cy="2266801"/>
          </a:xfrm>
        </p:grpSpPr>
        <p:grpSp>
          <p:nvGrpSpPr>
            <p:cNvPr name="Group 64" id="64"/>
            <p:cNvGrpSpPr/>
            <p:nvPr/>
          </p:nvGrpSpPr>
          <p:grpSpPr>
            <a:xfrm rot="0">
              <a:off x="0" y="0"/>
              <a:ext cx="5756446" cy="778077"/>
              <a:chOff x="0" y="0"/>
              <a:chExt cx="4458498" cy="602638"/>
            </a:xfrm>
          </p:grpSpPr>
          <p:sp>
            <p:nvSpPr>
              <p:cNvPr name="Freeform 65" id="65"/>
              <p:cNvSpPr/>
              <p:nvPr/>
            </p:nvSpPr>
            <p:spPr>
              <a:xfrm flipH="false" flipV="false" rot="0">
                <a:off x="0" y="0"/>
                <a:ext cx="4458498" cy="602638"/>
              </a:xfrm>
              <a:custGeom>
                <a:avLst/>
                <a:gdLst/>
                <a:ahLst/>
                <a:cxnLst/>
                <a:rect r="r" b="b" t="t" l="l"/>
                <a:pathLst>
                  <a:path h="602638" w="4458498">
                    <a:moveTo>
                      <a:pt x="0" y="0"/>
                    </a:moveTo>
                    <a:lnTo>
                      <a:pt x="4458498" y="0"/>
                    </a:lnTo>
                    <a:lnTo>
                      <a:pt x="4458498" y="602638"/>
                    </a:lnTo>
                    <a:lnTo>
                      <a:pt x="0" y="602638"/>
                    </a:lnTo>
                    <a:close/>
                  </a:path>
                </a:pathLst>
              </a:custGeom>
              <a:solidFill>
                <a:srgbClr val="6D4A20"/>
              </a:solidFill>
              <a:ln w="28575" cap="sq">
                <a:solidFill>
                  <a:srgbClr val="000000"/>
                </a:solidFill>
                <a:prstDash val="solid"/>
                <a:miter/>
              </a:ln>
            </p:spPr>
          </p:sp>
          <p:sp>
            <p:nvSpPr>
              <p:cNvPr name="TextBox 66" id="66"/>
              <p:cNvSpPr txBox="true"/>
              <p:nvPr/>
            </p:nvSpPr>
            <p:spPr>
              <a:xfrm>
                <a:off x="0" y="-38100"/>
                <a:ext cx="4458498" cy="640738"/>
              </a:xfrm>
              <a:prstGeom prst="rect">
                <a:avLst/>
              </a:prstGeom>
            </p:spPr>
            <p:txBody>
              <a:bodyPr anchor="ctr" rtlCol="false" tIns="18965" lIns="18965" bIns="18965" rIns="18965"/>
              <a:lstStyle/>
              <a:p>
                <a:pPr algn="ctr" marL="0" indent="0" lvl="0">
                  <a:lnSpc>
                    <a:spcPts val="2659"/>
                  </a:lnSpc>
                  <a:spcBef>
                    <a:spcPct val="0"/>
                  </a:spcBef>
                </a:pPr>
              </a:p>
            </p:txBody>
          </p:sp>
        </p:grpSp>
        <p:sp>
          <p:nvSpPr>
            <p:cNvPr name="TextBox 67" id="67"/>
            <p:cNvSpPr txBox="true"/>
            <p:nvPr/>
          </p:nvSpPr>
          <p:spPr>
            <a:xfrm rot="0">
              <a:off x="290367" y="160967"/>
              <a:ext cx="5175711" cy="510691"/>
            </a:xfrm>
            <a:prstGeom prst="rect">
              <a:avLst/>
            </a:prstGeom>
          </p:spPr>
          <p:txBody>
            <a:bodyPr anchor="t" rtlCol="false" tIns="0" lIns="0" bIns="0" rIns="0">
              <a:spAutoFit/>
            </a:bodyPr>
            <a:lstStyle/>
            <a:p>
              <a:pPr algn="ctr">
                <a:lnSpc>
                  <a:spcPts val="2730"/>
                </a:lnSpc>
              </a:pPr>
              <a:r>
                <a:rPr lang="en-US" sz="2786" b="true">
                  <a:solidFill>
                    <a:srgbClr val="FFFFFF"/>
                  </a:solidFill>
                  <a:latin typeface="Cooper BT Bold"/>
                  <a:ea typeface="Cooper BT Bold"/>
                  <a:cs typeface="Cooper BT Bold"/>
                  <a:sym typeface="Cooper BT Bold"/>
                </a:rPr>
                <a:t>Ecosystem</a:t>
              </a:r>
            </a:p>
          </p:txBody>
        </p:sp>
        <p:sp>
          <p:nvSpPr>
            <p:cNvPr name="TextBox 68" id="68"/>
            <p:cNvSpPr txBox="true"/>
            <p:nvPr/>
          </p:nvSpPr>
          <p:spPr>
            <a:xfrm rot="0">
              <a:off x="0" y="1061989"/>
              <a:ext cx="11512892" cy="1204813"/>
            </a:xfrm>
            <a:prstGeom prst="rect">
              <a:avLst/>
            </a:prstGeom>
          </p:spPr>
          <p:txBody>
            <a:bodyPr anchor="t" rtlCol="false" tIns="0" lIns="0" bIns="0" rIns="0">
              <a:spAutoFit/>
            </a:bodyPr>
            <a:lstStyle/>
            <a:p>
              <a:pPr algn="l">
                <a:lnSpc>
                  <a:spcPts val="3649"/>
                </a:lnSpc>
                <a:spcBef>
                  <a:spcPct val="0"/>
                </a:spcBef>
              </a:pPr>
              <a:r>
                <a:rPr lang="en-US" b="true" sz="2606">
                  <a:solidFill>
                    <a:srgbClr val="000000"/>
                  </a:solidFill>
                  <a:latin typeface="Canva Sans Medium"/>
                  <a:ea typeface="Canva Sans Medium"/>
                  <a:cs typeface="Canva Sans Medium"/>
                  <a:sym typeface="Canva Sans Medium"/>
                </a:rPr>
                <a:t>A biological community, together with its associated abiotic environment, is called an ecosystem.</a:t>
              </a:r>
            </a:p>
          </p:txBody>
        </p:sp>
      </p:grpSp>
      <p:grpSp>
        <p:nvGrpSpPr>
          <p:cNvPr name="Group 69" id="69"/>
          <p:cNvGrpSpPr/>
          <p:nvPr/>
        </p:nvGrpSpPr>
        <p:grpSpPr>
          <a:xfrm rot="0">
            <a:off x="1486618" y="7221582"/>
            <a:ext cx="8634669" cy="1700101"/>
            <a:chOff x="0" y="0"/>
            <a:chExt cx="11512892" cy="2266801"/>
          </a:xfrm>
        </p:grpSpPr>
        <p:grpSp>
          <p:nvGrpSpPr>
            <p:cNvPr name="Group 70" id="70"/>
            <p:cNvGrpSpPr/>
            <p:nvPr/>
          </p:nvGrpSpPr>
          <p:grpSpPr>
            <a:xfrm rot="0">
              <a:off x="0" y="0"/>
              <a:ext cx="5756446" cy="778077"/>
              <a:chOff x="0" y="0"/>
              <a:chExt cx="4458498" cy="602638"/>
            </a:xfrm>
          </p:grpSpPr>
          <p:sp>
            <p:nvSpPr>
              <p:cNvPr name="Freeform 71" id="71"/>
              <p:cNvSpPr/>
              <p:nvPr/>
            </p:nvSpPr>
            <p:spPr>
              <a:xfrm flipH="false" flipV="false" rot="0">
                <a:off x="0" y="0"/>
                <a:ext cx="4458498" cy="602638"/>
              </a:xfrm>
              <a:custGeom>
                <a:avLst/>
                <a:gdLst/>
                <a:ahLst/>
                <a:cxnLst/>
                <a:rect r="r" b="b" t="t" l="l"/>
                <a:pathLst>
                  <a:path h="602638" w="4458498">
                    <a:moveTo>
                      <a:pt x="0" y="0"/>
                    </a:moveTo>
                    <a:lnTo>
                      <a:pt x="4458498" y="0"/>
                    </a:lnTo>
                    <a:lnTo>
                      <a:pt x="4458498" y="602638"/>
                    </a:lnTo>
                    <a:lnTo>
                      <a:pt x="0" y="602638"/>
                    </a:lnTo>
                    <a:close/>
                  </a:path>
                </a:pathLst>
              </a:custGeom>
              <a:solidFill>
                <a:srgbClr val="6D4A20"/>
              </a:solidFill>
              <a:ln w="28575" cap="sq">
                <a:solidFill>
                  <a:srgbClr val="000000"/>
                </a:solidFill>
                <a:prstDash val="solid"/>
                <a:miter/>
              </a:ln>
            </p:spPr>
          </p:sp>
          <p:sp>
            <p:nvSpPr>
              <p:cNvPr name="TextBox 72" id="72"/>
              <p:cNvSpPr txBox="true"/>
              <p:nvPr/>
            </p:nvSpPr>
            <p:spPr>
              <a:xfrm>
                <a:off x="0" y="-38100"/>
                <a:ext cx="4458498" cy="640738"/>
              </a:xfrm>
              <a:prstGeom prst="rect">
                <a:avLst/>
              </a:prstGeom>
            </p:spPr>
            <p:txBody>
              <a:bodyPr anchor="ctr" rtlCol="false" tIns="18965" lIns="18965" bIns="18965" rIns="18965"/>
              <a:lstStyle/>
              <a:p>
                <a:pPr algn="ctr" marL="0" indent="0" lvl="0">
                  <a:lnSpc>
                    <a:spcPts val="2659"/>
                  </a:lnSpc>
                  <a:spcBef>
                    <a:spcPct val="0"/>
                  </a:spcBef>
                </a:pPr>
              </a:p>
            </p:txBody>
          </p:sp>
        </p:grpSp>
        <p:sp>
          <p:nvSpPr>
            <p:cNvPr name="TextBox 73" id="73"/>
            <p:cNvSpPr txBox="true"/>
            <p:nvPr/>
          </p:nvSpPr>
          <p:spPr>
            <a:xfrm rot="0">
              <a:off x="290367" y="160967"/>
              <a:ext cx="5175711" cy="510691"/>
            </a:xfrm>
            <a:prstGeom prst="rect">
              <a:avLst/>
            </a:prstGeom>
          </p:spPr>
          <p:txBody>
            <a:bodyPr anchor="t" rtlCol="false" tIns="0" lIns="0" bIns="0" rIns="0">
              <a:spAutoFit/>
            </a:bodyPr>
            <a:lstStyle/>
            <a:p>
              <a:pPr algn="ctr">
                <a:lnSpc>
                  <a:spcPts val="2730"/>
                </a:lnSpc>
              </a:pPr>
              <a:r>
                <a:rPr lang="en-US" sz="2786" b="true">
                  <a:solidFill>
                    <a:srgbClr val="FFFFFF"/>
                  </a:solidFill>
                  <a:latin typeface="Cooper BT Bold"/>
                  <a:ea typeface="Cooper BT Bold"/>
                  <a:cs typeface="Cooper BT Bold"/>
                  <a:sym typeface="Cooper BT Bold"/>
                </a:rPr>
                <a:t>Community Structure</a:t>
              </a:r>
            </a:p>
          </p:txBody>
        </p:sp>
        <p:sp>
          <p:nvSpPr>
            <p:cNvPr name="TextBox 74" id="74"/>
            <p:cNvSpPr txBox="true"/>
            <p:nvPr/>
          </p:nvSpPr>
          <p:spPr>
            <a:xfrm rot="0">
              <a:off x="0" y="1061989"/>
              <a:ext cx="11512892" cy="1204813"/>
            </a:xfrm>
            <a:prstGeom prst="rect">
              <a:avLst/>
            </a:prstGeom>
          </p:spPr>
          <p:txBody>
            <a:bodyPr anchor="t" rtlCol="false" tIns="0" lIns="0" bIns="0" rIns="0">
              <a:spAutoFit/>
            </a:bodyPr>
            <a:lstStyle/>
            <a:p>
              <a:pPr algn="l">
                <a:lnSpc>
                  <a:spcPts val="3649"/>
                </a:lnSpc>
                <a:spcBef>
                  <a:spcPct val="0"/>
                </a:spcBef>
              </a:pPr>
              <a:r>
                <a:rPr lang="en-US" b="true" sz="2606">
                  <a:solidFill>
                    <a:srgbClr val="000000"/>
                  </a:solidFill>
                  <a:latin typeface="Canva Sans Medium"/>
                  <a:ea typeface="Canva Sans Medium"/>
                  <a:cs typeface="Canva Sans Medium"/>
                  <a:sym typeface="Canva Sans Medium"/>
                </a:rPr>
                <a:t>The organization and complexity of a community is collectively referred to as community structure.</a:t>
              </a:r>
            </a:p>
          </p:txBody>
        </p:sp>
      </p:grpSp>
      <p:sp>
        <p:nvSpPr>
          <p:cNvPr name="Freeform 75" id="75"/>
          <p:cNvSpPr/>
          <p:nvPr/>
        </p:nvSpPr>
        <p:spPr>
          <a:xfrm flipH="false" flipV="false" rot="0">
            <a:off x="12640802" y="5561738"/>
            <a:ext cx="5553526" cy="8983646"/>
          </a:xfrm>
          <a:custGeom>
            <a:avLst/>
            <a:gdLst/>
            <a:ahLst/>
            <a:cxnLst/>
            <a:rect r="r" b="b" t="t" l="l"/>
            <a:pathLst>
              <a:path h="8983646" w="5553526">
                <a:moveTo>
                  <a:pt x="0" y="0"/>
                </a:moveTo>
                <a:lnTo>
                  <a:pt x="5553526" y="0"/>
                </a:lnTo>
                <a:lnTo>
                  <a:pt x="5553526" y="8983646"/>
                </a:lnTo>
                <a:lnTo>
                  <a:pt x="0" y="89836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6" id="76"/>
          <p:cNvGrpSpPr/>
          <p:nvPr/>
        </p:nvGrpSpPr>
        <p:grpSpPr>
          <a:xfrm rot="0">
            <a:off x="10265498" y="2739304"/>
            <a:ext cx="3642466" cy="3626314"/>
            <a:chOff x="0" y="0"/>
            <a:chExt cx="4856621" cy="4835085"/>
          </a:xfrm>
        </p:grpSpPr>
        <p:grpSp>
          <p:nvGrpSpPr>
            <p:cNvPr name="Group 77" id="77"/>
            <p:cNvGrpSpPr/>
            <p:nvPr/>
          </p:nvGrpSpPr>
          <p:grpSpPr>
            <a:xfrm rot="0">
              <a:off x="293204" y="0"/>
              <a:ext cx="4270213" cy="4270213"/>
              <a:chOff x="0" y="0"/>
              <a:chExt cx="812800" cy="812800"/>
            </a:xfrm>
          </p:grpSpPr>
          <p:sp>
            <p:nvSpPr>
              <p:cNvPr name="Freeform 78" id="7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C396B"/>
              </a:solidFill>
              <a:ln w="19050" cap="sq">
                <a:solidFill>
                  <a:srgbClr val="000000"/>
                </a:solidFill>
                <a:prstDash val="solid"/>
                <a:miter/>
              </a:ln>
            </p:spPr>
          </p:sp>
          <p:sp>
            <p:nvSpPr>
              <p:cNvPr name="TextBox 79" id="79"/>
              <p:cNvSpPr txBox="true"/>
              <p:nvPr/>
            </p:nvSpPr>
            <p:spPr>
              <a:xfrm>
                <a:off x="76200" y="28575"/>
                <a:ext cx="660400" cy="708025"/>
              </a:xfrm>
              <a:prstGeom prst="rect">
                <a:avLst/>
              </a:prstGeom>
            </p:spPr>
            <p:txBody>
              <a:bodyPr anchor="ctr" rtlCol="false" tIns="50800" lIns="50800" bIns="50800" rIns="50800"/>
              <a:lstStyle/>
              <a:p>
                <a:pPr algn="ctr">
                  <a:lnSpc>
                    <a:spcPts val="3118"/>
                  </a:lnSpc>
                </a:pPr>
              </a:p>
            </p:txBody>
          </p:sp>
        </p:grpSp>
        <p:sp>
          <p:nvSpPr>
            <p:cNvPr name="Freeform 80" id="80"/>
            <p:cNvSpPr/>
            <p:nvPr/>
          </p:nvSpPr>
          <p:spPr>
            <a:xfrm flipH="false" flipV="false" rot="0">
              <a:off x="0" y="358163"/>
              <a:ext cx="4856621" cy="4476922"/>
            </a:xfrm>
            <a:custGeom>
              <a:avLst/>
              <a:gdLst/>
              <a:ahLst/>
              <a:cxnLst/>
              <a:rect r="r" b="b" t="t" l="l"/>
              <a:pathLst>
                <a:path h="4476922" w="4856621">
                  <a:moveTo>
                    <a:pt x="0" y="0"/>
                  </a:moveTo>
                  <a:lnTo>
                    <a:pt x="4856621" y="0"/>
                  </a:lnTo>
                  <a:lnTo>
                    <a:pt x="4856621" y="4476922"/>
                  </a:lnTo>
                  <a:lnTo>
                    <a:pt x="0" y="44769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81" id="81"/>
          <p:cNvSpPr/>
          <p:nvPr/>
        </p:nvSpPr>
        <p:spPr>
          <a:xfrm flipH="false" flipV="false" rot="0">
            <a:off x="9716870" y="6579773"/>
            <a:ext cx="3876559" cy="5357054"/>
          </a:xfrm>
          <a:custGeom>
            <a:avLst/>
            <a:gdLst/>
            <a:ahLst/>
            <a:cxnLst/>
            <a:rect r="r" b="b" t="t" l="l"/>
            <a:pathLst>
              <a:path h="5357054" w="3876559">
                <a:moveTo>
                  <a:pt x="0" y="0"/>
                </a:moveTo>
                <a:lnTo>
                  <a:pt x="3876560" y="0"/>
                </a:lnTo>
                <a:lnTo>
                  <a:pt x="3876560" y="5357054"/>
                </a:lnTo>
                <a:lnTo>
                  <a:pt x="0" y="535705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2" id="82"/>
          <p:cNvSpPr/>
          <p:nvPr/>
        </p:nvSpPr>
        <p:spPr>
          <a:xfrm flipH="false" flipV="false" rot="0">
            <a:off x="11229678" y="478795"/>
            <a:ext cx="1714106" cy="1704757"/>
          </a:xfrm>
          <a:custGeom>
            <a:avLst/>
            <a:gdLst/>
            <a:ahLst/>
            <a:cxnLst/>
            <a:rect r="r" b="b" t="t" l="l"/>
            <a:pathLst>
              <a:path h="1704757" w="1714106">
                <a:moveTo>
                  <a:pt x="0" y="0"/>
                </a:moveTo>
                <a:lnTo>
                  <a:pt x="1714106" y="0"/>
                </a:lnTo>
                <a:lnTo>
                  <a:pt x="1714106" y="1704756"/>
                </a:lnTo>
                <a:lnTo>
                  <a:pt x="0" y="170475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83" id="83"/>
          <p:cNvGrpSpPr/>
          <p:nvPr/>
        </p:nvGrpSpPr>
        <p:grpSpPr>
          <a:xfrm rot="0">
            <a:off x="15417565" y="4552461"/>
            <a:ext cx="2291120" cy="495465"/>
            <a:chOff x="0" y="0"/>
            <a:chExt cx="3054827" cy="660619"/>
          </a:xfrm>
        </p:grpSpPr>
        <p:grpSp>
          <p:nvGrpSpPr>
            <p:cNvPr name="Group 84" id="84"/>
            <p:cNvGrpSpPr/>
            <p:nvPr/>
          </p:nvGrpSpPr>
          <p:grpSpPr>
            <a:xfrm rot="0">
              <a:off x="0" y="0"/>
              <a:ext cx="3054827" cy="660619"/>
              <a:chOff x="0" y="0"/>
              <a:chExt cx="1484357" cy="320999"/>
            </a:xfrm>
          </p:grpSpPr>
          <p:sp>
            <p:nvSpPr>
              <p:cNvPr name="Freeform 85" id="85"/>
              <p:cNvSpPr/>
              <p:nvPr/>
            </p:nvSpPr>
            <p:spPr>
              <a:xfrm flipH="false" flipV="false" rot="0">
                <a:off x="0" y="0"/>
                <a:ext cx="1484357" cy="320999"/>
              </a:xfrm>
              <a:custGeom>
                <a:avLst/>
                <a:gdLst/>
                <a:ahLst/>
                <a:cxnLst/>
                <a:rect r="r" b="b" t="t" l="l"/>
                <a:pathLst>
                  <a:path h="320999" w="1484357">
                    <a:moveTo>
                      <a:pt x="160491" y="0"/>
                    </a:moveTo>
                    <a:lnTo>
                      <a:pt x="1323866" y="0"/>
                    </a:lnTo>
                    <a:cubicBezTo>
                      <a:pt x="1412503" y="0"/>
                      <a:pt x="1484357" y="71854"/>
                      <a:pt x="1484357" y="160491"/>
                    </a:cubicBezTo>
                    <a:lnTo>
                      <a:pt x="1484357" y="160507"/>
                    </a:lnTo>
                    <a:cubicBezTo>
                      <a:pt x="1484357" y="203072"/>
                      <a:pt x="1467448" y="243894"/>
                      <a:pt x="1437350" y="273992"/>
                    </a:cubicBezTo>
                    <a:cubicBezTo>
                      <a:pt x="1407252" y="304090"/>
                      <a:pt x="1366431" y="320999"/>
                      <a:pt x="1323866" y="320999"/>
                    </a:cubicBezTo>
                    <a:lnTo>
                      <a:pt x="160491" y="320999"/>
                    </a:lnTo>
                    <a:cubicBezTo>
                      <a:pt x="71854" y="320999"/>
                      <a:pt x="0" y="249144"/>
                      <a:pt x="0" y="160507"/>
                    </a:cubicBezTo>
                    <a:lnTo>
                      <a:pt x="0" y="160491"/>
                    </a:lnTo>
                    <a:cubicBezTo>
                      <a:pt x="0" y="71854"/>
                      <a:pt x="71854" y="0"/>
                      <a:pt x="160491" y="0"/>
                    </a:cubicBezTo>
                    <a:close/>
                  </a:path>
                </a:pathLst>
              </a:custGeom>
              <a:solidFill>
                <a:srgbClr val="E29D80"/>
              </a:solidFill>
              <a:ln w="19050" cap="rnd">
                <a:solidFill>
                  <a:srgbClr val="000000"/>
                </a:solidFill>
                <a:prstDash val="solid"/>
                <a:round/>
              </a:ln>
            </p:spPr>
          </p:sp>
          <p:sp>
            <p:nvSpPr>
              <p:cNvPr name="TextBox 86" id="86"/>
              <p:cNvSpPr txBox="true"/>
              <p:nvPr/>
            </p:nvSpPr>
            <p:spPr>
              <a:xfrm>
                <a:off x="0" y="-38100"/>
                <a:ext cx="1484357" cy="359099"/>
              </a:xfrm>
              <a:prstGeom prst="rect">
                <a:avLst/>
              </a:prstGeom>
            </p:spPr>
            <p:txBody>
              <a:bodyPr anchor="ctr" rtlCol="false" tIns="26181" lIns="26181" bIns="26181" rIns="26181"/>
              <a:lstStyle/>
              <a:p>
                <a:pPr algn="ctr">
                  <a:lnSpc>
                    <a:spcPts val="2659"/>
                  </a:lnSpc>
                  <a:spcBef>
                    <a:spcPct val="0"/>
                  </a:spcBef>
                </a:pPr>
              </a:p>
            </p:txBody>
          </p:sp>
        </p:grpSp>
        <p:sp>
          <p:nvSpPr>
            <p:cNvPr name="TextBox 87" id="87"/>
            <p:cNvSpPr txBox="true"/>
            <p:nvPr/>
          </p:nvSpPr>
          <p:spPr>
            <a:xfrm rot="0">
              <a:off x="260773" y="128438"/>
              <a:ext cx="2533280" cy="375168"/>
            </a:xfrm>
            <a:prstGeom prst="rect">
              <a:avLst/>
            </a:prstGeom>
          </p:spPr>
          <p:txBody>
            <a:bodyPr anchor="t" rtlCol="false" tIns="0" lIns="0" bIns="0" rIns="0">
              <a:spAutoFit/>
            </a:bodyPr>
            <a:lstStyle/>
            <a:p>
              <a:pPr algn="ctr">
                <a:lnSpc>
                  <a:spcPts val="2472"/>
                </a:lnSpc>
                <a:spcBef>
                  <a:spcPct val="0"/>
                </a:spcBef>
              </a:pPr>
              <a:r>
                <a:rPr lang="en-US" b="true" sz="1765" i="true">
                  <a:solidFill>
                    <a:srgbClr val="000000"/>
                  </a:solidFill>
                  <a:latin typeface="Canva Sans Medium Italics"/>
                  <a:ea typeface="Canva Sans Medium Italics"/>
                  <a:cs typeface="Canva Sans Medium Italics"/>
                  <a:sym typeface="Canva Sans Medium Italics"/>
                </a:rPr>
                <a:t>Joshua Tree</a:t>
              </a:r>
            </a:p>
          </p:txBody>
        </p:sp>
      </p:grpSp>
      <p:grpSp>
        <p:nvGrpSpPr>
          <p:cNvPr name="Group 88" id="88"/>
          <p:cNvGrpSpPr/>
          <p:nvPr/>
        </p:nvGrpSpPr>
        <p:grpSpPr>
          <a:xfrm rot="0">
            <a:off x="14545696" y="8071633"/>
            <a:ext cx="2291120" cy="495465"/>
            <a:chOff x="0" y="0"/>
            <a:chExt cx="3054827" cy="660619"/>
          </a:xfrm>
        </p:grpSpPr>
        <p:grpSp>
          <p:nvGrpSpPr>
            <p:cNvPr name="Group 89" id="89"/>
            <p:cNvGrpSpPr/>
            <p:nvPr/>
          </p:nvGrpSpPr>
          <p:grpSpPr>
            <a:xfrm rot="0">
              <a:off x="0" y="0"/>
              <a:ext cx="3054827" cy="660619"/>
              <a:chOff x="0" y="0"/>
              <a:chExt cx="1484357" cy="320999"/>
            </a:xfrm>
          </p:grpSpPr>
          <p:sp>
            <p:nvSpPr>
              <p:cNvPr name="Freeform 90" id="90"/>
              <p:cNvSpPr/>
              <p:nvPr/>
            </p:nvSpPr>
            <p:spPr>
              <a:xfrm flipH="false" flipV="false" rot="0">
                <a:off x="0" y="0"/>
                <a:ext cx="1484357" cy="320999"/>
              </a:xfrm>
              <a:custGeom>
                <a:avLst/>
                <a:gdLst/>
                <a:ahLst/>
                <a:cxnLst/>
                <a:rect r="r" b="b" t="t" l="l"/>
                <a:pathLst>
                  <a:path h="320999" w="1484357">
                    <a:moveTo>
                      <a:pt x="160491" y="0"/>
                    </a:moveTo>
                    <a:lnTo>
                      <a:pt x="1323866" y="0"/>
                    </a:lnTo>
                    <a:cubicBezTo>
                      <a:pt x="1412503" y="0"/>
                      <a:pt x="1484357" y="71854"/>
                      <a:pt x="1484357" y="160491"/>
                    </a:cubicBezTo>
                    <a:lnTo>
                      <a:pt x="1484357" y="160507"/>
                    </a:lnTo>
                    <a:cubicBezTo>
                      <a:pt x="1484357" y="203072"/>
                      <a:pt x="1467448" y="243894"/>
                      <a:pt x="1437350" y="273992"/>
                    </a:cubicBezTo>
                    <a:cubicBezTo>
                      <a:pt x="1407252" y="304090"/>
                      <a:pt x="1366431" y="320999"/>
                      <a:pt x="1323866" y="320999"/>
                    </a:cubicBezTo>
                    <a:lnTo>
                      <a:pt x="160491" y="320999"/>
                    </a:lnTo>
                    <a:cubicBezTo>
                      <a:pt x="71854" y="320999"/>
                      <a:pt x="0" y="249144"/>
                      <a:pt x="0" y="160507"/>
                    </a:cubicBezTo>
                    <a:lnTo>
                      <a:pt x="0" y="160491"/>
                    </a:lnTo>
                    <a:cubicBezTo>
                      <a:pt x="0" y="71854"/>
                      <a:pt x="71854" y="0"/>
                      <a:pt x="160491" y="0"/>
                    </a:cubicBezTo>
                    <a:close/>
                  </a:path>
                </a:pathLst>
              </a:custGeom>
              <a:solidFill>
                <a:srgbClr val="E29D80"/>
              </a:solidFill>
              <a:ln w="19050" cap="rnd">
                <a:solidFill>
                  <a:srgbClr val="000000"/>
                </a:solidFill>
                <a:prstDash val="solid"/>
                <a:round/>
              </a:ln>
            </p:spPr>
          </p:sp>
          <p:sp>
            <p:nvSpPr>
              <p:cNvPr name="TextBox 91" id="91"/>
              <p:cNvSpPr txBox="true"/>
              <p:nvPr/>
            </p:nvSpPr>
            <p:spPr>
              <a:xfrm>
                <a:off x="0" y="-38100"/>
                <a:ext cx="1484357" cy="359099"/>
              </a:xfrm>
              <a:prstGeom prst="rect">
                <a:avLst/>
              </a:prstGeom>
            </p:spPr>
            <p:txBody>
              <a:bodyPr anchor="ctr" rtlCol="false" tIns="26181" lIns="26181" bIns="26181" rIns="26181"/>
              <a:lstStyle/>
              <a:p>
                <a:pPr algn="ctr">
                  <a:lnSpc>
                    <a:spcPts val="2659"/>
                  </a:lnSpc>
                  <a:spcBef>
                    <a:spcPct val="0"/>
                  </a:spcBef>
                </a:pPr>
              </a:p>
            </p:txBody>
          </p:sp>
        </p:grpSp>
        <p:sp>
          <p:nvSpPr>
            <p:cNvPr name="TextBox 92" id="92"/>
            <p:cNvSpPr txBox="true"/>
            <p:nvPr/>
          </p:nvSpPr>
          <p:spPr>
            <a:xfrm rot="0">
              <a:off x="260773" y="128438"/>
              <a:ext cx="2533280" cy="375168"/>
            </a:xfrm>
            <a:prstGeom prst="rect">
              <a:avLst/>
            </a:prstGeom>
          </p:spPr>
          <p:txBody>
            <a:bodyPr anchor="t" rtlCol="false" tIns="0" lIns="0" bIns="0" rIns="0">
              <a:spAutoFit/>
            </a:bodyPr>
            <a:lstStyle/>
            <a:p>
              <a:pPr algn="ctr">
                <a:lnSpc>
                  <a:spcPts val="2472"/>
                </a:lnSpc>
                <a:spcBef>
                  <a:spcPct val="0"/>
                </a:spcBef>
              </a:pPr>
              <a:r>
                <a:rPr lang="en-US" b="true" sz="1765" i="true">
                  <a:solidFill>
                    <a:srgbClr val="000000"/>
                  </a:solidFill>
                  <a:latin typeface="Canva Sans Medium Italics"/>
                  <a:ea typeface="Canva Sans Medium Italics"/>
                  <a:cs typeface="Canva Sans Medium Italics"/>
                  <a:sym typeface="Canva Sans Medium Italics"/>
                </a:rPr>
                <a:t>Saguaro</a:t>
              </a:r>
            </a:p>
          </p:txBody>
        </p:sp>
      </p:grpSp>
      <p:grpSp>
        <p:nvGrpSpPr>
          <p:cNvPr name="Group 93" id="93"/>
          <p:cNvGrpSpPr/>
          <p:nvPr/>
        </p:nvGrpSpPr>
        <p:grpSpPr>
          <a:xfrm rot="0">
            <a:off x="10941171" y="8921684"/>
            <a:ext cx="2291120" cy="495465"/>
            <a:chOff x="0" y="0"/>
            <a:chExt cx="3054827" cy="660619"/>
          </a:xfrm>
        </p:grpSpPr>
        <p:grpSp>
          <p:nvGrpSpPr>
            <p:cNvPr name="Group 94" id="94"/>
            <p:cNvGrpSpPr/>
            <p:nvPr/>
          </p:nvGrpSpPr>
          <p:grpSpPr>
            <a:xfrm rot="0">
              <a:off x="0" y="0"/>
              <a:ext cx="3054827" cy="660619"/>
              <a:chOff x="0" y="0"/>
              <a:chExt cx="1484357" cy="320999"/>
            </a:xfrm>
          </p:grpSpPr>
          <p:sp>
            <p:nvSpPr>
              <p:cNvPr name="Freeform 95" id="95"/>
              <p:cNvSpPr/>
              <p:nvPr/>
            </p:nvSpPr>
            <p:spPr>
              <a:xfrm flipH="false" flipV="false" rot="0">
                <a:off x="0" y="0"/>
                <a:ext cx="1484357" cy="320999"/>
              </a:xfrm>
              <a:custGeom>
                <a:avLst/>
                <a:gdLst/>
                <a:ahLst/>
                <a:cxnLst/>
                <a:rect r="r" b="b" t="t" l="l"/>
                <a:pathLst>
                  <a:path h="320999" w="1484357">
                    <a:moveTo>
                      <a:pt x="160491" y="0"/>
                    </a:moveTo>
                    <a:lnTo>
                      <a:pt x="1323866" y="0"/>
                    </a:lnTo>
                    <a:cubicBezTo>
                      <a:pt x="1412503" y="0"/>
                      <a:pt x="1484357" y="71854"/>
                      <a:pt x="1484357" y="160491"/>
                    </a:cubicBezTo>
                    <a:lnTo>
                      <a:pt x="1484357" y="160507"/>
                    </a:lnTo>
                    <a:cubicBezTo>
                      <a:pt x="1484357" y="203072"/>
                      <a:pt x="1467448" y="243894"/>
                      <a:pt x="1437350" y="273992"/>
                    </a:cubicBezTo>
                    <a:cubicBezTo>
                      <a:pt x="1407252" y="304090"/>
                      <a:pt x="1366431" y="320999"/>
                      <a:pt x="1323866" y="320999"/>
                    </a:cubicBezTo>
                    <a:lnTo>
                      <a:pt x="160491" y="320999"/>
                    </a:lnTo>
                    <a:cubicBezTo>
                      <a:pt x="71854" y="320999"/>
                      <a:pt x="0" y="249144"/>
                      <a:pt x="0" y="160507"/>
                    </a:cubicBezTo>
                    <a:lnTo>
                      <a:pt x="0" y="160491"/>
                    </a:lnTo>
                    <a:cubicBezTo>
                      <a:pt x="0" y="71854"/>
                      <a:pt x="71854" y="0"/>
                      <a:pt x="160491" y="0"/>
                    </a:cubicBezTo>
                    <a:close/>
                  </a:path>
                </a:pathLst>
              </a:custGeom>
              <a:solidFill>
                <a:srgbClr val="E29D80"/>
              </a:solidFill>
              <a:ln w="19050" cap="rnd">
                <a:solidFill>
                  <a:srgbClr val="000000"/>
                </a:solidFill>
                <a:prstDash val="solid"/>
                <a:round/>
              </a:ln>
            </p:spPr>
          </p:sp>
          <p:sp>
            <p:nvSpPr>
              <p:cNvPr name="TextBox 96" id="96"/>
              <p:cNvSpPr txBox="true"/>
              <p:nvPr/>
            </p:nvSpPr>
            <p:spPr>
              <a:xfrm>
                <a:off x="0" y="-38100"/>
                <a:ext cx="1484357" cy="359099"/>
              </a:xfrm>
              <a:prstGeom prst="rect">
                <a:avLst/>
              </a:prstGeom>
            </p:spPr>
            <p:txBody>
              <a:bodyPr anchor="ctr" rtlCol="false" tIns="26181" lIns="26181" bIns="26181" rIns="26181"/>
              <a:lstStyle/>
              <a:p>
                <a:pPr algn="ctr">
                  <a:lnSpc>
                    <a:spcPts val="2659"/>
                  </a:lnSpc>
                  <a:spcBef>
                    <a:spcPct val="0"/>
                  </a:spcBef>
                </a:pPr>
              </a:p>
            </p:txBody>
          </p:sp>
        </p:grpSp>
        <p:sp>
          <p:nvSpPr>
            <p:cNvPr name="TextBox 97" id="97"/>
            <p:cNvSpPr txBox="true"/>
            <p:nvPr/>
          </p:nvSpPr>
          <p:spPr>
            <a:xfrm rot="0">
              <a:off x="260773" y="128438"/>
              <a:ext cx="2533280" cy="375168"/>
            </a:xfrm>
            <a:prstGeom prst="rect">
              <a:avLst/>
            </a:prstGeom>
          </p:spPr>
          <p:txBody>
            <a:bodyPr anchor="t" rtlCol="false" tIns="0" lIns="0" bIns="0" rIns="0">
              <a:spAutoFit/>
            </a:bodyPr>
            <a:lstStyle/>
            <a:p>
              <a:pPr algn="ctr">
                <a:lnSpc>
                  <a:spcPts val="2472"/>
                </a:lnSpc>
                <a:spcBef>
                  <a:spcPct val="0"/>
                </a:spcBef>
              </a:pPr>
              <a:r>
                <a:rPr lang="en-US" b="true" sz="1765" i="true">
                  <a:solidFill>
                    <a:srgbClr val="000000"/>
                  </a:solidFill>
                  <a:latin typeface="Canva Sans Medium Italics"/>
                  <a:ea typeface="Canva Sans Medium Italics"/>
                  <a:cs typeface="Canva Sans Medium Italics"/>
                  <a:sym typeface="Canva Sans Medium Italics"/>
                </a:rPr>
                <a:t>Desert Marigold</a:t>
              </a:r>
            </a:p>
          </p:txBody>
        </p:sp>
      </p:grpSp>
      <p:grpSp>
        <p:nvGrpSpPr>
          <p:cNvPr name="Group 98" id="98"/>
          <p:cNvGrpSpPr/>
          <p:nvPr/>
        </p:nvGrpSpPr>
        <p:grpSpPr>
          <a:xfrm rot="0">
            <a:off x="10941171" y="5503337"/>
            <a:ext cx="2469304" cy="495465"/>
            <a:chOff x="0" y="0"/>
            <a:chExt cx="3292406" cy="660619"/>
          </a:xfrm>
        </p:grpSpPr>
        <p:grpSp>
          <p:nvGrpSpPr>
            <p:cNvPr name="Group 99" id="99"/>
            <p:cNvGrpSpPr/>
            <p:nvPr/>
          </p:nvGrpSpPr>
          <p:grpSpPr>
            <a:xfrm rot="0">
              <a:off x="0" y="0"/>
              <a:ext cx="3292406" cy="660619"/>
              <a:chOff x="0" y="0"/>
              <a:chExt cx="1599798" cy="320999"/>
            </a:xfrm>
          </p:grpSpPr>
          <p:sp>
            <p:nvSpPr>
              <p:cNvPr name="Freeform 100" id="100"/>
              <p:cNvSpPr/>
              <p:nvPr/>
            </p:nvSpPr>
            <p:spPr>
              <a:xfrm flipH="false" flipV="false" rot="0">
                <a:off x="0" y="0"/>
                <a:ext cx="1599798" cy="320999"/>
              </a:xfrm>
              <a:custGeom>
                <a:avLst/>
                <a:gdLst/>
                <a:ahLst/>
                <a:cxnLst/>
                <a:rect r="r" b="b" t="t" l="l"/>
                <a:pathLst>
                  <a:path h="320999" w="1599798">
                    <a:moveTo>
                      <a:pt x="148910" y="0"/>
                    </a:moveTo>
                    <a:lnTo>
                      <a:pt x="1450888" y="0"/>
                    </a:lnTo>
                    <a:cubicBezTo>
                      <a:pt x="1533129" y="0"/>
                      <a:pt x="1599798" y="66669"/>
                      <a:pt x="1599798" y="148910"/>
                    </a:cubicBezTo>
                    <a:lnTo>
                      <a:pt x="1599798" y="172088"/>
                    </a:lnTo>
                    <a:cubicBezTo>
                      <a:pt x="1599798" y="211582"/>
                      <a:pt x="1584109" y="249458"/>
                      <a:pt x="1556183" y="277384"/>
                    </a:cubicBezTo>
                    <a:cubicBezTo>
                      <a:pt x="1528257" y="305310"/>
                      <a:pt x="1490381" y="320999"/>
                      <a:pt x="1450888" y="320999"/>
                    </a:cubicBezTo>
                    <a:lnTo>
                      <a:pt x="148910" y="320999"/>
                    </a:lnTo>
                    <a:cubicBezTo>
                      <a:pt x="66669" y="320999"/>
                      <a:pt x="0" y="254329"/>
                      <a:pt x="0" y="172088"/>
                    </a:cubicBezTo>
                    <a:lnTo>
                      <a:pt x="0" y="148910"/>
                    </a:lnTo>
                    <a:cubicBezTo>
                      <a:pt x="0" y="66669"/>
                      <a:pt x="66669" y="0"/>
                      <a:pt x="148910" y="0"/>
                    </a:cubicBezTo>
                    <a:close/>
                  </a:path>
                </a:pathLst>
              </a:custGeom>
              <a:solidFill>
                <a:srgbClr val="E29D80"/>
              </a:solidFill>
              <a:ln w="19050" cap="rnd">
                <a:solidFill>
                  <a:srgbClr val="000000"/>
                </a:solidFill>
                <a:prstDash val="solid"/>
                <a:round/>
              </a:ln>
            </p:spPr>
          </p:sp>
          <p:sp>
            <p:nvSpPr>
              <p:cNvPr name="TextBox 101" id="101"/>
              <p:cNvSpPr txBox="true"/>
              <p:nvPr/>
            </p:nvSpPr>
            <p:spPr>
              <a:xfrm>
                <a:off x="0" y="-38100"/>
                <a:ext cx="1599798" cy="359099"/>
              </a:xfrm>
              <a:prstGeom prst="rect">
                <a:avLst/>
              </a:prstGeom>
            </p:spPr>
            <p:txBody>
              <a:bodyPr anchor="ctr" rtlCol="false" tIns="26181" lIns="26181" bIns="26181" rIns="26181"/>
              <a:lstStyle/>
              <a:p>
                <a:pPr algn="ctr">
                  <a:lnSpc>
                    <a:spcPts val="2659"/>
                  </a:lnSpc>
                  <a:spcBef>
                    <a:spcPct val="0"/>
                  </a:spcBef>
                </a:pPr>
              </a:p>
            </p:txBody>
          </p:sp>
        </p:grpSp>
        <p:sp>
          <p:nvSpPr>
            <p:cNvPr name="TextBox 102" id="102"/>
            <p:cNvSpPr txBox="true"/>
            <p:nvPr/>
          </p:nvSpPr>
          <p:spPr>
            <a:xfrm rot="0">
              <a:off x="281054" y="128438"/>
              <a:ext cx="2730298" cy="375168"/>
            </a:xfrm>
            <a:prstGeom prst="rect">
              <a:avLst/>
            </a:prstGeom>
          </p:spPr>
          <p:txBody>
            <a:bodyPr anchor="t" rtlCol="false" tIns="0" lIns="0" bIns="0" rIns="0">
              <a:spAutoFit/>
            </a:bodyPr>
            <a:lstStyle/>
            <a:p>
              <a:pPr algn="ctr">
                <a:lnSpc>
                  <a:spcPts val="2472"/>
                </a:lnSpc>
                <a:spcBef>
                  <a:spcPct val="0"/>
                </a:spcBef>
              </a:pPr>
              <a:r>
                <a:rPr lang="en-US" b="true" sz="1765" i="true">
                  <a:solidFill>
                    <a:srgbClr val="000000"/>
                  </a:solidFill>
                  <a:latin typeface="Canva Sans Medium Italics"/>
                  <a:ea typeface="Canva Sans Medium Italics"/>
                  <a:cs typeface="Canva Sans Medium Italics"/>
                  <a:sym typeface="Canva Sans Medium Italics"/>
                </a:rPr>
                <a:t>Edelweiss Cactus</a:t>
              </a:r>
            </a:p>
          </p:txBody>
        </p:sp>
      </p:gr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grpSp>
        <p:nvGrpSpPr>
          <p:cNvPr name="Group 2" id="2"/>
          <p:cNvGrpSpPr/>
          <p:nvPr/>
        </p:nvGrpSpPr>
        <p:grpSpPr>
          <a:xfrm rot="0">
            <a:off x="-27106" y="0"/>
            <a:ext cx="18342213" cy="10287000"/>
            <a:chOff x="0" y="0"/>
            <a:chExt cx="24456283" cy="13716000"/>
          </a:xfrm>
        </p:grpSpPr>
        <p:sp>
          <p:nvSpPr>
            <p:cNvPr name="Freeform 3" id="3"/>
            <p:cNvSpPr/>
            <p:nvPr/>
          </p:nvSpPr>
          <p:spPr>
            <a:xfrm flipH="false" flipV="false" rot="-10800000">
              <a:off x="2782211"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 id="4"/>
            <p:cNvSpPr/>
            <p:nvPr/>
          </p:nvSpPr>
          <p:spPr>
            <a:xfrm flipH="false" flipV="false" rot="0">
              <a:off x="0" y="0"/>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10800000">
              <a:off x="5491470"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6" id="6"/>
            <p:cNvSpPr/>
            <p:nvPr/>
          </p:nvSpPr>
          <p:spPr>
            <a:xfrm flipH="false" flipV="false" rot="-10800000">
              <a:off x="8200729"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7" id="7"/>
            <p:cNvSpPr/>
            <p:nvPr/>
          </p:nvSpPr>
          <p:spPr>
            <a:xfrm flipH="false" flipV="false" rot="-10800000">
              <a:off x="10909988"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8" id="8"/>
            <p:cNvSpPr/>
            <p:nvPr/>
          </p:nvSpPr>
          <p:spPr>
            <a:xfrm flipH="false" flipV="false" rot="-10800000">
              <a:off x="13619247"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9" id="9"/>
            <p:cNvSpPr/>
            <p:nvPr/>
          </p:nvSpPr>
          <p:spPr>
            <a:xfrm flipH="false" flipV="false" rot="-10800000">
              <a:off x="16328506"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0" id="10"/>
            <p:cNvSpPr/>
            <p:nvPr/>
          </p:nvSpPr>
          <p:spPr>
            <a:xfrm flipH="false" flipV="false" rot="-10800000">
              <a:off x="19037765"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1" id="11"/>
            <p:cNvSpPr/>
            <p:nvPr/>
          </p:nvSpPr>
          <p:spPr>
            <a:xfrm flipH="false" flipV="false" rot="-10800000">
              <a:off x="21747024"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2" id="12"/>
            <p:cNvSpPr/>
            <p:nvPr/>
          </p:nvSpPr>
          <p:spPr>
            <a:xfrm flipH="false" flipV="false" rot="-10800000">
              <a:off x="2782211"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3" id="13"/>
            <p:cNvSpPr/>
            <p:nvPr/>
          </p:nvSpPr>
          <p:spPr>
            <a:xfrm flipH="false" flipV="false" rot="0">
              <a:off x="0" y="2736056"/>
              <a:ext cx="2782211" cy="2771778"/>
            </a:xfrm>
            <a:custGeom>
              <a:avLst/>
              <a:gdLst/>
              <a:ahLst/>
              <a:cxnLst/>
              <a:rect r="r" b="b" t="t" l="l"/>
              <a:pathLst>
                <a:path h="2771778" w="2782211">
                  <a:moveTo>
                    <a:pt x="0" y="0"/>
                  </a:moveTo>
                  <a:lnTo>
                    <a:pt x="2782211" y="0"/>
                  </a:lnTo>
                  <a:lnTo>
                    <a:pt x="2782211"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4" id="14"/>
            <p:cNvSpPr/>
            <p:nvPr/>
          </p:nvSpPr>
          <p:spPr>
            <a:xfrm flipH="false" flipV="false" rot="-10800000">
              <a:off x="5491470"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5" id="15"/>
            <p:cNvSpPr/>
            <p:nvPr/>
          </p:nvSpPr>
          <p:spPr>
            <a:xfrm flipH="false" flipV="false" rot="-10800000">
              <a:off x="8200729"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6" id="16"/>
            <p:cNvSpPr/>
            <p:nvPr/>
          </p:nvSpPr>
          <p:spPr>
            <a:xfrm flipH="false" flipV="false" rot="-10800000">
              <a:off x="10909988"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7" id="17"/>
            <p:cNvSpPr/>
            <p:nvPr/>
          </p:nvSpPr>
          <p:spPr>
            <a:xfrm flipH="false" flipV="false" rot="-10800000">
              <a:off x="13619247"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8" id="18"/>
            <p:cNvSpPr/>
            <p:nvPr/>
          </p:nvSpPr>
          <p:spPr>
            <a:xfrm flipH="false" flipV="false" rot="-10800000">
              <a:off x="16328506"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9" id="19"/>
            <p:cNvSpPr/>
            <p:nvPr/>
          </p:nvSpPr>
          <p:spPr>
            <a:xfrm flipH="false" flipV="false" rot="-10800000">
              <a:off x="19037765"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0" id="20"/>
            <p:cNvSpPr/>
            <p:nvPr/>
          </p:nvSpPr>
          <p:spPr>
            <a:xfrm flipH="false" flipV="false" rot="-10800000">
              <a:off x="21747024"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1" id="21"/>
            <p:cNvSpPr/>
            <p:nvPr/>
          </p:nvSpPr>
          <p:spPr>
            <a:xfrm flipH="false" flipV="false" rot="-10800000">
              <a:off x="2782211"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2" id="22"/>
            <p:cNvSpPr/>
            <p:nvPr/>
          </p:nvSpPr>
          <p:spPr>
            <a:xfrm flipH="false" flipV="false" rot="0">
              <a:off x="0" y="5472111"/>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3" id="23"/>
            <p:cNvSpPr/>
            <p:nvPr/>
          </p:nvSpPr>
          <p:spPr>
            <a:xfrm flipH="false" flipV="false" rot="-10800000">
              <a:off x="5491470"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4" id="24"/>
            <p:cNvSpPr/>
            <p:nvPr/>
          </p:nvSpPr>
          <p:spPr>
            <a:xfrm flipH="false" flipV="false" rot="-10800000">
              <a:off x="8200729"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5" id="25"/>
            <p:cNvSpPr/>
            <p:nvPr/>
          </p:nvSpPr>
          <p:spPr>
            <a:xfrm flipH="false" flipV="false" rot="-10800000">
              <a:off x="10909988"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6" id="26"/>
            <p:cNvSpPr/>
            <p:nvPr/>
          </p:nvSpPr>
          <p:spPr>
            <a:xfrm flipH="false" flipV="false" rot="-10800000">
              <a:off x="13619247"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7" id="27"/>
            <p:cNvSpPr/>
            <p:nvPr/>
          </p:nvSpPr>
          <p:spPr>
            <a:xfrm flipH="false" flipV="false" rot="-10800000">
              <a:off x="16328506"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8" id="28"/>
            <p:cNvSpPr/>
            <p:nvPr/>
          </p:nvSpPr>
          <p:spPr>
            <a:xfrm flipH="false" flipV="false" rot="-10800000">
              <a:off x="19037765"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9" id="29"/>
            <p:cNvSpPr/>
            <p:nvPr/>
          </p:nvSpPr>
          <p:spPr>
            <a:xfrm flipH="false" flipV="false" rot="-10800000">
              <a:off x="21747024"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0" id="30"/>
            <p:cNvSpPr/>
            <p:nvPr/>
          </p:nvSpPr>
          <p:spPr>
            <a:xfrm flipH="false" flipV="false" rot="-10800000">
              <a:off x="2782211"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1" id="31"/>
            <p:cNvSpPr/>
            <p:nvPr/>
          </p:nvSpPr>
          <p:spPr>
            <a:xfrm flipH="false" flipV="false" rot="0">
              <a:off x="0" y="8208167"/>
              <a:ext cx="2782211" cy="2771778"/>
            </a:xfrm>
            <a:custGeom>
              <a:avLst/>
              <a:gdLst/>
              <a:ahLst/>
              <a:cxnLst/>
              <a:rect r="r" b="b" t="t" l="l"/>
              <a:pathLst>
                <a:path h="2771778" w="2782211">
                  <a:moveTo>
                    <a:pt x="0" y="0"/>
                  </a:moveTo>
                  <a:lnTo>
                    <a:pt x="2782211" y="0"/>
                  </a:lnTo>
                  <a:lnTo>
                    <a:pt x="2782211"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2" id="32"/>
            <p:cNvSpPr/>
            <p:nvPr/>
          </p:nvSpPr>
          <p:spPr>
            <a:xfrm flipH="false" flipV="false" rot="-10800000">
              <a:off x="5491470"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3" id="33"/>
            <p:cNvSpPr/>
            <p:nvPr/>
          </p:nvSpPr>
          <p:spPr>
            <a:xfrm flipH="false" flipV="false" rot="-10800000">
              <a:off x="8200729"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4" id="34"/>
            <p:cNvSpPr/>
            <p:nvPr/>
          </p:nvSpPr>
          <p:spPr>
            <a:xfrm flipH="false" flipV="false" rot="-10800000">
              <a:off x="10909988"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5" id="35"/>
            <p:cNvSpPr/>
            <p:nvPr/>
          </p:nvSpPr>
          <p:spPr>
            <a:xfrm flipH="false" flipV="false" rot="-10800000">
              <a:off x="13619247"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6" id="36"/>
            <p:cNvSpPr/>
            <p:nvPr/>
          </p:nvSpPr>
          <p:spPr>
            <a:xfrm flipH="false" flipV="false" rot="-10800000">
              <a:off x="16328506"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7" id="37"/>
            <p:cNvSpPr/>
            <p:nvPr/>
          </p:nvSpPr>
          <p:spPr>
            <a:xfrm flipH="false" flipV="false" rot="-10800000">
              <a:off x="19037765"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8" id="38"/>
            <p:cNvSpPr/>
            <p:nvPr/>
          </p:nvSpPr>
          <p:spPr>
            <a:xfrm flipH="false" flipV="false" rot="-10800000">
              <a:off x="21747024"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9" id="39"/>
            <p:cNvSpPr/>
            <p:nvPr/>
          </p:nvSpPr>
          <p:spPr>
            <a:xfrm flipH="false" flipV="false" rot="-10800000">
              <a:off x="2782211"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0" id="40"/>
            <p:cNvSpPr/>
            <p:nvPr/>
          </p:nvSpPr>
          <p:spPr>
            <a:xfrm flipH="false" flipV="false" rot="0">
              <a:off x="0" y="10944222"/>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1" id="41"/>
            <p:cNvSpPr/>
            <p:nvPr/>
          </p:nvSpPr>
          <p:spPr>
            <a:xfrm flipH="false" flipV="false" rot="-10800000">
              <a:off x="5491470"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2" id="42"/>
            <p:cNvSpPr/>
            <p:nvPr/>
          </p:nvSpPr>
          <p:spPr>
            <a:xfrm flipH="false" flipV="false" rot="-10800000">
              <a:off x="8200729"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3" id="43"/>
            <p:cNvSpPr/>
            <p:nvPr/>
          </p:nvSpPr>
          <p:spPr>
            <a:xfrm flipH="false" flipV="false" rot="-10800000">
              <a:off x="10909988"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4" id="44"/>
            <p:cNvSpPr/>
            <p:nvPr/>
          </p:nvSpPr>
          <p:spPr>
            <a:xfrm flipH="false" flipV="false" rot="-10800000">
              <a:off x="13619247"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5" id="45"/>
            <p:cNvSpPr/>
            <p:nvPr/>
          </p:nvSpPr>
          <p:spPr>
            <a:xfrm flipH="false" flipV="false" rot="-10800000">
              <a:off x="16328506"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6" id="46"/>
            <p:cNvSpPr/>
            <p:nvPr/>
          </p:nvSpPr>
          <p:spPr>
            <a:xfrm flipH="false" flipV="false" rot="-10800000">
              <a:off x="19037765"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7" id="47"/>
            <p:cNvSpPr/>
            <p:nvPr/>
          </p:nvSpPr>
          <p:spPr>
            <a:xfrm flipH="false" flipV="false" rot="-10800000">
              <a:off x="21747024"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grpSp>
      <p:sp>
        <p:nvSpPr>
          <p:cNvPr name="Freeform 48" id="48"/>
          <p:cNvSpPr/>
          <p:nvPr/>
        </p:nvSpPr>
        <p:spPr>
          <a:xfrm flipH="false" flipV="false" rot="0">
            <a:off x="-531750" y="1535638"/>
            <a:ext cx="2549230" cy="2535325"/>
          </a:xfrm>
          <a:custGeom>
            <a:avLst/>
            <a:gdLst/>
            <a:ahLst/>
            <a:cxnLst/>
            <a:rect r="r" b="b" t="t" l="l"/>
            <a:pathLst>
              <a:path h="2535325" w="2549230">
                <a:moveTo>
                  <a:pt x="0" y="0"/>
                </a:moveTo>
                <a:lnTo>
                  <a:pt x="2549230" y="0"/>
                </a:lnTo>
                <a:lnTo>
                  <a:pt x="2549230" y="2535325"/>
                </a:lnTo>
                <a:lnTo>
                  <a:pt x="0" y="25353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9" id="49"/>
          <p:cNvSpPr/>
          <p:nvPr/>
        </p:nvSpPr>
        <p:spPr>
          <a:xfrm flipH="false" flipV="false" rot="-395974">
            <a:off x="5423454" y="7175558"/>
            <a:ext cx="7851202" cy="8584813"/>
          </a:xfrm>
          <a:custGeom>
            <a:avLst/>
            <a:gdLst/>
            <a:ahLst/>
            <a:cxnLst/>
            <a:rect r="r" b="b" t="t" l="l"/>
            <a:pathLst>
              <a:path h="8584813" w="7851202">
                <a:moveTo>
                  <a:pt x="0" y="0"/>
                </a:moveTo>
                <a:lnTo>
                  <a:pt x="7851202" y="0"/>
                </a:lnTo>
                <a:lnTo>
                  <a:pt x="7851202" y="8584813"/>
                </a:lnTo>
                <a:lnTo>
                  <a:pt x="0" y="85848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0" id="50"/>
          <p:cNvSpPr/>
          <p:nvPr/>
        </p:nvSpPr>
        <p:spPr>
          <a:xfrm flipH="false" flipV="false" rot="933903">
            <a:off x="-1908121" y="6702335"/>
            <a:ext cx="7851202" cy="8584813"/>
          </a:xfrm>
          <a:custGeom>
            <a:avLst/>
            <a:gdLst/>
            <a:ahLst/>
            <a:cxnLst/>
            <a:rect r="r" b="b" t="t" l="l"/>
            <a:pathLst>
              <a:path h="8584813" w="7851202">
                <a:moveTo>
                  <a:pt x="0" y="0"/>
                </a:moveTo>
                <a:lnTo>
                  <a:pt x="7851202" y="0"/>
                </a:lnTo>
                <a:lnTo>
                  <a:pt x="7851202" y="8584813"/>
                </a:lnTo>
                <a:lnTo>
                  <a:pt x="0" y="85848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1" id="51"/>
          <p:cNvSpPr/>
          <p:nvPr/>
        </p:nvSpPr>
        <p:spPr>
          <a:xfrm flipH="false" flipV="false" rot="-395974">
            <a:off x="12007309" y="7067635"/>
            <a:ext cx="8180553" cy="8944938"/>
          </a:xfrm>
          <a:custGeom>
            <a:avLst/>
            <a:gdLst/>
            <a:ahLst/>
            <a:cxnLst/>
            <a:rect r="r" b="b" t="t" l="l"/>
            <a:pathLst>
              <a:path h="8944938" w="8180553">
                <a:moveTo>
                  <a:pt x="0" y="0"/>
                </a:moveTo>
                <a:lnTo>
                  <a:pt x="8180553" y="0"/>
                </a:lnTo>
                <a:lnTo>
                  <a:pt x="8180553" y="8944939"/>
                </a:lnTo>
                <a:lnTo>
                  <a:pt x="0" y="894493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2" id="52"/>
          <p:cNvGrpSpPr/>
          <p:nvPr/>
        </p:nvGrpSpPr>
        <p:grpSpPr>
          <a:xfrm rot="0">
            <a:off x="1439531" y="1028700"/>
            <a:ext cx="15408937" cy="1703142"/>
            <a:chOff x="0" y="0"/>
            <a:chExt cx="20545250" cy="2270856"/>
          </a:xfrm>
        </p:grpSpPr>
        <p:grpSp>
          <p:nvGrpSpPr>
            <p:cNvPr name="Group 53" id="53"/>
            <p:cNvGrpSpPr/>
            <p:nvPr/>
          </p:nvGrpSpPr>
          <p:grpSpPr>
            <a:xfrm rot="0">
              <a:off x="0" y="0"/>
              <a:ext cx="20545250" cy="2270856"/>
              <a:chOff x="0" y="0"/>
              <a:chExt cx="5434051" cy="600623"/>
            </a:xfrm>
          </p:grpSpPr>
          <p:sp>
            <p:nvSpPr>
              <p:cNvPr name="Freeform 54" id="54"/>
              <p:cNvSpPr/>
              <p:nvPr/>
            </p:nvSpPr>
            <p:spPr>
              <a:xfrm flipH="false" flipV="false" rot="0">
                <a:off x="0" y="0"/>
                <a:ext cx="5434051" cy="600623"/>
              </a:xfrm>
              <a:custGeom>
                <a:avLst/>
                <a:gdLst/>
                <a:ahLst/>
                <a:cxnLst/>
                <a:rect r="r" b="b" t="t" l="l"/>
                <a:pathLst>
                  <a:path h="600623" w="5434051">
                    <a:moveTo>
                      <a:pt x="0" y="0"/>
                    </a:moveTo>
                    <a:lnTo>
                      <a:pt x="5434051" y="0"/>
                    </a:lnTo>
                    <a:lnTo>
                      <a:pt x="5434051" y="600623"/>
                    </a:lnTo>
                    <a:lnTo>
                      <a:pt x="0" y="600623"/>
                    </a:lnTo>
                    <a:close/>
                  </a:path>
                </a:pathLst>
              </a:custGeom>
              <a:solidFill>
                <a:srgbClr val="6D4A20"/>
              </a:solidFill>
              <a:ln w="28575" cap="sq">
                <a:solidFill>
                  <a:srgbClr val="000000"/>
                </a:solidFill>
                <a:prstDash val="solid"/>
                <a:miter/>
              </a:ln>
            </p:spPr>
          </p:sp>
          <p:sp>
            <p:nvSpPr>
              <p:cNvPr name="TextBox 55" id="55"/>
              <p:cNvSpPr txBox="true"/>
              <p:nvPr/>
            </p:nvSpPr>
            <p:spPr>
              <a:xfrm>
                <a:off x="0" y="-38100"/>
                <a:ext cx="5434051" cy="63872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6" id="56"/>
            <p:cNvSpPr txBox="true"/>
            <p:nvPr/>
          </p:nvSpPr>
          <p:spPr>
            <a:xfrm rot="0">
              <a:off x="348727" y="484986"/>
              <a:ext cx="19847796" cy="1481859"/>
            </a:xfrm>
            <a:prstGeom prst="rect">
              <a:avLst/>
            </a:prstGeom>
          </p:spPr>
          <p:txBody>
            <a:bodyPr anchor="t" rtlCol="false" tIns="0" lIns="0" bIns="0" rIns="0">
              <a:spAutoFit/>
            </a:bodyPr>
            <a:lstStyle/>
            <a:p>
              <a:pPr algn="ctr">
                <a:lnSpc>
                  <a:spcPts val="7995"/>
                </a:lnSpc>
              </a:pPr>
              <a:r>
                <a:rPr lang="en-US" sz="8158" b="true">
                  <a:solidFill>
                    <a:srgbClr val="FFFFFF"/>
                  </a:solidFill>
                  <a:latin typeface="Cooper BT Bold"/>
                  <a:ea typeface="Cooper BT Bold"/>
                  <a:cs typeface="Cooper BT Bold"/>
                  <a:sym typeface="Cooper BT Bold"/>
                </a:rPr>
                <a:t>Trophic Structure</a:t>
              </a:r>
            </a:p>
          </p:txBody>
        </p:sp>
      </p:grpSp>
      <p:grpSp>
        <p:nvGrpSpPr>
          <p:cNvPr name="Group 57" id="57"/>
          <p:cNvGrpSpPr/>
          <p:nvPr/>
        </p:nvGrpSpPr>
        <p:grpSpPr>
          <a:xfrm rot="0">
            <a:off x="1439531" y="3710437"/>
            <a:ext cx="4966559" cy="5547863"/>
            <a:chOff x="0" y="0"/>
            <a:chExt cx="2012768" cy="2248349"/>
          </a:xfrm>
        </p:grpSpPr>
        <p:sp>
          <p:nvSpPr>
            <p:cNvPr name="Freeform 58" id="58"/>
            <p:cNvSpPr/>
            <p:nvPr/>
          </p:nvSpPr>
          <p:spPr>
            <a:xfrm flipH="false" flipV="false" rot="0">
              <a:off x="0" y="0"/>
              <a:ext cx="2012767" cy="2248349"/>
            </a:xfrm>
            <a:custGeom>
              <a:avLst/>
              <a:gdLst/>
              <a:ahLst/>
              <a:cxnLst/>
              <a:rect r="r" b="b" t="t" l="l"/>
              <a:pathLst>
                <a:path h="2248349" w="2012767">
                  <a:moveTo>
                    <a:pt x="0" y="0"/>
                  </a:moveTo>
                  <a:lnTo>
                    <a:pt x="2012767" y="0"/>
                  </a:lnTo>
                  <a:lnTo>
                    <a:pt x="2012767" y="2248349"/>
                  </a:lnTo>
                  <a:lnTo>
                    <a:pt x="0" y="2248349"/>
                  </a:lnTo>
                  <a:close/>
                </a:path>
              </a:pathLst>
            </a:custGeom>
            <a:solidFill>
              <a:srgbClr val="F6C063"/>
            </a:solidFill>
            <a:ln w="28575" cap="sq">
              <a:solidFill>
                <a:srgbClr val="000000"/>
              </a:solidFill>
              <a:prstDash val="solid"/>
              <a:miter/>
            </a:ln>
          </p:spPr>
        </p:sp>
        <p:sp>
          <p:nvSpPr>
            <p:cNvPr name="TextBox 59" id="59"/>
            <p:cNvSpPr txBox="true"/>
            <p:nvPr/>
          </p:nvSpPr>
          <p:spPr>
            <a:xfrm>
              <a:off x="0" y="-38100"/>
              <a:ext cx="2012768" cy="2286449"/>
            </a:xfrm>
            <a:prstGeom prst="rect">
              <a:avLst/>
            </a:prstGeom>
          </p:spPr>
          <p:txBody>
            <a:bodyPr anchor="ctr" rtlCol="false" tIns="46230" lIns="46230" bIns="46230" rIns="46230"/>
            <a:lstStyle/>
            <a:p>
              <a:pPr algn="ctr" marL="0" indent="0" lvl="0">
                <a:lnSpc>
                  <a:spcPts val="2659"/>
                </a:lnSpc>
                <a:spcBef>
                  <a:spcPct val="0"/>
                </a:spcBef>
              </a:pPr>
            </a:p>
          </p:txBody>
        </p:sp>
      </p:grpSp>
      <p:grpSp>
        <p:nvGrpSpPr>
          <p:cNvPr name="Group 60" id="60"/>
          <p:cNvGrpSpPr/>
          <p:nvPr/>
        </p:nvGrpSpPr>
        <p:grpSpPr>
          <a:xfrm rot="0">
            <a:off x="6660720" y="3710437"/>
            <a:ext cx="4966559" cy="5547863"/>
            <a:chOff x="0" y="0"/>
            <a:chExt cx="2012768" cy="2248349"/>
          </a:xfrm>
        </p:grpSpPr>
        <p:sp>
          <p:nvSpPr>
            <p:cNvPr name="Freeform 61" id="61"/>
            <p:cNvSpPr/>
            <p:nvPr/>
          </p:nvSpPr>
          <p:spPr>
            <a:xfrm flipH="false" flipV="false" rot="0">
              <a:off x="0" y="0"/>
              <a:ext cx="2012767" cy="2248349"/>
            </a:xfrm>
            <a:custGeom>
              <a:avLst/>
              <a:gdLst/>
              <a:ahLst/>
              <a:cxnLst/>
              <a:rect r="r" b="b" t="t" l="l"/>
              <a:pathLst>
                <a:path h="2248349" w="2012767">
                  <a:moveTo>
                    <a:pt x="0" y="0"/>
                  </a:moveTo>
                  <a:lnTo>
                    <a:pt x="2012767" y="0"/>
                  </a:lnTo>
                  <a:lnTo>
                    <a:pt x="2012767" y="2248349"/>
                  </a:lnTo>
                  <a:lnTo>
                    <a:pt x="0" y="2248349"/>
                  </a:lnTo>
                  <a:close/>
                </a:path>
              </a:pathLst>
            </a:custGeom>
            <a:solidFill>
              <a:srgbClr val="F6C063"/>
            </a:solidFill>
            <a:ln w="28575" cap="sq">
              <a:solidFill>
                <a:srgbClr val="000000"/>
              </a:solidFill>
              <a:prstDash val="solid"/>
              <a:miter/>
            </a:ln>
          </p:spPr>
        </p:sp>
        <p:sp>
          <p:nvSpPr>
            <p:cNvPr name="TextBox 62" id="62"/>
            <p:cNvSpPr txBox="true"/>
            <p:nvPr/>
          </p:nvSpPr>
          <p:spPr>
            <a:xfrm>
              <a:off x="0" y="-38100"/>
              <a:ext cx="2012768" cy="2286449"/>
            </a:xfrm>
            <a:prstGeom prst="rect">
              <a:avLst/>
            </a:prstGeom>
          </p:spPr>
          <p:txBody>
            <a:bodyPr anchor="ctr" rtlCol="false" tIns="46230" lIns="46230" bIns="46230" rIns="46230"/>
            <a:lstStyle/>
            <a:p>
              <a:pPr algn="ctr" marL="0" indent="0" lvl="0">
                <a:lnSpc>
                  <a:spcPts val="2659"/>
                </a:lnSpc>
                <a:spcBef>
                  <a:spcPct val="0"/>
                </a:spcBef>
              </a:pPr>
            </a:p>
          </p:txBody>
        </p:sp>
      </p:grpSp>
      <p:grpSp>
        <p:nvGrpSpPr>
          <p:cNvPr name="Group 63" id="63"/>
          <p:cNvGrpSpPr/>
          <p:nvPr/>
        </p:nvGrpSpPr>
        <p:grpSpPr>
          <a:xfrm rot="0">
            <a:off x="11881909" y="3710437"/>
            <a:ext cx="4966559" cy="5547863"/>
            <a:chOff x="0" y="0"/>
            <a:chExt cx="2012768" cy="2248349"/>
          </a:xfrm>
        </p:grpSpPr>
        <p:sp>
          <p:nvSpPr>
            <p:cNvPr name="Freeform 64" id="64"/>
            <p:cNvSpPr/>
            <p:nvPr/>
          </p:nvSpPr>
          <p:spPr>
            <a:xfrm flipH="false" flipV="false" rot="0">
              <a:off x="0" y="0"/>
              <a:ext cx="2012767" cy="2248349"/>
            </a:xfrm>
            <a:custGeom>
              <a:avLst/>
              <a:gdLst/>
              <a:ahLst/>
              <a:cxnLst/>
              <a:rect r="r" b="b" t="t" l="l"/>
              <a:pathLst>
                <a:path h="2248349" w="2012767">
                  <a:moveTo>
                    <a:pt x="0" y="0"/>
                  </a:moveTo>
                  <a:lnTo>
                    <a:pt x="2012767" y="0"/>
                  </a:lnTo>
                  <a:lnTo>
                    <a:pt x="2012767" y="2248349"/>
                  </a:lnTo>
                  <a:lnTo>
                    <a:pt x="0" y="2248349"/>
                  </a:lnTo>
                  <a:close/>
                </a:path>
              </a:pathLst>
            </a:custGeom>
            <a:solidFill>
              <a:srgbClr val="F6C063"/>
            </a:solidFill>
            <a:ln w="28575" cap="sq">
              <a:solidFill>
                <a:srgbClr val="000000"/>
              </a:solidFill>
              <a:prstDash val="solid"/>
              <a:miter/>
            </a:ln>
          </p:spPr>
        </p:sp>
        <p:sp>
          <p:nvSpPr>
            <p:cNvPr name="TextBox 65" id="65"/>
            <p:cNvSpPr txBox="true"/>
            <p:nvPr/>
          </p:nvSpPr>
          <p:spPr>
            <a:xfrm>
              <a:off x="0" y="-38100"/>
              <a:ext cx="2012768" cy="2286449"/>
            </a:xfrm>
            <a:prstGeom prst="rect">
              <a:avLst/>
            </a:prstGeom>
          </p:spPr>
          <p:txBody>
            <a:bodyPr anchor="ctr" rtlCol="false" tIns="46230" lIns="46230" bIns="46230" rIns="46230"/>
            <a:lstStyle/>
            <a:p>
              <a:pPr algn="ctr" marL="0" indent="0" lvl="0">
                <a:lnSpc>
                  <a:spcPts val="2659"/>
                </a:lnSpc>
                <a:spcBef>
                  <a:spcPct val="0"/>
                </a:spcBef>
              </a:pPr>
            </a:p>
          </p:txBody>
        </p:sp>
      </p:grpSp>
      <p:grpSp>
        <p:nvGrpSpPr>
          <p:cNvPr name="Group 66" id="66"/>
          <p:cNvGrpSpPr/>
          <p:nvPr/>
        </p:nvGrpSpPr>
        <p:grpSpPr>
          <a:xfrm rot="0">
            <a:off x="1947588" y="3349911"/>
            <a:ext cx="3950446" cy="1148680"/>
            <a:chOff x="0" y="0"/>
            <a:chExt cx="5267261" cy="1531574"/>
          </a:xfrm>
        </p:grpSpPr>
        <p:grpSp>
          <p:nvGrpSpPr>
            <p:cNvPr name="Group 67" id="67"/>
            <p:cNvGrpSpPr/>
            <p:nvPr/>
          </p:nvGrpSpPr>
          <p:grpSpPr>
            <a:xfrm rot="0">
              <a:off x="0" y="0"/>
              <a:ext cx="5267261" cy="1531574"/>
              <a:chOff x="0" y="0"/>
              <a:chExt cx="3301693" cy="960041"/>
            </a:xfrm>
          </p:grpSpPr>
          <p:sp>
            <p:nvSpPr>
              <p:cNvPr name="Freeform 68" id="68"/>
              <p:cNvSpPr/>
              <p:nvPr/>
            </p:nvSpPr>
            <p:spPr>
              <a:xfrm flipH="false" flipV="false" rot="0">
                <a:off x="0" y="0"/>
                <a:ext cx="3301693" cy="960041"/>
              </a:xfrm>
              <a:custGeom>
                <a:avLst/>
                <a:gdLst/>
                <a:ahLst/>
                <a:cxnLst/>
                <a:rect r="r" b="b" t="t" l="l"/>
                <a:pathLst>
                  <a:path h="960041" w="3301693">
                    <a:moveTo>
                      <a:pt x="0" y="0"/>
                    </a:moveTo>
                    <a:lnTo>
                      <a:pt x="3301693" y="0"/>
                    </a:lnTo>
                    <a:lnTo>
                      <a:pt x="3301693" y="960041"/>
                    </a:lnTo>
                    <a:lnTo>
                      <a:pt x="0" y="960041"/>
                    </a:lnTo>
                    <a:close/>
                  </a:path>
                </a:pathLst>
              </a:custGeom>
              <a:solidFill>
                <a:srgbClr val="6D4A20"/>
              </a:solidFill>
              <a:ln w="28575" cap="sq">
                <a:solidFill>
                  <a:srgbClr val="000000"/>
                </a:solidFill>
                <a:prstDash val="solid"/>
                <a:miter/>
              </a:ln>
            </p:spPr>
          </p:sp>
          <p:sp>
            <p:nvSpPr>
              <p:cNvPr name="TextBox 69" id="69"/>
              <p:cNvSpPr txBox="true"/>
              <p:nvPr/>
            </p:nvSpPr>
            <p:spPr>
              <a:xfrm>
                <a:off x="0" y="-38100"/>
                <a:ext cx="3301693" cy="99814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70" id="70"/>
            <p:cNvSpPr txBox="true"/>
            <p:nvPr/>
          </p:nvSpPr>
          <p:spPr>
            <a:xfrm rot="0">
              <a:off x="310520" y="204477"/>
              <a:ext cx="4646221" cy="1198819"/>
            </a:xfrm>
            <a:prstGeom prst="rect">
              <a:avLst/>
            </a:prstGeom>
          </p:spPr>
          <p:txBody>
            <a:bodyPr anchor="t" rtlCol="false" tIns="0" lIns="0" bIns="0" rIns="0">
              <a:spAutoFit/>
            </a:bodyPr>
            <a:lstStyle/>
            <a:p>
              <a:pPr algn="ctr">
                <a:lnSpc>
                  <a:spcPts val="3373"/>
                </a:lnSpc>
              </a:pPr>
              <a:r>
                <a:rPr lang="en-US" sz="3442" b="true">
                  <a:solidFill>
                    <a:srgbClr val="FFFFFF"/>
                  </a:solidFill>
                  <a:latin typeface="Cooper BT Bold"/>
                  <a:ea typeface="Cooper BT Bold"/>
                  <a:cs typeface="Cooper BT Bold"/>
                  <a:sym typeface="Cooper BT Bold"/>
                </a:rPr>
                <a:t>Primary (1°) producers </a:t>
              </a:r>
            </a:p>
          </p:txBody>
        </p:sp>
      </p:grpSp>
      <p:grpSp>
        <p:nvGrpSpPr>
          <p:cNvPr name="Group 71" id="71"/>
          <p:cNvGrpSpPr/>
          <p:nvPr/>
        </p:nvGrpSpPr>
        <p:grpSpPr>
          <a:xfrm rot="0">
            <a:off x="7168777" y="3349911"/>
            <a:ext cx="3950446" cy="1148680"/>
            <a:chOff x="0" y="0"/>
            <a:chExt cx="5267261" cy="1531574"/>
          </a:xfrm>
        </p:grpSpPr>
        <p:grpSp>
          <p:nvGrpSpPr>
            <p:cNvPr name="Group 72" id="72"/>
            <p:cNvGrpSpPr/>
            <p:nvPr/>
          </p:nvGrpSpPr>
          <p:grpSpPr>
            <a:xfrm rot="0">
              <a:off x="0" y="0"/>
              <a:ext cx="5267261" cy="1531574"/>
              <a:chOff x="0" y="0"/>
              <a:chExt cx="3301693" cy="960041"/>
            </a:xfrm>
          </p:grpSpPr>
          <p:sp>
            <p:nvSpPr>
              <p:cNvPr name="Freeform 73" id="73"/>
              <p:cNvSpPr/>
              <p:nvPr/>
            </p:nvSpPr>
            <p:spPr>
              <a:xfrm flipH="false" flipV="false" rot="0">
                <a:off x="0" y="0"/>
                <a:ext cx="3301693" cy="960041"/>
              </a:xfrm>
              <a:custGeom>
                <a:avLst/>
                <a:gdLst/>
                <a:ahLst/>
                <a:cxnLst/>
                <a:rect r="r" b="b" t="t" l="l"/>
                <a:pathLst>
                  <a:path h="960041" w="3301693">
                    <a:moveTo>
                      <a:pt x="0" y="0"/>
                    </a:moveTo>
                    <a:lnTo>
                      <a:pt x="3301693" y="0"/>
                    </a:lnTo>
                    <a:lnTo>
                      <a:pt x="3301693" y="960041"/>
                    </a:lnTo>
                    <a:lnTo>
                      <a:pt x="0" y="960041"/>
                    </a:lnTo>
                    <a:close/>
                  </a:path>
                </a:pathLst>
              </a:custGeom>
              <a:solidFill>
                <a:srgbClr val="6D4A20"/>
              </a:solidFill>
              <a:ln w="28575" cap="sq">
                <a:solidFill>
                  <a:srgbClr val="000000"/>
                </a:solidFill>
                <a:prstDash val="solid"/>
                <a:miter/>
              </a:ln>
            </p:spPr>
          </p:sp>
          <p:sp>
            <p:nvSpPr>
              <p:cNvPr name="TextBox 74" id="74"/>
              <p:cNvSpPr txBox="true"/>
              <p:nvPr/>
            </p:nvSpPr>
            <p:spPr>
              <a:xfrm>
                <a:off x="0" y="-38100"/>
                <a:ext cx="3301693" cy="99814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75" id="75"/>
            <p:cNvSpPr txBox="true"/>
            <p:nvPr/>
          </p:nvSpPr>
          <p:spPr>
            <a:xfrm rot="0">
              <a:off x="310520" y="204477"/>
              <a:ext cx="4646221" cy="1198819"/>
            </a:xfrm>
            <a:prstGeom prst="rect">
              <a:avLst/>
            </a:prstGeom>
          </p:spPr>
          <p:txBody>
            <a:bodyPr anchor="t" rtlCol="false" tIns="0" lIns="0" bIns="0" rIns="0">
              <a:spAutoFit/>
            </a:bodyPr>
            <a:lstStyle/>
            <a:p>
              <a:pPr algn="ctr">
                <a:lnSpc>
                  <a:spcPts val="3373"/>
                </a:lnSpc>
              </a:pPr>
              <a:r>
                <a:rPr lang="en-US" sz="3442" b="true">
                  <a:solidFill>
                    <a:srgbClr val="FFFFFF"/>
                  </a:solidFill>
                  <a:latin typeface="Cooper BT Bold"/>
                  <a:ea typeface="Cooper BT Bold"/>
                  <a:cs typeface="Cooper BT Bold"/>
                  <a:sym typeface="Cooper BT Bold"/>
                </a:rPr>
                <a:t>Primary (1°) consumers</a:t>
              </a:r>
              <a:r>
                <a:rPr lang="en-US" sz="3442" b="true">
                  <a:solidFill>
                    <a:srgbClr val="FFFFFF"/>
                  </a:solidFill>
                  <a:latin typeface="Cooper BT Bold"/>
                  <a:ea typeface="Cooper BT Bold"/>
                  <a:cs typeface="Cooper BT Bold"/>
                  <a:sym typeface="Cooper BT Bold"/>
                </a:rPr>
                <a:t> </a:t>
              </a:r>
            </a:p>
          </p:txBody>
        </p:sp>
      </p:grpSp>
      <p:grpSp>
        <p:nvGrpSpPr>
          <p:cNvPr name="Group 76" id="76"/>
          <p:cNvGrpSpPr/>
          <p:nvPr/>
        </p:nvGrpSpPr>
        <p:grpSpPr>
          <a:xfrm rot="0">
            <a:off x="12389966" y="3349911"/>
            <a:ext cx="3950446" cy="1148680"/>
            <a:chOff x="0" y="0"/>
            <a:chExt cx="5267261" cy="1531574"/>
          </a:xfrm>
        </p:grpSpPr>
        <p:grpSp>
          <p:nvGrpSpPr>
            <p:cNvPr name="Group 77" id="77"/>
            <p:cNvGrpSpPr/>
            <p:nvPr/>
          </p:nvGrpSpPr>
          <p:grpSpPr>
            <a:xfrm rot="0">
              <a:off x="0" y="0"/>
              <a:ext cx="5267261" cy="1531574"/>
              <a:chOff x="0" y="0"/>
              <a:chExt cx="3301693" cy="960041"/>
            </a:xfrm>
          </p:grpSpPr>
          <p:sp>
            <p:nvSpPr>
              <p:cNvPr name="Freeform 78" id="78"/>
              <p:cNvSpPr/>
              <p:nvPr/>
            </p:nvSpPr>
            <p:spPr>
              <a:xfrm flipH="false" flipV="false" rot="0">
                <a:off x="0" y="0"/>
                <a:ext cx="3301693" cy="960041"/>
              </a:xfrm>
              <a:custGeom>
                <a:avLst/>
                <a:gdLst/>
                <a:ahLst/>
                <a:cxnLst/>
                <a:rect r="r" b="b" t="t" l="l"/>
                <a:pathLst>
                  <a:path h="960041" w="3301693">
                    <a:moveTo>
                      <a:pt x="0" y="0"/>
                    </a:moveTo>
                    <a:lnTo>
                      <a:pt x="3301693" y="0"/>
                    </a:lnTo>
                    <a:lnTo>
                      <a:pt x="3301693" y="960041"/>
                    </a:lnTo>
                    <a:lnTo>
                      <a:pt x="0" y="960041"/>
                    </a:lnTo>
                    <a:close/>
                  </a:path>
                </a:pathLst>
              </a:custGeom>
              <a:solidFill>
                <a:srgbClr val="6D4A20"/>
              </a:solidFill>
              <a:ln w="28575" cap="sq">
                <a:solidFill>
                  <a:srgbClr val="000000"/>
                </a:solidFill>
                <a:prstDash val="solid"/>
                <a:miter/>
              </a:ln>
            </p:spPr>
          </p:sp>
          <p:sp>
            <p:nvSpPr>
              <p:cNvPr name="TextBox 79" id="79"/>
              <p:cNvSpPr txBox="true"/>
              <p:nvPr/>
            </p:nvSpPr>
            <p:spPr>
              <a:xfrm>
                <a:off x="0" y="-38100"/>
                <a:ext cx="3301693" cy="99814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80" id="80"/>
            <p:cNvSpPr txBox="true"/>
            <p:nvPr/>
          </p:nvSpPr>
          <p:spPr>
            <a:xfrm rot="0">
              <a:off x="310520" y="204477"/>
              <a:ext cx="4646221" cy="1198819"/>
            </a:xfrm>
            <a:prstGeom prst="rect">
              <a:avLst/>
            </a:prstGeom>
          </p:spPr>
          <p:txBody>
            <a:bodyPr anchor="t" rtlCol="false" tIns="0" lIns="0" bIns="0" rIns="0">
              <a:spAutoFit/>
            </a:bodyPr>
            <a:lstStyle/>
            <a:p>
              <a:pPr algn="ctr">
                <a:lnSpc>
                  <a:spcPts val="3373"/>
                </a:lnSpc>
              </a:pPr>
              <a:r>
                <a:rPr lang="en-US" sz="3442" b="true">
                  <a:solidFill>
                    <a:srgbClr val="FFFFFF"/>
                  </a:solidFill>
                  <a:latin typeface="Cooper BT Bold"/>
                  <a:ea typeface="Cooper BT Bold"/>
                  <a:cs typeface="Cooper BT Bold"/>
                  <a:sym typeface="Cooper BT Bold"/>
                </a:rPr>
                <a:t>Higher consumers</a:t>
              </a:r>
            </a:p>
          </p:txBody>
        </p:sp>
      </p:grpSp>
      <p:grpSp>
        <p:nvGrpSpPr>
          <p:cNvPr name="Group 81" id="81"/>
          <p:cNvGrpSpPr/>
          <p:nvPr/>
        </p:nvGrpSpPr>
        <p:grpSpPr>
          <a:xfrm rot="0">
            <a:off x="1796288" y="6484368"/>
            <a:ext cx="4253047" cy="2463875"/>
            <a:chOff x="0" y="0"/>
            <a:chExt cx="860450" cy="498476"/>
          </a:xfrm>
        </p:grpSpPr>
        <p:sp>
          <p:nvSpPr>
            <p:cNvPr name="Freeform 82" id="82"/>
            <p:cNvSpPr/>
            <p:nvPr/>
          </p:nvSpPr>
          <p:spPr>
            <a:xfrm flipH="false" flipV="false" rot="0">
              <a:off x="0" y="0"/>
              <a:ext cx="860450" cy="498476"/>
            </a:xfrm>
            <a:custGeom>
              <a:avLst/>
              <a:gdLst/>
              <a:ahLst/>
              <a:cxnLst/>
              <a:rect r="r" b="b" t="t" l="l"/>
              <a:pathLst>
                <a:path h="498476" w="860450">
                  <a:moveTo>
                    <a:pt x="0" y="0"/>
                  </a:moveTo>
                  <a:lnTo>
                    <a:pt x="860450" y="0"/>
                  </a:lnTo>
                  <a:lnTo>
                    <a:pt x="860450" y="498476"/>
                  </a:lnTo>
                  <a:lnTo>
                    <a:pt x="0" y="498476"/>
                  </a:lnTo>
                  <a:close/>
                </a:path>
              </a:pathLst>
            </a:custGeom>
            <a:blipFill>
              <a:blip r:embed="rId8"/>
              <a:stretch>
                <a:fillRect l="-1325" t="0" r="-1325" b="0"/>
              </a:stretch>
            </a:blipFill>
            <a:ln w="19050" cap="sq">
              <a:solidFill>
                <a:srgbClr val="000000"/>
              </a:solidFill>
              <a:prstDash val="solid"/>
              <a:miter/>
            </a:ln>
          </p:spPr>
        </p:sp>
      </p:grpSp>
      <p:grpSp>
        <p:nvGrpSpPr>
          <p:cNvPr name="Group 83" id="83"/>
          <p:cNvGrpSpPr/>
          <p:nvPr/>
        </p:nvGrpSpPr>
        <p:grpSpPr>
          <a:xfrm rot="0">
            <a:off x="7017477" y="6484368"/>
            <a:ext cx="4253047" cy="2463875"/>
            <a:chOff x="0" y="0"/>
            <a:chExt cx="860450" cy="498476"/>
          </a:xfrm>
        </p:grpSpPr>
        <p:sp>
          <p:nvSpPr>
            <p:cNvPr name="Freeform 84" id="84"/>
            <p:cNvSpPr/>
            <p:nvPr/>
          </p:nvSpPr>
          <p:spPr>
            <a:xfrm flipH="false" flipV="false" rot="0">
              <a:off x="0" y="0"/>
              <a:ext cx="860450" cy="498476"/>
            </a:xfrm>
            <a:custGeom>
              <a:avLst/>
              <a:gdLst/>
              <a:ahLst/>
              <a:cxnLst/>
              <a:rect r="r" b="b" t="t" l="l"/>
              <a:pathLst>
                <a:path h="498476" w="860450">
                  <a:moveTo>
                    <a:pt x="0" y="0"/>
                  </a:moveTo>
                  <a:lnTo>
                    <a:pt x="860450" y="0"/>
                  </a:lnTo>
                  <a:lnTo>
                    <a:pt x="860450" y="498476"/>
                  </a:lnTo>
                  <a:lnTo>
                    <a:pt x="0" y="498476"/>
                  </a:lnTo>
                  <a:close/>
                </a:path>
              </a:pathLst>
            </a:custGeom>
            <a:blipFill>
              <a:blip r:embed="rId9"/>
              <a:stretch>
                <a:fillRect l="-817" t="0" r="-817" b="0"/>
              </a:stretch>
            </a:blipFill>
            <a:ln w="19050" cap="sq">
              <a:solidFill>
                <a:srgbClr val="000000"/>
              </a:solidFill>
              <a:prstDash val="solid"/>
              <a:miter/>
            </a:ln>
          </p:spPr>
        </p:sp>
      </p:grpSp>
      <p:grpSp>
        <p:nvGrpSpPr>
          <p:cNvPr name="Group 85" id="85"/>
          <p:cNvGrpSpPr/>
          <p:nvPr/>
        </p:nvGrpSpPr>
        <p:grpSpPr>
          <a:xfrm rot="0">
            <a:off x="12238666" y="6484368"/>
            <a:ext cx="4253047" cy="2463875"/>
            <a:chOff x="0" y="0"/>
            <a:chExt cx="860450" cy="498476"/>
          </a:xfrm>
        </p:grpSpPr>
        <p:sp>
          <p:nvSpPr>
            <p:cNvPr name="Freeform 86" id="86"/>
            <p:cNvSpPr/>
            <p:nvPr/>
          </p:nvSpPr>
          <p:spPr>
            <a:xfrm flipH="false" flipV="false" rot="0">
              <a:off x="0" y="0"/>
              <a:ext cx="860450" cy="498476"/>
            </a:xfrm>
            <a:custGeom>
              <a:avLst/>
              <a:gdLst/>
              <a:ahLst/>
              <a:cxnLst/>
              <a:rect r="r" b="b" t="t" l="l"/>
              <a:pathLst>
                <a:path h="498476" w="860450">
                  <a:moveTo>
                    <a:pt x="0" y="0"/>
                  </a:moveTo>
                  <a:lnTo>
                    <a:pt x="860450" y="0"/>
                  </a:lnTo>
                  <a:lnTo>
                    <a:pt x="860450" y="498476"/>
                  </a:lnTo>
                  <a:lnTo>
                    <a:pt x="0" y="498476"/>
                  </a:lnTo>
                  <a:close/>
                </a:path>
              </a:pathLst>
            </a:custGeom>
            <a:blipFill>
              <a:blip r:embed="rId10"/>
              <a:stretch>
                <a:fillRect l="-817" t="0" r="-817" b="0"/>
              </a:stretch>
            </a:blipFill>
            <a:ln w="19050" cap="sq">
              <a:solidFill>
                <a:srgbClr val="000000"/>
              </a:solidFill>
              <a:prstDash val="solid"/>
              <a:miter/>
            </a:ln>
          </p:spPr>
        </p:sp>
      </p:grpSp>
      <p:sp>
        <p:nvSpPr>
          <p:cNvPr name="TextBox 87" id="87"/>
          <p:cNvSpPr txBox="true"/>
          <p:nvPr/>
        </p:nvSpPr>
        <p:spPr>
          <a:xfrm rot="0">
            <a:off x="1796288" y="4906021"/>
            <a:ext cx="4253047" cy="1132818"/>
          </a:xfrm>
          <a:prstGeom prst="rect">
            <a:avLst/>
          </a:prstGeom>
        </p:spPr>
        <p:txBody>
          <a:bodyPr anchor="t" rtlCol="false" tIns="0" lIns="0" bIns="0" rIns="0">
            <a:spAutoFit/>
          </a:bodyPr>
          <a:lstStyle/>
          <a:p>
            <a:pPr algn="ctr">
              <a:lnSpc>
                <a:spcPts val="3067"/>
              </a:lnSpc>
              <a:spcBef>
                <a:spcPct val="0"/>
              </a:spcBef>
            </a:pPr>
            <a:r>
              <a:rPr lang="en-US" b="true" sz="2191">
                <a:solidFill>
                  <a:srgbClr val="000000"/>
                </a:solidFill>
                <a:latin typeface="Canva Sans Medium"/>
                <a:ea typeface="Canva Sans Medium"/>
                <a:cs typeface="Canva Sans Medium"/>
                <a:sym typeface="Canva Sans Medium"/>
              </a:rPr>
              <a:t>Obtain energy directly from the sun through the process of photosynthesis. </a:t>
            </a:r>
          </a:p>
        </p:txBody>
      </p:sp>
      <p:sp>
        <p:nvSpPr>
          <p:cNvPr name="TextBox 88" id="88"/>
          <p:cNvSpPr txBox="true"/>
          <p:nvPr/>
        </p:nvSpPr>
        <p:spPr>
          <a:xfrm rot="0">
            <a:off x="7197740" y="5097749"/>
            <a:ext cx="3892520" cy="749362"/>
          </a:xfrm>
          <a:prstGeom prst="rect">
            <a:avLst/>
          </a:prstGeom>
        </p:spPr>
        <p:txBody>
          <a:bodyPr anchor="t" rtlCol="false" tIns="0" lIns="0" bIns="0" rIns="0">
            <a:spAutoFit/>
          </a:bodyPr>
          <a:lstStyle/>
          <a:p>
            <a:pPr algn="ctr">
              <a:lnSpc>
                <a:spcPts val="3067"/>
              </a:lnSpc>
              <a:spcBef>
                <a:spcPct val="0"/>
              </a:spcBef>
            </a:pPr>
            <a:r>
              <a:rPr lang="en-US" b="true" sz="2191">
                <a:solidFill>
                  <a:srgbClr val="000000"/>
                </a:solidFill>
                <a:latin typeface="Canva Sans Medium"/>
                <a:ea typeface="Canva Sans Medium"/>
                <a:cs typeface="Canva Sans Medium"/>
                <a:sym typeface="Canva Sans Medium"/>
              </a:rPr>
              <a:t>Also known as herbivores, eat photosynthetic species.</a:t>
            </a:r>
          </a:p>
        </p:txBody>
      </p:sp>
      <p:sp>
        <p:nvSpPr>
          <p:cNvPr name="TextBox 89" id="89"/>
          <p:cNvSpPr txBox="true"/>
          <p:nvPr/>
        </p:nvSpPr>
        <p:spPr>
          <a:xfrm rot="0">
            <a:off x="12218400" y="4714293"/>
            <a:ext cx="4273312" cy="1516275"/>
          </a:xfrm>
          <a:prstGeom prst="rect">
            <a:avLst/>
          </a:prstGeom>
        </p:spPr>
        <p:txBody>
          <a:bodyPr anchor="t" rtlCol="false" tIns="0" lIns="0" bIns="0" rIns="0">
            <a:spAutoFit/>
          </a:bodyPr>
          <a:lstStyle/>
          <a:p>
            <a:pPr algn="ctr">
              <a:lnSpc>
                <a:spcPts val="3067"/>
              </a:lnSpc>
              <a:spcBef>
                <a:spcPct val="0"/>
              </a:spcBef>
            </a:pPr>
            <a:r>
              <a:rPr lang="en-US" b="true" sz="2191">
                <a:solidFill>
                  <a:srgbClr val="000000"/>
                </a:solidFill>
                <a:latin typeface="Canva Sans Medium"/>
                <a:ea typeface="Canva Sans Medium"/>
                <a:cs typeface="Canva Sans Medium"/>
                <a:sym typeface="Canva Sans Medium"/>
              </a:rPr>
              <a:t>Also known as secondary (2°) and tertiary (3°) consumers, carnivores, or predators, they kill and eat other animals.</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grpSp>
        <p:nvGrpSpPr>
          <p:cNvPr name="Group 2" id="2"/>
          <p:cNvGrpSpPr/>
          <p:nvPr/>
        </p:nvGrpSpPr>
        <p:grpSpPr>
          <a:xfrm rot="0">
            <a:off x="-27106" y="0"/>
            <a:ext cx="18342213" cy="10287000"/>
            <a:chOff x="0" y="0"/>
            <a:chExt cx="24456283" cy="13716000"/>
          </a:xfrm>
        </p:grpSpPr>
        <p:sp>
          <p:nvSpPr>
            <p:cNvPr name="Freeform 3" id="3"/>
            <p:cNvSpPr/>
            <p:nvPr/>
          </p:nvSpPr>
          <p:spPr>
            <a:xfrm flipH="false" flipV="false" rot="-10800000">
              <a:off x="2782211"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 id="4"/>
            <p:cNvSpPr/>
            <p:nvPr/>
          </p:nvSpPr>
          <p:spPr>
            <a:xfrm flipH="false" flipV="false" rot="0">
              <a:off x="0" y="0"/>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10800000">
              <a:off x="5491470"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6" id="6"/>
            <p:cNvSpPr/>
            <p:nvPr/>
          </p:nvSpPr>
          <p:spPr>
            <a:xfrm flipH="false" flipV="false" rot="-10800000">
              <a:off x="8200729"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7" id="7"/>
            <p:cNvSpPr/>
            <p:nvPr/>
          </p:nvSpPr>
          <p:spPr>
            <a:xfrm flipH="false" flipV="false" rot="-10800000">
              <a:off x="10909988"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8" id="8"/>
            <p:cNvSpPr/>
            <p:nvPr/>
          </p:nvSpPr>
          <p:spPr>
            <a:xfrm flipH="false" flipV="false" rot="-10800000">
              <a:off x="13619247"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9" id="9"/>
            <p:cNvSpPr/>
            <p:nvPr/>
          </p:nvSpPr>
          <p:spPr>
            <a:xfrm flipH="false" flipV="false" rot="-10800000">
              <a:off x="16328506"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0" id="10"/>
            <p:cNvSpPr/>
            <p:nvPr/>
          </p:nvSpPr>
          <p:spPr>
            <a:xfrm flipH="false" flipV="false" rot="-10800000">
              <a:off x="19037765"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1" id="11"/>
            <p:cNvSpPr/>
            <p:nvPr/>
          </p:nvSpPr>
          <p:spPr>
            <a:xfrm flipH="false" flipV="false" rot="-10800000">
              <a:off x="21747024"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2" id="12"/>
            <p:cNvSpPr/>
            <p:nvPr/>
          </p:nvSpPr>
          <p:spPr>
            <a:xfrm flipH="false" flipV="false" rot="-10800000">
              <a:off x="2782211"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3" id="13"/>
            <p:cNvSpPr/>
            <p:nvPr/>
          </p:nvSpPr>
          <p:spPr>
            <a:xfrm flipH="false" flipV="false" rot="0">
              <a:off x="0" y="2736056"/>
              <a:ext cx="2782211" cy="2771778"/>
            </a:xfrm>
            <a:custGeom>
              <a:avLst/>
              <a:gdLst/>
              <a:ahLst/>
              <a:cxnLst/>
              <a:rect r="r" b="b" t="t" l="l"/>
              <a:pathLst>
                <a:path h="2771778" w="2782211">
                  <a:moveTo>
                    <a:pt x="0" y="0"/>
                  </a:moveTo>
                  <a:lnTo>
                    <a:pt x="2782211" y="0"/>
                  </a:lnTo>
                  <a:lnTo>
                    <a:pt x="2782211"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4" id="14"/>
            <p:cNvSpPr/>
            <p:nvPr/>
          </p:nvSpPr>
          <p:spPr>
            <a:xfrm flipH="false" flipV="false" rot="-10800000">
              <a:off x="5491470"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5" id="15"/>
            <p:cNvSpPr/>
            <p:nvPr/>
          </p:nvSpPr>
          <p:spPr>
            <a:xfrm flipH="false" flipV="false" rot="-10800000">
              <a:off x="8200729"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6" id="16"/>
            <p:cNvSpPr/>
            <p:nvPr/>
          </p:nvSpPr>
          <p:spPr>
            <a:xfrm flipH="false" flipV="false" rot="-10800000">
              <a:off x="10909988"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7" id="17"/>
            <p:cNvSpPr/>
            <p:nvPr/>
          </p:nvSpPr>
          <p:spPr>
            <a:xfrm flipH="false" flipV="false" rot="-10800000">
              <a:off x="13619247"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8" id="18"/>
            <p:cNvSpPr/>
            <p:nvPr/>
          </p:nvSpPr>
          <p:spPr>
            <a:xfrm flipH="false" flipV="false" rot="-10800000">
              <a:off x="16328506"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9" id="19"/>
            <p:cNvSpPr/>
            <p:nvPr/>
          </p:nvSpPr>
          <p:spPr>
            <a:xfrm flipH="false" flipV="false" rot="-10800000">
              <a:off x="19037765"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0" id="20"/>
            <p:cNvSpPr/>
            <p:nvPr/>
          </p:nvSpPr>
          <p:spPr>
            <a:xfrm flipH="false" flipV="false" rot="-10800000">
              <a:off x="21747024"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1" id="21"/>
            <p:cNvSpPr/>
            <p:nvPr/>
          </p:nvSpPr>
          <p:spPr>
            <a:xfrm flipH="false" flipV="false" rot="-10800000">
              <a:off x="2782211"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2" id="22"/>
            <p:cNvSpPr/>
            <p:nvPr/>
          </p:nvSpPr>
          <p:spPr>
            <a:xfrm flipH="false" flipV="false" rot="0">
              <a:off x="0" y="5472111"/>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3" id="23"/>
            <p:cNvSpPr/>
            <p:nvPr/>
          </p:nvSpPr>
          <p:spPr>
            <a:xfrm flipH="false" flipV="false" rot="-10800000">
              <a:off x="5491470"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4" id="24"/>
            <p:cNvSpPr/>
            <p:nvPr/>
          </p:nvSpPr>
          <p:spPr>
            <a:xfrm flipH="false" flipV="false" rot="-10800000">
              <a:off x="8200729"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5" id="25"/>
            <p:cNvSpPr/>
            <p:nvPr/>
          </p:nvSpPr>
          <p:spPr>
            <a:xfrm flipH="false" flipV="false" rot="-10800000">
              <a:off x="10909988"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6" id="26"/>
            <p:cNvSpPr/>
            <p:nvPr/>
          </p:nvSpPr>
          <p:spPr>
            <a:xfrm flipH="false" flipV="false" rot="-10800000">
              <a:off x="13619247"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7" id="27"/>
            <p:cNvSpPr/>
            <p:nvPr/>
          </p:nvSpPr>
          <p:spPr>
            <a:xfrm flipH="false" flipV="false" rot="-10800000">
              <a:off x="16328506"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8" id="28"/>
            <p:cNvSpPr/>
            <p:nvPr/>
          </p:nvSpPr>
          <p:spPr>
            <a:xfrm flipH="false" flipV="false" rot="-10800000">
              <a:off x="19037765"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9" id="29"/>
            <p:cNvSpPr/>
            <p:nvPr/>
          </p:nvSpPr>
          <p:spPr>
            <a:xfrm flipH="false" flipV="false" rot="-10800000">
              <a:off x="21747024"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0" id="30"/>
            <p:cNvSpPr/>
            <p:nvPr/>
          </p:nvSpPr>
          <p:spPr>
            <a:xfrm flipH="false" flipV="false" rot="-10800000">
              <a:off x="2782211"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1" id="31"/>
            <p:cNvSpPr/>
            <p:nvPr/>
          </p:nvSpPr>
          <p:spPr>
            <a:xfrm flipH="false" flipV="false" rot="0">
              <a:off x="0" y="8208167"/>
              <a:ext cx="2782211" cy="2771778"/>
            </a:xfrm>
            <a:custGeom>
              <a:avLst/>
              <a:gdLst/>
              <a:ahLst/>
              <a:cxnLst/>
              <a:rect r="r" b="b" t="t" l="l"/>
              <a:pathLst>
                <a:path h="2771778" w="2782211">
                  <a:moveTo>
                    <a:pt x="0" y="0"/>
                  </a:moveTo>
                  <a:lnTo>
                    <a:pt x="2782211" y="0"/>
                  </a:lnTo>
                  <a:lnTo>
                    <a:pt x="2782211"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2" id="32"/>
            <p:cNvSpPr/>
            <p:nvPr/>
          </p:nvSpPr>
          <p:spPr>
            <a:xfrm flipH="false" flipV="false" rot="-10800000">
              <a:off x="5491470"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3" id="33"/>
            <p:cNvSpPr/>
            <p:nvPr/>
          </p:nvSpPr>
          <p:spPr>
            <a:xfrm flipH="false" flipV="false" rot="-10800000">
              <a:off x="8200729"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4" id="34"/>
            <p:cNvSpPr/>
            <p:nvPr/>
          </p:nvSpPr>
          <p:spPr>
            <a:xfrm flipH="false" flipV="false" rot="-10800000">
              <a:off x="10909988"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5" id="35"/>
            <p:cNvSpPr/>
            <p:nvPr/>
          </p:nvSpPr>
          <p:spPr>
            <a:xfrm flipH="false" flipV="false" rot="-10800000">
              <a:off x="13619247"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6" id="36"/>
            <p:cNvSpPr/>
            <p:nvPr/>
          </p:nvSpPr>
          <p:spPr>
            <a:xfrm flipH="false" flipV="false" rot="-10800000">
              <a:off x="16328506"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7" id="37"/>
            <p:cNvSpPr/>
            <p:nvPr/>
          </p:nvSpPr>
          <p:spPr>
            <a:xfrm flipH="false" flipV="false" rot="-10800000">
              <a:off x="19037765"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8" id="38"/>
            <p:cNvSpPr/>
            <p:nvPr/>
          </p:nvSpPr>
          <p:spPr>
            <a:xfrm flipH="false" flipV="false" rot="-10800000">
              <a:off x="21747024"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9" id="39"/>
            <p:cNvSpPr/>
            <p:nvPr/>
          </p:nvSpPr>
          <p:spPr>
            <a:xfrm flipH="false" flipV="false" rot="-10800000">
              <a:off x="2782211"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0" id="40"/>
            <p:cNvSpPr/>
            <p:nvPr/>
          </p:nvSpPr>
          <p:spPr>
            <a:xfrm flipH="false" flipV="false" rot="0">
              <a:off x="0" y="10944222"/>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1" id="41"/>
            <p:cNvSpPr/>
            <p:nvPr/>
          </p:nvSpPr>
          <p:spPr>
            <a:xfrm flipH="false" flipV="false" rot="-10800000">
              <a:off x="5491470"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2" id="42"/>
            <p:cNvSpPr/>
            <p:nvPr/>
          </p:nvSpPr>
          <p:spPr>
            <a:xfrm flipH="false" flipV="false" rot="-10800000">
              <a:off x="8200729"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3" id="43"/>
            <p:cNvSpPr/>
            <p:nvPr/>
          </p:nvSpPr>
          <p:spPr>
            <a:xfrm flipH="false" flipV="false" rot="-10800000">
              <a:off x="10909988"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4" id="44"/>
            <p:cNvSpPr/>
            <p:nvPr/>
          </p:nvSpPr>
          <p:spPr>
            <a:xfrm flipH="false" flipV="false" rot="-10800000">
              <a:off x="13619247"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5" id="45"/>
            <p:cNvSpPr/>
            <p:nvPr/>
          </p:nvSpPr>
          <p:spPr>
            <a:xfrm flipH="false" flipV="false" rot="-10800000">
              <a:off x="16328506"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6" id="46"/>
            <p:cNvSpPr/>
            <p:nvPr/>
          </p:nvSpPr>
          <p:spPr>
            <a:xfrm flipH="false" flipV="false" rot="-10800000">
              <a:off x="19037765"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7" id="47"/>
            <p:cNvSpPr/>
            <p:nvPr/>
          </p:nvSpPr>
          <p:spPr>
            <a:xfrm flipH="false" flipV="false" rot="-10800000">
              <a:off x="21747024"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grpSp>
      <p:sp>
        <p:nvSpPr>
          <p:cNvPr name="Freeform 48" id="48"/>
          <p:cNvSpPr/>
          <p:nvPr/>
        </p:nvSpPr>
        <p:spPr>
          <a:xfrm flipH="false" flipV="false" rot="0">
            <a:off x="-531750" y="1535638"/>
            <a:ext cx="2549230" cy="2535325"/>
          </a:xfrm>
          <a:custGeom>
            <a:avLst/>
            <a:gdLst/>
            <a:ahLst/>
            <a:cxnLst/>
            <a:rect r="r" b="b" t="t" l="l"/>
            <a:pathLst>
              <a:path h="2535325" w="2549230">
                <a:moveTo>
                  <a:pt x="0" y="0"/>
                </a:moveTo>
                <a:lnTo>
                  <a:pt x="2549230" y="0"/>
                </a:lnTo>
                <a:lnTo>
                  <a:pt x="2549230" y="2535325"/>
                </a:lnTo>
                <a:lnTo>
                  <a:pt x="0" y="25353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9" id="49"/>
          <p:cNvSpPr/>
          <p:nvPr/>
        </p:nvSpPr>
        <p:spPr>
          <a:xfrm flipH="false" flipV="false" rot="-395974">
            <a:off x="5423454" y="7175558"/>
            <a:ext cx="7851202" cy="8584813"/>
          </a:xfrm>
          <a:custGeom>
            <a:avLst/>
            <a:gdLst/>
            <a:ahLst/>
            <a:cxnLst/>
            <a:rect r="r" b="b" t="t" l="l"/>
            <a:pathLst>
              <a:path h="8584813" w="7851202">
                <a:moveTo>
                  <a:pt x="0" y="0"/>
                </a:moveTo>
                <a:lnTo>
                  <a:pt x="7851202" y="0"/>
                </a:lnTo>
                <a:lnTo>
                  <a:pt x="7851202" y="8584813"/>
                </a:lnTo>
                <a:lnTo>
                  <a:pt x="0" y="85848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0" id="50"/>
          <p:cNvSpPr/>
          <p:nvPr/>
        </p:nvSpPr>
        <p:spPr>
          <a:xfrm flipH="false" flipV="false" rot="933903">
            <a:off x="-1908121" y="6702335"/>
            <a:ext cx="7851202" cy="8584813"/>
          </a:xfrm>
          <a:custGeom>
            <a:avLst/>
            <a:gdLst/>
            <a:ahLst/>
            <a:cxnLst/>
            <a:rect r="r" b="b" t="t" l="l"/>
            <a:pathLst>
              <a:path h="8584813" w="7851202">
                <a:moveTo>
                  <a:pt x="0" y="0"/>
                </a:moveTo>
                <a:lnTo>
                  <a:pt x="7851202" y="0"/>
                </a:lnTo>
                <a:lnTo>
                  <a:pt x="7851202" y="8584813"/>
                </a:lnTo>
                <a:lnTo>
                  <a:pt x="0" y="85848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1" id="51"/>
          <p:cNvSpPr/>
          <p:nvPr/>
        </p:nvSpPr>
        <p:spPr>
          <a:xfrm flipH="false" flipV="false" rot="-395974">
            <a:off x="12007309" y="7067635"/>
            <a:ext cx="8180553" cy="8944938"/>
          </a:xfrm>
          <a:custGeom>
            <a:avLst/>
            <a:gdLst/>
            <a:ahLst/>
            <a:cxnLst/>
            <a:rect r="r" b="b" t="t" l="l"/>
            <a:pathLst>
              <a:path h="8944938" w="8180553">
                <a:moveTo>
                  <a:pt x="0" y="0"/>
                </a:moveTo>
                <a:lnTo>
                  <a:pt x="8180553" y="0"/>
                </a:lnTo>
                <a:lnTo>
                  <a:pt x="8180553" y="8944939"/>
                </a:lnTo>
                <a:lnTo>
                  <a:pt x="0" y="894493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2" id="52"/>
          <p:cNvGrpSpPr/>
          <p:nvPr/>
        </p:nvGrpSpPr>
        <p:grpSpPr>
          <a:xfrm rot="0">
            <a:off x="1439531" y="1028700"/>
            <a:ext cx="15408937" cy="1703142"/>
            <a:chOff x="0" y="0"/>
            <a:chExt cx="20545250" cy="2270856"/>
          </a:xfrm>
        </p:grpSpPr>
        <p:grpSp>
          <p:nvGrpSpPr>
            <p:cNvPr name="Group 53" id="53"/>
            <p:cNvGrpSpPr/>
            <p:nvPr/>
          </p:nvGrpSpPr>
          <p:grpSpPr>
            <a:xfrm rot="0">
              <a:off x="0" y="0"/>
              <a:ext cx="20545250" cy="2270856"/>
              <a:chOff x="0" y="0"/>
              <a:chExt cx="5434051" cy="600623"/>
            </a:xfrm>
          </p:grpSpPr>
          <p:sp>
            <p:nvSpPr>
              <p:cNvPr name="Freeform 54" id="54"/>
              <p:cNvSpPr/>
              <p:nvPr/>
            </p:nvSpPr>
            <p:spPr>
              <a:xfrm flipH="false" flipV="false" rot="0">
                <a:off x="0" y="0"/>
                <a:ext cx="5434051" cy="600623"/>
              </a:xfrm>
              <a:custGeom>
                <a:avLst/>
                <a:gdLst/>
                <a:ahLst/>
                <a:cxnLst/>
                <a:rect r="r" b="b" t="t" l="l"/>
                <a:pathLst>
                  <a:path h="600623" w="5434051">
                    <a:moveTo>
                      <a:pt x="0" y="0"/>
                    </a:moveTo>
                    <a:lnTo>
                      <a:pt x="5434051" y="0"/>
                    </a:lnTo>
                    <a:lnTo>
                      <a:pt x="5434051" y="600623"/>
                    </a:lnTo>
                    <a:lnTo>
                      <a:pt x="0" y="600623"/>
                    </a:lnTo>
                    <a:close/>
                  </a:path>
                </a:pathLst>
              </a:custGeom>
              <a:solidFill>
                <a:srgbClr val="6D4A20"/>
              </a:solidFill>
              <a:ln w="28575" cap="sq">
                <a:solidFill>
                  <a:srgbClr val="000000"/>
                </a:solidFill>
                <a:prstDash val="solid"/>
                <a:miter/>
              </a:ln>
            </p:spPr>
          </p:sp>
          <p:sp>
            <p:nvSpPr>
              <p:cNvPr name="TextBox 55" id="55"/>
              <p:cNvSpPr txBox="true"/>
              <p:nvPr/>
            </p:nvSpPr>
            <p:spPr>
              <a:xfrm>
                <a:off x="0" y="-38100"/>
                <a:ext cx="5434051" cy="63872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6" id="56"/>
            <p:cNvSpPr txBox="true"/>
            <p:nvPr/>
          </p:nvSpPr>
          <p:spPr>
            <a:xfrm rot="0">
              <a:off x="348727" y="484986"/>
              <a:ext cx="19847796" cy="1481859"/>
            </a:xfrm>
            <a:prstGeom prst="rect">
              <a:avLst/>
            </a:prstGeom>
          </p:spPr>
          <p:txBody>
            <a:bodyPr anchor="t" rtlCol="false" tIns="0" lIns="0" bIns="0" rIns="0">
              <a:spAutoFit/>
            </a:bodyPr>
            <a:lstStyle/>
            <a:p>
              <a:pPr algn="ctr">
                <a:lnSpc>
                  <a:spcPts val="7995"/>
                </a:lnSpc>
              </a:pPr>
              <a:r>
                <a:rPr lang="en-US" sz="8158" b="true">
                  <a:solidFill>
                    <a:srgbClr val="FFFFFF"/>
                  </a:solidFill>
                  <a:latin typeface="Cooper BT Bold"/>
                  <a:ea typeface="Cooper BT Bold"/>
                  <a:cs typeface="Cooper BT Bold"/>
                  <a:sym typeface="Cooper BT Bold"/>
                </a:rPr>
                <a:t>Trophic Structure</a:t>
              </a:r>
            </a:p>
          </p:txBody>
        </p:sp>
      </p:grpSp>
      <p:grpSp>
        <p:nvGrpSpPr>
          <p:cNvPr name="Group 57" id="57"/>
          <p:cNvGrpSpPr/>
          <p:nvPr/>
        </p:nvGrpSpPr>
        <p:grpSpPr>
          <a:xfrm rot="0">
            <a:off x="1439531" y="3710437"/>
            <a:ext cx="4966559" cy="5547863"/>
            <a:chOff x="0" y="0"/>
            <a:chExt cx="2012768" cy="2248349"/>
          </a:xfrm>
        </p:grpSpPr>
        <p:sp>
          <p:nvSpPr>
            <p:cNvPr name="Freeform 58" id="58"/>
            <p:cNvSpPr/>
            <p:nvPr/>
          </p:nvSpPr>
          <p:spPr>
            <a:xfrm flipH="false" flipV="false" rot="0">
              <a:off x="0" y="0"/>
              <a:ext cx="2012767" cy="2248349"/>
            </a:xfrm>
            <a:custGeom>
              <a:avLst/>
              <a:gdLst/>
              <a:ahLst/>
              <a:cxnLst/>
              <a:rect r="r" b="b" t="t" l="l"/>
              <a:pathLst>
                <a:path h="2248349" w="2012767">
                  <a:moveTo>
                    <a:pt x="0" y="0"/>
                  </a:moveTo>
                  <a:lnTo>
                    <a:pt x="2012767" y="0"/>
                  </a:lnTo>
                  <a:lnTo>
                    <a:pt x="2012767" y="2248349"/>
                  </a:lnTo>
                  <a:lnTo>
                    <a:pt x="0" y="2248349"/>
                  </a:lnTo>
                  <a:close/>
                </a:path>
              </a:pathLst>
            </a:custGeom>
            <a:solidFill>
              <a:srgbClr val="F6C063"/>
            </a:solidFill>
            <a:ln w="28575" cap="sq">
              <a:solidFill>
                <a:srgbClr val="000000"/>
              </a:solidFill>
              <a:prstDash val="solid"/>
              <a:miter/>
            </a:ln>
          </p:spPr>
        </p:sp>
        <p:sp>
          <p:nvSpPr>
            <p:cNvPr name="TextBox 59" id="59"/>
            <p:cNvSpPr txBox="true"/>
            <p:nvPr/>
          </p:nvSpPr>
          <p:spPr>
            <a:xfrm>
              <a:off x="0" y="-38100"/>
              <a:ext cx="2012768" cy="2286449"/>
            </a:xfrm>
            <a:prstGeom prst="rect">
              <a:avLst/>
            </a:prstGeom>
          </p:spPr>
          <p:txBody>
            <a:bodyPr anchor="ctr" rtlCol="false" tIns="46230" lIns="46230" bIns="46230" rIns="46230"/>
            <a:lstStyle/>
            <a:p>
              <a:pPr algn="ctr" marL="0" indent="0" lvl="0">
                <a:lnSpc>
                  <a:spcPts val="2659"/>
                </a:lnSpc>
                <a:spcBef>
                  <a:spcPct val="0"/>
                </a:spcBef>
              </a:pPr>
            </a:p>
          </p:txBody>
        </p:sp>
      </p:grpSp>
      <p:grpSp>
        <p:nvGrpSpPr>
          <p:cNvPr name="Group 60" id="60"/>
          <p:cNvGrpSpPr/>
          <p:nvPr/>
        </p:nvGrpSpPr>
        <p:grpSpPr>
          <a:xfrm rot="0">
            <a:off x="6660720" y="3710437"/>
            <a:ext cx="4966559" cy="5547863"/>
            <a:chOff x="0" y="0"/>
            <a:chExt cx="2012768" cy="2248349"/>
          </a:xfrm>
        </p:grpSpPr>
        <p:sp>
          <p:nvSpPr>
            <p:cNvPr name="Freeform 61" id="61"/>
            <p:cNvSpPr/>
            <p:nvPr/>
          </p:nvSpPr>
          <p:spPr>
            <a:xfrm flipH="false" flipV="false" rot="0">
              <a:off x="0" y="0"/>
              <a:ext cx="2012767" cy="2248349"/>
            </a:xfrm>
            <a:custGeom>
              <a:avLst/>
              <a:gdLst/>
              <a:ahLst/>
              <a:cxnLst/>
              <a:rect r="r" b="b" t="t" l="l"/>
              <a:pathLst>
                <a:path h="2248349" w="2012767">
                  <a:moveTo>
                    <a:pt x="0" y="0"/>
                  </a:moveTo>
                  <a:lnTo>
                    <a:pt x="2012767" y="0"/>
                  </a:lnTo>
                  <a:lnTo>
                    <a:pt x="2012767" y="2248349"/>
                  </a:lnTo>
                  <a:lnTo>
                    <a:pt x="0" y="2248349"/>
                  </a:lnTo>
                  <a:close/>
                </a:path>
              </a:pathLst>
            </a:custGeom>
            <a:solidFill>
              <a:srgbClr val="F6C063"/>
            </a:solidFill>
            <a:ln w="28575" cap="sq">
              <a:solidFill>
                <a:srgbClr val="000000"/>
              </a:solidFill>
              <a:prstDash val="solid"/>
              <a:miter/>
            </a:ln>
          </p:spPr>
        </p:sp>
        <p:sp>
          <p:nvSpPr>
            <p:cNvPr name="TextBox 62" id="62"/>
            <p:cNvSpPr txBox="true"/>
            <p:nvPr/>
          </p:nvSpPr>
          <p:spPr>
            <a:xfrm>
              <a:off x="0" y="-38100"/>
              <a:ext cx="2012768" cy="2286449"/>
            </a:xfrm>
            <a:prstGeom prst="rect">
              <a:avLst/>
            </a:prstGeom>
          </p:spPr>
          <p:txBody>
            <a:bodyPr anchor="ctr" rtlCol="false" tIns="46230" lIns="46230" bIns="46230" rIns="46230"/>
            <a:lstStyle/>
            <a:p>
              <a:pPr algn="ctr" marL="0" indent="0" lvl="0">
                <a:lnSpc>
                  <a:spcPts val="2659"/>
                </a:lnSpc>
                <a:spcBef>
                  <a:spcPct val="0"/>
                </a:spcBef>
              </a:pPr>
            </a:p>
          </p:txBody>
        </p:sp>
      </p:grpSp>
      <p:grpSp>
        <p:nvGrpSpPr>
          <p:cNvPr name="Group 63" id="63"/>
          <p:cNvGrpSpPr/>
          <p:nvPr/>
        </p:nvGrpSpPr>
        <p:grpSpPr>
          <a:xfrm rot="0">
            <a:off x="11881909" y="3710437"/>
            <a:ext cx="4966559" cy="5547863"/>
            <a:chOff x="0" y="0"/>
            <a:chExt cx="2012768" cy="2248349"/>
          </a:xfrm>
        </p:grpSpPr>
        <p:sp>
          <p:nvSpPr>
            <p:cNvPr name="Freeform 64" id="64"/>
            <p:cNvSpPr/>
            <p:nvPr/>
          </p:nvSpPr>
          <p:spPr>
            <a:xfrm flipH="false" flipV="false" rot="0">
              <a:off x="0" y="0"/>
              <a:ext cx="2012767" cy="2248349"/>
            </a:xfrm>
            <a:custGeom>
              <a:avLst/>
              <a:gdLst/>
              <a:ahLst/>
              <a:cxnLst/>
              <a:rect r="r" b="b" t="t" l="l"/>
              <a:pathLst>
                <a:path h="2248349" w="2012767">
                  <a:moveTo>
                    <a:pt x="0" y="0"/>
                  </a:moveTo>
                  <a:lnTo>
                    <a:pt x="2012767" y="0"/>
                  </a:lnTo>
                  <a:lnTo>
                    <a:pt x="2012767" y="2248349"/>
                  </a:lnTo>
                  <a:lnTo>
                    <a:pt x="0" y="2248349"/>
                  </a:lnTo>
                  <a:close/>
                </a:path>
              </a:pathLst>
            </a:custGeom>
            <a:solidFill>
              <a:srgbClr val="F6C063"/>
            </a:solidFill>
            <a:ln w="28575" cap="sq">
              <a:solidFill>
                <a:srgbClr val="000000"/>
              </a:solidFill>
              <a:prstDash val="solid"/>
              <a:miter/>
            </a:ln>
          </p:spPr>
        </p:sp>
        <p:sp>
          <p:nvSpPr>
            <p:cNvPr name="TextBox 65" id="65"/>
            <p:cNvSpPr txBox="true"/>
            <p:nvPr/>
          </p:nvSpPr>
          <p:spPr>
            <a:xfrm>
              <a:off x="0" y="-38100"/>
              <a:ext cx="2012768" cy="2286449"/>
            </a:xfrm>
            <a:prstGeom prst="rect">
              <a:avLst/>
            </a:prstGeom>
          </p:spPr>
          <p:txBody>
            <a:bodyPr anchor="ctr" rtlCol="false" tIns="46230" lIns="46230" bIns="46230" rIns="46230"/>
            <a:lstStyle/>
            <a:p>
              <a:pPr algn="ctr" marL="0" indent="0" lvl="0">
                <a:lnSpc>
                  <a:spcPts val="2659"/>
                </a:lnSpc>
                <a:spcBef>
                  <a:spcPct val="0"/>
                </a:spcBef>
              </a:pPr>
            </a:p>
          </p:txBody>
        </p:sp>
      </p:grpSp>
      <p:grpSp>
        <p:nvGrpSpPr>
          <p:cNvPr name="Group 66" id="66"/>
          <p:cNvGrpSpPr/>
          <p:nvPr/>
        </p:nvGrpSpPr>
        <p:grpSpPr>
          <a:xfrm rot="0">
            <a:off x="1947588" y="3349911"/>
            <a:ext cx="3950446" cy="718640"/>
            <a:chOff x="0" y="0"/>
            <a:chExt cx="5267261" cy="958187"/>
          </a:xfrm>
        </p:grpSpPr>
        <p:grpSp>
          <p:nvGrpSpPr>
            <p:cNvPr name="Group 67" id="67"/>
            <p:cNvGrpSpPr/>
            <p:nvPr/>
          </p:nvGrpSpPr>
          <p:grpSpPr>
            <a:xfrm rot="0">
              <a:off x="0" y="0"/>
              <a:ext cx="5267261" cy="958187"/>
              <a:chOff x="0" y="0"/>
              <a:chExt cx="3301693" cy="600623"/>
            </a:xfrm>
          </p:grpSpPr>
          <p:sp>
            <p:nvSpPr>
              <p:cNvPr name="Freeform 68" id="68"/>
              <p:cNvSpPr/>
              <p:nvPr/>
            </p:nvSpPr>
            <p:spPr>
              <a:xfrm flipH="false" flipV="false" rot="0">
                <a:off x="0" y="0"/>
                <a:ext cx="3301693" cy="600623"/>
              </a:xfrm>
              <a:custGeom>
                <a:avLst/>
                <a:gdLst/>
                <a:ahLst/>
                <a:cxnLst/>
                <a:rect r="r" b="b" t="t" l="l"/>
                <a:pathLst>
                  <a:path h="600623" w="3301693">
                    <a:moveTo>
                      <a:pt x="0" y="0"/>
                    </a:moveTo>
                    <a:lnTo>
                      <a:pt x="3301693" y="0"/>
                    </a:lnTo>
                    <a:lnTo>
                      <a:pt x="3301693" y="600623"/>
                    </a:lnTo>
                    <a:lnTo>
                      <a:pt x="0" y="600623"/>
                    </a:lnTo>
                    <a:close/>
                  </a:path>
                </a:pathLst>
              </a:custGeom>
              <a:solidFill>
                <a:srgbClr val="6D4A20"/>
              </a:solidFill>
              <a:ln w="28575" cap="sq">
                <a:solidFill>
                  <a:srgbClr val="000000"/>
                </a:solidFill>
                <a:prstDash val="solid"/>
                <a:miter/>
              </a:ln>
            </p:spPr>
          </p:sp>
          <p:sp>
            <p:nvSpPr>
              <p:cNvPr name="TextBox 69" id="69"/>
              <p:cNvSpPr txBox="true"/>
              <p:nvPr/>
            </p:nvSpPr>
            <p:spPr>
              <a:xfrm>
                <a:off x="0" y="-38100"/>
                <a:ext cx="3301693" cy="63872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70" id="70"/>
            <p:cNvSpPr txBox="true"/>
            <p:nvPr/>
          </p:nvSpPr>
          <p:spPr>
            <a:xfrm rot="0">
              <a:off x="310520" y="204477"/>
              <a:ext cx="4646221" cy="625432"/>
            </a:xfrm>
            <a:prstGeom prst="rect">
              <a:avLst/>
            </a:prstGeom>
          </p:spPr>
          <p:txBody>
            <a:bodyPr anchor="t" rtlCol="false" tIns="0" lIns="0" bIns="0" rIns="0">
              <a:spAutoFit/>
            </a:bodyPr>
            <a:lstStyle/>
            <a:p>
              <a:pPr algn="ctr">
                <a:lnSpc>
                  <a:spcPts val="3373"/>
                </a:lnSpc>
              </a:pPr>
              <a:r>
                <a:rPr lang="en-US" sz="3442" b="true">
                  <a:solidFill>
                    <a:srgbClr val="FFFFFF"/>
                  </a:solidFill>
                  <a:latin typeface="Cooper BT Bold"/>
                  <a:ea typeface="Cooper BT Bold"/>
                  <a:cs typeface="Cooper BT Bold"/>
                  <a:sym typeface="Cooper BT Bold"/>
                </a:rPr>
                <a:t>Omnivores</a:t>
              </a:r>
            </a:p>
          </p:txBody>
        </p:sp>
      </p:grpSp>
      <p:grpSp>
        <p:nvGrpSpPr>
          <p:cNvPr name="Group 71" id="71"/>
          <p:cNvGrpSpPr/>
          <p:nvPr/>
        </p:nvGrpSpPr>
        <p:grpSpPr>
          <a:xfrm rot="0">
            <a:off x="7168777" y="3349911"/>
            <a:ext cx="3950446" cy="718640"/>
            <a:chOff x="0" y="0"/>
            <a:chExt cx="5267261" cy="958187"/>
          </a:xfrm>
        </p:grpSpPr>
        <p:grpSp>
          <p:nvGrpSpPr>
            <p:cNvPr name="Group 72" id="72"/>
            <p:cNvGrpSpPr/>
            <p:nvPr/>
          </p:nvGrpSpPr>
          <p:grpSpPr>
            <a:xfrm rot="0">
              <a:off x="0" y="0"/>
              <a:ext cx="5267261" cy="958187"/>
              <a:chOff x="0" y="0"/>
              <a:chExt cx="3301693" cy="600623"/>
            </a:xfrm>
          </p:grpSpPr>
          <p:sp>
            <p:nvSpPr>
              <p:cNvPr name="Freeform 73" id="73"/>
              <p:cNvSpPr/>
              <p:nvPr/>
            </p:nvSpPr>
            <p:spPr>
              <a:xfrm flipH="false" flipV="false" rot="0">
                <a:off x="0" y="0"/>
                <a:ext cx="3301693" cy="600623"/>
              </a:xfrm>
              <a:custGeom>
                <a:avLst/>
                <a:gdLst/>
                <a:ahLst/>
                <a:cxnLst/>
                <a:rect r="r" b="b" t="t" l="l"/>
                <a:pathLst>
                  <a:path h="600623" w="3301693">
                    <a:moveTo>
                      <a:pt x="0" y="0"/>
                    </a:moveTo>
                    <a:lnTo>
                      <a:pt x="3301693" y="0"/>
                    </a:lnTo>
                    <a:lnTo>
                      <a:pt x="3301693" y="600623"/>
                    </a:lnTo>
                    <a:lnTo>
                      <a:pt x="0" y="600623"/>
                    </a:lnTo>
                    <a:close/>
                  </a:path>
                </a:pathLst>
              </a:custGeom>
              <a:solidFill>
                <a:srgbClr val="6D4A20"/>
              </a:solidFill>
              <a:ln w="28575" cap="sq">
                <a:solidFill>
                  <a:srgbClr val="000000"/>
                </a:solidFill>
                <a:prstDash val="solid"/>
                <a:miter/>
              </a:ln>
            </p:spPr>
          </p:sp>
          <p:sp>
            <p:nvSpPr>
              <p:cNvPr name="TextBox 74" id="74"/>
              <p:cNvSpPr txBox="true"/>
              <p:nvPr/>
            </p:nvSpPr>
            <p:spPr>
              <a:xfrm>
                <a:off x="0" y="-38100"/>
                <a:ext cx="3301693" cy="63872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75" id="75"/>
            <p:cNvSpPr txBox="true"/>
            <p:nvPr/>
          </p:nvSpPr>
          <p:spPr>
            <a:xfrm rot="0">
              <a:off x="310520" y="204477"/>
              <a:ext cx="4646221" cy="625432"/>
            </a:xfrm>
            <a:prstGeom prst="rect">
              <a:avLst/>
            </a:prstGeom>
          </p:spPr>
          <p:txBody>
            <a:bodyPr anchor="t" rtlCol="false" tIns="0" lIns="0" bIns="0" rIns="0">
              <a:spAutoFit/>
            </a:bodyPr>
            <a:lstStyle/>
            <a:p>
              <a:pPr algn="ctr">
                <a:lnSpc>
                  <a:spcPts val="3373"/>
                </a:lnSpc>
              </a:pPr>
              <a:r>
                <a:rPr lang="en-US" sz="3442" b="true">
                  <a:solidFill>
                    <a:srgbClr val="FFFFFF"/>
                  </a:solidFill>
                  <a:latin typeface="Cooper BT Bold"/>
                  <a:ea typeface="Cooper BT Bold"/>
                  <a:cs typeface="Cooper BT Bold"/>
                  <a:sym typeface="Cooper BT Bold"/>
                </a:rPr>
                <a:t>Detrivores</a:t>
              </a:r>
            </a:p>
          </p:txBody>
        </p:sp>
      </p:grpSp>
      <p:grpSp>
        <p:nvGrpSpPr>
          <p:cNvPr name="Group 76" id="76"/>
          <p:cNvGrpSpPr/>
          <p:nvPr/>
        </p:nvGrpSpPr>
        <p:grpSpPr>
          <a:xfrm rot="0">
            <a:off x="12389966" y="3349911"/>
            <a:ext cx="3950446" cy="718640"/>
            <a:chOff x="0" y="0"/>
            <a:chExt cx="5267261" cy="958187"/>
          </a:xfrm>
        </p:grpSpPr>
        <p:grpSp>
          <p:nvGrpSpPr>
            <p:cNvPr name="Group 77" id="77"/>
            <p:cNvGrpSpPr/>
            <p:nvPr/>
          </p:nvGrpSpPr>
          <p:grpSpPr>
            <a:xfrm rot="0">
              <a:off x="0" y="0"/>
              <a:ext cx="5267261" cy="958187"/>
              <a:chOff x="0" y="0"/>
              <a:chExt cx="3301693" cy="600623"/>
            </a:xfrm>
          </p:grpSpPr>
          <p:sp>
            <p:nvSpPr>
              <p:cNvPr name="Freeform 78" id="78"/>
              <p:cNvSpPr/>
              <p:nvPr/>
            </p:nvSpPr>
            <p:spPr>
              <a:xfrm flipH="false" flipV="false" rot="0">
                <a:off x="0" y="0"/>
                <a:ext cx="3301693" cy="600623"/>
              </a:xfrm>
              <a:custGeom>
                <a:avLst/>
                <a:gdLst/>
                <a:ahLst/>
                <a:cxnLst/>
                <a:rect r="r" b="b" t="t" l="l"/>
                <a:pathLst>
                  <a:path h="600623" w="3301693">
                    <a:moveTo>
                      <a:pt x="0" y="0"/>
                    </a:moveTo>
                    <a:lnTo>
                      <a:pt x="3301693" y="0"/>
                    </a:lnTo>
                    <a:lnTo>
                      <a:pt x="3301693" y="600623"/>
                    </a:lnTo>
                    <a:lnTo>
                      <a:pt x="0" y="600623"/>
                    </a:lnTo>
                    <a:close/>
                  </a:path>
                </a:pathLst>
              </a:custGeom>
              <a:solidFill>
                <a:srgbClr val="6D4A20"/>
              </a:solidFill>
              <a:ln w="28575" cap="sq">
                <a:solidFill>
                  <a:srgbClr val="000000"/>
                </a:solidFill>
                <a:prstDash val="solid"/>
                <a:miter/>
              </a:ln>
            </p:spPr>
          </p:sp>
          <p:sp>
            <p:nvSpPr>
              <p:cNvPr name="TextBox 79" id="79"/>
              <p:cNvSpPr txBox="true"/>
              <p:nvPr/>
            </p:nvSpPr>
            <p:spPr>
              <a:xfrm>
                <a:off x="0" y="-38100"/>
                <a:ext cx="3301693" cy="63872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80" id="80"/>
            <p:cNvSpPr txBox="true"/>
            <p:nvPr/>
          </p:nvSpPr>
          <p:spPr>
            <a:xfrm rot="0">
              <a:off x="310520" y="204477"/>
              <a:ext cx="4646221" cy="625432"/>
            </a:xfrm>
            <a:prstGeom prst="rect">
              <a:avLst/>
            </a:prstGeom>
          </p:spPr>
          <p:txBody>
            <a:bodyPr anchor="t" rtlCol="false" tIns="0" lIns="0" bIns="0" rIns="0">
              <a:spAutoFit/>
            </a:bodyPr>
            <a:lstStyle/>
            <a:p>
              <a:pPr algn="ctr">
                <a:lnSpc>
                  <a:spcPts val="3373"/>
                </a:lnSpc>
              </a:pPr>
              <a:r>
                <a:rPr lang="en-US" sz="3442" b="true">
                  <a:solidFill>
                    <a:srgbClr val="FFFFFF"/>
                  </a:solidFill>
                  <a:latin typeface="Cooper BT Bold"/>
                  <a:ea typeface="Cooper BT Bold"/>
                  <a:cs typeface="Cooper BT Bold"/>
                  <a:sym typeface="Cooper BT Bold"/>
                </a:rPr>
                <a:t>Parasites</a:t>
              </a:r>
            </a:p>
          </p:txBody>
        </p:sp>
      </p:grpSp>
      <p:grpSp>
        <p:nvGrpSpPr>
          <p:cNvPr name="Group 81" id="81"/>
          <p:cNvGrpSpPr/>
          <p:nvPr/>
        </p:nvGrpSpPr>
        <p:grpSpPr>
          <a:xfrm rot="0">
            <a:off x="1796288" y="6484368"/>
            <a:ext cx="4253047" cy="2463875"/>
            <a:chOff x="0" y="0"/>
            <a:chExt cx="860450" cy="498476"/>
          </a:xfrm>
        </p:grpSpPr>
        <p:sp>
          <p:nvSpPr>
            <p:cNvPr name="Freeform 82" id="82"/>
            <p:cNvSpPr/>
            <p:nvPr/>
          </p:nvSpPr>
          <p:spPr>
            <a:xfrm flipH="false" flipV="false" rot="0">
              <a:off x="0" y="0"/>
              <a:ext cx="860450" cy="498476"/>
            </a:xfrm>
            <a:custGeom>
              <a:avLst/>
              <a:gdLst/>
              <a:ahLst/>
              <a:cxnLst/>
              <a:rect r="r" b="b" t="t" l="l"/>
              <a:pathLst>
                <a:path h="498476" w="860450">
                  <a:moveTo>
                    <a:pt x="0" y="0"/>
                  </a:moveTo>
                  <a:lnTo>
                    <a:pt x="860450" y="0"/>
                  </a:lnTo>
                  <a:lnTo>
                    <a:pt x="860450" y="498476"/>
                  </a:lnTo>
                  <a:lnTo>
                    <a:pt x="0" y="498476"/>
                  </a:lnTo>
                  <a:close/>
                </a:path>
              </a:pathLst>
            </a:custGeom>
            <a:blipFill>
              <a:blip r:embed="rId8"/>
              <a:stretch>
                <a:fillRect l="-1325" t="0" r="-1325" b="0"/>
              </a:stretch>
            </a:blipFill>
            <a:ln w="19050" cap="sq">
              <a:solidFill>
                <a:srgbClr val="000000"/>
              </a:solidFill>
              <a:prstDash val="solid"/>
              <a:miter/>
            </a:ln>
          </p:spPr>
        </p:sp>
      </p:grpSp>
      <p:grpSp>
        <p:nvGrpSpPr>
          <p:cNvPr name="Group 83" id="83"/>
          <p:cNvGrpSpPr/>
          <p:nvPr/>
        </p:nvGrpSpPr>
        <p:grpSpPr>
          <a:xfrm rot="0">
            <a:off x="7017477" y="6484368"/>
            <a:ext cx="4253047" cy="2463875"/>
            <a:chOff x="0" y="0"/>
            <a:chExt cx="860450" cy="498476"/>
          </a:xfrm>
        </p:grpSpPr>
        <p:sp>
          <p:nvSpPr>
            <p:cNvPr name="Freeform 84" id="84"/>
            <p:cNvSpPr/>
            <p:nvPr/>
          </p:nvSpPr>
          <p:spPr>
            <a:xfrm flipH="false" flipV="false" rot="0">
              <a:off x="0" y="0"/>
              <a:ext cx="860450" cy="498476"/>
            </a:xfrm>
            <a:custGeom>
              <a:avLst/>
              <a:gdLst/>
              <a:ahLst/>
              <a:cxnLst/>
              <a:rect r="r" b="b" t="t" l="l"/>
              <a:pathLst>
                <a:path h="498476" w="860450">
                  <a:moveTo>
                    <a:pt x="0" y="0"/>
                  </a:moveTo>
                  <a:lnTo>
                    <a:pt x="860450" y="0"/>
                  </a:lnTo>
                  <a:lnTo>
                    <a:pt x="860450" y="498476"/>
                  </a:lnTo>
                  <a:lnTo>
                    <a:pt x="0" y="498476"/>
                  </a:lnTo>
                  <a:close/>
                </a:path>
              </a:pathLst>
            </a:custGeom>
            <a:blipFill>
              <a:blip r:embed="rId9"/>
              <a:stretch>
                <a:fillRect l="-1325" t="0" r="-1325" b="0"/>
              </a:stretch>
            </a:blipFill>
            <a:ln w="19050" cap="sq">
              <a:solidFill>
                <a:srgbClr val="000000"/>
              </a:solidFill>
              <a:prstDash val="solid"/>
              <a:miter/>
            </a:ln>
          </p:spPr>
        </p:sp>
      </p:grpSp>
      <p:grpSp>
        <p:nvGrpSpPr>
          <p:cNvPr name="Group 85" id="85"/>
          <p:cNvGrpSpPr/>
          <p:nvPr/>
        </p:nvGrpSpPr>
        <p:grpSpPr>
          <a:xfrm rot="0">
            <a:off x="12238666" y="6484368"/>
            <a:ext cx="4253047" cy="2463875"/>
            <a:chOff x="0" y="0"/>
            <a:chExt cx="860450" cy="498476"/>
          </a:xfrm>
        </p:grpSpPr>
        <p:sp>
          <p:nvSpPr>
            <p:cNvPr name="Freeform 86" id="86"/>
            <p:cNvSpPr/>
            <p:nvPr/>
          </p:nvSpPr>
          <p:spPr>
            <a:xfrm flipH="false" flipV="false" rot="0">
              <a:off x="0" y="0"/>
              <a:ext cx="860450" cy="498476"/>
            </a:xfrm>
            <a:custGeom>
              <a:avLst/>
              <a:gdLst/>
              <a:ahLst/>
              <a:cxnLst/>
              <a:rect r="r" b="b" t="t" l="l"/>
              <a:pathLst>
                <a:path h="498476" w="860450">
                  <a:moveTo>
                    <a:pt x="0" y="0"/>
                  </a:moveTo>
                  <a:lnTo>
                    <a:pt x="860450" y="0"/>
                  </a:lnTo>
                  <a:lnTo>
                    <a:pt x="860450" y="498476"/>
                  </a:lnTo>
                  <a:lnTo>
                    <a:pt x="0" y="498476"/>
                  </a:lnTo>
                  <a:close/>
                </a:path>
              </a:pathLst>
            </a:custGeom>
            <a:blipFill>
              <a:blip r:embed="rId10"/>
              <a:stretch>
                <a:fillRect l="-1325" t="0" r="-1325" b="0"/>
              </a:stretch>
            </a:blipFill>
            <a:ln w="19050" cap="sq">
              <a:solidFill>
                <a:srgbClr val="000000"/>
              </a:solidFill>
              <a:prstDash val="solid"/>
              <a:miter/>
            </a:ln>
          </p:spPr>
        </p:sp>
      </p:grpSp>
      <p:sp>
        <p:nvSpPr>
          <p:cNvPr name="TextBox 87" id="87"/>
          <p:cNvSpPr txBox="true"/>
          <p:nvPr/>
        </p:nvSpPr>
        <p:spPr>
          <a:xfrm rot="0">
            <a:off x="1796288" y="4117022"/>
            <a:ext cx="4253047" cy="2283188"/>
          </a:xfrm>
          <a:prstGeom prst="rect">
            <a:avLst/>
          </a:prstGeom>
        </p:spPr>
        <p:txBody>
          <a:bodyPr anchor="t" rtlCol="false" tIns="0" lIns="0" bIns="0" rIns="0">
            <a:spAutoFit/>
          </a:bodyPr>
          <a:lstStyle/>
          <a:p>
            <a:pPr algn="ctr">
              <a:lnSpc>
                <a:spcPts val="3067"/>
              </a:lnSpc>
              <a:spcBef>
                <a:spcPct val="0"/>
              </a:spcBef>
            </a:pPr>
            <a:r>
              <a:rPr lang="en-US" b="true" sz="2191">
                <a:solidFill>
                  <a:srgbClr val="000000"/>
                </a:solidFill>
                <a:latin typeface="Canva Sans Medium"/>
                <a:ea typeface="Canva Sans Medium"/>
                <a:cs typeface="Canva Sans Medium"/>
                <a:sym typeface="Canva Sans Medium"/>
              </a:rPr>
              <a:t>Some species combine direct predation with scavenging behavior, and other species, known as omnivores, include a portion of plant foods in their diets.</a:t>
            </a:r>
          </a:p>
        </p:txBody>
      </p:sp>
      <p:sp>
        <p:nvSpPr>
          <p:cNvPr name="TextBox 88" id="88"/>
          <p:cNvSpPr txBox="true"/>
          <p:nvPr/>
        </p:nvSpPr>
        <p:spPr>
          <a:xfrm rot="0">
            <a:off x="7017477" y="4174584"/>
            <a:ext cx="4322653" cy="1899731"/>
          </a:xfrm>
          <a:prstGeom prst="rect">
            <a:avLst/>
          </a:prstGeom>
        </p:spPr>
        <p:txBody>
          <a:bodyPr anchor="t" rtlCol="false" tIns="0" lIns="0" bIns="0" rIns="0">
            <a:spAutoFit/>
          </a:bodyPr>
          <a:lstStyle/>
          <a:p>
            <a:pPr algn="ctr">
              <a:lnSpc>
                <a:spcPts val="3067"/>
              </a:lnSpc>
              <a:spcBef>
                <a:spcPct val="0"/>
              </a:spcBef>
            </a:pPr>
            <a:r>
              <a:rPr lang="en-US" b="true" sz="2191">
                <a:solidFill>
                  <a:srgbClr val="000000"/>
                </a:solidFill>
                <a:latin typeface="Canva Sans Medium"/>
                <a:ea typeface="Canva Sans Medium"/>
                <a:cs typeface="Canva Sans Medium"/>
                <a:sym typeface="Canva Sans Medium"/>
              </a:rPr>
              <a:t>Also known as decomposers, feed on dead plant and animal tissues and wastes (detritus), breaking down complex tissues and organic molecules. </a:t>
            </a:r>
          </a:p>
        </p:txBody>
      </p:sp>
      <p:sp>
        <p:nvSpPr>
          <p:cNvPr name="TextBox 89" id="89"/>
          <p:cNvSpPr txBox="true"/>
          <p:nvPr/>
        </p:nvSpPr>
        <p:spPr>
          <a:xfrm rot="0">
            <a:off x="12218400" y="4115816"/>
            <a:ext cx="4273312" cy="2283188"/>
          </a:xfrm>
          <a:prstGeom prst="rect">
            <a:avLst/>
          </a:prstGeom>
        </p:spPr>
        <p:txBody>
          <a:bodyPr anchor="t" rtlCol="false" tIns="0" lIns="0" bIns="0" rIns="0">
            <a:spAutoFit/>
          </a:bodyPr>
          <a:lstStyle/>
          <a:p>
            <a:pPr algn="ctr">
              <a:lnSpc>
                <a:spcPts val="3067"/>
              </a:lnSpc>
              <a:spcBef>
                <a:spcPct val="0"/>
              </a:spcBef>
            </a:pPr>
            <a:r>
              <a:rPr lang="en-US" b="true" sz="2191">
                <a:solidFill>
                  <a:srgbClr val="000000"/>
                </a:solidFill>
                <a:latin typeface="Canva Sans Medium"/>
                <a:ea typeface="Canva Sans Medium"/>
                <a:cs typeface="Canva Sans Medium"/>
                <a:sym typeface="Canva Sans Medium"/>
              </a:rPr>
              <a:t>Live on or within a host organism for all or part of their lives and may cause harm to the host or might just weaken it, while pathogens definitely cause harm to the cell.</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Three tropic pyramids show the energy and biomass at every level of the community. The first three dimensional pyramid is, Three-trophic-level energy and biomass pyramid. On the top is a wolf, 2 degree consumers, with 10 to the power 1 kilocalorie..."/>
          <p:cNvSpPr/>
          <p:nvPr/>
        </p:nvSpPr>
        <p:spPr>
          <a:xfrm flipH="false" flipV="false" rot="0">
            <a:off x="0" y="1659413"/>
            <a:ext cx="18288000" cy="7705682"/>
          </a:xfrm>
          <a:custGeom>
            <a:avLst/>
            <a:gdLst/>
            <a:ahLst/>
            <a:cxnLst/>
            <a:rect r="r" b="b" t="t" l="l"/>
            <a:pathLst>
              <a:path h="7705682" w="18288000">
                <a:moveTo>
                  <a:pt x="0" y="0"/>
                </a:moveTo>
                <a:lnTo>
                  <a:pt x="18288000" y="0"/>
                </a:lnTo>
                <a:lnTo>
                  <a:pt x="18288000" y="7705682"/>
                </a:lnTo>
                <a:lnTo>
                  <a:pt x="0" y="7705682"/>
                </a:lnTo>
                <a:lnTo>
                  <a:pt x="0" y="0"/>
                </a:lnTo>
                <a:close/>
              </a:path>
            </a:pathLst>
          </a:custGeom>
          <a:blipFill>
            <a:blip r:embed="rId2"/>
            <a:stretch>
              <a:fillRect l="0" t="0" r="0" b="-9681"/>
            </a:stretch>
          </a:blipFill>
        </p:spPr>
      </p:sp>
      <p:grpSp>
        <p:nvGrpSpPr>
          <p:cNvPr name="Group 3" id="3"/>
          <p:cNvGrpSpPr/>
          <p:nvPr/>
        </p:nvGrpSpPr>
        <p:grpSpPr>
          <a:xfrm rot="0">
            <a:off x="0" y="0"/>
            <a:ext cx="18288000" cy="1148680"/>
            <a:chOff x="0" y="0"/>
            <a:chExt cx="24384000" cy="1531574"/>
          </a:xfrm>
        </p:grpSpPr>
        <p:grpSp>
          <p:nvGrpSpPr>
            <p:cNvPr name="Group 4" id="4"/>
            <p:cNvGrpSpPr/>
            <p:nvPr/>
          </p:nvGrpSpPr>
          <p:grpSpPr>
            <a:xfrm rot="0">
              <a:off x="0" y="0"/>
              <a:ext cx="24384000" cy="1531574"/>
              <a:chOff x="0" y="0"/>
              <a:chExt cx="15284694" cy="960041"/>
            </a:xfrm>
          </p:grpSpPr>
          <p:sp>
            <p:nvSpPr>
              <p:cNvPr name="Freeform 5" id="5"/>
              <p:cNvSpPr/>
              <p:nvPr/>
            </p:nvSpPr>
            <p:spPr>
              <a:xfrm flipH="false" flipV="false" rot="0">
                <a:off x="0" y="0"/>
                <a:ext cx="15284693" cy="960041"/>
              </a:xfrm>
              <a:custGeom>
                <a:avLst/>
                <a:gdLst/>
                <a:ahLst/>
                <a:cxnLst/>
                <a:rect r="r" b="b" t="t" l="l"/>
                <a:pathLst>
                  <a:path h="960041" w="15284693">
                    <a:moveTo>
                      <a:pt x="0" y="0"/>
                    </a:moveTo>
                    <a:lnTo>
                      <a:pt x="15284693" y="0"/>
                    </a:lnTo>
                    <a:lnTo>
                      <a:pt x="15284693" y="960041"/>
                    </a:lnTo>
                    <a:lnTo>
                      <a:pt x="0" y="960041"/>
                    </a:lnTo>
                    <a:close/>
                  </a:path>
                </a:pathLst>
              </a:custGeom>
              <a:solidFill>
                <a:srgbClr val="6D4A20"/>
              </a:solidFill>
              <a:ln w="28575" cap="sq">
                <a:solidFill>
                  <a:srgbClr val="000000"/>
                </a:solidFill>
                <a:prstDash val="solid"/>
                <a:miter/>
              </a:ln>
            </p:spPr>
          </p:sp>
          <p:sp>
            <p:nvSpPr>
              <p:cNvPr name="TextBox 6" id="6"/>
              <p:cNvSpPr txBox="true"/>
              <p:nvPr/>
            </p:nvSpPr>
            <p:spPr>
              <a:xfrm>
                <a:off x="0" y="-38100"/>
                <a:ext cx="15284694" cy="99814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7" id="7"/>
            <p:cNvSpPr txBox="true"/>
            <p:nvPr/>
          </p:nvSpPr>
          <p:spPr>
            <a:xfrm rot="0">
              <a:off x="1437507" y="204477"/>
              <a:ext cx="21508986" cy="1198819"/>
            </a:xfrm>
            <a:prstGeom prst="rect">
              <a:avLst/>
            </a:prstGeom>
          </p:spPr>
          <p:txBody>
            <a:bodyPr anchor="t" rtlCol="false" tIns="0" lIns="0" bIns="0" rIns="0">
              <a:spAutoFit/>
            </a:bodyPr>
            <a:lstStyle/>
            <a:p>
              <a:pPr algn="ctr">
                <a:lnSpc>
                  <a:spcPts val="3373"/>
                </a:lnSpc>
              </a:pPr>
              <a:r>
                <a:rPr lang="en-US" sz="3442" b="true">
                  <a:solidFill>
                    <a:srgbClr val="FFFFFF"/>
                  </a:solidFill>
                  <a:latin typeface="Cooper BT Bold"/>
                  <a:ea typeface="Cooper BT Bold"/>
                  <a:cs typeface="Cooper BT Bold"/>
                  <a:sym typeface="Cooper BT Bold"/>
                </a:rPr>
                <a:t>A trophic pyramid depicts the amount of biomass in, or energy available to, each trophic level in a community.</a:t>
              </a:r>
            </a:p>
          </p:txBody>
        </p:sp>
      </p:grpSp>
      <p:sp>
        <p:nvSpPr>
          <p:cNvPr name="TextBox 8" id="8"/>
          <p:cNvSpPr txBox="true"/>
          <p:nvPr/>
        </p:nvSpPr>
        <p:spPr>
          <a:xfrm rot="0">
            <a:off x="355607" y="9537638"/>
            <a:ext cx="17576785" cy="365905"/>
          </a:xfrm>
          <a:prstGeom prst="rect">
            <a:avLst/>
          </a:prstGeom>
        </p:spPr>
        <p:txBody>
          <a:bodyPr anchor="t" rtlCol="false" tIns="0" lIns="0" bIns="0" rIns="0">
            <a:spAutoFit/>
          </a:bodyPr>
          <a:lstStyle/>
          <a:p>
            <a:pPr algn="ctr">
              <a:lnSpc>
                <a:spcPts val="3067"/>
              </a:lnSpc>
              <a:spcBef>
                <a:spcPct val="0"/>
              </a:spcBef>
            </a:pPr>
            <a:r>
              <a:rPr lang="en-US" b="true" sz="2191">
                <a:solidFill>
                  <a:srgbClr val="000000"/>
                </a:solidFill>
                <a:latin typeface="Canva Sans Medium"/>
                <a:ea typeface="Canva Sans Medium"/>
                <a:cs typeface="Canva Sans Medium"/>
                <a:sym typeface="Canva Sans Medium"/>
              </a:rPr>
              <a:t>Energy—the number of kilocalories available for reproduction and growth—always declines at each successive trophic level. </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grpSp>
        <p:nvGrpSpPr>
          <p:cNvPr name="Group 2" id="2"/>
          <p:cNvGrpSpPr/>
          <p:nvPr/>
        </p:nvGrpSpPr>
        <p:grpSpPr>
          <a:xfrm rot="0">
            <a:off x="-27106" y="0"/>
            <a:ext cx="18342213" cy="10287000"/>
            <a:chOff x="0" y="0"/>
            <a:chExt cx="24456283" cy="13716000"/>
          </a:xfrm>
        </p:grpSpPr>
        <p:sp>
          <p:nvSpPr>
            <p:cNvPr name="Freeform 3" id="3"/>
            <p:cNvSpPr/>
            <p:nvPr/>
          </p:nvSpPr>
          <p:spPr>
            <a:xfrm flipH="false" flipV="false" rot="-10800000">
              <a:off x="2782211"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 id="4"/>
            <p:cNvSpPr/>
            <p:nvPr/>
          </p:nvSpPr>
          <p:spPr>
            <a:xfrm flipH="false" flipV="false" rot="0">
              <a:off x="0" y="0"/>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10800000">
              <a:off x="5491470"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6" id="6"/>
            <p:cNvSpPr/>
            <p:nvPr/>
          </p:nvSpPr>
          <p:spPr>
            <a:xfrm flipH="false" flipV="false" rot="-10800000">
              <a:off x="8200729"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7" id="7"/>
            <p:cNvSpPr/>
            <p:nvPr/>
          </p:nvSpPr>
          <p:spPr>
            <a:xfrm flipH="false" flipV="false" rot="-10800000">
              <a:off x="10909988"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8" id="8"/>
            <p:cNvSpPr/>
            <p:nvPr/>
          </p:nvSpPr>
          <p:spPr>
            <a:xfrm flipH="false" flipV="false" rot="-10800000">
              <a:off x="13619247"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9" id="9"/>
            <p:cNvSpPr/>
            <p:nvPr/>
          </p:nvSpPr>
          <p:spPr>
            <a:xfrm flipH="false" flipV="false" rot="-10800000">
              <a:off x="16328506"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0" id="10"/>
            <p:cNvSpPr/>
            <p:nvPr/>
          </p:nvSpPr>
          <p:spPr>
            <a:xfrm flipH="false" flipV="false" rot="-10800000">
              <a:off x="19037765"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1" id="11"/>
            <p:cNvSpPr/>
            <p:nvPr/>
          </p:nvSpPr>
          <p:spPr>
            <a:xfrm flipH="false" flipV="false" rot="-10800000">
              <a:off x="21747024"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2" id="12"/>
            <p:cNvSpPr/>
            <p:nvPr/>
          </p:nvSpPr>
          <p:spPr>
            <a:xfrm flipH="false" flipV="false" rot="-10800000">
              <a:off x="2782211"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3" id="13"/>
            <p:cNvSpPr/>
            <p:nvPr/>
          </p:nvSpPr>
          <p:spPr>
            <a:xfrm flipH="false" flipV="false" rot="0">
              <a:off x="0" y="2736056"/>
              <a:ext cx="2782211" cy="2771778"/>
            </a:xfrm>
            <a:custGeom>
              <a:avLst/>
              <a:gdLst/>
              <a:ahLst/>
              <a:cxnLst/>
              <a:rect r="r" b="b" t="t" l="l"/>
              <a:pathLst>
                <a:path h="2771778" w="2782211">
                  <a:moveTo>
                    <a:pt x="0" y="0"/>
                  </a:moveTo>
                  <a:lnTo>
                    <a:pt x="2782211" y="0"/>
                  </a:lnTo>
                  <a:lnTo>
                    <a:pt x="2782211"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4" id="14"/>
            <p:cNvSpPr/>
            <p:nvPr/>
          </p:nvSpPr>
          <p:spPr>
            <a:xfrm flipH="false" flipV="false" rot="-10800000">
              <a:off x="5491470"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5" id="15"/>
            <p:cNvSpPr/>
            <p:nvPr/>
          </p:nvSpPr>
          <p:spPr>
            <a:xfrm flipH="false" flipV="false" rot="-10800000">
              <a:off x="8200729"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6" id="16"/>
            <p:cNvSpPr/>
            <p:nvPr/>
          </p:nvSpPr>
          <p:spPr>
            <a:xfrm flipH="false" flipV="false" rot="-10800000">
              <a:off x="10909988"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7" id="17"/>
            <p:cNvSpPr/>
            <p:nvPr/>
          </p:nvSpPr>
          <p:spPr>
            <a:xfrm flipH="false" flipV="false" rot="-10800000">
              <a:off x="13619247"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8" id="18"/>
            <p:cNvSpPr/>
            <p:nvPr/>
          </p:nvSpPr>
          <p:spPr>
            <a:xfrm flipH="false" flipV="false" rot="-10800000">
              <a:off x="16328506"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9" id="19"/>
            <p:cNvSpPr/>
            <p:nvPr/>
          </p:nvSpPr>
          <p:spPr>
            <a:xfrm flipH="false" flipV="false" rot="-10800000">
              <a:off x="19037765"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0" id="20"/>
            <p:cNvSpPr/>
            <p:nvPr/>
          </p:nvSpPr>
          <p:spPr>
            <a:xfrm flipH="false" flipV="false" rot="-10800000">
              <a:off x="21747024"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1" id="21"/>
            <p:cNvSpPr/>
            <p:nvPr/>
          </p:nvSpPr>
          <p:spPr>
            <a:xfrm flipH="false" flipV="false" rot="-10800000">
              <a:off x="2782211"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2" id="22"/>
            <p:cNvSpPr/>
            <p:nvPr/>
          </p:nvSpPr>
          <p:spPr>
            <a:xfrm flipH="false" flipV="false" rot="0">
              <a:off x="0" y="5472111"/>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3" id="23"/>
            <p:cNvSpPr/>
            <p:nvPr/>
          </p:nvSpPr>
          <p:spPr>
            <a:xfrm flipH="false" flipV="false" rot="-10800000">
              <a:off x="5491470"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4" id="24"/>
            <p:cNvSpPr/>
            <p:nvPr/>
          </p:nvSpPr>
          <p:spPr>
            <a:xfrm flipH="false" flipV="false" rot="-10800000">
              <a:off x="8200729"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5" id="25"/>
            <p:cNvSpPr/>
            <p:nvPr/>
          </p:nvSpPr>
          <p:spPr>
            <a:xfrm flipH="false" flipV="false" rot="-10800000">
              <a:off x="10909988"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6" id="26"/>
            <p:cNvSpPr/>
            <p:nvPr/>
          </p:nvSpPr>
          <p:spPr>
            <a:xfrm flipH="false" flipV="false" rot="-10800000">
              <a:off x="13619247"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7" id="27"/>
            <p:cNvSpPr/>
            <p:nvPr/>
          </p:nvSpPr>
          <p:spPr>
            <a:xfrm flipH="false" flipV="false" rot="-10800000">
              <a:off x="16328506"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8" id="28"/>
            <p:cNvSpPr/>
            <p:nvPr/>
          </p:nvSpPr>
          <p:spPr>
            <a:xfrm flipH="false" flipV="false" rot="-10800000">
              <a:off x="19037765"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9" id="29"/>
            <p:cNvSpPr/>
            <p:nvPr/>
          </p:nvSpPr>
          <p:spPr>
            <a:xfrm flipH="false" flipV="false" rot="-10800000">
              <a:off x="21747024"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0" id="30"/>
            <p:cNvSpPr/>
            <p:nvPr/>
          </p:nvSpPr>
          <p:spPr>
            <a:xfrm flipH="false" flipV="false" rot="-10800000">
              <a:off x="2782211"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1" id="31"/>
            <p:cNvSpPr/>
            <p:nvPr/>
          </p:nvSpPr>
          <p:spPr>
            <a:xfrm flipH="false" flipV="false" rot="0">
              <a:off x="0" y="8208167"/>
              <a:ext cx="2782211" cy="2771778"/>
            </a:xfrm>
            <a:custGeom>
              <a:avLst/>
              <a:gdLst/>
              <a:ahLst/>
              <a:cxnLst/>
              <a:rect r="r" b="b" t="t" l="l"/>
              <a:pathLst>
                <a:path h="2771778" w="2782211">
                  <a:moveTo>
                    <a:pt x="0" y="0"/>
                  </a:moveTo>
                  <a:lnTo>
                    <a:pt x="2782211" y="0"/>
                  </a:lnTo>
                  <a:lnTo>
                    <a:pt x="2782211"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2" id="32"/>
            <p:cNvSpPr/>
            <p:nvPr/>
          </p:nvSpPr>
          <p:spPr>
            <a:xfrm flipH="false" flipV="false" rot="-10800000">
              <a:off x="5491470"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3" id="33"/>
            <p:cNvSpPr/>
            <p:nvPr/>
          </p:nvSpPr>
          <p:spPr>
            <a:xfrm flipH="false" flipV="false" rot="-10800000">
              <a:off x="8200729"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4" id="34"/>
            <p:cNvSpPr/>
            <p:nvPr/>
          </p:nvSpPr>
          <p:spPr>
            <a:xfrm flipH="false" flipV="false" rot="-10800000">
              <a:off x="10909988"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5" id="35"/>
            <p:cNvSpPr/>
            <p:nvPr/>
          </p:nvSpPr>
          <p:spPr>
            <a:xfrm flipH="false" flipV="false" rot="-10800000">
              <a:off x="13619247"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6" id="36"/>
            <p:cNvSpPr/>
            <p:nvPr/>
          </p:nvSpPr>
          <p:spPr>
            <a:xfrm flipH="false" flipV="false" rot="-10800000">
              <a:off x="16328506"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7" id="37"/>
            <p:cNvSpPr/>
            <p:nvPr/>
          </p:nvSpPr>
          <p:spPr>
            <a:xfrm flipH="false" flipV="false" rot="-10800000">
              <a:off x="19037765"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8" id="38"/>
            <p:cNvSpPr/>
            <p:nvPr/>
          </p:nvSpPr>
          <p:spPr>
            <a:xfrm flipH="false" flipV="false" rot="-10800000">
              <a:off x="21747024"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9" id="39"/>
            <p:cNvSpPr/>
            <p:nvPr/>
          </p:nvSpPr>
          <p:spPr>
            <a:xfrm flipH="false" flipV="false" rot="-10800000">
              <a:off x="2782211"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0" id="40"/>
            <p:cNvSpPr/>
            <p:nvPr/>
          </p:nvSpPr>
          <p:spPr>
            <a:xfrm flipH="false" flipV="false" rot="0">
              <a:off x="0" y="10944222"/>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1" id="41"/>
            <p:cNvSpPr/>
            <p:nvPr/>
          </p:nvSpPr>
          <p:spPr>
            <a:xfrm flipH="false" flipV="false" rot="-10800000">
              <a:off x="5491470"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2" id="42"/>
            <p:cNvSpPr/>
            <p:nvPr/>
          </p:nvSpPr>
          <p:spPr>
            <a:xfrm flipH="false" flipV="false" rot="-10800000">
              <a:off x="8200729"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3" id="43"/>
            <p:cNvSpPr/>
            <p:nvPr/>
          </p:nvSpPr>
          <p:spPr>
            <a:xfrm flipH="false" flipV="false" rot="-10800000">
              <a:off x="10909988"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4" id="44"/>
            <p:cNvSpPr/>
            <p:nvPr/>
          </p:nvSpPr>
          <p:spPr>
            <a:xfrm flipH="false" flipV="false" rot="-10800000">
              <a:off x="13619247"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5" id="45"/>
            <p:cNvSpPr/>
            <p:nvPr/>
          </p:nvSpPr>
          <p:spPr>
            <a:xfrm flipH="false" flipV="false" rot="-10800000">
              <a:off x="16328506"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6" id="46"/>
            <p:cNvSpPr/>
            <p:nvPr/>
          </p:nvSpPr>
          <p:spPr>
            <a:xfrm flipH="false" flipV="false" rot="-10800000">
              <a:off x="19037765"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7" id="47"/>
            <p:cNvSpPr/>
            <p:nvPr/>
          </p:nvSpPr>
          <p:spPr>
            <a:xfrm flipH="false" flipV="false" rot="-10800000">
              <a:off x="21747024"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grpSp>
      <p:grpSp>
        <p:nvGrpSpPr>
          <p:cNvPr name="Group 48" id="48"/>
          <p:cNvGrpSpPr/>
          <p:nvPr/>
        </p:nvGrpSpPr>
        <p:grpSpPr>
          <a:xfrm rot="0">
            <a:off x="1028700" y="4748570"/>
            <a:ext cx="7802844" cy="4509730"/>
            <a:chOff x="0" y="0"/>
            <a:chExt cx="10403792" cy="6012973"/>
          </a:xfrm>
        </p:grpSpPr>
        <p:grpSp>
          <p:nvGrpSpPr>
            <p:cNvPr name="Group 49" id="49"/>
            <p:cNvGrpSpPr/>
            <p:nvPr/>
          </p:nvGrpSpPr>
          <p:grpSpPr>
            <a:xfrm rot="0">
              <a:off x="0" y="0"/>
              <a:ext cx="10403792" cy="6012973"/>
              <a:chOff x="0" y="0"/>
              <a:chExt cx="3162211" cy="1827631"/>
            </a:xfrm>
          </p:grpSpPr>
          <p:sp>
            <p:nvSpPr>
              <p:cNvPr name="Freeform 50" id="50"/>
              <p:cNvSpPr/>
              <p:nvPr/>
            </p:nvSpPr>
            <p:spPr>
              <a:xfrm flipH="false" flipV="false" rot="0">
                <a:off x="0" y="0"/>
                <a:ext cx="3162211" cy="1827631"/>
              </a:xfrm>
              <a:custGeom>
                <a:avLst/>
                <a:gdLst/>
                <a:ahLst/>
                <a:cxnLst/>
                <a:rect r="r" b="b" t="t" l="l"/>
                <a:pathLst>
                  <a:path h="1827631" w="3162211">
                    <a:moveTo>
                      <a:pt x="0" y="0"/>
                    </a:moveTo>
                    <a:lnTo>
                      <a:pt x="3162211" y="0"/>
                    </a:lnTo>
                    <a:lnTo>
                      <a:pt x="3162211" y="1827631"/>
                    </a:lnTo>
                    <a:lnTo>
                      <a:pt x="0" y="1827631"/>
                    </a:lnTo>
                    <a:close/>
                  </a:path>
                </a:pathLst>
              </a:custGeom>
              <a:solidFill>
                <a:srgbClr val="F6C063"/>
              </a:solidFill>
              <a:ln w="28575" cap="sq">
                <a:solidFill>
                  <a:srgbClr val="000000"/>
                </a:solidFill>
                <a:prstDash val="solid"/>
                <a:miter/>
              </a:ln>
            </p:spPr>
          </p:sp>
          <p:sp>
            <p:nvSpPr>
              <p:cNvPr name="TextBox 51" id="51"/>
              <p:cNvSpPr txBox="true"/>
              <p:nvPr/>
            </p:nvSpPr>
            <p:spPr>
              <a:xfrm>
                <a:off x="0" y="-38100"/>
                <a:ext cx="3162211" cy="1865731"/>
              </a:xfrm>
              <a:prstGeom prst="rect">
                <a:avLst/>
              </a:prstGeom>
            </p:spPr>
            <p:txBody>
              <a:bodyPr anchor="ctr" rtlCol="false" tIns="46230" lIns="46230" bIns="46230" rIns="46230"/>
              <a:lstStyle/>
              <a:p>
                <a:pPr algn="ctr" marL="0" indent="0" lvl="0">
                  <a:lnSpc>
                    <a:spcPts val="2659"/>
                  </a:lnSpc>
                  <a:spcBef>
                    <a:spcPct val="0"/>
                  </a:spcBef>
                </a:pPr>
              </a:p>
            </p:txBody>
          </p:sp>
        </p:grpSp>
        <p:sp>
          <p:nvSpPr>
            <p:cNvPr name="TextBox 52" id="52"/>
            <p:cNvSpPr txBox="true"/>
            <p:nvPr/>
          </p:nvSpPr>
          <p:spPr>
            <a:xfrm rot="0">
              <a:off x="352312" y="371535"/>
              <a:ext cx="9699167" cy="5222278"/>
            </a:xfrm>
            <a:prstGeom prst="rect">
              <a:avLst/>
            </a:prstGeom>
          </p:spPr>
          <p:txBody>
            <a:bodyPr anchor="t" rtlCol="false" tIns="0" lIns="0" bIns="0" rIns="0">
              <a:spAutoFit/>
            </a:bodyPr>
            <a:lstStyle/>
            <a:p>
              <a:pPr algn="ctr">
                <a:lnSpc>
                  <a:spcPts val="3952"/>
                </a:lnSpc>
                <a:spcBef>
                  <a:spcPct val="0"/>
                </a:spcBef>
              </a:pPr>
              <a:r>
                <a:rPr lang="en-US" b="true" sz="2823">
                  <a:solidFill>
                    <a:srgbClr val="000000"/>
                  </a:solidFill>
                  <a:latin typeface="Canva Sans Medium"/>
                  <a:ea typeface="Canva Sans Medium"/>
                  <a:cs typeface="Canva Sans Medium"/>
                  <a:sym typeface="Canva Sans Medium"/>
                </a:rPr>
                <a:t>An ecological phenomenon triggered by the addition or removal of top predators to a food pyramid, which then leads to reciprocal changes in the relative populations of predators and their prey. Trophic cascades can produce powerful indirect interactions that can alter the properties of entire ecosystems.</a:t>
              </a:r>
            </a:p>
          </p:txBody>
        </p:sp>
      </p:grpSp>
      <p:grpSp>
        <p:nvGrpSpPr>
          <p:cNvPr name="Group 53" id="53"/>
          <p:cNvGrpSpPr/>
          <p:nvPr/>
        </p:nvGrpSpPr>
        <p:grpSpPr>
          <a:xfrm rot="0">
            <a:off x="1028700" y="761994"/>
            <a:ext cx="7802844" cy="3282545"/>
            <a:chOff x="0" y="0"/>
            <a:chExt cx="10403792" cy="4376726"/>
          </a:xfrm>
        </p:grpSpPr>
        <p:grpSp>
          <p:nvGrpSpPr>
            <p:cNvPr name="Group 54" id="54"/>
            <p:cNvGrpSpPr/>
            <p:nvPr/>
          </p:nvGrpSpPr>
          <p:grpSpPr>
            <a:xfrm rot="0">
              <a:off x="0" y="0"/>
              <a:ext cx="10403792" cy="4376726"/>
              <a:chOff x="0" y="0"/>
              <a:chExt cx="2282086" cy="960041"/>
            </a:xfrm>
          </p:grpSpPr>
          <p:sp>
            <p:nvSpPr>
              <p:cNvPr name="Freeform 55" id="55"/>
              <p:cNvSpPr/>
              <p:nvPr/>
            </p:nvSpPr>
            <p:spPr>
              <a:xfrm flipH="false" flipV="false" rot="0">
                <a:off x="0" y="0"/>
                <a:ext cx="2282086" cy="960041"/>
              </a:xfrm>
              <a:custGeom>
                <a:avLst/>
                <a:gdLst/>
                <a:ahLst/>
                <a:cxnLst/>
                <a:rect r="r" b="b" t="t" l="l"/>
                <a:pathLst>
                  <a:path h="960041" w="2282086">
                    <a:moveTo>
                      <a:pt x="0" y="0"/>
                    </a:moveTo>
                    <a:lnTo>
                      <a:pt x="2282086" y="0"/>
                    </a:lnTo>
                    <a:lnTo>
                      <a:pt x="2282086" y="960041"/>
                    </a:lnTo>
                    <a:lnTo>
                      <a:pt x="0" y="960041"/>
                    </a:lnTo>
                    <a:close/>
                  </a:path>
                </a:pathLst>
              </a:custGeom>
              <a:solidFill>
                <a:srgbClr val="6D4A20"/>
              </a:solidFill>
              <a:ln w="28575" cap="sq">
                <a:solidFill>
                  <a:srgbClr val="000000"/>
                </a:solidFill>
                <a:prstDash val="solid"/>
                <a:miter/>
              </a:ln>
            </p:spPr>
          </p:sp>
          <p:sp>
            <p:nvSpPr>
              <p:cNvPr name="TextBox 56" id="56"/>
              <p:cNvSpPr txBox="true"/>
              <p:nvPr/>
            </p:nvSpPr>
            <p:spPr>
              <a:xfrm>
                <a:off x="0" y="-38100"/>
                <a:ext cx="2282086" cy="99814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7" id="57"/>
            <p:cNvSpPr txBox="true"/>
            <p:nvPr/>
          </p:nvSpPr>
          <p:spPr>
            <a:xfrm rot="0">
              <a:off x="613334" y="576124"/>
              <a:ext cx="9177125" cy="3434029"/>
            </a:xfrm>
            <a:prstGeom prst="rect">
              <a:avLst/>
            </a:prstGeom>
          </p:spPr>
          <p:txBody>
            <a:bodyPr anchor="t" rtlCol="false" tIns="0" lIns="0" bIns="0" rIns="0">
              <a:spAutoFit/>
            </a:bodyPr>
            <a:lstStyle/>
            <a:p>
              <a:pPr algn="ctr">
                <a:lnSpc>
                  <a:spcPts val="9640"/>
                </a:lnSpc>
              </a:pPr>
              <a:r>
                <a:rPr lang="en-US" sz="9837" b="true">
                  <a:solidFill>
                    <a:srgbClr val="FFFFFF"/>
                  </a:solidFill>
                  <a:latin typeface="Cooper BT Bold"/>
                  <a:ea typeface="Cooper BT Bold"/>
                  <a:cs typeface="Cooper BT Bold"/>
                  <a:sym typeface="Cooper BT Bold"/>
                </a:rPr>
                <a:t>Trophic Cascade</a:t>
              </a:r>
            </a:p>
          </p:txBody>
        </p:sp>
      </p:grpSp>
      <p:sp>
        <p:nvSpPr>
          <p:cNvPr name="Freeform 58" id="58" descr="A set of illustrations shows an example of trophic cascade. The first photo shows the thick green vegetation with sea otters. The second photo shows less green and more of purple kelp, when without sea otters. An illustration shows, primary produc..."/>
          <p:cNvSpPr/>
          <p:nvPr/>
        </p:nvSpPr>
        <p:spPr>
          <a:xfrm flipH="false" flipV="false" rot="0">
            <a:off x="9869737" y="761994"/>
            <a:ext cx="8120770" cy="8708279"/>
          </a:xfrm>
          <a:custGeom>
            <a:avLst/>
            <a:gdLst/>
            <a:ahLst/>
            <a:cxnLst/>
            <a:rect r="r" b="b" t="t" l="l"/>
            <a:pathLst>
              <a:path h="8708279" w="8120770">
                <a:moveTo>
                  <a:pt x="0" y="0"/>
                </a:moveTo>
                <a:lnTo>
                  <a:pt x="8120770" y="0"/>
                </a:lnTo>
                <a:lnTo>
                  <a:pt x="8120770" y="8708279"/>
                </a:lnTo>
                <a:lnTo>
                  <a:pt x="0" y="8708279"/>
                </a:lnTo>
                <a:lnTo>
                  <a:pt x="0" y="0"/>
                </a:lnTo>
                <a:close/>
              </a:path>
            </a:pathLst>
          </a:custGeom>
          <a:blipFill>
            <a:blip r:embed="rId4"/>
            <a:stretch>
              <a:fillRect l="0" t="-5495" r="-76510" b="-5493"/>
            </a:stretch>
          </a:blipFill>
          <a:ln w="38100" cap="sq">
            <a:solidFill>
              <a:srgbClr val="000000"/>
            </a:solidFill>
            <a:prstDash val="solid"/>
            <a:miter/>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a:videoFile r:link="rId3"/>
          </p:nvPr>
        </p:nvPicPr>
        <p:blipFill>
          <a:blip r:embed="rId2"/>
          <a:stretch>
            <a:fillRect/>
          </a:stretch>
        </p:blipFill>
        <p:spPr>
          <a:xfrm rot="0">
            <a:off x="1508040" y="674551"/>
            <a:ext cx="15271920" cy="8583749"/>
          </a:xfrm>
          <a:prstGeom prst="rect">
            <a:avLst/>
          </a:prstGeom>
        </p:spPr>
      </p:pic>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5347"/>
            <a:ext cx="18288000" cy="10317693"/>
            <a:chOff x="0" y="0"/>
            <a:chExt cx="1149350" cy="1149350"/>
          </a:xfrm>
        </p:grpSpPr>
        <p:sp>
          <p:nvSpPr>
            <p:cNvPr name="Freeform 3" id="3"/>
            <p:cNvSpPr/>
            <p:nvPr/>
          </p:nvSpPr>
          <p:spPr>
            <a:xfrm flipH="false" flipV="false" rot="0">
              <a:off x="0" y="0"/>
              <a:ext cx="8975125" cy="5063571"/>
            </a:xfrm>
            <a:custGeom>
              <a:avLst/>
              <a:gdLst/>
              <a:ahLst/>
              <a:cxnLst/>
              <a:rect r="r" b="b" t="t" l="l"/>
              <a:pathLst>
                <a:path h="5063571" w="8975125">
                  <a:moveTo>
                    <a:pt x="8975125" y="55951"/>
                  </a:moveTo>
                  <a:lnTo>
                    <a:pt x="8975125" y="0"/>
                  </a:lnTo>
                  <a:lnTo>
                    <a:pt x="49586" y="0"/>
                  </a:lnTo>
                  <a:lnTo>
                    <a:pt x="49586" y="27976"/>
                  </a:lnTo>
                  <a:lnTo>
                    <a:pt x="0" y="27976"/>
                  </a:lnTo>
                  <a:lnTo>
                    <a:pt x="0" y="5063571"/>
                  </a:lnTo>
                  <a:lnTo>
                    <a:pt x="99173" y="5063571"/>
                  </a:lnTo>
                  <a:lnTo>
                    <a:pt x="99173" y="4084427"/>
                  </a:lnTo>
                  <a:lnTo>
                    <a:pt x="1785108" y="4084427"/>
                  </a:lnTo>
                  <a:lnTo>
                    <a:pt x="1785108" y="5063571"/>
                  </a:lnTo>
                  <a:lnTo>
                    <a:pt x="1884280" y="5063571"/>
                  </a:lnTo>
                  <a:lnTo>
                    <a:pt x="1884280" y="4084427"/>
                  </a:lnTo>
                  <a:lnTo>
                    <a:pt x="3570215" y="4084427"/>
                  </a:lnTo>
                  <a:lnTo>
                    <a:pt x="3570215" y="5063571"/>
                  </a:lnTo>
                  <a:lnTo>
                    <a:pt x="3669388" y="5063571"/>
                  </a:lnTo>
                  <a:lnTo>
                    <a:pt x="3669388" y="4084427"/>
                  </a:lnTo>
                  <a:lnTo>
                    <a:pt x="5355323" y="4084427"/>
                  </a:lnTo>
                  <a:lnTo>
                    <a:pt x="5355323" y="5063571"/>
                  </a:lnTo>
                  <a:lnTo>
                    <a:pt x="5454496" y="5063571"/>
                  </a:lnTo>
                  <a:lnTo>
                    <a:pt x="5454496" y="4084427"/>
                  </a:lnTo>
                  <a:lnTo>
                    <a:pt x="7140431" y="4084427"/>
                  </a:lnTo>
                  <a:lnTo>
                    <a:pt x="7140431" y="5063571"/>
                  </a:lnTo>
                  <a:lnTo>
                    <a:pt x="7239603" y="5063571"/>
                  </a:lnTo>
                  <a:lnTo>
                    <a:pt x="7239603" y="4084427"/>
                  </a:lnTo>
                  <a:lnTo>
                    <a:pt x="8975125" y="4084427"/>
                  </a:lnTo>
                  <a:lnTo>
                    <a:pt x="8975125" y="4028476"/>
                  </a:lnTo>
                  <a:lnTo>
                    <a:pt x="7239603" y="4028476"/>
                  </a:lnTo>
                  <a:lnTo>
                    <a:pt x="7239603" y="3077308"/>
                  </a:lnTo>
                  <a:lnTo>
                    <a:pt x="8975125" y="3077308"/>
                  </a:lnTo>
                  <a:lnTo>
                    <a:pt x="8975125" y="3021357"/>
                  </a:lnTo>
                  <a:lnTo>
                    <a:pt x="7239603" y="3021357"/>
                  </a:lnTo>
                  <a:lnTo>
                    <a:pt x="7239603" y="2070189"/>
                  </a:lnTo>
                  <a:lnTo>
                    <a:pt x="8975125" y="2070189"/>
                  </a:lnTo>
                  <a:lnTo>
                    <a:pt x="8975125" y="2014238"/>
                  </a:lnTo>
                  <a:lnTo>
                    <a:pt x="7239603" y="2014238"/>
                  </a:lnTo>
                  <a:lnTo>
                    <a:pt x="7239603" y="1063070"/>
                  </a:lnTo>
                  <a:lnTo>
                    <a:pt x="8975125" y="1063070"/>
                  </a:lnTo>
                  <a:lnTo>
                    <a:pt x="8975125" y="1007119"/>
                  </a:lnTo>
                  <a:lnTo>
                    <a:pt x="7239603" y="1007119"/>
                  </a:lnTo>
                  <a:lnTo>
                    <a:pt x="7239603" y="55951"/>
                  </a:lnTo>
                  <a:lnTo>
                    <a:pt x="8975125" y="55951"/>
                  </a:lnTo>
                  <a:close/>
                  <a:moveTo>
                    <a:pt x="1884280" y="1007119"/>
                  </a:moveTo>
                  <a:lnTo>
                    <a:pt x="1884280" y="55951"/>
                  </a:lnTo>
                  <a:lnTo>
                    <a:pt x="3570215" y="55951"/>
                  </a:lnTo>
                  <a:lnTo>
                    <a:pt x="3570215" y="1007119"/>
                  </a:lnTo>
                  <a:lnTo>
                    <a:pt x="1884280" y="1007119"/>
                  </a:lnTo>
                  <a:close/>
                  <a:moveTo>
                    <a:pt x="3570215" y="1063070"/>
                  </a:moveTo>
                  <a:lnTo>
                    <a:pt x="3570215" y="2014238"/>
                  </a:lnTo>
                  <a:lnTo>
                    <a:pt x="1884280" y="2014238"/>
                  </a:lnTo>
                  <a:lnTo>
                    <a:pt x="1884280" y="1063070"/>
                  </a:lnTo>
                  <a:lnTo>
                    <a:pt x="3570215" y="1063070"/>
                  </a:lnTo>
                  <a:close/>
                  <a:moveTo>
                    <a:pt x="1785108" y="1007119"/>
                  </a:moveTo>
                  <a:lnTo>
                    <a:pt x="99173" y="1007119"/>
                  </a:lnTo>
                  <a:lnTo>
                    <a:pt x="99173" y="55951"/>
                  </a:lnTo>
                  <a:lnTo>
                    <a:pt x="1785108" y="55951"/>
                  </a:lnTo>
                  <a:lnTo>
                    <a:pt x="1785108" y="1007119"/>
                  </a:lnTo>
                  <a:close/>
                  <a:moveTo>
                    <a:pt x="1785108" y="1063070"/>
                  </a:moveTo>
                  <a:lnTo>
                    <a:pt x="1785108" y="2014238"/>
                  </a:lnTo>
                  <a:lnTo>
                    <a:pt x="99173" y="2014238"/>
                  </a:lnTo>
                  <a:lnTo>
                    <a:pt x="99173" y="1063070"/>
                  </a:lnTo>
                  <a:lnTo>
                    <a:pt x="1785108" y="1063070"/>
                  </a:lnTo>
                  <a:close/>
                  <a:moveTo>
                    <a:pt x="1785108" y="2070189"/>
                  </a:moveTo>
                  <a:lnTo>
                    <a:pt x="1785108" y="3021357"/>
                  </a:lnTo>
                  <a:lnTo>
                    <a:pt x="99173" y="3021357"/>
                  </a:lnTo>
                  <a:lnTo>
                    <a:pt x="99173" y="2070189"/>
                  </a:lnTo>
                  <a:lnTo>
                    <a:pt x="1785108" y="2070189"/>
                  </a:lnTo>
                  <a:close/>
                  <a:moveTo>
                    <a:pt x="1884280" y="2070189"/>
                  </a:moveTo>
                  <a:lnTo>
                    <a:pt x="3570215" y="2070189"/>
                  </a:lnTo>
                  <a:lnTo>
                    <a:pt x="3570215" y="3021357"/>
                  </a:lnTo>
                  <a:lnTo>
                    <a:pt x="1884280" y="3021357"/>
                  </a:lnTo>
                  <a:lnTo>
                    <a:pt x="1884280" y="2070189"/>
                  </a:lnTo>
                  <a:close/>
                  <a:moveTo>
                    <a:pt x="3669388" y="2070189"/>
                  </a:moveTo>
                  <a:lnTo>
                    <a:pt x="5355323" y="2070189"/>
                  </a:lnTo>
                  <a:lnTo>
                    <a:pt x="5355323" y="3021357"/>
                  </a:lnTo>
                  <a:lnTo>
                    <a:pt x="3669388" y="3021357"/>
                  </a:lnTo>
                  <a:lnTo>
                    <a:pt x="3669388" y="2070189"/>
                  </a:lnTo>
                  <a:close/>
                  <a:moveTo>
                    <a:pt x="3669388" y="2014238"/>
                  </a:moveTo>
                  <a:lnTo>
                    <a:pt x="3669388" y="1063070"/>
                  </a:lnTo>
                  <a:lnTo>
                    <a:pt x="5355323" y="1063070"/>
                  </a:lnTo>
                  <a:lnTo>
                    <a:pt x="5355323" y="2014238"/>
                  </a:lnTo>
                  <a:lnTo>
                    <a:pt x="3669388" y="2014238"/>
                  </a:lnTo>
                  <a:close/>
                  <a:moveTo>
                    <a:pt x="3669388" y="1007119"/>
                  </a:moveTo>
                  <a:lnTo>
                    <a:pt x="3669388" y="55951"/>
                  </a:lnTo>
                  <a:lnTo>
                    <a:pt x="5355323" y="55951"/>
                  </a:lnTo>
                  <a:lnTo>
                    <a:pt x="5355323" y="1007119"/>
                  </a:lnTo>
                  <a:lnTo>
                    <a:pt x="3669388" y="1007119"/>
                  </a:lnTo>
                  <a:close/>
                  <a:moveTo>
                    <a:pt x="99173" y="4028476"/>
                  </a:moveTo>
                  <a:lnTo>
                    <a:pt x="99173" y="3077308"/>
                  </a:lnTo>
                  <a:lnTo>
                    <a:pt x="1785108" y="3077308"/>
                  </a:lnTo>
                  <a:lnTo>
                    <a:pt x="1785108" y="4028476"/>
                  </a:lnTo>
                  <a:lnTo>
                    <a:pt x="99173" y="4028476"/>
                  </a:lnTo>
                  <a:close/>
                  <a:moveTo>
                    <a:pt x="1884280" y="4028476"/>
                  </a:moveTo>
                  <a:lnTo>
                    <a:pt x="1884280" y="3077308"/>
                  </a:lnTo>
                  <a:lnTo>
                    <a:pt x="3570215" y="3077308"/>
                  </a:lnTo>
                  <a:lnTo>
                    <a:pt x="3570215" y="4028476"/>
                  </a:lnTo>
                  <a:lnTo>
                    <a:pt x="1884280" y="4028476"/>
                  </a:lnTo>
                  <a:close/>
                  <a:moveTo>
                    <a:pt x="3669388" y="4028476"/>
                  </a:moveTo>
                  <a:lnTo>
                    <a:pt x="3669388" y="3077308"/>
                  </a:lnTo>
                  <a:lnTo>
                    <a:pt x="5355323" y="3077308"/>
                  </a:lnTo>
                  <a:lnTo>
                    <a:pt x="5355323" y="4028476"/>
                  </a:lnTo>
                  <a:lnTo>
                    <a:pt x="3669388" y="4028476"/>
                  </a:lnTo>
                  <a:close/>
                  <a:moveTo>
                    <a:pt x="7140431" y="4028476"/>
                  </a:moveTo>
                  <a:lnTo>
                    <a:pt x="5454496" y="4028476"/>
                  </a:lnTo>
                  <a:lnTo>
                    <a:pt x="5454496" y="3077308"/>
                  </a:lnTo>
                  <a:lnTo>
                    <a:pt x="7140431" y="3077308"/>
                  </a:lnTo>
                  <a:lnTo>
                    <a:pt x="7140431" y="4028476"/>
                  </a:lnTo>
                  <a:close/>
                  <a:moveTo>
                    <a:pt x="7140431" y="3021357"/>
                  </a:moveTo>
                  <a:lnTo>
                    <a:pt x="5454496" y="3021357"/>
                  </a:lnTo>
                  <a:lnTo>
                    <a:pt x="5454496" y="2070189"/>
                  </a:lnTo>
                  <a:lnTo>
                    <a:pt x="7140431" y="2070189"/>
                  </a:lnTo>
                  <a:lnTo>
                    <a:pt x="7140431" y="3021357"/>
                  </a:lnTo>
                  <a:close/>
                  <a:moveTo>
                    <a:pt x="7140431" y="2014238"/>
                  </a:moveTo>
                  <a:lnTo>
                    <a:pt x="5454496" y="2014238"/>
                  </a:lnTo>
                  <a:lnTo>
                    <a:pt x="5454496" y="1063070"/>
                  </a:lnTo>
                  <a:lnTo>
                    <a:pt x="7140431" y="1063070"/>
                  </a:lnTo>
                  <a:lnTo>
                    <a:pt x="7140431" y="2014238"/>
                  </a:lnTo>
                  <a:close/>
                  <a:moveTo>
                    <a:pt x="7140431" y="1007119"/>
                  </a:moveTo>
                  <a:lnTo>
                    <a:pt x="5454496" y="1007119"/>
                  </a:lnTo>
                  <a:lnTo>
                    <a:pt x="5454496" y="55951"/>
                  </a:lnTo>
                  <a:lnTo>
                    <a:pt x="7140431" y="55951"/>
                  </a:lnTo>
                  <a:lnTo>
                    <a:pt x="7140431" y="1007119"/>
                  </a:lnTo>
                  <a:close/>
                </a:path>
              </a:pathLst>
            </a:custGeom>
            <a:solidFill>
              <a:srgbClr val="000000">
                <a:alpha val="18824"/>
              </a:srgbClr>
            </a:solidFill>
          </p:spPr>
        </p:sp>
      </p:grpSp>
      <p:grpSp>
        <p:nvGrpSpPr>
          <p:cNvPr name="Group 4" id="4"/>
          <p:cNvGrpSpPr/>
          <p:nvPr/>
        </p:nvGrpSpPr>
        <p:grpSpPr>
          <a:xfrm rot="0">
            <a:off x="1028700" y="1681923"/>
            <a:ext cx="8260045" cy="2697806"/>
            <a:chOff x="0" y="0"/>
            <a:chExt cx="11013394" cy="3597075"/>
          </a:xfrm>
        </p:grpSpPr>
        <p:grpSp>
          <p:nvGrpSpPr>
            <p:cNvPr name="Group 5" id="5"/>
            <p:cNvGrpSpPr/>
            <p:nvPr/>
          </p:nvGrpSpPr>
          <p:grpSpPr>
            <a:xfrm rot="0">
              <a:off x="0" y="0"/>
              <a:ext cx="11013394" cy="3597075"/>
              <a:chOff x="0" y="0"/>
              <a:chExt cx="3002085" cy="980508"/>
            </a:xfrm>
          </p:grpSpPr>
          <p:sp>
            <p:nvSpPr>
              <p:cNvPr name="Freeform 6" id="6"/>
              <p:cNvSpPr/>
              <p:nvPr/>
            </p:nvSpPr>
            <p:spPr>
              <a:xfrm flipH="false" flipV="false" rot="0">
                <a:off x="0" y="0"/>
                <a:ext cx="3002085" cy="980508"/>
              </a:xfrm>
              <a:custGeom>
                <a:avLst/>
                <a:gdLst/>
                <a:ahLst/>
                <a:cxnLst/>
                <a:rect r="r" b="b" t="t" l="l"/>
                <a:pathLst>
                  <a:path h="980508" w="3002085">
                    <a:moveTo>
                      <a:pt x="47801" y="0"/>
                    </a:moveTo>
                    <a:lnTo>
                      <a:pt x="2954284" y="0"/>
                    </a:lnTo>
                    <a:cubicBezTo>
                      <a:pt x="2980684" y="0"/>
                      <a:pt x="3002085" y="21401"/>
                      <a:pt x="3002085" y="47801"/>
                    </a:cubicBezTo>
                    <a:lnTo>
                      <a:pt x="3002085" y="932708"/>
                    </a:lnTo>
                    <a:cubicBezTo>
                      <a:pt x="3002085" y="945385"/>
                      <a:pt x="2997049" y="957543"/>
                      <a:pt x="2988085" y="966508"/>
                    </a:cubicBezTo>
                    <a:cubicBezTo>
                      <a:pt x="2979120" y="975472"/>
                      <a:pt x="2966962" y="980508"/>
                      <a:pt x="2954284" y="980508"/>
                    </a:cubicBezTo>
                    <a:lnTo>
                      <a:pt x="47801" y="980508"/>
                    </a:lnTo>
                    <a:cubicBezTo>
                      <a:pt x="21401" y="980508"/>
                      <a:pt x="0" y="959107"/>
                      <a:pt x="0" y="932708"/>
                    </a:cubicBezTo>
                    <a:lnTo>
                      <a:pt x="0" y="47801"/>
                    </a:lnTo>
                    <a:cubicBezTo>
                      <a:pt x="0" y="21401"/>
                      <a:pt x="21401" y="0"/>
                      <a:pt x="47801" y="0"/>
                    </a:cubicBezTo>
                    <a:close/>
                  </a:path>
                </a:pathLst>
              </a:custGeom>
              <a:solidFill>
                <a:srgbClr val="DCE1CE"/>
              </a:solidFill>
              <a:ln w="38100" cap="rnd">
                <a:solidFill>
                  <a:srgbClr val="000000"/>
                </a:solidFill>
                <a:prstDash val="solid"/>
                <a:round/>
              </a:ln>
            </p:spPr>
          </p:sp>
          <p:sp>
            <p:nvSpPr>
              <p:cNvPr name="TextBox 7" id="7"/>
              <p:cNvSpPr txBox="true"/>
              <p:nvPr/>
            </p:nvSpPr>
            <p:spPr>
              <a:xfrm>
                <a:off x="0" y="-133350"/>
                <a:ext cx="3002085" cy="1113858"/>
              </a:xfrm>
              <a:prstGeom prst="rect">
                <a:avLst/>
              </a:prstGeom>
            </p:spPr>
            <p:txBody>
              <a:bodyPr anchor="ctr" rtlCol="false" tIns="50800" lIns="50800" bIns="50800" rIns="50800"/>
              <a:lstStyle/>
              <a:p>
                <a:pPr algn="l">
                  <a:lnSpc>
                    <a:spcPts val="4200"/>
                  </a:lnSpc>
                  <a:spcBef>
                    <a:spcPct val="0"/>
                  </a:spcBef>
                </a:pPr>
              </a:p>
            </p:txBody>
          </p:sp>
        </p:grpSp>
        <p:sp>
          <p:nvSpPr>
            <p:cNvPr name="TextBox 8" id="8"/>
            <p:cNvSpPr txBox="true"/>
            <p:nvPr/>
          </p:nvSpPr>
          <p:spPr>
            <a:xfrm rot="0">
              <a:off x="500051" y="1021239"/>
              <a:ext cx="10013291" cy="2073487"/>
            </a:xfrm>
            <a:prstGeom prst="rect">
              <a:avLst/>
            </a:prstGeom>
          </p:spPr>
          <p:txBody>
            <a:bodyPr anchor="t" rtlCol="false" tIns="0" lIns="0" bIns="0" rIns="0">
              <a:spAutoFit/>
            </a:bodyPr>
            <a:lstStyle/>
            <a:p>
              <a:pPr algn="ctr">
                <a:lnSpc>
                  <a:spcPts val="4059"/>
                </a:lnSpc>
              </a:pPr>
              <a:r>
                <a:rPr lang="en-US" sz="2899">
                  <a:solidFill>
                    <a:srgbClr val="000000"/>
                  </a:solidFill>
                  <a:latin typeface="Futura"/>
                  <a:ea typeface="Futura"/>
                  <a:cs typeface="Futura"/>
                  <a:sym typeface="Futura"/>
                </a:rPr>
                <a:t>Food webs depict feeding relationships between species that occupy different trophic levels in a community</a:t>
              </a:r>
            </a:p>
          </p:txBody>
        </p:sp>
      </p:grpSp>
      <p:grpSp>
        <p:nvGrpSpPr>
          <p:cNvPr name="Group 9" id="9"/>
          <p:cNvGrpSpPr/>
          <p:nvPr/>
        </p:nvGrpSpPr>
        <p:grpSpPr>
          <a:xfrm rot="0">
            <a:off x="2367375" y="1028700"/>
            <a:ext cx="5582695" cy="1306447"/>
            <a:chOff x="0" y="0"/>
            <a:chExt cx="7443593" cy="1741929"/>
          </a:xfrm>
        </p:grpSpPr>
        <p:grpSp>
          <p:nvGrpSpPr>
            <p:cNvPr name="Group 10" id="10"/>
            <p:cNvGrpSpPr/>
            <p:nvPr/>
          </p:nvGrpSpPr>
          <p:grpSpPr>
            <a:xfrm rot="0">
              <a:off x="0" y="0"/>
              <a:ext cx="7443593" cy="1741929"/>
              <a:chOff x="0" y="0"/>
              <a:chExt cx="1470339" cy="344085"/>
            </a:xfrm>
          </p:grpSpPr>
          <p:sp>
            <p:nvSpPr>
              <p:cNvPr name="Freeform 11" id="11"/>
              <p:cNvSpPr/>
              <p:nvPr/>
            </p:nvSpPr>
            <p:spPr>
              <a:xfrm flipH="false" flipV="false" rot="0">
                <a:off x="0" y="0"/>
                <a:ext cx="1470339" cy="344085"/>
              </a:xfrm>
              <a:custGeom>
                <a:avLst/>
                <a:gdLst/>
                <a:ahLst/>
                <a:cxnLst/>
                <a:rect r="r" b="b" t="t" l="l"/>
                <a:pathLst>
                  <a:path h="344085" w="1470339">
                    <a:moveTo>
                      <a:pt x="70725" y="0"/>
                    </a:moveTo>
                    <a:lnTo>
                      <a:pt x="1399614" y="0"/>
                    </a:lnTo>
                    <a:cubicBezTo>
                      <a:pt x="1418372" y="0"/>
                      <a:pt x="1436361" y="7451"/>
                      <a:pt x="1449624" y="20715"/>
                    </a:cubicBezTo>
                    <a:cubicBezTo>
                      <a:pt x="1462888" y="33979"/>
                      <a:pt x="1470339" y="51968"/>
                      <a:pt x="1470339" y="70725"/>
                    </a:cubicBezTo>
                    <a:lnTo>
                      <a:pt x="1470339" y="273359"/>
                    </a:lnTo>
                    <a:cubicBezTo>
                      <a:pt x="1470339" y="312420"/>
                      <a:pt x="1438674" y="344085"/>
                      <a:pt x="1399614" y="344085"/>
                    </a:cubicBezTo>
                    <a:lnTo>
                      <a:pt x="70725" y="344085"/>
                    </a:lnTo>
                    <a:cubicBezTo>
                      <a:pt x="31665" y="344085"/>
                      <a:pt x="0" y="312420"/>
                      <a:pt x="0" y="273359"/>
                    </a:cubicBezTo>
                    <a:lnTo>
                      <a:pt x="0" y="70725"/>
                    </a:lnTo>
                    <a:cubicBezTo>
                      <a:pt x="0" y="31665"/>
                      <a:pt x="31665" y="0"/>
                      <a:pt x="70725" y="0"/>
                    </a:cubicBezTo>
                    <a:close/>
                  </a:path>
                </a:pathLst>
              </a:custGeom>
              <a:solidFill>
                <a:srgbClr val="CF9D32"/>
              </a:solidFill>
              <a:ln w="38100" cap="rnd">
                <a:solidFill>
                  <a:srgbClr val="000000"/>
                </a:solidFill>
                <a:prstDash val="solid"/>
                <a:round/>
              </a:ln>
            </p:spPr>
          </p:sp>
          <p:sp>
            <p:nvSpPr>
              <p:cNvPr name="TextBox 12" id="12"/>
              <p:cNvSpPr txBox="true"/>
              <p:nvPr/>
            </p:nvSpPr>
            <p:spPr>
              <a:xfrm>
                <a:off x="0" y="-38100"/>
                <a:ext cx="1470339" cy="382185"/>
              </a:xfrm>
              <a:prstGeom prst="rect">
                <a:avLst/>
              </a:prstGeom>
            </p:spPr>
            <p:txBody>
              <a:bodyPr anchor="ctr" rtlCol="false" tIns="50800" lIns="50800" bIns="50800" rIns="50800"/>
              <a:lstStyle/>
              <a:p>
                <a:pPr algn="ctr">
                  <a:lnSpc>
                    <a:spcPts val="2799"/>
                  </a:lnSpc>
                  <a:spcBef>
                    <a:spcPct val="0"/>
                  </a:spcBef>
                </a:pPr>
              </a:p>
            </p:txBody>
          </p:sp>
        </p:grpSp>
        <p:sp>
          <p:nvSpPr>
            <p:cNvPr name="TextBox 13" id="13"/>
            <p:cNvSpPr txBox="true"/>
            <p:nvPr/>
          </p:nvSpPr>
          <p:spPr>
            <a:xfrm rot="0">
              <a:off x="187841" y="183344"/>
              <a:ext cx="7067911" cy="1365716"/>
            </a:xfrm>
            <a:prstGeom prst="rect">
              <a:avLst/>
            </a:prstGeom>
          </p:spPr>
          <p:txBody>
            <a:bodyPr anchor="t" rtlCol="false" tIns="0" lIns="0" bIns="0" rIns="0">
              <a:spAutoFit/>
            </a:bodyPr>
            <a:lstStyle/>
            <a:p>
              <a:pPr algn="ctr">
                <a:lnSpc>
                  <a:spcPts val="7905"/>
                </a:lnSpc>
              </a:pPr>
              <a:r>
                <a:rPr lang="en-US" sz="6699">
                  <a:solidFill>
                    <a:srgbClr val="000000"/>
                  </a:solidFill>
                  <a:latin typeface="Lilita One"/>
                  <a:ea typeface="Lilita One"/>
                  <a:cs typeface="Lilita One"/>
                  <a:sym typeface="Lilita One"/>
                </a:rPr>
                <a:t>Food webs</a:t>
              </a:r>
            </a:p>
          </p:txBody>
        </p:sp>
      </p:grpSp>
      <p:grpSp>
        <p:nvGrpSpPr>
          <p:cNvPr name="Group 14" id="14"/>
          <p:cNvGrpSpPr/>
          <p:nvPr/>
        </p:nvGrpSpPr>
        <p:grpSpPr>
          <a:xfrm rot="0">
            <a:off x="11113068" y="7376845"/>
            <a:ext cx="1881455" cy="1881455"/>
            <a:chOff x="0" y="0"/>
            <a:chExt cx="2508607" cy="2508607"/>
          </a:xfrm>
        </p:grpSpPr>
        <p:grpSp>
          <p:nvGrpSpPr>
            <p:cNvPr name="Group 15" id="15"/>
            <p:cNvGrpSpPr/>
            <p:nvPr/>
          </p:nvGrpSpPr>
          <p:grpSpPr>
            <a:xfrm rot="0">
              <a:off x="0" y="0"/>
              <a:ext cx="2508607" cy="250860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CCF91"/>
              </a:solidFill>
              <a:ln cap="sq">
                <a:no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sp>
          <p:nvSpPr>
            <p:cNvPr name="Freeform 18" id="18"/>
            <p:cNvSpPr/>
            <p:nvPr/>
          </p:nvSpPr>
          <p:spPr>
            <a:xfrm flipH="true" flipV="false" rot="0">
              <a:off x="439091" y="713517"/>
              <a:ext cx="1630425" cy="1045510"/>
            </a:xfrm>
            <a:custGeom>
              <a:avLst/>
              <a:gdLst/>
              <a:ahLst/>
              <a:cxnLst/>
              <a:rect r="r" b="b" t="t" l="l"/>
              <a:pathLst>
                <a:path h="1045510" w="1630425">
                  <a:moveTo>
                    <a:pt x="1630425" y="0"/>
                  </a:moveTo>
                  <a:lnTo>
                    <a:pt x="0" y="0"/>
                  </a:lnTo>
                  <a:lnTo>
                    <a:pt x="0" y="1045510"/>
                  </a:lnTo>
                  <a:lnTo>
                    <a:pt x="1630425" y="1045510"/>
                  </a:lnTo>
                  <a:lnTo>
                    <a:pt x="1630425" y="0"/>
                  </a:lnTo>
                  <a:close/>
                </a:path>
              </a:pathLst>
            </a:custGeom>
            <a:blipFill>
              <a:blip r:embed="rId2"/>
              <a:stretch>
                <a:fillRect l="0" t="0" r="0" b="0"/>
              </a:stretch>
            </a:blipFill>
          </p:spPr>
        </p:sp>
      </p:grpSp>
      <p:grpSp>
        <p:nvGrpSpPr>
          <p:cNvPr name="Group 19" id="19"/>
          <p:cNvGrpSpPr/>
          <p:nvPr/>
        </p:nvGrpSpPr>
        <p:grpSpPr>
          <a:xfrm rot="0">
            <a:off x="6848291" y="7373987"/>
            <a:ext cx="1881455" cy="1881455"/>
            <a:chOff x="0" y="0"/>
            <a:chExt cx="2508607" cy="2508607"/>
          </a:xfrm>
        </p:grpSpPr>
        <p:grpSp>
          <p:nvGrpSpPr>
            <p:cNvPr name="Group 20" id="20"/>
            <p:cNvGrpSpPr/>
            <p:nvPr/>
          </p:nvGrpSpPr>
          <p:grpSpPr>
            <a:xfrm rot="0">
              <a:off x="0" y="0"/>
              <a:ext cx="2508607" cy="2508607"/>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CCF91"/>
              </a:solidFill>
              <a:ln cap="sq">
                <a:noFill/>
                <a:prstDash val="solid"/>
                <a:miter/>
              </a:ln>
            </p:spPr>
          </p:sp>
          <p:sp>
            <p:nvSpPr>
              <p:cNvPr name="TextBox 22" id="22"/>
              <p:cNvSpPr txBox="true"/>
              <p:nvPr/>
            </p:nvSpPr>
            <p:spPr>
              <a:xfrm>
                <a:off x="76200" y="38100"/>
                <a:ext cx="660400" cy="698500"/>
              </a:xfrm>
              <a:prstGeom prst="rect">
                <a:avLst/>
              </a:prstGeom>
            </p:spPr>
            <p:txBody>
              <a:bodyPr anchor="ctr" rtlCol="false" tIns="39020" lIns="39020" bIns="39020" rIns="39020"/>
              <a:lstStyle/>
              <a:p>
                <a:pPr algn="ctr">
                  <a:lnSpc>
                    <a:spcPts val="2799"/>
                  </a:lnSpc>
                </a:pPr>
              </a:p>
            </p:txBody>
          </p:sp>
        </p:grpSp>
        <p:sp>
          <p:nvSpPr>
            <p:cNvPr name="Freeform 23" id="23"/>
            <p:cNvSpPr/>
            <p:nvPr/>
          </p:nvSpPr>
          <p:spPr>
            <a:xfrm flipH="false" flipV="false" rot="0">
              <a:off x="485271" y="578749"/>
              <a:ext cx="1538065" cy="1315046"/>
            </a:xfrm>
            <a:custGeom>
              <a:avLst/>
              <a:gdLst/>
              <a:ahLst/>
              <a:cxnLst/>
              <a:rect r="r" b="b" t="t" l="l"/>
              <a:pathLst>
                <a:path h="1315046" w="1538065">
                  <a:moveTo>
                    <a:pt x="0" y="0"/>
                  </a:moveTo>
                  <a:lnTo>
                    <a:pt x="1538065" y="0"/>
                  </a:lnTo>
                  <a:lnTo>
                    <a:pt x="1538065" y="1315046"/>
                  </a:lnTo>
                  <a:lnTo>
                    <a:pt x="0" y="1315046"/>
                  </a:lnTo>
                  <a:lnTo>
                    <a:pt x="0" y="0"/>
                  </a:lnTo>
                  <a:close/>
                </a:path>
              </a:pathLst>
            </a:custGeom>
            <a:blipFill>
              <a:blip r:embed="rId3"/>
              <a:stretch>
                <a:fillRect l="0" t="0" r="0" b="0"/>
              </a:stretch>
            </a:blipFill>
          </p:spPr>
        </p:sp>
      </p:grpSp>
      <p:grpSp>
        <p:nvGrpSpPr>
          <p:cNvPr name="Group 24" id="24"/>
          <p:cNvGrpSpPr/>
          <p:nvPr/>
        </p:nvGrpSpPr>
        <p:grpSpPr>
          <a:xfrm rot="0">
            <a:off x="15377845" y="7376845"/>
            <a:ext cx="1881455" cy="1881455"/>
            <a:chOff x="0" y="0"/>
            <a:chExt cx="2508607" cy="2508607"/>
          </a:xfrm>
        </p:grpSpPr>
        <p:grpSp>
          <p:nvGrpSpPr>
            <p:cNvPr name="Group 25" id="25"/>
            <p:cNvGrpSpPr/>
            <p:nvPr/>
          </p:nvGrpSpPr>
          <p:grpSpPr>
            <a:xfrm rot="0">
              <a:off x="0" y="0"/>
              <a:ext cx="2508607" cy="2508607"/>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CCF91"/>
              </a:solidFill>
              <a:ln cap="sq">
                <a:noFill/>
                <a:prstDash val="solid"/>
                <a:miter/>
              </a:ln>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sp>
          <p:nvSpPr>
            <p:cNvPr name="Freeform 28" id="28"/>
            <p:cNvSpPr/>
            <p:nvPr/>
          </p:nvSpPr>
          <p:spPr>
            <a:xfrm flipH="false" flipV="false" rot="0">
              <a:off x="210624" y="611478"/>
              <a:ext cx="2087358" cy="1200231"/>
            </a:xfrm>
            <a:custGeom>
              <a:avLst/>
              <a:gdLst/>
              <a:ahLst/>
              <a:cxnLst/>
              <a:rect r="r" b="b" t="t" l="l"/>
              <a:pathLst>
                <a:path h="1200231" w="2087358">
                  <a:moveTo>
                    <a:pt x="0" y="0"/>
                  </a:moveTo>
                  <a:lnTo>
                    <a:pt x="2087359" y="0"/>
                  </a:lnTo>
                  <a:lnTo>
                    <a:pt x="2087359" y="1200231"/>
                  </a:lnTo>
                  <a:lnTo>
                    <a:pt x="0" y="1200231"/>
                  </a:lnTo>
                  <a:lnTo>
                    <a:pt x="0" y="0"/>
                  </a:lnTo>
                  <a:close/>
                </a:path>
              </a:pathLst>
            </a:custGeom>
            <a:blipFill>
              <a:blip r:embed="rId4"/>
              <a:stretch>
                <a:fillRect l="0" t="0" r="0" b="0"/>
              </a:stretch>
            </a:blipFill>
          </p:spPr>
        </p:sp>
      </p:grpSp>
      <p:grpSp>
        <p:nvGrpSpPr>
          <p:cNvPr name="Group 29" id="29"/>
          <p:cNvGrpSpPr/>
          <p:nvPr/>
        </p:nvGrpSpPr>
        <p:grpSpPr>
          <a:xfrm rot="0">
            <a:off x="4396575" y="4693514"/>
            <a:ext cx="1881455" cy="1881455"/>
            <a:chOff x="0" y="0"/>
            <a:chExt cx="2508607" cy="2508607"/>
          </a:xfrm>
        </p:grpSpPr>
        <p:grpSp>
          <p:nvGrpSpPr>
            <p:cNvPr name="Group 30" id="30"/>
            <p:cNvGrpSpPr/>
            <p:nvPr/>
          </p:nvGrpSpPr>
          <p:grpSpPr>
            <a:xfrm rot="0">
              <a:off x="0" y="0"/>
              <a:ext cx="2508607" cy="2508607"/>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CCF91"/>
              </a:solidFill>
              <a:ln cap="sq">
                <a:noFill/>
                <a:prstDash val="solid"/>
                <a:miter/>
              </a:ln>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sp>
          <p:nvSpPr>
            <p:cNvPr name="Freeform 33" id="33"/>
            <p:cNvSpPr/>
            <p:nvPr/>
          </p:nvSpPr>
          <p:spPr>
            <a:xfrm flipH="false" flipV="false" rot="0">
              <a:off x="541086" y="384237"/>
              <a:ext cx="1426434" cy="1618649"/>
            </a:xfrm>
            <a:custGeom>
              <a:avLst/>
              <a:gdLst/>
              <a:ahLst/>
              <a:cxnLst/>
              <a:rect r="r" b="b" t="t" l="l"/>
              <a:pathLst>
                <a:path h="1618649" w="1426434">
                  <a:moveTo>
                    <a:pt x="0" y="0"/>
                  </a:moveTo>
                  <a:lnTo>
                    <a:pt x="1426435" y="0"/>
                  </a:lnTo>
                  <a:lnTo>
                    <a:pt x="1426435" y="1618649"/>
                  </a:lnTo>
                  <a:lnTo>
                    <a:pt x="0" y="1618649"/>
                  </a:lnTo>
                  <a:lnTo>
                    <a:pt x="0" y="0"/>
                  </a:lnTo>
                  <a:close/>
                </a:path>
              </a:pathLst>
            </a:custGeom>
            <a:blipFill>
              <a:blip r:embed="rId5"/>
              <a:stretch>
                <a:fillRect l="0" t="0" r="0" b="0"/>
              </a:stretch>
            </a:blipFill>
          </p:spPr>
        </p:sp>
      </p:grpSp>
      <p:grpSp>
        <p:nvGrpSpPr>
          <p:cNvPr name="Group 34" id="34"/>
          <p:cNvGrpSpPr/>
          <p:nvPr/>
        </p:nvGrpSpPr>
        <p:grpSpPr>
          <a:xfrm rot="0">
            <a:off x="11113068" y="4379640"/>
            <a:ext cx="1881455" cy="1881455"/>
            <a:chOff x="0" y="0"/>
            <a:chExt cx="2508607" cy="2508607"/>
          </a:xfrm>
        </p:grpSpPr>
        <p:grpSp>
          <p:nvGrpSpPr>
            <p:cNvPr name="Group 35" id="35"/>
            <p:cNvGrpSpPr/>
            <p:nvPr/>
          </p:nvGrpSpPr>
          <p:grpSpPr>
            <a:xfrm rot="0">
              <a:off x="0" y="0"/>
              <a:ext cx="2508607" cy="2508607"/>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CCF91"/>
              </a:solidFill>
              <a:ln cap="sq">
                <a:noFill/>
                <a:prstDash val="solid"/>
                <a:miter/>
              </a:ln>
            </p:spPr>
          </p:sp>
          <p:sp>
            <p:nvSpPr>
              <p:cNvPr name="TextBox 37" id="37"/>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sp>
          <p:nvSpPr>
            <p:cNvPr name="Freeform 38" id="38"/>
            <p:cNvSpPr/>
            <p:nvPr/>
          </p:nvSpPr>
          <p:spPr>
            <a:xfrm flipH="false" flipV="false" rot="0">
              <a:off x="427318" y="486240"/>
              <a:ext cx="1653972" cy="1536127"/>
            </a:xfrm>
            <a:custGeom>
              <a:avLst/>
              <a:gdLst/>
              <a:ahLst/>
              <a:cxnLst/>
              <a:rect r="r" b="b" t="t" l="l"/>
              <a:pathLst>
                <a:path h="1536127" w="1653972">
                  <a:moveTo>
                    <a:pt x="0" y="0"/>
                  </a:moveTo>
                  <a:lnTo>
                    <a:pt x="1653972" y="0"/>
                  </a:lnTo>
                  <a:lnTo>
                    <a:pt x="1653972" y="1536127"/>
                  </a:lnTo>
                  <a:lnTo>
                    <a:pt x="0" y="1536127"/>
                  </a:lnTo>
                  <a:lnTo>
                    <a:pt x="0" y="0"/>
                  </a:lnTo>
                  <a:close/>
                </a:path>
              </a:pathLst>
            </a:custGeom>
            <a:blipFill>
              <a:blip r:embed="rId6"/>
              <a:stretch>
                <a:fillRect l="0" t="0" r="0" b="0"/>
              </a:stretch>
            </a:blipFill>
          </p:spPr>
        </p:sp>
      </p:grpSp>
      <p:grpSp>
        <p:nvGrpSpPr>
          <p:cNvPr name="Group 39" id="39"/>
          <p:cNvGrpSpPr/>
          <p:nvPr/>
        </p:nvGrpSpPr>
        <p:grpSpPr>
          <a:xfrm rot="0">
            <a:off x="11113068" y="1681923"/>
            <a:ext cx="1881455" cy="1881455"/>
            <a:chOff x="0" y="0"/>
            <a:chExt cx="2508607" cy="2508607"/>
          </a:xfrm>
        </p:grpSpPr>
        <p:grpSp>
          <p:nvGrpSpPr>
            <p:cNvPr name="Group 40" id="40"/>
            <p:cNvGrpSpPr/>
            <p:nvPr/>
          </p:nvGrpSpPr>
          <p:grpSpPr>
            <a:xfrm rot="0">
              <a:off x="0" y="0"/>
              <a:ext cx="2508607" cy="2508607"/>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CCF91"/>
              </a:solidFill>
              <a:ln cap="sq">
                <a:noFill/>
                <a:prstDash val="solid"/>
                <a:miter/>
              </a:ln>
            </p:spPr>
          </p:sp>
          <p:sp>
            <p:nvSpPr>
              <p:cNvPr name="TextBox 42" id="42"/>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sp>
          <p:nvSpPr>
            <p:cNvPr name="Freeform 43" id="43"/>
            <p:cNvSpPr/>
            <p:nvPr/>
          </p:nvSpPr>
          <p:spPr>
            <a:xfrm flipH="false" flipV="false" rot="0">
              <a:off x="603490" y="407717"/>
              <a:ext cx="1301627" cy="1693173"/>
            </a:xfrm>
            <a:custGeom>
              <a:avLst/>
              <a:gdLst/>
              <a:ahLst/>
              <a:cxnLst/>
              <a:rect r="r" b="b" t="t" l="l"/>
              <a:pathLst>
                <a:path h="1693173" w="1301627">
                  <a:moveTo>
                    <a:pt x="0" y="0"/>
                  </a:moveTo>
                  <a:lnTo>
                    <a:pt x="1301627" y="0"/>
                  </a:lnTo>
                  <a:lnTo>
                    <a:pt x="1301627" y="1693173"/>
                  </a:lnTo>
                  <a:lnTo>
                    <a:pt x="0" y="1693173"/>
                  </a:lnTo>
                  <a:lnTo>
                    <a:pt x="0" y="0"/>
                  </a:lnTo>
                  <a:close/>
                </a:path>
              </a:pathLst>
            </a:custGeom>
            <a:blipFill>
              <a:blip r:embed="rId7"/>
              <a:stretch>
                <a:fillRect l="0" t="0" r="0" b="0"/>
              </a:stretch>
            </a:blipFill>
          </p:spPr>
        </p:sp>
      </p:grpSp>
      <p:grpSp>
        <p:nvGrpSpPr>
          <p:cNvPr name="Group 44" id="44"/>
          <p:cNvGrpSpPr/>
          <p:nvPr/>
        </p:nvGrpSpPr>
        <p:grpSpPr>
          <a:xfrm rot="0">
            <a:off x="15377845" y="3227639"/>
            <a:ext cx="1881455" cy="1881455"/>
            <a:chOff x="0" y="0"/>
            <a:chExt cx="2508607" cy="2508607"/>
          </a:xfrm>
        </p:grpSpPr>
        <p:grpSp>
          <p:nvGrpSpPr>
            <p:cNvPr name="Group 45" id="45"/>
            <p:cNvGrpSpPr/>
            <p:nvPr/>
          </p:nvGrpSpPr>
          <p:grpSpPr>
            <a:xfrm rot="0">
              <a:off x="0" y="0"/>
              <a:ext cx="2508607" cy="2508607"/>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CCF91"/>
              </a:solidFill>
              <a:ln cap="sq">
                <a:noFill/>
                <a:prstDash val="solid"/>
                <a:miter/>
              </a:ln>
            </p:spPr>
          </p:sp>
          <p:sp>
            <p:nvSpPr>
              <p:cNvPr name="TextBox 47" id="47"/>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sp>
          <p:nvSpPr>
            <p:cNvPr name="Freeform 48" id="48"/>
            <p:cNvSpPr/>
            <p:nvPr/>
          </p:nvSpPr>
          <p:spPr>
            <a:xfrm flipH="false" flipV="false" rot="0">
              <a:off x="437761" y="399286"/>
              <a:ext cx="1633084" cy="1710036"/>
            </a:xfrm>
            <a:custGeom>
              <a:avLst/>
              <a:gdLst/>
              <a:ahLst/>
              <a:cxnLst/>
              <a:rect r="r" b="b" t="t" l="l"/>
              <a:pathLst>
                <a:path h="1710036" w="1633084">
                  <a:moveTo>
                    <a:pt x="0" y="0"/>
                  </a:moveTo>
                  <a:lnTo>
                    <a:pt x="1633085" y="0"/>
                  </a:lnTo>
                  <a:lnTo>
                    <a:pt x="1633085" y="1710036"/>
                  </a:lnTo>
                  <a:lnTo>
                    <a:pt x="0" y="1710036"/>
                  </a:lnTo>
                  <a:lnTo>
                    <a:pt x="0" y="0"/>
                  </a:lnTo>
                  <a:close/>
                </a:path>
              </a:pathLst>
            </a:custGeom>
            <a:blipFill>
              <a:blip r:embed="rId8"/>
              <a:stretch>
                <a:fillRect l="0" t="0" r="0" b="0"/>
              </a:stretch>
            </a:blipFill>
          </p:spPr>
        </p:sp>
      </p:grpSp>
      <p:grpSp>
        <p:nvGrpSpPr>
          <p:cNvPr name="Group 49" id="49"/>
          <p:cNvGrpSpPr/>
          <p:nvPr/>
        </p:nvGrpSpPr>
        <p:grpSpPr>
          <a:xfrm rot="-10800000">
            <a:off x="12994523" y="7894612"/>
            <a:ext cx="2383322" cy="845921"/>
            <a:chOff x="0" y="0"/>
            <a:chExt cx="2290006" cy="812800"/>
          </a:xfrm>
        </p:grpSpPr>
        <p:sp>
          <p:nvSpPr>
            <p:cNvPr name="Freeform 50" id="50"/>
            <p:cNvSpPr/>
            <p:nvPr/>
          </p:nvSpPr>
          <p:spPr>
            <a:xfrm flipH="false" flipV="false" rot="0">
              <a:off x="0" y="0"/>
              <a:ext cx="2290006" cy="812800"/>
            </a:xfrm>
            <a:custGeom>
              <a:avLst/>
              <a:gdLst/>
              <a:ahLst/>
              <a:cxnLst/>
              <a:rect r="r" b="b" t="t" l="l"/>
              <a:pathLst>
                <a:path h="812800" w="2290006">
                  <a:moveTo>
                    <a:pt x="2290006" y="406400"/>
                  </a:moveTo>
                  <a:lnTo>
                    <a:pt x="1883606" y="0"/>
                  </a:lnTo>
                  <a:lnTo>
                    <a:pt x="1883606" y="203200"/>
                  </a:lnTo>
                  <a:lnTo>
                    <a:pt x="0" y="203200"/>
                  </a:lnTo>
                  <a:lnTo>
                    <a:pt x="0" y="609600"/>
                  </a:lnTo>
                  <a:lnTo>
                    <a:pt x="1883606" y="609600"/>
                  </a:lnTo>
                  <a:lnTo>
                    <a:pt x="1883606" y="812800"/>
                  </a:lnTo>
                  <a:lnTo>
                    <a:pt x="2290006" y="406400"/>
                  </a:lnTo>
                  <a:close/>
                </a:path>
              </a:pathLst>
            </a:custGeom>
            <a:solidFill>
              <a:srgbClr val="CF9E76"/>
            </a:solidFill>
            <a:ln w="38100" cap="sq">
              <a:solidFill>
                <a:srgbClr val="000000"/>
              </a:solidFill>
              <a:prstDash val="solid"/>
              <a:miter/>
            </a:ln>
          </p:spPr>
        </p:sp>
        <p:sp>
          <p:nvSpPr>
            <p:cNvPr name="TextBox 51" id="51"/>
            <p:cNvSpPr txBox="true"/>
            <p:nvPr/>
          </p:nvSpPr>
          <p:spPr>
            <a:xfrm>
              <a:off x="0" y="165100"/>
              <a:ext cx="2188406" cy="444500"/>
            </a:xfrm>
            <a:prstGeom prst="rect">
              <a:avLst/>
            </a:prstGeom>
          </p:spPr>
          <p:txBody>
            <a:bodyPr anchor="ctr" rtlCol="false" tIns="50800" lIns="50800" bIns="50800" rIns="50800"/>
            <a:lstStyle/>
            <a:p>
              <a:pPr algn="ctr">
                <a:lnSpc>
                  <a:spcPts val="2659"/>
                </a:lnSpc>
              </a:pPr>
            </a:p>
          </p:txBody>
        </p:sp>
      </p:grpSp>
      <p:grpSp>
        <p:nvGrpSpPr>
          <p:cNvPr name="Group 52" id="52"/>
          <p:cNvGrpSpPr/>
          <p:nvPr/>
        </p:nvGrpSpPr>
        <p:grpSpPr>
          <a:xfrm rot="-5400000">
            <a:off x="15186126" y="5818580"/>
            <a:ext cx="2264892" cy="845921"/>
            <a:chOff x="0" y="0"/>
            <a:chExt cx="2176213" cy="812800"/>
          </a:xfrm>
        </p:grpSpPr>
        <p:sp>
          <p:nvSpPr>
            <p:cNvPr name="Freeform 53" id="53"/>
            <p:cNvSpPr/>
            <p:nvPr/>
          </p:nvSpPr>
          <p:spPr>
            <a:xfrm flipH="false" flipV="false" rot="0">
              <a:off x="0" y="0"/>
              <a:ext cx="2176213" cy="812800"/>
            </a:xfrm>
            <a:custGeom>
              <a:avLst/>
              <a:gdLst/>
              <a:ahLst/>
              <a:cxnLst/>
              <a:rect r="r" b="b" t="t" l="l"/>
              <a:pathLst>
                <a:path h="812800" w="2176213">
                  <a:moveTo>
                    <a:pt x="2176213" y="406400"/>
                  </a:moveTo>
                  <a:lnTo>
                    <a:pt x="1769813" y="0"/>
                  </a:lnTo>
                  <a:lnTo>
                    <a:pt x="1769813" y="203200"/>
                  </a:lnTo>
                  <a:lnTo>
                    <a:pt x="0" y="203200"/>
                  </a:lnTo>
                  <a:lnTo>
                    <a:pt x="0" y="609600"/>
                  </a:lnTo>
                  <a:lnTo>
                    <a:pt x="1769813" y="609600"/>
                  </a:lnTo>
                  <a:lnTo>
                    <a:pt x="1769813" y="812800"/>
                  </a:lnTo>
                  <a:lnTo>
                    <a:pt x="2176213" y="406400"/>
                  </a:lnTo>
                  <a:close/>
                </a:path>
              </a:pathLst>
            </a:custGeom>
            <a:solidFill>
              <a:srgbClr val="CF9E76"/>
            </a:solidFill>
            <a:ln w="38100" cap="sq">
              <a:solidFill>
                <a:srgbClr val="000000"/>
              </a:solidFill>
              <a:prstDash val="solid"/>
              <a:miter/>
            </a:ln>
          </p:spPr>
        </p:sp>
        <p:sp>
          <p:nvSpPr>
            <p:cNvPr name="TextBox 54" id="54"/>
            <p:cNvSpPr txBox="true"/>
            <p:nvPr/>
          </p:nvSpPr>
          <p:spPr>
            <a:xfrm>
              <a:off x="0" y="165100"/>
              <a:ext cx="2074613" cy="444500"/>
            </a:xfrm>
            <a:prstGeom prst="rect">
              <a:avLst/>
            </a:prstGeom>
          </p:spPr>
          <p:txBody>
            <a:bodyPr anchor="ctr" rtlCol="false" tIns="50800" lIns="50800" bIns="50800" rIns="50800"/>
            <a:lstStyle/>
            <a:p>
              <a:pPr algn="ctr">
                <a:lnSpc>
                  <a:spcPts val="2659"/>
                </a:lnSpc>
              </a:pPr>
            </a:p>
          </p:txBody>
        </p:sp>
      </p:grpSp>
      <p:grpSp>
        <p:nvGrpSpPr>
          <p:cNvPr name="Group 55" id="55"/>
          <p:cNvGrpSpPr/>
          <p:nvPr/>
        </p:nvGrpSpPr>
        <p:grpSpPr>
          <a:xfrm rot="-5400000">
            <a:off x="11497350" y="6394581"/>
            <a:ext cx="1112891" cy="845921"/>
            <a:chOff x="0" y="0"/>
            <a:chExt cx="1069317" cy="812800"/>
          </a:xfrm>
        </p:grpSpPr>
        <p:sp>
          <p:nvSpPr>
            <p:cNvPr name="Freeform 56" id="56"/>
            <p:cNvSpPr/>
            <p:nvPr/>
          </p:nvSpPr>
          <p:spPr>
            <a:xfrm flipH="false" flipV="false" rot="0">
              <a:off x="0" y="0"/>
              <a:ext cx="1069317" cy="812800"/>
            </a:xfrm>
            <a:custGeom>
              <a:avLst/>
              <a:gdLst/>
              <a:ahLst/>
              <a:cxnLst/>
              <a:rect r="r" b="b" t="t" l="l"/>
              <a:pathLst>
                <a:path h="812800" w="1069317">
                  <a:moveTo>
                    <a:pt x="1069317" y="406400"/>
                  </a:moveTo>
                  <a:lnTo>
                    <a:pt x="662917" y="0"/>
                  </a:lnTo>
                  <a:lnTo>
                    <a:pt x="662917" y="203200"/>
                  </a:lnTo>
                  <a:lnTo>
                    <a:pt x="0" y="203200"/>
                  </a:lnTo>
                  <a:lnTo>
                    <a:pt x="0" y="609600"/>
                  </a:lnTo>
                  <a:lnTo>
                    <a:pt x="662917" y="609600"/>
                  </a:lnTo>
                  <a:lnTo>
                    <a:pt x="662917" y="812800"/>
                  </a:lnTo>
                  <a:lnTo>
                    <a:pt x="1069317" y="406400"/>
                  </a:lnTo>
                  <a:close/>
                </a:path>
              </a:pathLst>
            </a:custGeom>
            <a:solidFill>
              <a:srgbClr val="CF9E76"/>
            </a:solidFill>
            <a:ln w="38100" cap="sq">
              <a:solidFill>
                <a:srgbClr val="000000"/>
              </a:solidFill>
              <a:prstDash val="solid"/>
              <a:miter/>
            </a:ln>
          </p:spPr>
        </p:sp>
        <p:sp>
          <p:nvSpPr>
            <p:cNvPr name="TextBox 57" id="57"/>
            <p:cNvSpPr txBox="true"/>
            <p:nvPr/>
          </p:nvSpPr>
          <p:spPr>
            <a:xfrm>
              <a:off x="0" y="165100"/>
              <a:ext cx="967717" cy="444500"/>
            </a:xfrm>
            <a:prstGeom prst="rect">
              <a:avLst/>
            </a:prstGeom>
          </p:spPr>
          <p:txBody>
            <a:bodyPr anchor="ctr" rtlCol="false" tIns="50800" lIns="50800" bIns="50800" rIns="50800"/>
            <a:lstStyle/>
            <a:p>
              <a:pPr algn="ctr">
                <a:lnSpc>
                  <a:spcPts val="2659"/>
                </a:lnSpc>
              </a:pPr>
            </a:p>
          </p:txBody>
        </p:sp>
      </p:grpSp>
      <p:grpSp>
        <p:nvGrpSpPr>
          <p:cNvPr name="Group 58" id="58"/>
          <p:cNvGrpSpPr/>
          <p:nvPr/>
        </p:nvGrpSpPr>
        <p:grpSpPr>
          <a:xfrm rot="-10800000">
            <a:off x="8729746" y="7894612"/>
            <a:ext cx="2383322" cy="845921"/>
            <a:chOff x="0" y="0"/>
            <a:chExt cx="2290006" cy="812800"/>
          </a:xfrm>
        </p:grpSpPr>
        <p:sp>
          <p:nvSpPr>
            <p:cNvPr name="Freeform 59" id="59"/>
            <p:cNvSpPr/>
            <p:nvPr/>
          </p:nvSpPr>
          <p:spPr>
            <a:xfrm flipH="false" flipV="false" rot="0">
              <a:off x="0" y="0"/>
              <a:ext cx="2290006" cy="812800"/>
            </a:xfrm>
            <a:custGeom>
              <a:avLst/>
              <a:gdLst/>
              <a:ahLst/>
              <a:cxnLst/>
              <a:rect r="r" b="b" t="t" l="l"/>
              <a:pathLst>
                <a:path h="812800" w="2290006">
                  <a:moveTo>
                    <a:pt x="2290006" y="406400"/>
                  </a:moveTo>
                  <a:lnTo>
                    <a:pt x="1883606" y="0"/>
                  </a:lnTo>
                  <a:lnTo>
                    <a:pt x="1883606" y="203200"/>
                  </a:lnTo>
                  <a:lnTo>
                    <a:pt x="0" y="203200"/>
                  </a:lnTo>
                  <a:lnTo>
                    <a:pt x="0" y="609600"/>
                  </a:lnTo>
                  <a:lnTo>
                    <a:pt x="1883606" y="609600"/>
                  </a:lnTo>
                  <a:lnTo>
                    <a:pt x="1883606" y="812800"/>
                  </a:lnTo>
                  <a:lnTo>
                    <a:pt x="2290006" y="406400"/>
                  </a:lnTo>
                  <a:close/>
                </a:path>
              </a:pathLst>
            </a:custGeom>
            <a:solidFill>
              <a:srgbClr val="CF9E76"/>
            </a:solidFill>
            <a:ln w="38100" cap="sq">
              <a:solidFill>
                <a:srgbClr val="000000"/>
              </a:solidFill>
              <a:prstDash val="solid"/>
              <a:miter/>
            </a:ln>
          </p:spPr>
        </p:sp>
        <p:sp>
          <p:nvSpPr>
            <p:cNvPr name="TextBox 60" id="60"/>
            <p:cNvSpPr txBox="true"/>
            <p:nvPr/>
          </p:nvSpPr>
          <p:spPr>
            <a:xfrm>
              <a:off x="0" y="165100"/>
              <a:ext cx="2188406" cy="444500"/>
            </a:xfrm>
            <a:prstGeom prst="rect">
              <a:avLst/>
            </a:prstGeom>
          </p:spPr>
          <p:txBody>
            <a:bodyPr anchor="ctr" rtlCol="false" tIns="50800" lIns="50800" bIns="50800" rIns="50800"/>
            <a:lstStyle/>
            <a:p>
              <a:pPr algn="ctr">
                <a:lnSpc>
                  <a:spcPts val="2659"/>
                </a:lnSpc>
              </a:pPr>
            </a:p>
          </p:txBody>
        </p:sp>
      </p:grpSp>
      <p:grpSp>
        <p:nvGrpSpPr>
          <p:cNvPr name="Group 61" id="61"/>
          <p:cNvGrpSpPr/>
          <p:nvPr/>
        </p:nvGrpSpPr>
        <p:grpSpPr>
          <a:xfrm rot="-7776392">
            <a:off x="5762316" y="6524160"/>
            <a:ext cx="1759639" cy="845921"/>
            <a:chOff x="0" y="0"/>
            <a:chExt cx="1690743" cy="812800"/>
          </a:xfrm>
        </p:grpSpPr>
        <p:sp>
          <p:nvSpPr>
            <p:cNvPr name="Freeform 62" id="62"/>
            <p:cNvSpPr/>
            <p:nvPr/>
          </p:nvSpPr>
          <p:spPr>
            <a:xfrm flipH="false" flipV="false" rot="0">
              <a:off x="0" y="0"/>
              <a:ext cx="1690743" cy="812800"/>
            </a:xfrm>
            <a:custGeom>
              <a:avLst/>
              <a:gdLst/>
              <a:ahLst/>
              <a:cxnLst/>
              <a:rect r="r" b="b" t="t" l="l"/>
              <a:pathLst>
                <a:path h="812800" w="1690743">
                  <a:moveTo>
                    <a:pt x="1690743" y="406400"/>
                  </a:moveTo>
                  <a:lnTo>
                    <a:pt x="1284343" y="0"/>
                  </a:lnTo>
                  <a:lnTo>
                    <a:pt x="1284343" y="203200"/>
                  </a:lnTo>
                  <a:lnTo>
                    <a:pt x="0" y="203200"/>
                  </a:lnTo>
                  <a:lnTo>
                    <a:pt x="0" y="609600"/>
                  </a:lnTo>
                  <a:lnTo>
                    <a:pt x="1284343" y="609600"/>
                  </a:lnTo>
                  <a:lnTo>
                    <a:pt x="1284343" y="812800"/>
                  </a:lnTo>
                  <a:lnTo>
                    <a:pt x="1690743" y="406400"/>
                  </a:lnTo>
                  <a:close/>
                </a:path>
              </a:pathLst>
            </a:custGeom>
            <a:solidFill>
              <a:srgbClr val="CF9E76"/>
            </a:solidFill>
            <a:ln w="38100" cap="sq">
              <a:solidFill>
                <a:srgbClr val="000000"/>
              </a:solidFill>
              <a:prstDash val="solid"/>
              <a:miter/>
            </a:ln>
          </p:spPr>
        </p:sp>
        <p:sp>
          <p:nvSpPr>
            <p:cNvPr name="TextBox 63" id="63"/>
            <p:cNvSpPr txBox="true"/>
            <p:nvPr/>
          </p:nvSpPr>
          <p:spPr>
            <a:xfrm>
              <a:off x="0" y="165100"/>
              <a:ext cx="1589143" cy="444500"/>
            </a:xfrm>
            <a:prstGeom prst="rect">
              <a:avLst/>
            </a:prstGeom>
          </p:spPr>
          <p:txBody>
            <a:bodyPr anchor="ctr" rtlCol="false" tIns="50800" lIns="50800" bIns="50800" rIns="50800"/>
            <a:lstStyle/>
            <a:p>
              <a:pPr algn="ctr">
                <a:lnSpc>
                  <a:spcPts val="2659"/>
                </a:lnSpc>
              </a:pPr>
            </a:p>
          </p:txBody>
        </p:sp>
      </p:grpSp>
      <p:grpSp>
        <p:nvGrpSpPr>
          <p:cNvPr name="Group 64" id="64"/>
          <p:cNvGrpSpPr/>
          <p:nvPr/>
        </p:nvGrpSpPr>
        <p:grpSpPr>
          <a:xfrm rot="-10800000">
            <a:off x="6278031" y="4897408"/>
            <a:ext cx="4835037" cy="845921"/>
            <a:chOff x="0" y="0"/>
            <a:chExt cx="4645728" cy="812800"/>
          </a:xfrm>
        </p:grpSpPr>
        <p:sp>
          <p:nvSpPr>
            <p:cNvPr name="Freeform 65" id="65"/>
            <p:cNvSpPr/>
            <p:nvPr/>
          </p:nvSpPr>
          <p:spPr>
            <a:xfrm flipH="false" flipV="false" rot="0">
              <a:off x="0" y="0"/>
              <a:ext cx="4645728" cy="812800"/>
            </a:xfrm>
            <a:custGeom>
              <a:avLst/>
              <a:gdLst/>
              <a:ahLst/>
              <a:cxnLst/>
              <a:rect r="r" b="b" t="t" l="l"/>
              <a:pathLst>
                <a:path h="812800" w="4645728">
                  <a:moveTo>
                    <a:pt x="4645728" y="406400"/>
                  </a:moveTo>
                  <a:lnTo>
                    <a:pt x="4239328" y="0"/>
                  </a:lnTo>
                  <a:lnTo>
                    <a:pt x="4239328" y="203200"/>
                  </a:lnTo>
                  <a:lnTo>
                    <a:pt x="0" y="203200"/>
                  </a:lnTo>
                  <a:lnTo>
                    <a:pt x="0" y="609600"/>
                  </a:lnTo>
                  <a:lnTo>
                    <a:pt x="4239328" y="609600"/>
                  </a:lnTo>
                  <a:lnTo>
                    <a:pt x="4239328" y="812800"/>
                  </a:lnTo>
                  <a:lnTo>
                    <a:pt x="4645728" y="406400"/>
                  </a:lnTo>
                  <a:close/>
                </a:path>
              </a:pathLst>
            </a:custGeom>
            <a:solidFill>
              <a:srgbClr val="CF9E76"/>
            </a:solidFill>
            <a:ln w="38100" cap="sq">
              <a:solidFill>
                <a:srgbClr val="000000"/>
              </a:solidFill>
              <a:prstDash val="solid"/>
              <a:miter/>
            </a:ln>
          </p:spPr>
        </p:sp>
        <p:sp>
          <p:nvSpPr>
            <p:cNvPr name="TextBox 66" id="66"/>
            <p:cNvSpPr txBox="true"/>
            <p:nvPr/>
          </p:nvSpPr>
          <p:spPr>
            <a:xfrm>
              <a:off x="0" y="165100"/>
              <a:ext cx="4544128" cy="444500"/>
            </a:xfrm>
            <a:prstGeom prst="rect">
              <a:avLst/>
            </a:prstGeom>
          </p:spPr>
          <p:txBody>
            <a:bodyPr anchor="ctr" rtlCol="false" tIns="50800" lIns="50800" bIns="50800" rIns="50800"/>
            <a:lstStyle/>
            <a:p>
              <a:pPr algn="ctr">
                <a:lnSpc>
                  <a:spcPts val="2659"/>
                </a:lnSpc>
              </a:pPr>
            </a:p>
          </p:txBody>
        </p:sp>
      </p:grpSp>
      <p:grpSp>
        <p:nvGrpSpPr>
          <p:cNvPr name="Group 67" id="67"/>
          <p:cNvGrpSpPr/>
          <p:nvPr/>
        </p:nvGrpSpPr>
        <p:grpSpPr>
          <a:xfrm rot="-5400000">
            <a:off x="11645664" y="3548549"/>
            <a:ext cx="816262" cy="845921"/>
            <a:chOff x="0" y="0"/>
            <a:chExt cx="784302" cy="812800"/>
          </a:xfrm>
        </p:grpSpPr>
        <p:sp>
          <p:nvSpPr>
            <p:cNvPr name="Freeform 68" id="68"/>
            <p:cNvSpPr/>
            <p:nvPr/>
          </p:nvSpPr>
          <p:spPr>
            <a:xfrm flipH="false" flipV="false" rot="0">
              <a:off x="0" y="0"/>
              <a:ext cx="784302" cy="812800"/>
            </a:xfrm>
            <a:custGeom>
              <a:avLst/>
              <a:gdLst/>
              <a:ahLst/>
              <a:cxnLst/>
              <a:rect r="r" b="b" t="t" l="l"/>
              <a:pathLst>
                <a:path h="812800" w="784302">
                  <a:moveTo>
                    <a:pt x="784302" y="406400"/>
                  </a:moveTo>
                  <a:lnTo>
                    <a:pt x="377902" y="0"/>
                  </a:lnTo>
                  <a:lnTo>
                    <a:pt x="377902" y="203200"/>
                  </a:lnTo>
                  <a:lnTo>
                    <a:pt x="0" y="203200"/>
                  </a:lnTo>
                  <a:lnTo>
                    <a:pt x="0" y="609600"/>
                  </a:lnTo>
                  <a:lnTo>
                    <a:pt x="377902" y="609600"/>
                  </a:lnTo>
                  <a:lnTo>
                    <a:pt x="377902" y="812800"/>
                  </a:lnTo>
                  <a:lnTo>
                    <a:pt x="784302" y="406400"/>
                  </a:lnTo>
                  <a:close/>
                </a:path>
              </a:pathLst>
            </a:custGeom>
            <a:solidFill>
              <a:srgbClr val="CF9E76"/>
            </a:solidFill>
            <a:ln w="38100" cap="sq">
              <a:solidFill>
                <a:srgbClr val="000000"/>
              </a:solidFill>
              <a:prstDash val="solid"/>
              <a:miter/>
            </a:ln>
          </p:spPr>
        </p:sp>
        <p:sp>
          <p:nvSpPr>
            <p:cNvPr name="TextBox 69" id="69"/>
            <p:cNvSpPr txBox="true"/>
            <p:nvPr/>
          </p:nvSpPr>
          <p:spPr>
            <a:xfrm>
              <a:off x="0" y="165100"/>
              <a:ext cx="682702" cy="444500"/>
            </a:xfrm>
            <a:prstGeom prst="rect">
              <a:avLst/>
            </a:prstGeom>
          </p:spPr>
          <p:txBody>
            <a:bodyPr anchor="ctr" rtlCol="false" tIns="50800" lIns="50800" bIns="50800" rIns="50800"/>
            <a:lstStyle/>
            <a:p>
              <a:pPr algn="ctr">
                <a:lnSpc>
                  <a:spcPts val="2659"/>
                </a:lnSpc>
              </a:pPr>
            </a:p>
          </p:txBody>
        </p:sp>
      </p:grpSp>
      <p:grpSp>
        <p:nvGrpSpPr>
          <p:cNvPr name="Group 70" id="70"/>
          <p:cNvGrpSpPr/>
          <p:nvPr/>
        </p:nvGrpSpPr>
        <p:grpSpPr>
          <a:xfrm rot="-9457303">
            <a:off x="12944275" y="2808961"/>
            <a:ext cx="2688015" cy="845921"/>
            <a:chOff x="0" y="0"/>
            <a:chExt cx="2582770" cy="812800"/>
          </a:xfrm>
        </p:grpSpPr>
        <p:sp>
          <p:nvSpPr>
            <p:cNvPr name="Freeform 71" id="71"/>
            <p:cNvSpPr/>
            <p:nvPr/>
          </p:nvSpPr>
          <p:spPr>
            <a:xfrm flipH="false" flipV="false" rot="0">
              <a:off x="0" y="0"/>
              <a:ext cx="2582770" cy="812800"/>
            </a:xfrm>
            <a:custGeom>
              <a:avLst/>
              <a:gdLst/>
              <a:ahLst/>
              <a:cxnLst/>
              <a:rect r="r" b="b" t="t" l="l"/>
              <a:pathLst>
                <a:path h="812800" w="2582770">
                  <a:moveTo>
                    <a:pt x="2582770" y="406400"/>
                  </a:moveTo>
                  <a:lnTo>
                    <a:pt x="2176370" y="0"/>
                  </a:lnTo>
                  <a:lnTo>
                    <a:pt x="2176370" y="203200"/>
                  </a:lnTo>
                  <a:lnTo>
                    <a:pt x="0" y="203200"/>
                  </a:lnTo>
                  <a:lnTo>
                    <a:pt x="0" y="609600"/>
                  </a:lnTo>
                  <a:lnTo>
                    <a:pt x="2176370" y="609600"/>
                  </a:lnTo>
                  <a:lnTo>
                    <a:pt x="2176370" y="812800"/>
                  </a:lnTo>
                  <a:lnTo>
                    <a:pt x="2582770" y="406400"/>
                  </a:lnTo>
                  <a:close/>
                </a:path>
              </a:pathLst>
            </a:custGeom>
            <a:solidFill>
              <a:srgbClr val="CF9E76"/>
            </a:solidFill>
            <a:ln w="38100" cap="sq">
              <a:solidFill>
                <a:srgbClr val="000000"/>
              </a:solidFill>
              <a:prstDash val="solid"/>
              <a:miter/>
            </a:ln>
          </p:spPr>
        </p:sp>
        <p:sp>
          <p:nvSpPr>
            <p:cNvPr name="TextBox 72" id="72"/>
            <p:cNvSpPr txBox="true"/>
            <p:nvPr/>
          </p:nvSpPr>
          <p:spPr>
            <a:xfrm>
              <a:off x="0" y="165100"/>
              <a:ext cx="2481170" cy="444500"/>
            </a:xfrm>
            <a:prstGeom prst="rect">
              <a:avLst/>
            </a:prstGeom>
          </p:spPr>
          <p:txBody>
            <a:bodyPr anchor="ctr" rtlCol="false" tIns="50800" lIns="50800" bIns="50800" rIns="50800"/>
            <a:lstStyle/>
            <a:p>
              <a:pPr algn="ctr">
                <a:lnSpc>
                  <a:spcPts val="2659"/>
                </a:lnSpc>
              </a:pPr>
            </a:p>
          </p:txBody>
        </p:sp>
      </p:grpSp>
      <p:grpSp>
        <p:nvGrpSpPr>
          <p:cNvPr name="Group 73" id="73"/>
          <p:cNvGrpSpPr/>
          <p:nvPr/>
        </p:nvGrpSpPr>
        <p:grpSpPr>
          <a:xfrm rot="-3367251">
            <a:off x="7161384" y="4897408"/>
            <a:ext cx="5288544" cy="845921"/>
            <a:chOff x="0" y="0"/>
            <a:chExt cx="5081478" cy="812800"/>
          </a:xfrm>
        </p:grpSpPr>
        <p:sp>
          <p:nvSpPr>
            <p:cNvPr name="Freeform 74" id="74"/>
            <p:cNvSpPr/>
            <p:nvPr/>
          </p:nvSpPr>
          <p:spPr>
            <a:xfrm flipH="false" flipV="false" rot="0">
              <a:off x="0" y="0"/>
              <a:ext cx="5081478" cy="812800"/>
            </a:xfrm>
            <a:custGeom>
              <a:avLst/>
              <a:gdLst/>
              <a:ahLst/>
              <a:cxnLst/>
              <a:rect r="r" b="b" t="t" l="l"/>
              <a:pathLst>
                <a:path h="812800" w="5081478">
                  <a:moveTo>
                    <a:pt x="5081478" y="406400"/>
                  </a:moveTo>
                  <a:lnTo>
                    <a:pt x="4675078" y="0"/>
                  </a:lnTo>
                  <a:lnTo>
                    <a:pt x="4675078" y="203200"/>
                  </a:lnTo>
                  <a:lnTo>
                    <a:pt x="0" y="203200"/>
                  </a:lnTo>
                  <a:lnTo>
                    <a:pt x="0" y="609600"/>
                  </a:lnTo>
                  <a:lnTo>
                    <a:pt x="4675078" y="609600"/>
                  </a:lnTo>
                  <a:lnTo>
                    <a:pt x="4675078" y="812800"/>
                  </a:lnTo>
                  <a:lnTo>
                    <a:pt x="5081478" y="406400"/>
                  </a:lnTo>
                  <a:close/>
                </a:path>
              </a:pathLst>
            </a:custGeom>
            <a:solidFill>
              <a:srgbClr val="CF9E76"/>
            </a:solidFill>
            <a:ln w="38100" cap="sq">
              <a:solidFill>
                <a:srgbClr val="000000"/>
              </a:solidFill>
              <a:prstDash val="solid"/>
              <a:miter/>
            </a:ln>
          </p:spPr>
        </p:sp>
        <p:sp>
          <p:nvSpPr>
            <p:cNvPr name="TextBox 75" id="75"/>
            <p:cNvSpPr txBox="true"/>
            <p:nvPr/>
          </p:nvSpPr>
          <p:spPr>
            <a:xfrm>
              <a:off x="0" y="165100"/>
              <a:ext cx="4979878" cy="444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5347"/>
            <a:ext cx="18288000" cy="10317693"/>
            <a:chOff x="0" y="0"/>
            <a:chExt cx="1149350" cy="1149350"/>
          </a:xfrm>
        </p:grpSpPr>
        <p:sp>
          <p:nvSpPr>
            <p:cNvPr name="Freeform 3" id="3"/>
            <p:cNvSpPr/>
            <p:nvPr/>
          </p:nvSpPr>
          <p:spPr>
            <a:xfrm flipH="false" flipV="false" rot="0">
              <a:off x="0" y="0"/>
              <a:ext cx="8975125" cy="5063571"/>
            </a:xfrm>
            <a:custGeom>
              <a:avLst/>
              <a:gdLst/>
              <a:ahLst/>
              <a:cxnLst/>
              <a:rect r="r" b="b" t="t" l="l"/>
              <a:pathLst>
                <a:path h="5063571" w="8975125">
                  <a:moveTo>
                    <a:pt x="8975125" y="55951"/>
                  </a:moveTo>
                  <a:lnTo>
                    <a:pt x="8975125" y="0"/>
                  </a:lnTo>
                  <a:lnTo>
                    <a:pt x="49586" y="0"/>
                  </a:lnTo>
                  <a:lnTo>
                    <a:pt x="49586" y="27976"/>
                  </a:lnTo>
                  <a:lnTo>
                    <a:pt x="0" y="27976"/>
                  </a:lnTo>
                  <a:lnTo>
                    <a:pt x="0" y="5063571"/>
                  </a:lnTo>
                  <a:lnTo>
                    <a:pt x="99173" y="5063571"/>
                  </a:lnTo>
                  <a:lnTo>
                    <a:pt x="99173" y="4084427"/>
                  </a:lnTo>
                  <a:lnTo>
                    <a:pt x="1785108" y="4084427"/>
                  </a:lnTo>
                  <a:lnTo>
                    <a:pt x="1785108" y="5063571"/>
                  </a:lnTo>
                  <a:lnTo>
                    <a:pt x="1884280" y="5063571"/>
                  </a:lnTo>
                  <a:lnTo>
                    <a:pt x="1884280" y="4084427"/>
                  </a:lnTo>
                  <a:lnTo>
                    <a:pt x="3570215" y="4084427"/>
                  </a:lnTo>
                  <a:lnTo>
                    <a:pt x="3570215" y="5063571"/>
                  </a:lnTo>
                  <a:lnTo>
                    <a:pt x="3669388" y="5063571"/>
                  </a:lnTo>
                  <a:lnTo>
                    <a:pt x="3669388" y="4084427"/>
                  </a:lnTo>
                  <a:lnTo>
                    <a:pt x="5355323" y="4084427"/>
                  </a:lnTo>
                  <a:lnTo>
                    <a:pt x="5355323" y="5063571"/>
                  </a:lnTo>
                  <a:lnTo>
                    <a:pt x="5454496" y="5063571"/>
                  </a:lnTo>
                  <a:lnTo>
                    <a:pt x="5454496" y="4084427"/>
                  </a:lnTo>
                  <a:lnTo>
                    <a:pt x="7140431" y="4084427"/>
                  </a:lnTo>
                  <a:lnTo>
                    <a:pt x="7140431" y="5063571"/>
                  </a:lnTo>
                  <a:lnTo>
                    <a:pt x="7239603" y="5063571"/>
                  </a:lnTo>
                  <a:lnTo>
                    <a:pt x="7239603" y="4084427"/>
                  </a:lnTo>
                  <a:lnTo>
                    <a:pt x="8975125" y="4084427"/>
                  </a:lnTo>
                  <a:lnTo>
                    <a:pt x="8975125" y="4028476"/>
                  </a:lnTo>
                  <a:lnTo>
                    <a:pt x="7239603" y="4028476"/>
                  </a:lnTo>
                  <a:lnTo>
                    <a:pt x="7239603" y="3077308"/>
                  </a:lnTo>
                  <a:lnTo>
                    <a:pt x="8975125" y="3077308"/>
                  </a:lnTo>
                  <a:lnTo>
                    <a:pt x="8975125" y="3021357"/>
                  </a:lnTo>
                  <a:lnTo>
                    <a:pt x="7239603" y="3021357"/>
                  </a:lnTo>
                  <a:lnTo>
                    <a:pt x="7239603" y="2070189"/>
                  </a:lnTo>
                  <a:lnTo>
                    <a:pt x="8975125" y="2070189"/>
                  </a:lnTo>
                  <a:lnTo>
                    <a:pt x="8975125" y="2014238"/>
                  </a:lnTo>
                  <a:lnTo>
                    <a:pt x="7239603" y="2014238"/>
                  </a:lnTo>
                  <a:lnTo>
                    <a:pt x="7239603" y="1063070"/>
                  </a:lnTo>
                  <a:lnTo>
                    <a:pt x="8975125" y="1063070"/>
                  </a:lnTo>
                  <a:lnTo>
                    <a:pt x="8975125" y="1007119"/>
                  </a:lnTo>
                  <a:lnTo>
                    <a:pt x="7239603" y="1007119"/>
                  </a:lnTo>
                  <a:lnTo>
                    <a:pt x="7239603" y="55951"/>
                  </a:lnTo>
                  <a:lnTo>
                    <a:pt x="8975125" y="55951"/>
                  </a:lnTo>
                  <a:close/>
                  <a:moveTo>
                    <a:pt x="1884280" y="1007119"/>
                  </a:moveTo>
                  <a:lnTo>
                    <a:pt x="1884280" y="55951"/>
                  </a:lnTo>
                  <a:lnTo>
                    <a:pt x="3570215" y="55951"/>
                  </a:lnTo>
                  <a:lnTo>
                    <a:pt x="3570215" y="1007119"/>
                  </a:lnTo>
                  <a:lnTo>
                    <a:pt x="1884280" y="1007119"/>
                  </a:lnTo>
                  <a:close/>
                  <a:moveTo>
                    <a:pt x="3570215" y="1063070"/>
                  </a:moveTo>
                  <a:lnTo>
                    <a:pt x="3570215" y="2014238"/>
                  </a:lnTo>
                  <a:lnTo>
                    <a:pt x="1884280" y="2014238"/>
                  </a:lnTo>
                  <a:lnTo>
                    <a:pt x="1884280" y="1063070"/>
                  </a:lnTo>
                  <a:lnTo>
                    <a:pt x="3570215" y="1063070"/>
                  </a:lnTo>
                  <a:close/>
                  <a:moveTo>
                    <a:pt x="1785108" y="1007119"/>
                  </a:moveTo>
                  <a:lnTo>
                    <a:pt x="99173" y="1007119"/>
                  </a:lnTo>
                  <a:lnTo>
                    <a:pt x="99173" y="55951"/>
                  </a:lnTo>
                  <a:lnTo>
                    <a:pt x="1785108" y="55951"/>
                  </a:lnTo>
                  <a:lnTo>
                    <a:pt x="1785108" y="1007119"/>
                  </a:lnTo>
                  <a:close/>
                  <a:moveTo>
                    <a:pt x="1785108" y="1063070"/>
                  </a:moveTo>
                  <a:lnTo>
                    <a:pt x="1785108" y="2014238"/>
                  </a:lnTo>
                  <a:lnTo>
                    <a:pt x="99173" y="2014238"/>
                  </a:lnTo>
                  <a:lnTo>
                    <a:pt x="99173" y="1063070"/>
                  </a:lnTo>
                  <a:lnTo>
                    <a:pt x="1785108" y="1063070"/>
                  </a:lnTo>
                  <a:close/>
                  <a:moveTo>
                    <a:pt x="1785108" y="2070189"/>
                  </a:moveTo>
                  <a:lnTo>
                    <a:pt x="1785108" y="3021357"/>
                  </a:lnTo>
                  <a:lnTo>
                    <a:pt x="99173" y="3021357"/>
                  </a:lnTo>
                  <a:lnTo>
                    <a:pt x="99173" y="2070189"/>
                  </a:lnTo>
                  <a:lnTo>
                    <a:pt x="1785108" y="2070189"/>
                  </a:lnTo>
                  <a:close/>
                  <a:moveTo>
                    <a:pt x="1884280" y="2070189"/>
                  </a:moveTo>
                  <a:lnTo>
                    <a:pt x="3570215" y="2070189"/>
                  </a:lnTo>
                  <a:lnTo>
                    <a:pt x="3570215" y="3021357"/>
                  </a:lnTo>
                  <a:lnTo>
                    <a:pt x="1884280" y="3021357"/>
                  </a:lnTo>
                  <a:lnTo>
                    <a:pt x="1884280" y="2070189"/>
                  </a:lnTo>
                  <a:close/>
                  <a:moveTo>
                    <a:pt x="3669388" y="2070189"/>
                  </a:moveTo>
                  <a:lnTo>
                    <a:pt x="5355323" y="2070189"/>
                  </a:lnTo>
                  <a:lnTo>
                    <a:pt x="5355323" y="3021357"/>
                  </a:lnTo>
                  <a:lnTo>
                    <a:pt x="3669388" y="3021357"/>
                  </a:lnTo>
                  <a:lnTo>
                    <a:pt x="3669388" y="2070189"/>
                  </a:lnTo>
                  <a:close/>
                  <a:moveTo>
                    <a:pt x="3669388" y="2014238"/>
                  </a:moveTo>
                  <a:lnTo>
                    <a:pt x="3669388" y="1063070"/>
                  </a:lnTo>
                  <a:lnTo>
                    <a:pt x="5355323" y="1063070"/>
                  </a:lnTo>
                  <a:lnTo>
                    <a:pt x="5355323" y="2014238"/>
                  </a:lnTo>
                  <a:lnTo>
                    <a:pt x="3669388" y="2014238"/>
                  </a:lnTo>
                  <a:close/>
                  <a:moveTo>
                    <a:pt x="3669388" y="1007119"/>
                  </a:moveTo>
                  <a:lnTo>
                    <a:pt x="3669388" y="55951"/>
                  </a:lnTo>
                  <a:lnTo>
                    <a:pt x="5355323" y="55951"/>
                  </a:lnTo>
                  <a:lnTo>
                    <a:pt x="5355323" y="1007119"/>
                  </a:lnTo>
                  <a:lnTo>
                    <a:pt x="3669388" y="1007119"/>
                  </a:lnTo>
                  <a:close/>
                  <a:moveTo>
                    <a:pt x="99173" y="4028476"/>
                  </a:moveTo>
                  <a:lnTo>
                    <a:pt x="99173" y="3077308"/>
                  </a:lnTo>
                  <a:lnTo>
                    <a:pt x="1785108" y="3077308"/>
                  </a:lnTo>
                  <a:lnTo>
                    <a:pt x="1785108" y="4028476"/>
                  </a:lnTo>
                  <a:lnTo>
                    <a:pt x="99173" y="4028476"/>
                  </a:lnTo>
                  <a:close/>
                  <a:moveTo>
                    <a:pt x="1884280" y="4028476"/>
                  </a:moveTo>
                  <a:lnTo>
                    <a:pt x="1884280" y="3077308"/>
                  </a:lnTo>
                  <a:lnTo>
                    <a:pt x="3570215" y="3077308"/>
                  </a:lnTo>
                  <a:lnTo>
                    <a:pt x="3570215" y="4028476"/>
                  </a:lnTo>
                  <a:lnTo>
                    <a:pt x="1884280" y="4028476"/>
                  </a:lnTo>
                  <a:close/>
                  <a:moveTo>
                    <a:pt x="3669388" y="4028476"/>
                  </a:moveTo>
                  <a:lnTo>
                    <a:pt x="3669388" y="3077308"/>
                  </a:lnTo>
                  <a:lnTo>
                    <a:pt x="5355323" y="3077308"/>
                  </a:lnTo>
                  <a:lnTo>
                    <a:pt x="5355323" y="4028476"/>
                  </a:lnTo>
                  <a:lnTo>
                    <a:pt x="3669388" y="4028476"/>
                  </a:lnTo>
                  <a:close/>
                  <a:moveTo>
                    <a:pt x="7140431" y="4028476"/>
                  </a:moveTo>
                  <a:lnTo>
                    <a:pt x="5454496" y="4028476"/>
                  </a:lnTo>
                  <a:lnTo>
                    <a:pt x="5454496" y="3077308"/>
                  </a:lnTo>
                  <a:lnTo>
                    <a:pt x="7140431" y="3077308"/>
                  </a:lnTo>
                  <a:lnTo>
                    <a:pt x="7140431" y="4028476"/>
                  </a:lnTo>
                  <a:close/>
                  <a:moveTo>
                    <a:pt x="7140431" y="3021357"/>
                  </a:moveTo>
                  <a:lnTo>
                    <a:pt x="5454496" y="3021357"/>
                  </a:lnTo>
                  <a:lnTo>
                    <a:pt x="5454496" y="2070189"/>
                  </a:lnTo>
                  <a:lnTo>
                    <a:pt x="7140431" y="2070189"/>
                  </a:lnTo>
                  <a:lnTo>
                    <a:pt x="7140431" y="3021357"/>
                  </a:lnTo>
                  <a:close/>
                  <a:moveTo>
                    <a:pt x="7140431" y="2014238"/>
                  </a:moveTo>
                  <a:lnTo>
                    <a:pt x="5454496" y="2014238"/>
                  </a:lnTo>
                  <a:lnTo>
                    <a:pt x="5454496" y="1063070"/>
                  </a:lnTo>
                  <a:lnTo>
                    <a:pt x="7140431" y="1063070"/>
                  </a:lnTo>
                  <a:lnTo>
                    <a:pt x="7140431" y="2014238"/>
                  </a:lnTo>
                  <a:close/>
                  <a:moveTo>
                    <a:pt x="7140431" y="1007119"/>
                  </a:moveTo>
                  <a:lnTo>
                    <a:pt x="5454496" y="1007119"/>
                  </a:lnTo>
                  <a:lnTo>
                    <a:pt x="5454496" y="55951"/>
                  </a:lnTo>
                  <a:lnTo>
                    <a:pt x="7140431" y="55951"/>
                  </a:lnTo>
                  <a:lnTo>
                    <a:pt x="7140431" y="1007119"/>
                  </a:lnTo>
                  <a:close/>
                </a:path>
              </a:pathLst>
            </a:custGeom>
            <a:solidFill>
              <a:srgbClr val="000000">
                <a:alpha val="18824"/>
              </a:srgbClr>
            </a:solidFill>
          </p:spPr>
        </p:sp>
      </p:grpSp>
      <p:sp>
        <p:nvSpPr>
          <p:cNvPr name="Freeform 4" id="4" descr="This alt text was created for the whole figure, and some of it may not apply to this partial figure.   An illustration and a line graph show the measures of food web complexity. A shows a food web diagram for the sea animals in the order from the..."/>
          <p:cNvSpPr/>
          <p:nvPr/>
        </p:nvSpPr>
        <p:spPr>
          <a:xfrm flipH="false" flipV="false" rot="0">
            <a:off x="7850139" y="3675230"/>
            <a:ext cx="10437861" cy="6131930"/>
          </a:xfrm>
          <a:custGeom>
            <a:avLst/>
            <a:gdLst/>
            <a:ahLst/>
            <a:cxnLst/>
            <a:rect r="r" b="b" t="t" l="l"/>
            <a:pathLst>
              <a:path h="6131930" w="10437861">
                <a:moveTo>
                  <a:pt x="0" y="0"/>
                </a:moveTo>
                <a:lnTo>
                  <a:pt x="10437861" y="0"/>
                </a:lnTo>
                <a:lnTo>
                  <a:pt x="10437861" y="6131930"/>
                </a:lnTo>
                <a:lnTo>
                  <a:pt x="0" y="6131930"/>
                </a:lnTo>
                <a:lnTo>
                  <a:pt x="0" y="0"/>
                </a:lnTo>
                <a:close/>
              </a:path>
            </a:pathLst>
          </a:custGeom>
          <a:blipFill>
            <a:blip r:embed="rId2"/>
            <a:stretch>
              <a:fillRect l="-6159" t="-12430" r="-19776" b="-46357"/>
            </a:stretch>
          </a:blipFill>
        </p:spPr>
      </p:sp>
      <p:grpSp>
        <p:nvGrpSpPr>
          <p:cNvPr name="Group 5" id="5"/>
          <p:cNvGrpSpPr/>
          <p:nvPr/>
        </p:nvGrpSpPr>
        <p:grpSpPr>
          <a:xfrm rot="0">
            <a:off x="1028700" y="1681923"/>
            <a:ext cx="8260045" cy="2697806"/>
            <a:chOff x="0" y="0"/>
            <a:chExt cx="11013394" cy="3597075"/>
          </a:xfrm>
        </p:grpSpPr>
        <p:grpSp>
          <p:nvGrpSpPr>
            <p:cNvPr name="Group 6" id="6"/>
            <p:cNvGrpSpPr/>
            <p:nvPr/>
          </p:nvGrpSpPr>
          <p:grpSpPr>
            <a:xfrm rot="0">
              <a:off x="0" y="0"/>
              <a:ext cx="11013394" cy="3597075"/>
              <a:chOff x="0" y="0"/>
              <a:chExt cx="3002085" cy="980508"/>
            </a:xfrm>
          </p:grpSpPr>
          <p:sp>
            <p:nvSpPr>
              <p:cNvPr name="Freeform 7" id="7"/>
              <p:cNvSpPr/>
              <p:nvPr/>
            </p:nvSpPr>
            <p:spPr>
              <a:xfrm flipH="false" flipV="false" rot="0">
                <a:off x="0" y="0"/>
                <a:ext cx="3002085" cy="980508"/>
              </a:xfrm>
              <a:custGeom>
                <a:avLst/>
                <a:gdLst/>
                <a:ahLst/>
                <a:cxnLst/>
                <a:rect r="r" b="b" t="t" l="l"/>
                <a:pathLst>
                  <a:path h="980508" w="3002085">
                    <a:moveTo>
                      <a:pt x="47801" y="0"/>
                    </a:moveTo>
                    <a:lnTo>
                      <a:pt x="2954284" y="0"/>
                    </a:lnTo>
                    <a:cubicBezTo>
                      <a:pt x="2980684" y="0"/>
                      <a:pt x="3002085" y="21401"/>
                      <a:pt x="3002085" y="47801"/>
                    </a:cubicBezTo>
                    <a:lnTo>
                      <a:pt x="3002085" y="932708"/>
                    </a:lnTo>
                    <a:cubicBezTo>
                      <a:pt x="3002085" y="945385"/>
                      <a:pt x="2997049" y="957543"/>
                      <a:pt x="2988085" y="966508"/>
                    </a:cubicBezTo>
                    <a:cubicBezTo>
                      <a:pt x="2979120" y="975472"/>
                      <a:pt x="2966962" y="980508"/>
                      <a:pt x="2954284" y="980508"/>
                    </a:cubicBezTo>
                    <a:lnTo>
                      <a:pt x="47801" y="980508"/>
                    </a:lnTo>
                    <a:cubicBezTo>
                      <a:pt x="21401" y="980508"/>
                      <a:pt x="0" y="959107"/>
                      <a:pt x="0" y="932708"/>
                    </a:cubicBezTo>
                    <a:lnTo>
                      <a:pt x="0" y="47801"/>
                    </a:lnTo>
                    <a:cubicBezTo>
                      <a:pt x="0" y="21401"/>
                      <a:pt x="21401" y="0"/>
                      <a:pt x="47801" y="0"/>
                    </a:cubicBezTo>
                    <a:close/>
                  </a:path>
                </a:pathLst>
              </a:custGeom>
              <a:solidFill>
                <a:srgbClr val="DCE1CE"/>
              </a:solidFill>
              <a:ln w="38100" cap="rnd">
                <a:solidFill>
                  <a:srgbClr val="000000"/>
                </a:solidFill>
                <a:prstDash val="solid"/>
                <a:round/>
              </a:ln>
            </p:spPr>
          </p:sp>
          <p:sp>
            <p:nvSpPr>
              <p:cNvPr name="TextBox 8" id="8"/>
              <p:cNvSpPr txBox="true"/>
              <p:nvPr/>
            </p:nvSpPr>
            <p:spPr>
              <a:xfrm>
                <a:off x="0" y="-133350"/>
                <a:ext cx="3002085" cy="1113858"/>
              </a:xfrm>
              <a:prstGeom prst="rect">
                <a:avLst/>
              </a:prstGeom>
            </p:spPr>
            <p:txBody>
              <a:bodyPr anchor="ctr" rtlCol="false" tIns="50800" lIns="50800" bIns="50800" rIns="50800"/>
              <a:lstStyle/>
              <a:p>
                <a:pPr algn="l">
                  <a:lnSpc>
                    <a:spcPts val="4200"/>
                  </a:lnSpc>
                  <a:spcBef>
                    <a:spcPct val="0"/>
                  </a:spcBef>
                </a:pPr>
              </a:p>
            </p:txBody>
          </p:sp>
        </p:grpSp>
        <p:sp>
          <p:nvSpPr>
            <p:cNvPr name="TextBox 9" id="9"/>
            <p:cNvSpPr txBox="true"/>
            <p:nvPr/>
          </p:nvSpPr>
          <p:spPr>
            <a:xfrm rot="0">
              <a:off x="500051" y="1021239"/>
              <a:ext cx="10013291" cy="2073487"/>
            </a:xfrm>
            <a:prstGeom prst="rect">
              <a:avLst/>
            </a:prstGeom>
          </p:spPr>
          <p:txBody>
            <a:bodyPr anchor="t" rtlCol="false" tIns="0" lIns="0" bIns="0" rIns="0">
              <a:spAutoFit/>
            </a:bodyPr>
            <a:lstStyle/>
            <a:p>
              <a:pPr algn="ctr">
                <a:lnSpc>
                  <a:spcPts val="4059"/>
                </a:lnSpc>
              </a:pPr>
              <a:r>
                <a:rPr lang="en-US" sz="2899">
                  <a:solidFill>
                    <a:srgbClr val="000000"/>
                  </a:solidFill>
                  <a:latin typeface="Futura"/>
                  <a:ea typeface="Futura"/>
                  <a:cs typeface="Futura"/>
                  <a:sym typeface="Futura"/>
                </a:rPr>
                <a:t>Food webs depict feeding relationships between species that occupy different trophic levels in a community</a:t>
              </a:r>
            </a:p>
          </p:txBody>
        </p:sp>
      </p:grpSp>
      <p:grpSp>
        <p:nvGrpSpPr>
          <p:cNvPr name="Group 10" id="10"/>
          <p:cNvGrpSpPr/>
          <p:nvPr/>
        </p:nvGrpSpPr>
        <p:grpSpPr>
          <a:xfrm rot="0">
            <a:off x="2367375" y="1028700"/>
            <a:ext cx="5582695" cy="1306447"/>
            <a:chOff x="0" y="0"/>
            <a:chExt cx="7443593" cy="1741929"/>
          </a:xfrm>
        </p:grpSpPr>
        <p:grpSp>
          <p:nvGrpSpPr>
            <p:cNvPr name="Group 11" id="11"/>
            <p:cNvGrpSpPr/>
            <p:nvPr/>
          </p:nvGrpSpPr>
          <p:grpSpPr>
            <a:xfrm rot="0">
              <a:off x="0" y="0"/>
              <a:ext cx="7443593" cy="1741929"/>
              <a:chOff x="0" y="0"/>
              <a:chExt cx="1470339" cy="344085"/>
            </a:xfrm>
          </p:grpSpPr>
          <p:sp>
            <p:nvSpPr>
              <p:cNvPr name="Freeform 12" id="12"/>
              <p:cNvSpPr/>
              <p:nvPr/>
            </p:nvSpPr>
            <p:spPr>
              <a:xfrm flipH="false" flipV="false" rot="0">
                <a:off x="0" y="0"/>
                <a:ext cx="1470339" cy="344085"/>
              </a:xfrm>
              <a:custGeom>
                <a:avLst/>
                <a:gdLst/>
                <a:ahLst/>
                <a:cxnLst/>
                <a:rect r="r" b="b" t="t" l="l"/>
                <a:pathLst>
                  <a:path h="344085" w="1470339">
                    <a:moveTo>
                      <a:pt x="70725" y="0"/>
                    </a:moveTo>
                    <a:lnTo>
                      <a:pt x="1399614" y="0"/>
                    </a:lnTo>
                    <a:cubicBezTo>
                      <a:pt x="1418372" y="0"/>
                      <a:pt x="1436361" y="7451"/>
                      <a:pt x="1449624" y="20715"/>
                    </a:cubicBezTo>
                    <a:cubicBezTo>
                      <a:pt x="1462888" y="33979"/>
                      <a:pt x="1470339" y="51968"/>
                      <a:pt x="1470339" y="70725"/>
                    </a:cubicBezTo>
                    <a:lnTo>
                      <a:pt x="1470339" y="273359"/>
                    </a:lnTo>
                    <a:cubicBezTo>
                      <a:pt x="1470339" y="312420"/>
                      <a:pt x="1438674" y="344085"/>
                      <a:pt x="1399614" y="344085"/>
                    </a:cubicBezTo>
                    <a:lnTo>
                      <a:pt x="70725" y="344085"/>
                    </a:lnTo>
                    <a:cubicBezTo>
                      <a:pt x="31665" y="344085"/>
                      <a:pt x="0" y="312420"/>
                      <a:pt x="0" y="273359"/>
                    </a:cubicBezTo>
                    <a:lnTo>
                      <a:pt x="0" y="70725"/>
                    </a:lnTo>
                    <a:cubicBezTo>
                      <a:pt x="0" y="31665"/>
                      <a:pt x="31665" y="0"/>
                      <a:pt x="70725" y="0"/>
                    </a:cubicBezTo>
                    <a:close/>
                  </a:path>
                </a:pathLst>
              </a:custGeom>
              <a:solidFill>
                <a:srgbClr val="CF9D32"/>
              </a:solidFill>
              <a:ln w="38100" cap="rnd">
                <a:solidFill>
                  <a:srgbClr val="000000"/>
                </a:solidFill>
                <a:prstDash val="solid"/>
                <a:round/>
              </a:ln>
            </p:spPr>
          </p:sp>
          <p:sp>
            <p:nvSpPr>
              <p:cNvPr name="TextBox 13" id="13"/>
              <p:cNvSpPr txBox="true"/>
              <p:nvPr/>
            </p:nvSpPr>
            <p:spPr>
              <a:xfrm>
                <a:off x="0" y="-38100"/>
                <a:ext cx="1470339" cy="382185"/>
              </a:xfrm>
              <a:prstGeom prst="rect">
                <a:avLst/>
              </a:prstGeom>
            </p:spPr>
            <p:txBody>
              <a:bodyPr anchor="ctr" rtlCol="false" tIns="50800" lIns="50800" bIns="50800" rIns="50800"/>
              <a:lstStyle/>
              <a:p>
                <a:pPr algn="ctr">
                  <a:lnSpc>
                    <a:spcPts val="2799"/>
                  </a:lnSpc>
                  <a:spcBef>
                    <a:spcPct val="0"/>
                  </a:spcBef>
                </a:pPr>
              </a:p>
            </p:txBody>
          </p:sp>
        </p:grpSp>
        <p:sp>
          <p:nvSpPr>
            <p:cNvPr name="TextBox 14" id="14"/>
            <p:cNvSpPr txBox="true"/>
            <p:nvPr/>
          </p:nvSpPr>
          <p:spPr>
            <a:xfrm rot="0">
              <a:off x="187841" y="183344"/>
              <a:ext cx="7067911" cy="1365716"/>
            </a:xfrm>
            <a:prstGeom prst="rect">
              <a:avLst/>
            </a:prstGeom>
          </p:spPr>
          <p:txBody>
            <a:bodyPr anchor="t" rtlCol="false" tIns="0" lIns="0" bIns="0" rIns="0">
              <a:spAutoFit/>
            </a:bodyPr>
            <a:lstStyle/>
            <a:p>
              <a:pPr algn="ctr">
                <a:lnSpc>
                  <a:spcPts val="7905"/>
                </a:lnSpc>
              </a:pPr>
              <a:r>
                <a:rPr lang="en-US" sz="6699">
                  <a:solidFill>
                    <a:srgbClr val="000000"/>
                  </a:solidFill>
                  <a:latin typeface="Lilita One"/>
                  <a:ea typeface="Lilita One"/>
                  <a:cs typeface="Lilita One"/>
                  <a:sym typeface="Lilita One"/>
                </a:rPr>
                <a:t>Food webs</a:t>
              </a:r>
            </a:p>
          </p:txBody>
        </p:sp>
      </p:grpSp>
      <p:grpSp>
        <p:nvGrpSpPr>
          <p:cNvPr name="Group 15" id="15"/>
          <p:cNvGrpSpPr/>
          <p:nvPr/>
        </p:nvGrpSpPr>
        <p:grpSpPr>
          <a:xfrm rot="0">
            <a:off x="3811657" y="4914791"/>
            <a:ext cx="3906187" cy="3937164"/>
            <a:chOff x="0" y="0"/>
            <a:chExt cx="5208250" cy="5249552"/>
          </a:xfrm>
        </p:grpSpPr>
        <p:grpSp>
          <p:nvGrpSpPr>
            <p:cNvPr name="Group 16" id="16"/>
            <p:cNvGrpSpPr/>
            <p:nvPr/>
          </p:nvGrpSpPr>
          <p:grpSpPr>
            <a:xfrm rot="0">
              <a:off x="0" y="0"/>
              <a:ext cx="5208250" cy="5249552"/>
              <a:chOff x="0" y="0"/>
              <a:chExt cx="829689" cy="836268"/>
            </a:xfrm>
          </p:grpSpPr>
          <p:sp>
            <p:nvSpPr>
              <p:cNvPr name="Freeform 17" id="17"/>
              <p:cNvSpPr/>
              <p:nvPr/>
            </p:nvSpPr>
            <p:spPr>
              <a:xfrm flipH="false" flipV="false" rot="0">
                <a:off x="0" y="0"/>
                <a:ext cx="829689" cy="836268"/>
              </a:xfrm>
              <a:custGeom>
                <a:avLst/>
                <a:gdLst/>
                <a:ahLst/>
                <a:cxnLst/>
                <a:rect r="r" b="b" t="t" l="l"/>
                <a:pathLst>
                  <a:path h="836268" w="829689">
                    <a:moveTo>
                      <a:pt x="414844" y="0"/>
                    </a:moveTo>
                    <a:cubicBezTo>
                      <a:pt x="185732" y="0"/>
                      <a:pt x="0" y="187205"/>
                      <a:pt x="0" y="418134"/>
                    </a:cubicBezTo>
                    <a:cubicBezTo>
                      <a:pt x="0" y="649063"/>
                      <a:pt x="185732" y="836268"/>
                      <a:pt x="414844" y="836268"/>
                    </a:cubicBezTo>
                    <a:cubicBezTo>
                      <a:pt x="643957" y="836268"/>
                      <a:pt x="829689" y="649063"/>
                      <a:pt x="829689" y="418134"/>
                    </a:cubicBezTo>
                    <a:cubicBezTo>
                      <a:pt x="829689" y="187205"/>
                      <a:pt x="643957" y="0"/>
                      <a:pt x="414844" y="0"/>
                    </a:cubicBezTo>
                    <a:close/>
                  </a:path>
                </a:pathLst>
              </a:custGeom>
              <a:solidFill>
                <a:srgbClr val="CCCF91"/>
              </a:solidFill>
            </p:spPr>
          </p:sp>
          <p:sp>
            <p:nvSpPr>
              <p:cNvPr name="TextBox 18" id="18"/>
              <p:cNvSpPr txBox="true"/>
              <p:nvPr/>
            </p:nvSpPr>
            <p:spPr>
              <a:xfrm>
                <a:off x="77783" y="21250"/>
                <a:ext cx="674122" cy="736618"/>
              </a:xfrm>
              <a:prstGeom prst="rect">
                <a:avLst/>
              </a:prstGeom>
            </p:spPr>
            <p:txBody>
              <a:bodyPr anchor="ctr" rtlCol="false" tIns="50800" lIns="50800" bIns="50800" rIns="50800"/>
              <a:lstStyle/>
              <a:p>
                <a:pPr algn="ctr">
                  <a:lnSpc>
                    <a:spcPts val="1960"/>
                  </a:lnSpc>
                </a:pPr>
              </a:p>
            </p:txBody>
          </p:sp>
        </p:grpSp>
        <p:sp>
          <p:nvSpPr>
            <p:cNvPr name="TextBox 19" id="19"/>
            <p:cNvSpPr txBox="true"/>
            <p:nvPr/>
          </p:nvSpPr>
          <p:spPr>
            <a:xfrm rot="0">
              <a:off x="615394" y="845082"/>
              <a:ext cx="3977461" cy="3445087"/>
            </a:xfrm>
            <a:prstGeom prst="rect">
              <a:avLst/>
            </a:prstGeom>
          </p:spPr>
          <p:txBody>
            <a:bodyPr anchor="t" rtlCol="false" tIns="0" lIns="0" bIns="0" rIns="0">
              <a:spAutoFit/>
            </a:bodyPr>
            <a:lstStyle/>
            <a:p>
              <a:pPr algn="ctr">
                <a:lnSpc>
                  <a:spcPts val="4059"/>
                </a:lnSpc>
              </a:pPr>
              <a:r>
                <a:rPr lang="en-US" sz="2899">
                  <a:solidFill>
                    <a:srgbClr val="000000"/>
                  </a:solidFill>
                  <a:latin typeface="Futura"/>
                  <a:ea typeface="Futura"/>
                  <a:cs typeface="Futura"/>
                  <a:sym typeface="Futura"/>
                </a:rPr>
                <a:t>Each dot in the matrix represents a link among species in the community.</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5347"/>
            <a:ext cx="18288000" cy="10317693"/>
            <a:chOff x="0" y="0"/>
            <a:chExt cx="1149350" cy="1149350"/>
          </a:xfrm>
        </p:grpSpPr>
        <p:sp>
          <p:nvSpPr>
            <p:cNvPr name="Freeform 3" id="3"/>
            <p:cNvSpPr/>
            <p:nvPr/>
          </p:nvSpPr>
          <p:spPr>
            <a:xfrm flipH="false" flipV="false" rot="0">
              <a:off x="0" y="0"/>
              <a:ext cx="8975125" cy="5063571"/>
            </a:xfrm>
            <a:custGeom>
              <a:avLst/>
              <a:gdLst/>
              <a:ahLst/>
              <a:cxnLst/>
              <a:rect r="r" b="b" t="t" l="l"/>
              <a:pathLst>
                <a:path h="5063571" w="8975125">
                  <a:moveTo>
                    <a:pt x="8975125" y="55951"/>
                  </a:moveTo>
                  <a:lnTo>
                    <a:pt x="8975125" y="0"/>
                  </a:lnTo>
                  <a:lnTo>
                    <a:pt x="49586" y="0"/>
                  </a:lnTo>
                  <a:lnTo>
                    <a:pt x="49586" y="27976"/>
                  </a:lnTo>
                  <a:lnTo>
                    <a:pt x="0" y="27976"/>
                  </a:lnTo>
                  <a:lnTo>
                    <a:pt x="0" y="5063571"/>
                  </a:lnTo>
                  <a:lnTo>
                    <a:pt x="99173" y="5063571"/>
                  </a:lnTo>
                  <a:lnTo>
                    <a:pt x="99173" y="4084427"/>
                  </a:lnTo>
                  <a:lnTo>
                    <a:pt x="1785108" y="4084427"/>
                  </a:lnTo>
                  <a:lnTo>
                    <a:pt x="1785108" y="5063571"/>
                  </a:lnTo>
                  <a:lnTo>
                    <a:pt x="1884280" y="5063571"/>
                  </a:lnTo>
                  <a:lnTo>
                    <a:pt x="1884280" y="4084427"/>
                  </a:lnTo>
                  <a:lnTo>
                    <a:pt x="3570215" y="4084427"/>
                  </a:lnTo>
                  <a:lnTo>
                    <a:pt x="3570215" y="5063571"/>
                  </a:lnTo>
                  <a:lnTo>
                    <a:pt x="3669388" y="5063571"/>
                  </a:lnTo>
                  <a:lnTo>
                    <a:pt x="3669388" y="4084427"/>
                  </a:lnTo>
                  <a:lnTo>
                    <a:pt x="5355323" y="4084427"/>
                  </a:lnTo>
                  <a:lnTo>
                    <a:pt x="5355323" y="5063571"/>
                  </a:lnTo>
                  <a:lnTo>
                    <a:pt x="5454496" y="5063571"/>
                  </a:lnTo>
                  <a:lnTo>
                    <a:pt x="5454496" y="4084427"/>
                  </a:lnTo>
                  <a:lnTo>
                    <a:pt x="7140431" y="4084427"/>
                  </a:lnTo>
                  <a:lnTo>
                    <a:pt x="7140431" y="5063571"/>
                  </a:lnTo>
                  <a:lnTo>
                    <a:pt x="7239603" y="5063571"/>
                  </a:lnTo>
                  <a:lnTo>
                    <a:pt x="7239603" y="4084427"/>
                  </a:lnTo>
                  <a:lnTo>
                    <a:pt x="8975125" y="4084427"/>
                  </a:lnTo>
                  <a:lnTo>
                    <a:pt x="8975125" y="4028476"/>
                  </a:lnTo>
                  <a:lnTo>
                    <a:pt x="7239603" y="4028476"/>
                  </a:lnTo>
                  <a:lnTo>
                    <a:pt x="7239603" y="3077308"/>
                  </a:lnTo>
                  <a:lnTo>
                    <a:pt x="8975125" y="3077308"/>
                  </a:lnTo>
                  <a:lnTo>
                    <a:pt x="8975125" y="3021357"/>
                  </a:lnTo>
                  <a:lnTo>
                    <a:pt x="7239603" y="3021357"/>
                  </a:lnTo>
                  <a:lnTo>
                    <a:pt x="7239603" y="2070189"/>
                  </a:lnTo>
                  <a:lnTo>
                    <a:pt x="8975125" y="2070189"/>
                  </a:lnTo>
                  <a:lnTo>
                    <a:pt x="8975125" y="2014238"/>
                  </a:lnTo>
                  <a:lnTo>
                    <a:pt x="7239603" y="2014238"/>
                  </a:lnTo>
                  <a:lnTo>
                    <a:pt x="7239603" y="1063070"/>
                  </a:lnTo>
                  <a:lnTo>
                    <a:pt x="8975125" y="1063070"/>
                  </a:lnTo>
                  <a:lnTo>
                    <a:pt x="8975125" y="1007119"/>
                  </a:lnTo>
                  <a:lnTo>
                    <a:pt x="7239603" y="1007119"/>
                  </a:lnTo>
                  <a:lnTo>
                    <a:pt x="7239603" y="55951"/>
                  </a:lnTo>
                  <a:lnTo>
                    <a:pt x="8975125" y="55951"/>
                  </a:lnTo>
                  <a:close/>
                  <a:moveTo>
                    <a:pt x="1884280" y="1007119"/>
                  </a:moveTo>
                  <a:lnTo>
                    <a:pt x="1884280" y="55951"/>
                  </a:lnTo>
                  <a:lnTo>
                    <a:pt x="3570215" y="55951"/>
                  </a:lnTo>
                  <a:lnTo>
                    <a:pt x="3570215" y="1007119"/>
                  </a:lnTo>
                  <a:lnTo>
                    <a:pt x="1884280" y="1007119"/>
                  </a:lnTo>
                  <a:close/>
                  <a:moveTo>
                    <a:pt x="3570215" y="1063070"/>
                  </a:moveTo>
                  <a:lnTo>
                    <a:pt x="3570215" y="2014238"/>
                  </a:lnTo>
                  <a:lnTo>
                    <a:pt x="1884280" y="2014238"/>
                  </a:lnTo>
                  <a:lnTo>
                    <a:pt x="1884280" y="1063070"/>
                  </a:lnTo>
                  <a:lnTo>
                    <a:pt x="3570215" y="1063070"/>
                  </a:lnTo>
                  <a:close/>
                  <a:moveTo>
                    <a:pt x="1785108" y="1007119"/>
                  </a:moveTo>
                  <a:lnTo>
                    <a:pt x="99173" y="1007119"/>
                  </a:lnTo>
                  <a:lnTo>
                    <a:pt x="99173" y="55951"/>
                  </a:lnTo>
                  <a:lnTo>
                    <a:pt x="1785108" y="55951"/>
                  </a:lnTo>
                  <a:lnTo>
                    <a:pt x="1785108" y="1007119"/>
                  </a:lnTo>
                  <a:close/>
                  <a:moveTo>
                    <a:pt x="1785108" y="1063070"/>
                  </a:moveTo>
                  <a:lnTo>
                    <a:pt x="1785108" y="2014238"/>
                  </a:lnTo>
                  <a:lnTo>
                    <a:pt x="99173" y="2014238"/>
                  </a:lnTo>
                  <a:lnTo>
                    <a:pt x="99173" y="1063070"/>
                  </a:lnTo>
                  <a:lnTo>
                    <a:pt x="1785108" y="1063070"/>
                  </a:lnTo>
                  <a:close/>
                  <a:moveTo>
                    <a:pt x="1785108" y="2070189"/>
                  </a:moveTo>
                  <a:lnTo>
                    <a:pt x="1785108" y="3021357"/>
                  </a:lnTo>
                  <a:lnTo>
                    <a:pt x="99173" y="3021357"/>
                  </a:lnTo>
                  <a:lnTo>
                    <a:pt x="99173" y="2070189"/>
                  </a:lnTo>
                  <a:lnTo>
                    <a:pt x="1785108" y="2070189"/>
                  </a:lnTo>
                  <a:close/>
                  <a:moveTo>
                    <a:pt x="1884280" y="2070189"/>
                  </a:moveTo>
                  <a:lnTo>
                    <a:pt x="3570215" y="2070189"/>
                  </a:lnTo>
                  <a:lnTo>
                    <a:pt x="3570215" y="3021357"/>
                  </a:lnTo>
                  <a:lnTo>
                    <a:pt x="1884280" y="3021357"/>
                  </a:lnTo>
                  <a:lnTo>
                    <a:pt x="1884280" y="2070189"/>
                  </a:lnTo>
                  <a:close/>
                  <a:moveTo>
                    <a:pt x="3669388" y="2070189"/>
                  </a:moveTo>
                  <a:lnTo>
                    <a:pt x="5355323" y="2070189"/>
                  </a:lnTo>
                  <a:lnTo>
                    <a:pt x="5355323" y="3021357"/>
                  </a:lnTo>
                  <a:lnTo>
                    <a:pt x="3669388" y="3021357"/>
                  </a:lnTo>
                  <a:lnTo>
                    <a:pt x="3669388" y="2070189"/>
                  </a:lnTo>
                  <a:close/>
                  <a:moveTo>
                    <a:pt x="3669388" y="2014238"/>
                  </a:moveTo>
                  <a:lnTo>
                    <a:pt x="3669388" y="1063070"/>
                  </a:lnTo>
                  <a:lnTo>
                    <a:pt x="5355323" y="1063070"/>
                  </a:lnTo>
                  <a:lnTo>
                    <a:pt x="5355323" y="2014238"/>
                  </a:lnTo>
                  <a:lnTo>
                    <a:pt x="3669388" y="2014238"/>
                  </a:lnTo>
                  <a:close/>
                  <a:moveTo>
                    <a:pt x="3669388" y="1007119"/>
                  </a:moveTo>
                  <a:lnTo>
                    <a:pt x="3669388" y="55951"/>
                  </a:lnTo>
                  <a:lnTo>
                    <a:pt x="5355323" y="55951"/>
                  </a:lnTo>
                  <a:lnTo>
                    <a:pt x="5355323" y="1007119"/>
                  </a:lnTo>
                  <a:lnTo>
                    <a:pt x="3669388" y="1007119"/>
                  </a:lnTo>
                  <a:close/>
                  <a:moveTo>
                    <a:pt x="99173" y="4028476"/>
                  </a:moveTo>
                  <a:lnTo>
                    <a:pt x="99173" y="3077308"/>
                  </a:lnTo>
                  <a:lnTo>
                    <a:pt x="1785108" y="3077308"/>
                  </a:lnTo>
                  <a:lnTo>
                    <a:pt x="1785108" y="4028476"/>
                  </a:lnTo>
                  <a:lnTo>
                    <a:pt x="99173" y="4028476"/>
                  </a:lnTo>
                  <a:close/>
                  <a:moveTo>
                    <a:pt x="1884280" y="4028476"/>
                  </a:moveTo>
                  <a:lnTo>
                    <a:pt x="1884280" y="3077308"/>
                  </a:lnTo>
                  <a:lnTo>
                    <a:pt x="3570215" y="3077308"/>
                  </a:lnTo>
                  <a:lnTo>
                    <a:pt x="3570215" y="4028476"/>
                  </a:lnTo>
                  <a:lnTo>
                    <a:pt x="1884280" y="4028476"/>
                  </a:lnTo>
                  <a:close/>
                  <a:moveTo>
                    <a:pt x="3669388" y="4028476"/>
                  </a:moveTo>
                  <a:lnTo>
                    <a:pt x="3669388" y="3077308"/>
                  </a:lnTo>
                  <a:lnTo>
                    <a:pt x="5355323" y="3077308"/>
                  </a:lnTo>
                  <a:lnTo>
                    <a:pt x="5355323" y="4028476"/>
                  </a:lnTo>
                  <a:lnTo>
                    <a:pt x="3669388" y="4028476"/>
                  </a:lnTo>
                  <a:close/>
                  <a:moveTo>
                    <a:pt x="7140431" y="4028476"/>
                  </a:moveTo>
                  <a:lnTo>
                    <a:pt x="5454496" y="4028476"/>
                  </a:lnTo>
                  <a:lnTo>
                    <a:pt x="5454496" y="3077308"/>
                  </a:lnTo>
                  <a:lnTo>
                    <a:pt x="7140431" y="3077308"/>
                  </a:lnTo>
                  <a:lnTo>
                    <a:pt x="7140431" y="4028476"/>
                  </a:lnTo>
                  <a:close/>
                  <a:moveTo>
                    <a:pt x="7140431" y="3021357"/>
                  </a:moveTo>
                  <a:lnTo>
                    <a:pt x="5454496" y="3021357"/>
                  </a:lnTo>
                  <a:lnTo>
                    <a:pt x="5454496" y="2070189"/>
                  </a:lnTo>
                  <a:lnTo>
                    <a:pt x="7140431" y="2070189"/>
                  </a:lnTo>
                  <a:lnTo>
                    <a:pt x="7140431" y="3021357"/>
                  </a:lnTo>
                  <a:close/>
                  <a:moveTo>
                    <a:pt x="7140431" y="2014238"/>
                  </a:moveTo>
                  <a:lnTo>
                    <a:pt x="5454496" y="2014238"/>
                  </a:lnTo>
                  <a:lnTo>
                    <a:pt x="5454496" y="1063070"/>
                  </a:lnTo>
                  <a:lnTo>
                    <a:pt x="7140431" y="1063070"/>
                  </a:lnTo>
                  <a:lnTo>
                    <a:pt x="7140431" y="2014238"/>
                  </a:lnTo>
                  <a:close/>
                  <a:moveTo>
                    <a:pt x="7140431" y="1007119"/>
                  </a:moveTo>
                  <a:lnTo>
                    <a:pt x="5454496" y="1007119"/>
                  </a:lnTo>
                  <a:lnTo>
                    <a:pt x="5454496" y="55951"/>
                  </a:lnTo>
                  <a:lnTo>
                    <a:pt x="7140431" y="55951"/>
                  </a:lnTo>
                  <a:lnTo>
                    <a:pt x="7140431" y="1007119"/>
                  </a:lnTo>
                  <a:close/>
                </a:path>
              </a:pathLst>
            </a:custGeom>
            <a:solidFill>
              <a:srgbClr val="000000">
                <a:alpha val="18824"/>
              </a:srgbClr>
            </a:solidFill>
          </p:spPr>
        </p:sp>
      </p:grpSp>
      <p:sp>
        <p:nvSpPr>
          <p:cNvPr name="Freeform 4" id="4" descr="This alt text was created for the whole figure, and some of it may not apply to this partial figure.   An illustration and a line graph show the measures of food web complexity. A shows a food web diagram for the sea animals in the order from the..."/>
          <p:cNvSpPr/>
          <p:nvPr/>
        </p:nvSpPr>
        <p:spPr>
          <a:xfrm flipH="false" flipV="false" rot="0">
            <a:off x="8580747" y="2809847"/>
            <a:ext cx="9453805" cy="6448453"/>
          </a:xfrm>
          <a:custGeom>
            <a:avLst/>
            <a:gdLst/>
            <a:ahLst/>
            <a:cxnLst/>
            <a:rect r="r" b="b" t="t" l="l"/>
            <a:pathLst>
              <a:path h="6448453" w="9453805">
                <a:moveTo>
                  <a:pt x="0" y="0"/>
                </a:moveTo>
                <a:lnTo>
                  <a:pt x="9453805" y="0"/>
                </a:lnTo>
                <a:lnTo>
                  <a:pt x="9453805" y="6448453"/>
                </a:lnTo>
                <a:lnTo>
                  <a:pt x="0" y="6448453"/>
                </a:lnTo>
                <a:lnTo>
                  <a:pt x="0" y="0"/>
                </a:lnTo>
                <a:close/>
              </a:path>
            </a:pathLst>
          </a:custGeom>
          <a:blipFill>
            <a:blip r:embed="rId2"/>
            <a:stretch>
              <a:fillRect l="-5740" t="-8779" r="0" b="-6047"/>
            </a:stretch>
          </a:blipFill>
        </p:spPr>
      </p:sp>
      <p:grpSp>
        <p:nvGrpSpPr>
          <p:cNvPr name="Group 5" id="5"/>
          <p:cNvGrpSpPr/>
          <p:nvPr/>
        </p:nvGrpSpPr>
        <p:grpSpPr>
          <a:xfrm rot="0">
            <a:off x="1028700" y="1681923"/>
            <a:ext cx="8260045" cy="2697806"/>
            <a:chOff x="0" y="0"/>
            <a:chExt cx="11013394" cy="3597075"/>
          </a:xfrm>
        </p:grpSpPr>
        <p:grpSp>
          <p:nvGrpSpPr>
            <p:cNvPr name="Group 6" id="6"/>
            <p:cNvGrpSpPr/>
            <p:nvPr/>
          </p:nvGrpSpPr>
          <p:grpSpPr>
            <a:xfrm rot="0">
              <a:off x="0" y="0"/>
              <a:ext cx="11013394" cy="3597075"/>
              <a:chOff x="0" y="0"/>
              <a:chExt cx="3002085" cy="980508"/>
            </a:xfrm>
          </p:grpSpPr>
          <p:sp>
            <p:nvSpPr>
              <p:cNvPr name="Freeform 7" id="7"/>
              <p:cNvSpPr/>
              <p:nvPr/>
            </p:nvSpPr>
            <p:spPr>
              <a:xfrm flipH="false" flipV="false" rot="0">
                <a:off x="0" y="0"/>
                <a:ext cx="3002085" cy="980508"/>
              </a:xfrm>
              <a:custGeom>
                <a:avLst/>
                <a:gdLst/>
                <a:ahLst/>
                <a:cxnLst/>
                <a:rect r="r" b="b" t="t" l="l"/>
                <a:pathLst>
                  <a:path h="980508" w="3002085">
                    <a:moveTo>
                      <a:pt x="47801" y="0"/>
                    </a:moveTo>
                    <a:lnTo>
                      <a:pt x="2954284" y="0"/>
                    </a:lnTo>
                    <a:cubicBezTo>
                      <a:pt x="2980684" y="0"/>
                      <a:pt x="3002085" y="21401"/>
                      <a:pt x="3002085" y="47801"/>
                    </a:cubicBezTo>
                    <a:lnTo>
                      <a:pt x="3002085" y="932708"/>
                    </a:lnTo>
                    <a:cubicBezTo>
                      <a:pt x="3002085" y="945385"/>
                      <a:pt x="2997049" y="957543"/>
                      <a:pt x="2988085" y="966508"/>
                    </a:cubicBezTo>
                    <a:cubicBezTo>
                      <a:pt x="2979120" y="975472"/>
                      <a:pt x="2966962" y="980508"/>
                      <a:pt x="2954284" y="980508"/>
                    </a:cubicBezTo>
                    <a:lnTo>
                      <a:pt x="47801" y="980508"/>
                    </a:lnTo>
                    <a:cubicBezTo>
                      <a:pt x="21401" y="980508"/>
                      <a:pt x="0" y="959107"/>
                      <a:pt x="0" y="932708"/>
                    </a:cubicBezTo>
                    <a:lnTo>
                      <a:pt x="0" y="47801"/>
                    </a:lnTo>
                    <a:cubicBezTo>
                      <a:pt x="0" y="21401"/>
                      <a:pt x="21401" y="0"/>
                      <a:pt x="47801" y="0"/>
                    </a:cubicBezTo>
                    <a:close/>
                  </a:path>
                </a:pathLst>
              </a:custGeom>
              <a:solidFill>
                <a:srgbClr val="DCE1CE"/>
              </a:solidFill>
              <a:ln w="38100" cap="rnd">
                <a:solidFill>
                  <a:srgbClr val="000000"/>
                </a:solidFill>
                <a:prstDash val="solid"/>
                <a:round/>
              </a:ln>
            </p:spPr>
          </p:sp>
          <p:sp>
            <p:nvSpPr>
              <p:cNvPr name="TextBox 8" id="8"/>
              <p:cNvSpPr txBox="true"/>
              <p:nvPr/>
            </p:nvSpPr>
            <p:spPr>
              <a:xfrm>
                <a:off x="0" y="-133350"/>
                <a:ext cx="3002085" cy="1113858"/>
              </a:xfrm>
              <a:prstGeom prst="rect">
                <a:avLst/>
              </a:prstGeom>
            </p:spPr>
            <p:txBody>
              <a:bodyPr anchor="ctr" rtlCol="false" tIns="50800" lIns="50800" bIns="50800" rIns="50800"/>
              <a:lstStyle/>
              <a:p>
                <a:pPr algn="l">
                  <a:lnSpc>
                    <a:spcPts val="4200"/>
                  </a:lnSpc>
                  <a:spcBef>
                    <a:spcPct val="0"/>
                  </a:spcBef>
                </a:pPr>
              </a:p>
            </p:txBody>
          </p:sp>
        </p:grpSp>
        <p:sp>
          <p:nvSpPr>
            <p:cNvPr name="TextBox 9" id="9"/>
            <p:cNvSpPr txBox="true"/>
            <p:nvPr/>
          </p:nvSpPr>
          <p:spPr>
            <a:xfrm rot="0">
              <a:off x="500051" y="1021239"/>
              <a:ext cx="10013291" cy="2073487"/>
            </a:xfrm>
            <a:prstGeom prst="rect">
              <a:avLst/>
            </a:prstGeom>
          </p:spPr>
          <p:txBody>
            <a:bodyPr anchor="t" rtlCol="false" tIns="0" lIns="0" bIns="0" rIns="0">
              <a:spAutoFit/>
            </a:bodyPr>
            <a:lstStyle/>
            <a:p>
              <a:pPr algn="ctr">
                <a:lnSpc>
                  <a:spcPts val="4059"/>
                </a:lnSpc>
              </a:pPr>
              <a:r>
                <a:rPr lang="en-US" sz="2899">
                  <a:solidFill>
                    <a:srgbClr val="000000"/>
                  </a:solidFill>
                  <a:latin typeface="Futura"/>
                  <a:ea typeface="Futura"/>
                  <a:cs typeface="Futura"/>
                  <a:sym typeface="Futura"/>
                </a:rPr>
                <a:t>Food webs depict feeding relationships between species that occupy different trophic levels in a community</a:t>
              </a:r>
            </a:p>
          </p:txBody>
        </p:sp>
      </p:grpSp>
      <p:grpSp>
        <p:nvGrpSpPr>
          <p:cNvPr name="Group 10" id="10"/>
          <p:cNvGrpSpPr/>
          <p:nvPr/>
        </p:nvGrpSpPr>
        <p:grpSpPr>
          <a:xfrm rot="0">
            <a:off x="2367375" y="1028700"/>
            <a:ext cx="5582695" cy="1306447"/>
            <a:chOff x="0" y="0"/>
            <a:chExt cx="7443593" cy="1741929"/>
          </a:xfrm>
        </p:grpSpPr>
        <p:grpSp>
          <p:nvGrpSpPr>
            <p:cNvPr name="Group 11" id="11"/>
            <p:cNvGrpSpPr/>
            <p:nvPr/>
          </p:nvGrpSpPr>
          <p:grpSpPr>
            <a:xfrm rot="0">
              <a:off x="0" y="0"/>
              <a:ext cx="7443593" cy="1741929"/>
              <a:chOff x="0" y="0"/>
              <a:chExt cx="1470339" cy="344085"/>
            </a:xfrm>
          </p:grpSpPr>
          <p:sp>
            <p:nvSpPr>
              <p:cNvPr name="Freeform 12" id="12"/>
              <p:cNvSpPr/>
              <p:nvPr/>
            </p:nvSpPr>
            <p:spPr>
              <a:xfrm flipH="false" flipV="false" rot="0">
                <a:off x="0" y="0"/>
                <a:ext cx="1470339" cy="344085"/>
              </a:xfrm>
              <a:custGeom>
                <a:avLst/>
                <a:gdLst/>
                <a:ahLst/>
                <a:cxnLst/>
                <a:rect r="r" b="b" t="t" l="l"/>
                <a:pathLst>
                  <a:path h="344085" w="1470339">
                    <a:moveTo>
                      <a:pt x="70725" y="0"/>
                    </a:moveTo>
                    <a:lnTo>
                      <a:pt x="1399614" y="0"/>
                    </a:lnTo>
                    <a:cubicBezTo>
                      <a:pt x="1418372" y="0"/>
                      <a:pt x="1436361" y="7451"/>
                      <a:pt x="1449624" y="20715"/>
                    </a:cubicBezTo>
                    <a:cubicBezTo>
                      <a:pt x="1462888" y="33979"/>
                      <a:pt x="1470339" y="51968"/>
                      <a:pt x="1470339" y="70725"/>
                    </a:cubicBezTo>
                    <a:lnTo>
                      <a:pt x="1470339" y="273359"/>
                    </a:lnTo>
                    <a:cubicBezTo>
                      <a:pt x="1470339" y="312420"/>
                      <a:pt x="1438674" y="344085"/>
                      <a:pt x="1399614" y="344085"/>
                    </a:cubicBezTo>
                    <a:lnTo>
                      <a:pt x="70725" y="344085"/>
                    </a:lnTo>
                    <a:cubicBezTo>
                      <a:pt x="31665" y="344085"/>
                      <a:pt x="0" y="312420"/>
                      <a:pt x="0" y="273359"/>
                    </a:cubicBezTo>
                    <a:lnTo>
                      <a:pt x="0" y="70725"/>
                    </a:lnTo>
                    <a:cubicBezTo>
                      <a:pt x="0" y="31665"/>
                      <a:pt x="31665" y="0"/>
                      <a:pt x="70725" y="0"/>
                    </a:cubicBezTo>
                    <a:close/>
                  </a:path>
                </a:pathLst>
              </a:custGeom>
              <a:solidFill>
                <a:srgbClr val="CF9D32"/>
              </a:solidFill>
              <a:ln w="38100" cap="rnd">
                <a:solidFill>
                  <a:srgbClr val="000000"/>
                </a:solidFill>
                <a:prstDash val="solid"/>
                <a:round/>
              </a:ln>
            </p:spPr>
          </p:sp>
          <p:sp>
            <p:nvSpPr>
              <p:cNvPr name="TextBox 13" id="13"/>
              <p:cNvSpPr txBox="true"/>
              <p:nvPr/>
            </p:nvSpPr>
            <p:spPr>
              <a:xfrm>
                <a:off x="0" y="-38100"/>
                <a:ext cx="1470339" cy="382185"/>
              </a:xfrm>
              <a:prstGeom prst="rect">
                <a:avLst/>
              </a:prstGeom>
            </p:spPr>
            <p:txBody>
              <a:bodyPr anchor="ctr" rtlCol="false" tIns="50800" lIns="50800" bIns="50800" rIns="50800"/>
              <a:lstStyle/>
              <a:p>
                <a:pPr algn="ctr">
                  <a:lnSpc>
                    <a:spcPts val="2799"/>
                  </a:lnSpc>
                  <a:spcBef>
                    <a:spcPct val="0"/>
                  </a:spcBef>
                </a:pPr>
              </a:p>
            </p:txBody>
          </p:sp>
        </p:grpSp>
        <p:sp>
          <p:nvSpPr>
            <p:cNvPr name="TextBox 14" id="14"/>
            <p:cNvSpPr txBox="true"/>
            <p:nvPr/>
          </p:nvSpPr>
          <p:spPr>
            <a:xfrm rot="0">
              <a:off x="187841" y="183344"/>
              <a:ext cx="7067911" cy="1365716"/>
            </a:xfrm>
            <a:prstGeom prst="rect">
              <a:avLst/>
            </a:prstGeom>
          </p:spPr>
          <p:txBody>
            <a:bodyPr anchor="t" rtlCol="false" tIns="0" lIns="0" bIns="0" rIns="0">
              <a:spAutoFit/>
            </a:bodyPr>
            <a:lstStyle/>
            <a:p>
              <a:pPr algn="ctr">
                <a:lnSpc>
                  <a:spcPts val="7905"/>
                </a:lnSpc>
              </a:pPr>
              <a:r>
                <a:rPr lang="en-US" sz="6699">
                  <a:solidFill>
                    <a:srgbClr val="000000"/>
                  </a:solidFill>
                  <a:latin typeface="Lilita One"/>
                  <a:ea typeface="Lilita One"/>
                  <a:cs typeface="Lilita One"/>
                  <a:sym typeface="Lilita One"/>
                </a:rPr>
                <a:t>Food webs</a:t>
              </a:r>
            </a:p>
          </p:txBody>
        </p:sp>
      </p:grpSp>
      <p:grpSp>
        <p:nvGrpSpPr>
          <p:cNvPr name="Group 15" id="15"/>
          <p:cNvGrpSpPr/>
          <p:nvPr/>
        </p:nvGrpSpPr>
        <p:grpSpPr>
          <a:xfrm rot="0">
            <a:off x="3493604" y="4914791"/>
            <a:ext cx="4224239" cy="4116234"/>
            <a:chOff x="0" y="0"/>
            <a:chExt cx="5632319" cy="5488312"/>
          </a:xfrm>
        </p:grpSpPr>
        <p:grpSp>
          <p:nvGrpSpPr>
            <p:cNvPr name="Group 16" id="16"/>
            <p:cNvGrpSpPr/>
            <p:nvPr/>
          </p:nvGrpSpPr>
          <p:grpSpPr>
            <a:xfrm rot="0">
              <a:off x="0" y="0"/>
              <a:ext cx="5632319" cy="5488312"/>
              <a:chOff x="0" y="0"/>
              <a:chExt cx="897244" cy="874304"/>
            </a:xfrm>
          </p:grpSpPr>
          <p:sp>
            <p:nvSpPr>
              <p:cNvPr name="Freeform 17" id="17"/>
              <p:cNvSpPr/>
              <p:nvPr/>
            </p:nvSpPr>
            <p:spPr>
              <a:xfrm flipH="false" flipV="false" rot="0">
                <a:off x="0" y="0"/>
                <a:ext cx="897244" cy="874304"/>
              </a:xfrm>
              <a:custGeom>
                <a:avLst/>
                <a:gdLst/>
                <a:ahLst/>
                <a:cxnLst/>
                <a:rect r="r" b="b" t="t" l="l"/>
                <a:pathLst>
                  <a:path h="874304" w="897244">
                    <a:moveTo>
                      <a:pt x="448622" y="0"/>
                    </a:moveTo>
                    <a:cubicBezTo>
                      <a:pt x="200855" y="0"/>
                      <a:pt x="0" y="195720"/>
                      <a:pt x="0" y="437152"/>
                    </a:cubicBezTo>
                    <a:cubicBezTo>
                      <a:pt x="0" y="678584"/>
                      <a:pt x="200855" y="874304"/>
                      <a:pt x="448622" y="874304"/>
                    </a:cubicBezTo>
                    <a:cubicBezTo>
                      <a:pt x="696389" y="874304"/>
                      <a:pt x="897244" y="678584"/>
                      <a:pt x="897244" y="437152"/>
                    </a:cubicBezTo>
                    <a:cubicBezTo>
                      <a:pt x="897244" y="195720"/>
                      <a:pt x="696389" y="0"/>
                      <a:pt x="448622" y="0"/>
                    </a:cubicBezTo>
                    <a:close/>
                  </a:path>
                </a:pathLst>
              </a:custGeom>
              <a:solidFill>
                <a:srgbClr val="CCCF91"/>
              </a:solidFill>
            </p:spPr>
          </p:sp>
          <p:sp>
            <p:nvSpPr>
              <p:cNvPr name="TextBox 18" id="18"/>
              <p:cNvSpPr txBox="true"/>
              <p:nvPr/>
            </p:nvSpPr>
            <p:spPr>
              <a:xfrm>
                <a:off x="84117" y="24816"/>
                <a:ext cx="729011" cy="767522"/>
              </a:xfrm>
              <a:prstGeom prst="rect">
                <a:avLst/>
              </a:prstGeom>
            </p:spPr>
            <p:txBody>
              <a:bodyPr anchor="ctr" rtlCol="false" tIns="50800" lIns="50800" bIns="50800" rIns="50800"/>
              <a:lstStyle/>
              <a:p>
                <a:pPr algn="ctr">
                  <a:lnSpc>
                    <a:spcPts val="1960"/>
                  </a:lnSpc>
                </a:pPr>
              </a:p>
            </p:txBody>
          </p:sp>
        </p:grpSp>
        <p:sp>
          <p:nvSpPr>
            <p:cNvPr name="TextBox 19" id="19"/>
            <p:cNvSpPr txBox="true"/>
            <p:nvPr/>
          </p:nvSpPr>
          <p:spPr>
            <a:xfrm rot="0">
              <a:off x="665501" y="854607"/>
              <a:ext cx="4301317" cy="3674322"/>
            </a:xfrm>
            <a:prstGeom prst="rect">
              <a:avLst/>
            </a:prstGeom>
          </p:spPr>
          <p:txBody>
            <a:bodyPr anchor="t" rtlCol="false" tIns="0" lIns="0" bIns="0" rIns="0">
              <a:spAutoFit/>
            </a:bodyPr>
            <a:lstStyle/>
            <a:p>
              <a:pPr algn="ctr">
                <a:lnSpc>
                  <a:spcPts val="3639"/>
                </a:lnSpc>
              </a:pPr>
              <a:r>
                <a:rPr lang="en-US" sz="2599">
                  <a:solidFill>
                    <a:srgbClr val="000000"/>
                  </a:solidFill>
                  <a:latin typeface="Futura"/>
                  <a:ea typeface="Futura"/>
                  <a:cs typeface="Futura"/>
                  <a:sym typeface="Futura"/>
                </a:rPr>
                <a:t>They can be used to calculate the linkage density and connectance of species in the food web.</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5347"/>
            <a:ext cx="18288000" cy="10317693"/>
            <a:chOff x="0" y="0"/>
            <a:chExt cx="1149350" cy="1149350"/>
          </a:xfrm>
        </p:grpSpPr>
        <p:sp>
          <p:nvSpPr>
            <p:cNvPr name="Freeform 3" id="3"/>
            <p:cNvSpPr/>
            <p:nvPr/>
          </p:nvSpPr>
          <p:spPr>
            <a:xfrm flipH="false" flipV="false" rot="0">
              <a:off x="0" y="0"/>
              <a:ext cx="8975125" cy="5063571"/>
            </a:xfrm>
            <a:custGeom>
              <a:avLst/>
              <a:gdLst/>
              <a:ahLst/>
              <a:cxnLst/>
              <a:rect r="r" b="b" t="t" l="l"/>
              <a:pathLst>
                <a:path h="5063571" w="8975125">
                  <a:moveTo>
                    <a:pt x="8975125" y="55951"/>
                  </a:moveTo>
                  <a:lnTo>
                    <a:pt x="8975125" y="0"/>
                  </a:lnTo>
                  <a:lnTo>
                    <a:pt x="49586" y="0"/>
                  </a:lnTo>
                  <a:lnTo>
                    <a:pt x="49586" y="27976"/>
                  </a:lnTo>
                  <a:lnTo>
                    <a:pt x="0" y="27976"/>
                  </a:lnTo>
                  <a:lnTo>
                    <a:pt x="0" y="5063571"/>
                  </a:lnTo>
                  <a:lnTo>
                    <a:pt x="99173" y="5063571"/>
                  </a:lnTo>
                  <a:lnTo>
                    <a:pt x="99173" y="4084427"/>
                  </a:lnTo>
                  <a:lnTo>
                    <a:pt x="1785108" y="4084427"/>
                  </a:lnTo>
                  <a:lnTo>
                    <a:pt x="1785108" y="5063571"/>
                  </a:lnTo>
                  <a:lnTo>
                    <a:pt x="1884280" y="5063571"/>
                  </a:lnTo>
                  <a:lnTo>
                    <a:pt x="1884280" y="4084427"/>
                  </a:lnTo>
                  <a:lnTo>
                    <a:pt x="3570215" y="4084427"/>
                  </a:lnTo>
                  <a:lnTo>
                    <a:pt x="3570215" y="5063571"/>
                  </a:lnTo>
                  <a:lnTo>
                    <a:pt x="3669388" y="5063571"/>
                  </a:lnTo>
                  <a:lnTo>
                    <a:pt x="3669388" y="4084427"/>
                  </a:lnTo>
                  <a:lnTo>
                    <a:pt x="5355323" y="4084427"/>
                  </a:lnTo>
                  <a:lnTo>
                    <a:pt x="5355323" y="5063571"/>
                  </a:lnTo>
                  <a:lnTo>
                    <a:pt x="5454496" y="5063571"/>
                  </a:lnTo>
                  <a:lnTo>
                    <a:pt x="5454496" y="4084427"/>
                  </a:lnTo>
                  <a:lnTo>
                    <a:pt x="7140431" y="4084427"/>
                  </a:lnTo>
                  <a:lnTo>
                    <a:pt x="7140431" y="5063571"/>
                  </a:lnTo>
                  <a:lnTo>
                    <a:pt x="7239603" y="5063571"/>
                  </a:lnTo>
                  <a:lnTo>
                    <a:pt x="7239603" y="4084427"/>
                  </a:lnTo>
                  <a:lnTo>
                    <a:pt x="8975125" y="4084427"/>
                  </a:lnTo>
                  <a:lnTo>
                    <a:pt x="8975125" y="4028476"/>
                  </a:lnTo>
                  <a:lnTo>
                    <a:pt x="7239603" y="4028476"/>
                  </a:lnTo>
                  <a:lnTo>
                    <a:pt x="7239603" y="3077308"/>
                  </a:lnTo>
                  <a:lnTo>
                    <a:pt x="8975125" y="3077308"/>
                  </a:lnTo>
                  <a:lnTo>
                    <a:pt x="8975125" y="3021357"/>
                  </a:lnTo>
                  <a:lnTo>
                    <a:pt x="7239603" y="3021357"/>
                  </a:lnTo>
                  <a:lnTo>
                    <a:pt x="7239603" y="2070189"/>
                  </a:lnTo>
                  <a:lnTo>
                    <a:pt x="8975125" y="2070189"/>
                  </a:lnTo>
                  <a:lnTo>
                    <a:pt x="8975125" y="2014238"/>
                  </a:lnTo>
                  <a:lnTo>
                    <a:pt x="7239603" y="2014238"/>
                  </a:lnTo>
                  <a:lnTo>
                    <a:pt x="7239603" y="1063070"/>
                  </a:lnTo>
                  <a:lnTo>
                    <a:pt x="8975125" y="1063070"/>
                  </a:lnTo>
                  <a:lnTo>
                    <a:pt x="8975125" y="1007119"/>
                  </a:lnTo>
                  <a:lnTo>
                    <a:pt x="7239603" y="1007119"/>
                  </a:lnTo>
                  <a:lnTo>
                    <a:pt x="7239603" y="55951"/>
                  </a:lnTo>
                  <a:lnTo>
                    <a:pt x="8975125" y="55951"/>
                  </a:lnTo>
                  <a:close/>
                  <a:moveTo>
                    <a:pt x="1884280" y="1007119"/>
                  </a:moveTo>
                  <a:lnTo>
                    <a:pt x="1884280" y="55951"/>
                  </a:lnTo>
                  <a:lnTo>
                    <a:pt x="3570215" y="55951"/>
                  </a:lnTo>
                  <a:lnTo>
                    <a:pt x="3570215" y="1007119"/>
                  </a:lnTo>
                  <a:lnTo>
                    <a:pt x="1884280" y="1007119"/>
                  </a:lnTo>
                  <a:close/>
                  <a:moveTo>
                    <a:pt x="3570215" y="1063070"/>
                  </a:moveTo>
                  <a:lnTo>
                    <a:pt x="3570215" y="2014238"/>
                  </a:lnTo>
                  <a:lnTo>
                    <a:pt x="1884280" y="2014238"/>
                  </a:lnTo>
                  <a:lnTo>
                    <a:pt x="1884280" y="1063070"/>
                  </a:lnTo>
                  <a:lnTo>
                    <a:pt x="3570215" y="1063070"/>
                  </a:lnTo>
                  <a:close/>
                  <a:moveTo>
                    <a:pt x="1785108" y="1007119"/>
                  </a:moveTo>
                  <a:lnTo>
                    <a:pt x="99173" y="1007119"/>
                  </a:lnTo>
                  <a:lnTo>
                    <a:pt x="99173" y="55951"/>
                  </a:lnTo>
                  <a:lnTo>
                    <a:pt x="1785108" y="55951"/>
                  </a:lnTo>
                  <a:lnTo>
                    <a:pt x="1785108" y="1007119"/>
                  </a:lnTo>
                  <a:close/>
                  <a:moveTo>
                    <a:pt x="1785108" y="1063070"/>
                  </a:moveTo>
                  <a:lnTo>
                    <a:pt x="1785108" y="2014238"/>
                  </a:lnTo>
                  <a:lnTo>
                    <a:pt x="99173" y="2014238"/>
                  </a:lnTo>
                  <a:lnTo>
                    <a:pt x="99173" y="1063070"/>
                  </a:lnTo>
                  <a:lnTo>
                    <a:pt x="1785108" y="1063070"/>
                  </a:lnTo>
                  <a:close/>
                  <a:moveTo>
                    <a:pt x="1785108" y="2070189"/>
                  </a:moveTo>
                  <a:lnTo>
                    <a:pt x="1785108" y="3021357"/>
                  </a:lnTo>
                  <a:lnTo>
                    <a:pt x="99173" y="3021357"/>
                  </a:lnTo>
                  <a:lnTo>
                    <a:pt x="99173" y="2070189"/>
                  </a:lnTo>
                  <a:lnTo>
                    <a:pt x="1785108" y="2070189"/>
                  </a:lnTo>
                  <a:close/>
                  <a:moveTo>
                    <a:pt x="1884280" y="2070189"/>
                  </a:moveTo>
                  <a:lnTo>
                    <a:pt x="3570215" y="2070189"/>
                  </a:lnTo>
                  <a:lnTo>
                    <a:pt x="3570215" y="3021357"/>
                  </a:lnTo>
                  <a:lnTo>
                    <a:pt x="1884280" y="3021357"/>
                  </a:lnTo>
                  <a:lnTo>
                    <a:pt x="1884280" y="2070189"/>
                  </a:lnTo>
                  <a:close/>
                  <a:moveTo>
                    <a:pt x="3669388" y="2070189"/>
                  </a:moveTo>
                  <a:lnTo>
                    <a:pt x="5355323" y="2070189"/>
                  </a:lnTo>
                  <a:lnTo>
                    <a:pt x="5355323" y="3021357"/>
                  </a:lnTo>
                  <a:lnTo>
                    <a:pt x="3669388" y="3021357"/>
                  </a:lnTo>
                  <a:lnTo>
                    <a:pt x="3669388" y="2070189"/>
                  </a:lnTo>
                  <a:close/>
                  <a:moveTo>
                    <a:pt x="3669388" y="2014238"/>
                  </a:moveTo>
                  <a:lnTo>
                    <a:pt x="3669388" y="1063070"/>
                  </a:lnTo>
                  <a:lnTo>
                    <a:pt x="5355323" y="1063070"/>
                  </a:lnTo>
                  <a:lnTo>
                    <a:pt x="5355323" y="2014238"/>
                  </a:lnTo>
                  <a:lnTo>
                    <a:pt x="3669388" y="2014238"/>
                  </a:lnTo>
                  <a:close/>
                  <a:moveTo>
                    <a:pt x="3669388" y="1007119"/>
                  </a:moveTo>
                  <a:lnTo>
                    <a:pt x="3669388" y="55951"/>
                  </a:lnTo>
                  <a:lnTo>
                    <a:pt x="5355323" y="55951"/>
                  </a:lnTo>
                  <a:lnTo>
                    <a:pt x="5355323" y="1007119"/>
                  </a:lnTo>
                  <a:lnTo>
                    <a:pt x="3669388" y="1007119"/>
                  </a:lnTo>
                  <a:close/>
                  <a:moveTo>
                    <a:pt x="99173" y="4028476"/>
                  </a:moveTo>
                  <a:lnTo>
                    <a:pt x="99173" y="3077308"/>
                  </a:lnTo>
                  <a:lnTo>
                    <a:pt x="1785108" y="3077308"/>
                  </a:lnTo>
                  <a:lnTo>
                    <a:pt x="1785108" y="4028476"/>
                  </a:lnTo>
                  <a:lnTo>
                    <a:pt x="99173" y="4028476"/>
                  </a:lnTo>
                  <a:close/>
                  <a:moveTo>
                    <a:pt x="1884280" y="4028476"/>
                  </a:moveTo>
                  <a:lnTo>
                    <a:pt x="1884280" y="3077308"/>
                  </a:lnTo>
                  <a:lnTo>
                    <a:pt x="3570215" y="3077308"/>
                  </a:lnTo>
                  <a:lnTo>
                    <a:pt x="3570215" y="4028476"/>
                  </a:lnTo>
                  <a:lnTo>
                    <a:pt x="1884280" y="4028476"/>
                  </a:lnTo>
                  <a:close/>
                  <a:moveTo>
                    <a:pt x="3669388" y="4028476"/>
                  </a:moveTo>
                  <a:lnTo>
                    <a:pt x="3669388" y="3077308"/>
                  </a:lnTo>
                  <a:lnTo>
                    <a:pt x="5355323" y="3077308"/>
                  </a:lnTo>
                  <a:lnTo>
                    <a:pt x="5355323" y="4028476"/>
                  </a:lnTo>
                  <a:lnTo>
                    <a:pt x="3669388" y="4028476"/>
                  </a:lnTo>
                  <a:close/>
                  <a:moveTo>
                    <a:pt x="7140431" y="4028476"/>
                  </a:moveTo>
                  <a:lnTo>
                    <a:pt x="5454496" y="4028476"/>
                  </a:lnTo>
                  <a:lnTo>
                    <a:pt x="5454496" y="3077308"/>
                  </a:lnTo>
                  <a:lnTo>
                    <a:pt x="7140431" y="3077308"/>
                  </a:lnTo>
                  <a:lnTo>
                    <a:pt x="7140431" y="4028476"/>
                  </a:lnTo>
                  <a:close/>
                  <a:moveTo>
                    <a:pt x="7140431" y="3021357"/>
                  </a:moveTo>
                  <a:lnTo>
                    <a:pt x="5454496" y="3021357"/>
                  </a:lnTo>
                  <a:lnTo>
                    <a:pt x="5454496" y="2070189"/>
                  </a:lnTo>
                  <a:lnTo>
                    <a:pt x="7140431" y="2070189"/>
                  </a:lnTo>
                  <a:lnTo>
                    <a:pt x="7140431" y="3021357"/>
                  </a:lnTo>
                  <a:close/>
                  <a:moveTo>
                    <a:pt x="7140431" y="2014238"/>
                  </a:moveTo>
                  <a:lnTo>
                    <a:pt x="5454496" y="2014238"/>
                  </a:lnTo>
                  <a:lnTo>
                    <a:pt x="5454496" y="1063070"/>
                  </a:lnTo>
                  <a:lnTo>
                    <a:pt x="7140431" y="1063070"/>
                  </a:lnTo>
                  <a:lnTo>
                    <a:pt x="7140431" y="2014238"/>
                  </a:lnTo>
                  <a:close/>
                  <a:moveTo>
                    <a:pt x="7140431" y="1007119"/>
                  </a:moveTo>
                  <a:lnTo>
                    <a:pt x="5454496" y="1007119"/>
                  </a:lnTo>
                  <a:lnTo>
                    <a:pt x="5454496" y="55951"/>
                  </a:lnTo>
                  <a:lnTo>
                    <a:pt x="7140431" y="55951"/>
                  </a:lnTo>
                  <a:lnTo>
                    <a:pt x="7140431" y="1007119"/>
                  </a:lnTo>
                  <a:close/>
                </a:path>
              </a:pathLst>
            </a:custGeom>
            <a:solidFill>
              <a:srgbClr val="000000">
                <a:alpha val="18824"/>
              </a:srgbClr>
            </a:solidFill>
          </p:spPr>
        </p:sp>
      </p:grpSp>
      <p:sp>
        <p:nvSpPr>
          <p:cNvPr name="Freeform 4" id="4" descr="This alt text was created for the whole figure, and some of it may not apply to this partial figure.   An illustration and a line graph show the measures of food web complexity. A shows a food web diagram for the sea animals in the order from the..."/>
          <p:cNvSpPr/>
          <p:nvPr/>
        </p:nvSpPr>
        <p:spPr>
          <a:xfrm flipH="false" flipV="false" rot="0">
            <a:off x="9637849" y="2201793"/>
            <a:ext cx="8214778" cy="7624362"/>
          </a:xfrm>
          <a:custGeom>
            <a:avLst/>
            <a:gdLst/>
            <a:ahLst/>
            <a:cxnLst/>
            <a:rect r="r" b="b" t="t" l="l"/>
            <a:pathLst>
              <a:path h="7624362" w="8214778">
                <a:moveTo>
                  <a:pt x="0" y="0"/>
                </a:moveTo>
                <a:lnTo>
                  <a:pt x="8214778" y="0"/>
                </a:lnTo>
                <a:lnTo>
                  <a:pt x="8214778" y="7624362"/>
                </a:lnTo>
                <a:lnTo>
                  <a:pt x="0" y="7624362"/>
                </a:lnTo>
                <a:lnTo>
                  <a:pt x="0" y="0"/>
                </a:lnTo>
                <a:close/>
              </a:path>
            </a:pathLst>
          </a:custGeom>
          <a:blipFill>
            <a:blip r:embed="rId2"/>
            <a:stretch>
              <a:fillRect l="0" t="-8417" r="0" b="-5123"/>
            </a:stretch>
          </a:blipFill>
        </p:spPr>
      </p:sp>
      <p:grpSp>
        <p:nvGrpSpPr>
          <p:cNvPr name="Group 5" id="5"/>
          <p:cNvGrpSpPr/>
          <p:nvPr/>
        </p:nvGrpSpPr>
        <p:grpSpPr>
          <a:xfrm rot="0">
            <a:off x="562795" y="1681923"/>
            <a:ext cx="9075054" cy="2697806"/>
            <a:chOff x="0" y="0"/>
            <a:chExt cx="12100072" cy="3597075"/>
          </a:xfrm>
        </p:grpSpPr>
        <p:grpSp>
          <p:nvGrpSpPr>
            <p:cNvPr name="Group 6" id="6"/>
            <p:cNvGrpSpPr/>
            <p:nvPr/>
          </p:nvGrpSpPr>
          <p:grpSpPr>
            <a:xfrm rot="0">
              <a:off x="0" y="0"/>
              <a:ext cx="12100072" cy="3597075"/>
              <a:chOff x="0" y="0"/>
              <a:chExt cx="3298297" cy="980508"/>
            </a:xfrm>
          </p:grpSpPr>
          <p:sp>
            <p:nvSpPr>
              <p:cNvPr name="Freeform 7" id="7"/>
              <p:cNvSpPr/>
              <p:nvPr/>
            </p:nvSpPr>
            <p:spPr>
              <a:xfrm flipH="false" flipV="false" rot="0">
                <a:off x="0" y="0"/>
                <a:ext cx="3298298" cy="980508"/>
              </a:xfrm>
              <a:custGeom>
                <a:avLst/>
                <a:gdLst/>
                <a:ahLst/>
                <a:cxnLst/>
                <a:rect r="r" b="b" t="t" l="l"/>
                <a:pathLst>
                  <a:path h="980508" w="3298298">
                    <a:moveTo>
                      <a:pt x="43508" y="0"/>
                    </a:moveTo>
                    <a:lnTo>
                      <a:pt x="3254789" y="0"/>
                    </a:lnTo>
                    <a:cubicBezTo>
                      <a:pt x="3266329" y="0"/>
                      <a:pt x="3277395" y="4584"/>
                      <a:pt x="3285554" y="12743"/>
                    </a:cubicBezTo>
                    <a:cubicBezTo>
                      <a:pt x="3293714" y="20903"/>
                      <a:pt x="3298298" y="31969"/>
                      <a:pt x="3298298" y="43508"/>
                    </a:cubicBezTo>
                    <a:lnTo>
                      <a:pt x="3298298" y="937000"/>
                    </a:lnTo>
                    <a:cubicBezTo>
                      <a:pt x="3298298" y="948539"/>
                      <a:pt x="3293714" y="959606"/>
                      <a:pt x="3285554" y="967765"/>
                    </a:cubicBezTo>
                    <a:cubicBezTo>
                      <a:pt x="3277395" y="975925"/>
                      <a:pt x="3266329" y="980508"/>
                      <a:pt x="3254789" y="980508"/>
                    </a:cubicBezTo>
                    <a:lnTo>
                      <a:pt x="43508" y="980508"/>
                    </a:lnTo>
                    <a:cubicBezTo>
                      <a:pt x="31969" y="980508"/>
                      <a:pt x="20903" y="975925"/>
                      <a:pt x="12743" y="967765"/>
                    </a:cubicBezTo>
                    <a:cubicBezTo>
                      <a:pt x="4584" y="959606"/>
                      <a:pt x="0" y="948539"/>
                      <a:pt x="0" y="937000"/>
                    </a:cubicBezTo>
                    <a:lnTo>
                      <a:pt x="0" y="43508"/>
                    </a:lnTo>
                    <a:cubicBezTo>
                      <a:pt x="0" y="31969"/>
                      <a:pt x="4584" y="20903"/>
                      <a:pt x="12743" y="12743"/>
                    </a:cubicBezTo>
                    <a:cubicBezTo>
                      <a:pt x="20903" y="4584"/>
                      <a:pt x="31969" y="0"/>
                      <a:pt x="43508" y="0"/>
                    </a:cubicBezTo>
                    <a:close/>
                  </a:path>
                </a:pathLst>
              </a:custGeom>
              <a:solidFill>
                <a:srgbClr val="DCE1CE"/>
              </a:solidFill>
              <a:ln w="38100" cap="rnd">
                <a:solidFill>
                  <a:srgbClr val="000000"/>
                </a:solidFill>
                <a:prstDash val="solid"/>
                <a:round/>
              </a:ln>
            </p:spPr>
          </p:sp>
          <p:sp>
            <p:nvSpPr>
              <p:cNvPr name="TextBox 8" id="8"/>
              <p:cNvSpPr txBox="true"/>
              <p:nvPr/>
            </p:nvSpPr>
            <p:spPr>
              <a:xfrm>
                <a:off x="0" y="-133350"/>
                <a:ext cx="3298297" cy="1113858"/>
              </a:xfrm>
              <a:prstGeom prst="rect">
                <a:avLst/>
              </a:prstGeom>
            </p:spPr>
            <p:txBody>
              <a:bodyPr anchor="ctr" rtlCol="false" tIns="50800" lIns="50800" bIns="50800" rIns="50800"/>
              <a:lstStyle/>
              <a:p>
                <a:pPr algn="l">
                  <a:lnSpc>
                    <a:spcPts val="4200"/>
                  </a:lnSpc>
                  <a:spcBef>
                    <a:spcPct val="0"/>
                  </a:spcBef>
                </a:pPr>
              </a:p>
            </p:txBody>
          </p:sp>
        </p:grpSp>
        <p:sp>
          <p:nvSpPr>
            <p:cNvPr name="TextBox 9" id="9"/>
            <p:cNvSpPr txBox="true"/>
            <p:nvPr/>
          </p:nvSpPr>
          <p:spPr>
            <a:xfrm rot="0">
              <a:off x="549391" y="1021239"/>
              <a:ext cx="11001290" cy="2073487"/>
            </a:xfrm>
            <a:prstGeom prst="rect">
              <a:avLst/>
            </a:prstGeom>
          </p:spPr>
          <p:txBody>
            <a:bodyPr anchor="t" rtlCol="false" tIns="0" lIns="0" bIns="0" rIns="0">
              <a:spAutoFit/>
            </a:bodyPr>
            <a:lstStyle/>
            <a:p>
              <a:pPr algn="ctr">
                <a:lnSpc>
                  <a:spcPts val="4059"/>
                </a:lnSpc>
              </a:pPr>
              <a:r>
                <a:rPr lang="en-US" sz="2899">
                  <a:solidFill>
                    <a:srgbClr val="000000"/>
                  </a:solidFill>
                  <a:latin typeface="Futura"/>
                  <a:ea typeface="Futura"/>
                  <a:cs typeface="Futura"/>
                  <a:sym typeface="Futura"/>
                </a:rPr>
                <a:t>The food web can also be described by an interaction matrix showing the presence of a link among species in the community.</a:t>
              </a:r>
            </a:p>
          </p:txBody>
        </p:sp>
      </p:grpSp>
      <p:grpSp>
        <p:nvGrpSpPr>
          <p:cNvPr name="Group 10" id="10"/>
          <p:cNvGrpSpPr/>
          <p:nvPr/>
        </p:nvGrpSpPr>
        <p:grpSpPr>
          <a:xfrm rot="0">
            <a:off x="1028700" y="1028700"/>
            <a:ext cx="8107234" cy="1306447"/>
            <a:chOff x="0" y="0"/>
            <a:chExt cx="10809645" cy="1741929"/>
          </a:xfrm>
        </p:grpSpPr>
        <p:grpSp>
          <p:nvGrpSpPr>
            <p:cNvPr name="Group 11" id="11"/>
            <p:cNvGrpSpPr/>
            <p:nvPr/>
          </p:nvGrpSpPr>
          <p:grpSpPr>
            <a:xfrm rot="0">
              <a:off x="0" y="0"/>
              <a:ext cx="10809645" cy="1741929"/>
              <a:chOff x="0" y="0"/>
              <a:chExt cx="2135239" cy="344085"/>
            </a:xfrm>
          </p:grpSpPr>
          <p:sp>
            <p:nvSpPr>
              <p:cNvPr name="Freeform 12" id="12"/>
              <p:cNvSpPr/>
              <p:nvPr/>
            </p:nvSpPr>
            <p:spPr>
              <a:xfrm flipH="false" flipV="false" rot="0">
                <a:off x="0" y="0"/>
                <a:ext cx="2135238" cy="344085"/>
              </a:xfrm>
              <a:custGeom>
                <a:avLst/>
                <a:gdLst/>
                <a:ahLst/>
                <a:cxnLst/>
                <a:rect r="r" b="b" t="t" l="l"/>
                <a:pathLst>
                  <a:path h="344085" w="2135238">
                    <a:moveTo>
                      <a:pt x="48702" y="0"/>
                    </a:moveTo>
                    <a:lnTo>
                      <a:pt x="2086537" y="0"/>
                    </a:lnTo>
                    <a:cubicBezTo>
                      <a:pt x="2099453" y="0"/>
                      <a:pt x="2111841" y="5131"/>
                      <a:pt x="2120974" y="14264"/>
                    </a:cubicBezTo>
                    <a:cubicBezTo>
                      <a:pt x="2130107" y="23398"/>
                      <a:pt x="2135238" y="35785"/>
                      <a:pt x="2135238" y="48702"/>
                    </a:cubicBezTo>
                    <a:lnTo>
                      <a:pt x="2135238" y="295383"/>
                    </a:lnTo>
                    <a:cubicBezTo>
                      <a:pt x="2135238" y="308299"/>
                      <a:pt x="2130107" y="320687"/>
                      <a:pt x="2120974" y="329820"/>
                    </a:cubicBezTo>
                    <a:cubicBezTo>
                      <a:pt x="2111841" y="338954"/>
                      <a:pt x="2099453" y="344085"/>
                      <a:pt x="2086537" y="344085"/>
                    </a:cubicBezTo>
                    <a:lnTo>
                      <a:pt x="48702" y="344085"/>
                    </a:lnTo>
                    <a:cubicBezTo>
                      <a:pt x="21805" y="344085"/>
                      <a:pt x="0" y="322280"/>
                      <a:pt x="0" y="295383"/>
                    </a:cubicBezTo>
                    <a:lnTo>
                      <a:pt x="0" y="48702"/>
                    </a:lnTo>
                    <a:cubicBezTo>
                      <a:pt x="0" y="35785"/>
                      <a:pt x="5131" y="23398"/>
                      <a:pt x="14264" y="14264"/>
                    </a:cubicBezTo>
                    <a:cubicBezTo>
                      <a:pt x="23398" y="5131"/>
                      <a:pt x="35785" y="0"/>
                      <a:pt x="48702" y="0"/>
                    </a:cubicBezTo>
                    <a:close/>
                  </a:path>
                </a:pathLst>
              </a:custGeom>
              <a:solidFill>
                <a:srgbClr val="CF9D32"/>
              </a:solidFill>
              <a:ln w="38100" cap="rnd">
                <a:solidFill>
                  <a:srgbClr val="000000"/>
                </a:solidFill>
                <a:prstDash val="solid"/>
                <a:round/>
              </a:ln>
            </p:spPr>
          </p:sp>
          <p:sp>
            <p:nvSpPr>
              <p:cNvPr name="TextBox 13" id="13"/>
              <p:cNvSpPr txBox="true"/>
              <p:nvPr/>
            </p:nvSpPr>
            <p:spPr>
              <a:xfrm>
                <a:off x="0" y="-38100"/>
                <a:ext cx="2135239" cy="382185"/>
              </a:xfrm>
              <a:prstGeom prst="rect">
                <a:avLst/>
              </a:prstGeom>
            </p:spPr>
            <p:txBody>
              <a:bodyPr anchor="ctr" rtlCol="false" tIns="50800" lIns="50800" bIns="50800" rIns="50800"/>
              <a:lstStyle/>
              <a:p>
                <a:pPr algn="ctr">
                  <a:lnSpc>
                    <a:spcPts val="2799"/>
                  </a:lnSpc>
                  <a:spcBef>
                    <a:spcPct val="0"/>
                  </a:spcBef>
                </a:pPr>
              </a:p>
            </p:txBody>
          </p:sp>
        </p:grpSp>
        <p:sp>
          <p:nvSpPr>
            <p:cNvPr name="TextBox 14" id="14"/>
            <p:cNvSpPr txBox="true"/>
            <p:nvPr/>
          </p:nvSpPr>
          <p:spPr>
            <a:xfrm rot="0">
              <a:off x="272784" y="183344"/>
              <a:ext cx="10264077" cy="1365716"/>
            </a:xfrm>
            <a:prstGeom prst="rect">
              <a:avLst/>
            </a:prstGeom>
          </p:spPr>
          <p:txBody>
            <a:bodyPr anchor="t" rtlCol="false" tIns="0" lIns="0" bIns="0" rIns="0">
              <a:spAutoFit/>
            </a:bodyPr>
            <a:lstStyle/>
            <a:p>
              <a:pPr algn="ctr">
                <a:lnSpc>
                  <a:spcPts val="7905"/>
                </a:lnSpc>
              </a:pPr>
              <a:r>
                <a:rPr lang="en-US" sz="6699">
                  <a:solidFill>
                    <a:srgbClr val="000000"/>
                  </a:solidFill>
                  <a:latin typeface="Lilita One"/>
                  <a:ea typeface="Lilita One"/>
                  <a:cs typeface="Lilita One"/>
                  <a:sym typeface="Lilita One"/>
                </a:rPr>
                <a:t>Interaction Matrix</a:t>
              </a:r>
            </a:p>
          </p:txBody>
        </p:sp>
      </p:grpSp>
      <p:grpSp>
        <p:nvGrpSpPr>
          <p:cNvPr name="Group 15" id="15"/>
          <p:cNvGrpSpPr/>
          <p:nvPr/>
        </p:nvGrpSpPr>
        <p:grpSpPr>
          <a:xfrm rot="0">
            <a:off x="3493604" y="4914791"/>
            <a:ext cx="4224239" cy="4116234"/>
            <a:chOff x="0" y="0"/>
            <a:chExt cx="5632319" cy="5488312"/>
          </a:xfrm>
        </p:grpSpPr>
        <p:grpSp>
          <p:nvGrpSpPr>
            <p:cNvPr name="Group 16" id="16"/>
            <p:cNvGrpSpPr/>
            <p:nvPr/>
          </p:nvGrpSpPr>
          <p:grpSpPr>
            <a:xfrm rot="0">
              <a:off x="0" y="0"/>
              <a:ext cx="5632319" cy="5488312"/>
              <a:chOff x="0" y="0"/>
              <a:chExt cx="897244" cy="874304"/>
            </a:xfrm>
          </p:grpSpPr>
          <p:sp>
            <p:nvSpPr>
              <p:cNvPr name="Freeform 17" id="17"/>
              <p:cNvSpPr/>
              <p:nvPr/>
            </p:nvSpPr>
            <p:spPr>
              <a:xfrm flipH="false" flipV="false" rot="0">
                <a:off x="0" y="0"/>
                <a:ext cx="897244" cy="874304"/>
              </a:xfrm>
              <a:custGeom>
                <a:avLst/>
                <a:gdLst/>
                <a:ahLst/>
                <a:cxnLst/>
                <a:rect r="r" b="b" t="t" l="l"/>
                <a:pathLst>
                  <a:path h="874304" w="897244">
                    <a:moveTo>
                      <a:pt x="448622" y="0"/>
                    </a:moveTo>
                    <a:cubicBezTo>
                      <a:pt x="200855" y="0"/>
                      <a:pt x="0" y="195720"/>
                      <a:pt x="0" y="437152"/>
                    </a:cubicBezTo>
                    <a:cubicBezTo>
                      <a:pt x="0" y="678584"/>
                      <a:pt x="200855" y="874304"/>
                      <a:pt x="448622" y="874304"/>
                    </a:cubicBezTo>
                    <a:cubicBezTo>
                      <a:pt x="696389" y="874304"/>
                      <a:pt x="897244" y="678584"/>
                      <a:pt x="897244" y="437152"/>
                    </a:cubicBezTo>
                    <a:cubicBezTo>
                      <a:pt x="897244" y="195720"/>
                      <a:pt x="696389" y="0"/>
                      <a:pt x="448622" y="0"/>
                    </a:cubicBezTo>
                    <a:close/>
                  </a:path>
                </a:pathLst>
              </a:custGeom>
              <a:solidFill>
                <a:srgbClr val="CCCF91"/>
              </a:solidFill>
            </p:spPr>
          </p:sp>
          <p:sp>
            <p:nvSpPr>
              <p:cNvPr name="TextBox 18" id="18"/>
              <p:cNvSpPr txBox="true"/>
              <p:nvPr/>
            </p:nvSpPr>
            <p:spPr>
              <a:xfrm>
                <a:off x="84117" y="24816"/>
                <a:ext cx="729011" cy="767522"/>
              </a:xfrm>
              <a:prstGeom prst="rect">
                <a:avLst/>
              </a:prstGeom>
            </p:spPr>
            <p:txBody>
              <a:bodyPr anchor="ctr" rtlCol="false" tIns="50800" lIns="50800" bIns="50800" rIns="50800"/>
              <a:lstStyle/>
              <a:p>
                <a:pPr algn="ctr">
                  <a:lnSpc>
                    <a:spcPts val="1960"/>
                  </a:lnSpc>
                </a:pPr>
              </a:p>
            </p:txBody>
          </p:sp>
        </p:grpSp>
        <p:sp>
          <p:nvSpPr>
            <p:cNvPr name="TextBox 19" id="19"/>
            <p:cNvSpPr txBox="true"/>
            <p:nvPr/>
          </p:nvSpPr>
          <p:spPr>
            <a:xfrm rot="0">
              <a:off x="665501" y="854607"/>
              <a:ext cx="4301317" cy="3674322"/>
            </a:xfrm>
            <a:prstGeom prst="rect">
              <a:avLst/>
            </a:prstGeom>
          </p:spPr>
          <p:txBody>
            <a:bodyPr anchor="t" rtlCol="false" tIns="0" lIns="0" bIns="0" rIns="0">
              <a:spAutoFit/>
            </a:bodyPr>
            <a:lstStyle/>
            <a:p>
              <a:pPr algn="ctr">
                <a:lnSpc>
                  <a:spcPts val="3639"/>
                </a:lnSpc>
              </a:pPr>
              <a:r>
                <a:rPr lang="en-US" sz="2599">
                  <a:solidFill>
                    <a:srgbClr val="000000"/>
                  </a:solidFill>
                  <a:latin typeface="Futura"/>
                  <a:ea typeface="Futura"/>
                  <a:cs typeface="Futura"/>
                  <a:sym typeface="Futura"/>
                </a:rPr>
                <a:t>The food web diagram and matrix can be used to identify species with a disproportionately large number of links.</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55692D"/>
        </a:solidFill>
      </p:bgPr>
    </p:bg>
    <p:spTree>
      <p:nvGrpSpPr>
        <p:cNvPr id="1" name=""/>
        <p:cNvGrpSpPr/>
        <p:nvPr/>
      </p:nvGrpSpPr>
      <p:grpSpPr>
        <a:xfrm>
          <a:off x="0" y="0"/>
          <a:ext cx="0" cy="0"/>
          <a:chOff x="0" y="0"/>
          <a:chExt cx="0" cy="0"/>
        </a:xfrm>
      </p:grpSpPr>
      <p:grpSp>
        <p:nvGrpSpPr>
          <p:cNvPr name="Group 2" id="2"/>
          <p:cNvGrpSpPr/>
          <p:nvPr/>
        </p:nvGrpSpPr>
        <p:grpSpPr>
          <a:xfrm rot="0">
            <a:off x="535640" y="4298803"/>
            <a:ext cx="17216721" cy="4216312"/>
            <a:chOff x="0" y="0"/>
            <a:chExt cx="22955628" cy="5621750"/>
          </a:xfrm>
        </p:grpSpPr>
        <p:grpSp>
          <p:nvGrpSpPr>
            <p:cNvPr name="Group 3" id="3"/>
            <p:cNvGrpSpPr/>
            <p:nvPr/>
          </p:nvGrpSpPr>
          <p:grpSpPr>
            <a:xfrm rot="0">
              <a:off x="0" y="28950"/>
              <a:ext cx="5592800" cy="55928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5692D"/>
              </a:solidFill>
              <a:ln w="190500" cap="sq">
                <a:solidFill>
                  <a:srgbClr val="D6C8AF"/>
                </a:solidFill>
                <a:prstDash val="solid"/>
                <a:miter/>
              </a:ln>
            </p:spPr>
          </p:sp>
          <p:sp>
            <p:nvSpPr>
              <p:cNvPr name="TextBox 5" id="5"/>
              <p:cNvSpPr txBox="true"/>
              <p:nvPr/>
            </p:nvSpPr>
            <p:spPr>
              <a:xfrm>
                <a:off x="76200" y="38100"/>
                <a:ext cx="660400" cy="698500"/>
              </a:xfrm>
              <a:prstGeom prst="rect">
                <a:avLst/>
              </a:prstGeom>
            </p:spPr>
            <p:txBody>
              <a:bodyPr anchor="ctr" rtlCol="false" tIns="33272" lIns="33272" bIns="33272" rIns="33272"/>
              <a:lstStyle/>
              <a:p>
                <a:pPr algn="ctr">
                  <a:lnSpc>
                    <a:spcPts val="2660"/>
                  </a:lnSpc>
                </a:pPr>
              </a:p>
            </p:txBody>
          </p:sp>
        </p:grpSp>
        <p:grpSp>
          <p:nvGrpSpPr>
            <p:cNvPr name="Group 6" id="6"/>
            <p:cNvGrpSpPr/>
            <p:nvPr/>
          </p:nvGrpSpPr>
          <p:grpSpPr>
            <a:xfrm rot="0">
              <a:off x="350651" y="379610"/>
              <a:ext cx="4891499" cy="4891479"/>
              <a:chOff x="0" y="0"/>
              <a:chExt cx="6350000" cy="6349975"/>
            </a:xfrm>
          </p:grpSpPr>
          <p:sp>
            <p:nvSpPr>
              <p:cNvPr name="Freeform 7" id="7"/>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23259" t="0" r="-23259" b="0"/>
                </a:stretch>
              </a:blipFill>
            </p:spPr>
          </p:sp>
        </p:grpSp>
        <p:grpSp>
          <p:nvGrpSpPr>
            <p:cNvPr name="Group 8" id="8"/>
            <p:cNvGrpSpPr/>
            <p:nvPr/>
          </p:nvGrpSpPr>
          <p:grpSpPr>
            <a:xfrm rot="0">
              <a:off x="11770028" y="0"/>
              <a:ext cx="5592800" cy="55928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5692D"/>
              </a:solidFill>
              <a:ln w="190500" cap="sq">
                <a:solidFill>
                  <a:srgbClr val="D6C8AF"/>
                </a:solidFill>
                <a:prstDash val="solid"/>
                <a:miter/>
              </a:ln>
            </p:spPr>
          </p:sp>
          <p:sp>
            <p:nvSpPr>
              <p:cNvPr name="TextBox 10" id="10"/>
              <p:cNvSpPr txBox="true"/>
              <p:nvPr/>
            </p:nvSpPr>
            <p:spPr>
              <a:xfrm>
                <a:off x="76200" y="38100"/>
                <a:ext cx="660400" cy="698500"/>
              </a:xfrm>
              <a:prstGeom prst="rect">
                <a:avLst/>
              </a:prstGeom>
            </p:spPr>
            <p:txBody>
              <a:bodyPr anchor="ctr" rtlCol="false" tIns="33272" lIns="33272" bIns="33272" rIns="33272"/>
              <a:lstStyle/>
              <a:p>
                <a:pPr algn="ctr">
                  <a:lnSpc>
                    <a:spcPts val="2660"/>
                  </a:lnSpc>
                </a:pPr>
              </a:p>
            </p:txBody>
          </p:sp>
        </p:grpSp>
        <p:grpSp>
          <p:nvGrpSpPr>
            <p:cNvPr name="Group 11" id="11"/>
            <p:cNvGrpSpPr/>
            <p:nvPr/>
          </p:nvGrpSpPr>
          <p:grpSpPr>
            <a:xfrm rot="0">
              <a:off x="12120678" y="350660"/>
              <a:ext cx="4891499" cy="4891479"/>
              <a:chOff x="0" y="0"/>
              <a:chExt cx="6350000" cy="6349975"/>
            </a:xfrm>
          </p:grpSpPr>
          <p:sp>
            <p:nvSpPr>
              <p:cNvPr name="Freeform 12" id="12"/>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3"/>
                <a:stretch>
                  <a:fillRect l="-16666" t="0" r="-16666" b="0"/>
                </a:stretch>
              </a:blipFill>
            </p:spPr>
          </p:sp>
        </p:grpSp>
        <p:grpSp>
          <p:nvGrpSpPr>
            <p:cNvPr name="Group 13" id="13"/>
            <p:cNvGrpSpPr/>
            <p:nvPr/>
          </p:nvGrpSpPr>
          <p:grpSpPr>
            <a:xfrm rot="0">
              <a:off x="5592800" y="0"/>
              <a:ext cx="5592800" cy="559280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5692D"/>
              </a:solidFill>
              <a:ln w="190500" cap="sq">
                <a:solidFill>
                  <a:srgbClr val="D6C8AF"/>
                </a:solidFill>
                <a:prstDash val="solid"/>
                <a:miter/>
              </a:ln>
            </p:spPr>
          </p:sp>
          <p:sp>
            <p:nvSpPr>
              <p:cNvPr name="TextBox 15" id="15"/>
              <p:cNvSpPr txBox="true"/>
              <p:nvPr/>
            </p:nvSpPr>
            <p:spPr>
              <a:xfrm>
                <a:off x="76200" y="38100"/>
                <a:ext cx="660400" cy="698500"/>
              </a:xfrm>
              <a:prstGeom prst="rect">
                <a:avLst/>
              </a:prstGeom>
            </p:spPr>
            <p:txBody>
              <a:bodyPr anchor="ctr" rtlCol="false" tIns="33272" lIns="33272" bIns="33272" rIns="33272"/>
              <a:lstStyle/>
              <a:p>
                <a:pPr algn="ctr">
                  <a:lnSpc>
                    <a:spcPts val="2660"/>
                  </a:lnSpc>
                </a:pPr>
              </a:p>
            </p:txBody>
          </p:sp>
        </p:grpSp>
        <p:grpSp>
          <p:nvGrpSpPr>
            <p:cNvPr name="Group 16" id="16"/>
            <p:cNvGrpSpPr/>
            <p:nvPr/>
          </p:nvGrpSpPr>
          <p:grpSpPr>
            <a:xfrm rot="0">
              <a:off x="5943451" y="350660"/>
              <a:ext cx="4891499" cy="4891479"/>
              <a:chOff x="0" y="0"/>
              <a:chExt cx="6350000" cy="6349975"/>
            </a:xfrm>
          </p:grpSpPr>
          <p:sp>
            <p:nvSpPr>
              <p:cNvPr name="Freeform 17" id="17"/>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25046" t="0" r="-25046" b="0"/>
                </a:stretch>
              </a:blipFill>
            </p:spPr>
          </p:sp>
        </p:grpSp>
        <p:grpSp>
          <p:nvGrpSpPr>
            <p:cNvPr name="Group 18" id="18"/>
            <p:cNvGrpSpPr/>
            <p:nvPr/>
          </p:nvGrpSpPr>
          <p:grpSpPr>
            <a:xfrm rot="0">
              <a:off x="17362828" y="0"/>
              <a:ext cx="5592800" cy="559280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5692D"/>
              </a:solidFill>
              <a:ln w="190500" cap="sq">
                <a:solidFill>
                  <a:srgbClr val="D6C8AF"/>
                </a:solidFill>
                <a:prstDash val="solid"/>
                <a:miter/>
              </a:ln>
            </p:spPr>
          </p:sp>
          <p:sp>
            <p:nvSpPr>
              <p:cNvPr name="TextBox 20" id="20"/>
              <p:cNvSpPr txBox="true"/>
              <p:nvPr/>
            </p:nvSpPr>
            <p:spPr>
              <a:xfrm>
                <a:off x="76200" y="38100"/>
                <a:ext cx="660400" cy="698500"/>
              </a:xfrm>
              <a:prstGeom prst="rect">
                <a:avLst/>
              </a:prstGeom>
            </p:spPr>
            <p:txBody>
              <a:bodyPr anchor="ctr" rtlCol="false" tIns="33272" lIns="33272" bIns="33272" rIns="33272"/>
              <a:lstStyle/>
              <a:p>
                <a:pPr algn="ctr">
                  <a:lnSpc>
                    <a:spcPts val="2660"/>
                  </a:lnSpc>
                </a:pPr>
              </a:p>
            </p:txBody>
          </p:sp>
        </p:grpSp>
        <p:grpSp>
          <p:nvGrpSpPr>
            <p:cNvPr name="Group 21" id="21"/>
            <p:cNvGrpSpPr/>
            <p:nvPr/>
          </p:nvGrpSpPr>
          <p:grpSpPr>
            <a:xfrm rot="0">
              <a:off x="17713478" y="350660"/>
              <a:ext cx="4891499" cy="4891479"/>
              <a:chOff x="0" y="0"/>
              <a:chExt cx="6350000" cy="6349975"/>
            </a:xfrm>
          </p:grpSpPr>
          <p:sp>
            <p:nvSpPr>
              <p:cNvPr name="Freeform 22" id="22"/>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5"/>
                <a:stretch>
                  <a:fillRect l="0" t="0" r="0" b="0"/>
                </a:stretch>
              </a:blipFill>
            </p:spPr>
          </p:sp>
        </p:grpSp>
      </p:grpSp>
      <p:grpSp>
        <p:nvGrpSpPr>
          <p:cNvPr name="Group 23" id="23"/>
          <p:cNvGrpSpPr/>
          <p:nvPr/>
        </p:nvGrpSpPr>
        <p:grpSpPr>
          <a:xfrm rot="0">
            <a:off x="-73743" y="0"/>
            <a:ext cx="18361743" cy="2287238"/>
            <a:chOff x="0" y="0"/>
            <a:chExt cx="4836014" cy="602400"/>
          </a:xfrm>
        </p:grpSpPr>
        <p:sp>
          <p:nvSpPr>
            <p:cNvPr name="Freeform 24" id="24"/>
            <p:cNvSpPr/>
            <p:nvPr/>
          </p:nvSpPr>
          <p:spPr>
            <a:xfrm flipH="false" flipV="false" rot="0">
              <a:off x="0" y="0"/>
              <a:ext cx="4836015" cy="602400"/>
            </a:xfrm>
            <a:custGeom>
              <a:avLst/>
              <a:gdLst/>
              <a:ahLst/>
              <a:cxnLst/>
              <a:rect r="r" b="b" t="t" l="l"/>
              <a:pathLst>
                <a:path h="602400" w="4836015">
                  <a:moveTo>
                    <a:pt x="0" y="0"/>
                  </a:moveTo>
                  <a:lnTo>
                    <a:pt x="4836015" y="0"/>
                  </a:lnTo>
                  <a:lnTo>
                    <a:pt x="4836015" y="602400"/>
                  </a:lnTo>
                  <a:lnTo>
                    <a:pt x="0" y="602400"/>
                  </a:lnTo>
                  <a:close/>
                </a:path>
              </a:pathLst>
            </a:custGeom>
            <a:solidFill>
              <a:srgbClr val="D6C8AF"/>
            </a:solidFill>
            <a:ln cap="sq">
              <a:noFill/>
              <a:prstDash val="solid"/>
              <a:miter/>
            </a:ln>
          </p:spPr>
        </p:sp>
        <p:sp>
          <p:nvSpPr>
            <p:cNvPr name="TextBox 25" id="25"/>
            <p:cNvSpPr txBox="true"/>
            <p:nvPr/>
          </p:nvSpPr>
          <p:spPr>
            <a:xfrm>
              <a:off x="0" y="-38100"/>
              <a:ext cx="4836014" cy="640500"/>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2241966" y="2976906"/>
            <a:ext cx="5164438" cy="669925"/>
          </a:xfrm>
          <a:prstGeom prst="rect">
            <a:avLst/>
          </a:prstGeom>
        </p:spPr>
        <p:txBody>
          <a:bodyPr anchor="t" rtlCol="false" tIns="0" lIns="0" bIns="0" rIns="0">
            <a:spAutoFit/>
          </a:bodyPr>
          <a:lstStyle/>
          <a:p>
            <a:pPr algn="ctr">
              <a:lnSpc>
                <a:spcPts val="5599"/>
              </a:lnSpc>
              <a:spcBef>
                <a:spcPct val="0"/>
              </a:spcBef>
            </a:pPr>
            <a:r>
              <a:rPr lang="en-US" sz="3999" u="sng">
                <a:solidFill>
                  <a:srgbClr val="FFFFFF"/>
                </a:solidFill>
                <a:latin typeface="Pangolin"/>
                <a:ea typeface="Pangolin"/>
                <a:cs typeface="Pangolin"/>
                <a:sym typeface="Pangolin"/>
                <a:hlinkClick r:id="rId6" tooltip="https://vimeo.com/272477469"/>
              </a:rPr>
              <a:t>Ecosystem Engineers</a:t>
            </a:r>
          </a:p>
        </p:txBody>
      </p:sp>
      <p:sp>
        <p:nvSpPr>
          <p:cNvPr name="TextBox 27" id="27"/>
          <p:cNvSpPr txBox="true"/>
          <p:nvPr/>
        </p:nvSpPr>
        <p:spPr>
          <a:xfrm rot="0">
            <a:off x="11601843" y="2976906"/>
            <a:ext cx="4444191" cy="669925"/>
          </a:xfrm>
          <a:prstGeom prst="rect">
            <a:avLst/>
          </a:prstGeom>
        </p:spPr>
        <p:txBody>
          <a:bodyPr anchor="t" rtlCol="false" tIns="0" lIns="0" bIns="0" rIns="0">
            <a:spAutoFit/>
          </a:bodyPr>
          <a:lstStyle/>
          <a:p>
            <a:pPr algn="ctr">
              <a:lnSpc>
                <a:spcPts val="5599"/>
              </a:lnSpc>
              <a:spcBef>
                <a:spcPct val="0"/>
              </a:spcBef>
            </a:pPr>
            <a:r>
              <a:rPr lang="en-US" sz="3999">
                <a:solidFill>
                  <a:srgbClr val="FFFFFF"/>
                </a:solidFill>
                <a:latin typeface="Pangolin"/>
                <a:ea typeface="Pangolin"/>
                <a:cs typeface="Pangolin"/>
                <a:sym typeface="Pangolin"/>
              </a:rPr>
              <a:t>Keystone Species</a:t>
            </a:r>
          </a:p>
        </p:txBody>
      </p:sp>
      <p:sp>
        <p:nvSpPr>
          <p:cNvPr name="TextBox 28" id="28"/>
          <p:cNvSpPr txBox="true"/>
          <p:nvPr/>
        </p:nvSpPr>
        <p:spPr>
          <a:xfrm rot="0">
            <a:off x="1028700" y="885825"/>
            <a:ext cx="16230600" cy="1114345"/>
          </a:xfrm>
          <a:prstGeom prst="rect">
            <a:avLst/>
          </a:prstGeom>
        </p:spPr>
        <p:txBody>
          <a:bodyPr anchor="t" rtlCol="false" tIns="0" lIns="0" bIns="0" rIns="0">
            <a:spAutoFit/>
          </a:bodyPr>
          <a:lstStyle/>
          <a:p>
            <a:pPr algn="ctr">
              <a:lnSpc>
                <a:spcPts val="8929"/>
              </a:lnSpc>
              <a:spcBef>
                <a:spcPct val="0"/>
              </a:spcBef>
            </a:pPr>
            <a:r>
              <a:rPr lang="en-US" sz="6378">
                <a:solidFill>
                  <a:srgbClr val="55692D"/>
                </a:solidFill>
                <a:latin typeface="Kapsalon"/>
                <a:ea typeface="Kapsalon"/>
                <a:cs typeface="Kapsalon"/>
                <a:sym typeface="Kapsalon"/>
              </a:rPr>
              <a:t>Species Composition - Special Cases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406310"/>
          </a:xfrm>
          <a:custGeom>
            <a:avLst/>
            <a:gdLst/>
            <a:ahLst/>
            <a:cxnLst/>
            <a:rect r="r" b="b" t="t" l="l"/>
            <a:pathLst>
              <a:path h="10406310" w="18288000">
                <a:moveTo>
                  <a:pt x="18288000" y="0"/>
                </a:moveTo>
                <a:lnTo>
                  <a:pt x="0" y="0"/>
                </a:lnTo>
                <a:lnTo>
                  <a:pt x="0" y="10406310"/>
                </a:lnTo>
                <a:lnTo>
                  <a:pt x="18288000" y="10406310"/>
                </a:lnTo>
                <a:lnTo>
                  <a:pt x="18288000" y="0"/>
                </a:lnTo>
                <a:close/>
              </a:path>
            </a:pathLst>
          </a:custGeom>
          <a:blipFill>
            <a:blip r:embed="rId2"/>
            <a:stretch>
              <a:fillRect l="-919" t="0" r="-919" b="0"/>
            </a:stretch>
          </a:blipFill>
        </p:spPr>
      </p:sp>
      <p:sp>
        <p:nvSpPr>
          <p:cNvPr name="TextBox 3" id="3"/>
          <p:cNvSpPr txBox="true"/>
          <p:nvPr/>
        </p:nvSpPr>
        <p:spPr>
          <a:xfrm rot="0">
            <a:off x="1028700" y="808417"/>
            <a:ext cx="9183477" cy="742950"/>
          </a:xfrm>
          <a:prstGeom prst="rect">
            <a:avLst/>
          </a:prstGeom>
        </p:spPr>
        <p:txBody>
          <a:bodyPr anchor="t" rtlCol="false" tIns="0" lIns="0" bIns="0" rIns="0">
            <a:spAutoFit/>
          </a:bodyPr>
          <a:lstStyle/>
          <a:p>
            <a:pPr algn="l">
              <a:lnSpc>
                <a:spcPts val="5858"/>
              </a:lnSpc>
            </a:pPr>
            <a:r>
              <a:rPr lang="en-US" sz="4881" u="sng">
                <a:solidFill>
                  <a:srgbClr val="000000"/>
                </a:solidFill>
                <a:latin typeface="Sunborn"/>
                <a:ea typeface="Sunborn"/>
                <a:cs typeface="Sunborn"/>
                <a:sym typeface="Sunborn"/>
                <a:hlinkClick r:id="rId3" tooltip="https://youtu.be/W1GAQLKXZj8?si=7U_9bf210fkQfe5U&amp;t=22"/>
              </a:rPr>
              <a:t>Ecosystem Engineers</a:t>
            </a:r>
          </a:p>
        </p:txBody>
      </p:sp>
      <p:sp>
        <p:nvSpPr>
          <p:cNvPr name="TextBox 4" id="4"/>
          <p:cNvSpPr txBox="true"/>
          <p:nvPr/>
        </p:nvSpPr>
        <p:spPr>
          <a:xfrm rot="0">
            <a:off x="1028700" y="1838504"/>
            <a:ext cx="7518720" cy="1104900"/>
          </a:xfrm>
          <a:prstGeom prst="rect">
            <a:avLst/>
          </a:prstGeom>
        </p:spPr>
        <p:txBody>
          <a:bodyPr anchor="t" rtlCol="false" tIns="0" lIns="0" bIns="0" rIns="0">
            <a:spAutoFit/>
          </a:bodyPr>
          <a:lstStyle/>
          <a:p>
            <a:pPr algn="l">
              <a:lnSpc>
                <a:spcPts val="2830"/>
              </a:lnSpc>
            </a:pPr>
            <a:r>
              <a:rPr lang="en-US" sz="2358">
                <a:solidFill>
                  <a:srgbClr val="000000"/>
                </a:solidFill>
                <a:latin typeface="Futura"/>
                <a:ea typeface="Futura"/>
                <a:cs typeface="Futura"/>
                <a:sym typeface="Futura"/>
              </a:rPr>
              <a:t>Species that create new physical habitat or that extensively modify existing environments through their biological activities.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a:videoFile r:link="rId3"/>
          </p:nvPr>
        </p:nvPicPr>
        <p:blipFill>
          <a:blip r:embed="rId2"/>
          <a:stretch>
            <a:fillRect/>
          </a:stretch>
        </p:blipFill>
        <p:spPr>
          <a:xfrm rot="0">
            <a:off x="1583018" y="0"/>
            <a:ext cx="15121965" cy="8499465"/>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grpSp>
        <p:nvGrpSpPr>
          <p:cNvPr name="Group 2" id="2"/>
          <p:cNvGrpSpPr/>
          <p:nvPr/>
        </p:nvGrpSpPr>
        <p:grpSpPr>
          <a:xfrm rot="0">
            <a:off x="-27106" y="0"/>
            <a:ext cx="18342213" cy="10287000"/>
            <a:chOff x="0" y="0"/>
            <a:chExt cx="24456283" cy="13716000"/>
          </a:xfrm>
        </p:grpSpPr>
        <p:sp>
          <p:nvSpPr>
            <p:cNvPr name="Freeform 3" id="3"/>
            <p:cNvSpPr/>
            <p:nvPr/>
          </p:nvSpPr>
          <p:spPr>
            <a:xfrm flipH="false" flipV="false" rot="-10800000">
              <a:off x="2782211"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 id="4"/>
            <p:cNvSpPr/>
            <p:nvPr/>
          </p:nvSpPr>
          <p:spPr>
            <a:xfrm flipH="false" flipV="false" rot="0">
              <a:off x="0" y="0"/>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10800000">
              <a:off x="5491470"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6" id="6"/>
            <p:cNvSpPr/>
            <p:nvPr/>
          </p:nvSpPr>
          <p:spPr>
            <a:xfrm flipH="false" flipV="false" rot="-10800000">
              <a:off x="8200729"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7" id="7"/>
            <p:cNvSpPr/>
            <p:nvPr/>
          </p:nvSpPr>
          <p:spPr>
            <a:xfrm flipH="false" flipV="false" rot="-10800000">
              <a:off x="10909988"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8" id="8"/>
            <p:cNvSpPr/>
            <p:nvPr/>
          </p:nvSpPr>
          <p:spPr>
            <a:xfrm flipH="false" flipV="false" rot="-10800000">
              <a:off x="13619247"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9" id="9"/>
            <p:cNvSpPr/>
            <p:nvPr/>
          </p:nvSpPr>
          <p:spPr>
            <a:xfrm flipH="false" flipV="false" rot="-10800000">
              <a:off x="16328506"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0" id="10"/>
            <p:cNvSpPr/>
            <p:nvPr/>
          </p:nvSpPr>
          <p:spPr>
            <a:xfrm flipH="false" flipV="false" rot="-10800000">
              <a:off x="19037765"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1" id="11"/>
            <p:cNvSpPr/>
            <p:nvPr/>
          </p:nvSpPr>
          <p:spPr>
            <a:xfrm flipH="false" flipV="false" rot="-10800000">
              <a:off x="21747024"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2" id="12"/>
            <p:cNvSpPr/>
            <p:nvPr/>
          </p:nvSpPr>
          <p:spPr>
            <a:xfrm flipH="false" flipV="false" rot="-10800000">
              <a:off x="2782211"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3" id="13"/>
            <p:cNvSpPr/>
            <p:nvPr/>
          </p:nvSpPr>
          <p:spPr>
            <a:xfrm flipH="false" flipV="false" rot="0">
              <a:off x="0" y="2736056"/>
              <a:ext cx="2782211" cy="2771778"/>
            </a:xfrm>
            <a:custGeom>
              <a:avLst/>
              <a:gdLst/>
              <a:ahLst/>
              <a:cxnLst/>
              <a:rect r="r" b="b" t="t" l="l"/>
              <a:pathLst>
                <a:path h="2771778" w="2782211">
                  <a:moveTo>
                    <a:pt x="0" y="0"/>
                  </a:moveTo>
                  <a:lnTo>
                    <a:pt x="2782211" y="0"/>
                  </a:lnTo>
                  <a:lnTo>
                    <a:pt x="2782211"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4" id="14"/>
            <p:cNvSpPr/>
            <p:nvPr/>
          </p:nvSpPr>
          <p:spPr>
            <a:xfrm flipH="false" flipV="false" rot="-10800000">
              <a:off x="5491470"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5" id="15"/>
            <p:cNvSpPr/>
            <p:nvPr/>
          </p:nvSpPr>
          <p:spPr>
            <a:xfrm flipH="false" flipV="false" rot="-10800000">
              <a:off x="8200729"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6" id="16"/>
            <p:cNvSpPr/>
            <p:nvPr/>
          </p:nvSpPr>
          <p:spPr>
            <a:xfrm flipH="false" flipV="false" rot="-10800000">
              <a:off x="10909988"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7" id="17"/>
            <p:cNvSpPr/>
            <p:nvPr/>
          </p:nvSpPr>
          <p:spPr>
            <a:xfrm flipH="false" flipV="false" rot="-10800000">
              <a:off x="13619247"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8" id="18"/>
            <p:cNvSpPr/>
            <p:nvPr/>
          </p:nvSpPr>
          <p:spPr>
            <a:xfrm flipH="false" flipV="false" rot="-10800000">
              <a:off x="16328506"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9" id="19"/>
            <p:cNvSpPr/>
            <p:nvPr/>
          </p:nvSpPr>
          <p:spPr>
            <a:xfrm flipH="false" flipV="false" rot="-10800000">
              <a:off x="19037765"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0" id="20"/>
            <p:cNvSpPr/>
            <p:nvPr/>
          </p:nvSpPr>
          <p:spPr>
            <a:xfrm flipH="false" flipV="false" rot="-10800000">
              <a:off x="21747024"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1" id="21"/>
            <p:cNvSpPr/>
            <p:nvPr/>
          </p:nvSpPr>
          <p:spPr>
            <a:xfrm flipH="false" flipV="false" rot="-10800000">
              <a:off x="2782211"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2" id="22"/>
            <p:cNvSpPr/>
            <p:nvPr/>
          </p:nvSpPr>
          <p:spPr>
            <a:xfrm flipH="false" flipV="false" rot="0">
              <a:off x="0" y="5472111"/>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3" id="23"/>
            <p:cNvSpPr/>
            <p:nvPr/>
          </p:nvSpPr>
          <p:spPr>
            <a:xfrm flipH="false" flipV="false" rot="-10800000">
              <a:off x="5491470"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4" id="24"/>
            <p:cNvSpPr/>
            <p:nvPr/>
          </p:nvSpPr>
          <p:spPr>
            <a:xfrm flipH="false" flipV="false" rot="-10800000">
              <a:off x="8200729"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5" id="25"/>
            <p:cNvSpPr/>
            <p:nvPr/>
          </p:nvSpPr>
          <p:spPr>
            <a:xfrm flipH="false" flipV="false" rot="-10800000">
              <a:off x="10909988"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6" id="26"/>
            <p:cNvSpPr/>
            <p:nvPr/>
          </p:nvSpPr>
          <p:spPr>
            <a:xfrm flipH="false" flipV="false" rot="-10800000">
              <a:off x="13619247"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7" id="27"/>
            <p:cNvSpPr/>
            <p:nvPr/>
          </p:nvSpPr>
          <p:spPr>
            <a:xfrm flipH="false" flipV="false" rot="-10800000">
              <a:off x="16328506"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8" id="28"/>
            <p:cNvSpPr/>
            <p:nvPr/>
          </p:nvSpPr>
          <p:spPr>
            <a:xfrm flipH="false" flipV="false" rot="-10800000">
              <a:off x="19037765"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9" id="29"/>
            <p:cNvSpPr/>
            <p:nvPr/>
          </p:nvSpPr>
          <p:spPr>
            <a:xfrm flipH="false" flipV="false" rot="-10800000">
              <a:off x="21747024"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0" id="30"/>
            <p:cNvSpPr/>
            <p:nvPr/>
          </p:nvSpPr>
          <p:spPr>
            <a:xfrm flipH="false" flipV="false" rot="-10800000">
              <a:off x="2782211"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1" id="31"/>
            <p:cNvSpPr/>
            <p:nvPr/>
          </p:nvSpPr>
          <p:spPr>
            <a:xfrm flipH="false" flipV="false" rot="0">
              <a:off x="0" y="8208167"/>
              <a:ext cx="2782211" cy="2771778"/>
            </a:xfrm>
            <a:custGeom>
              <a:avLst/>
              <a:gdLst/>
              <a:ahLst/>
              <a:cxnLst/>
              <a:rect r="r" b="b" t="t" l="l"/>
              <a:pathLst>
                <a:path h="2771778" w="2782211">
                  <a:moveTo>
                    <a:pt x="0" y="0"/>
                  </a:moveTo>
                  <a:lnTo>
                    <a:pt x="2782211" y="0"/>
                  </a:lnTo>
                  <a:lnTo>
                    <a:pt x="2782211"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2" id="32"/>
            <p:cNvSpPr/>
            <p:nvPr/>
          </p:nvSpPr>
          <p:spPr>
            <a:xfrm flipH="false" flipV="false" rot="-10800000">
              <a:off x="5491470"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3" id="33"/>
            <p:cNvSpPr/>
            <p:nvPr/>
          </p:nvSpPr>
          <p:spPr>
            <a:xfrm flipH="false" flipV="false" rot="-10800000">
              <a:off x="8200729"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4" id="34"/>
            <p:cNvSpPr/>
            <p:nvPr/>
          </p:nvSpPr>
          <p:spPr>
            <a:xfrm flipH="false" flipV="false" rot="-10800000">
              <a:off x="10909988"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5" id="35"/>
            <p:cNvSpPr/>
            <p:nvPr/>
          </p:nvSpPr>
          <p:spPr>
            <a:xfrm flipH="false" flipV="false" rot="-10800000">
              <a:off x="13619247"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6" id="36"/>
            <p:cNvSpPr/>
            <p:nvPr/>
          </p:nvSpPr>
          <p:spPr>
            <a:xfrm flipH="false" flipV="false" rot="-10800000">
              <a:off x="16328506"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7" id="37"/>
            <p:cNvSpPr/>
            <p:nvPr/>
          </p:nvSpPr>
          <p:spPr>
            <a:xfrm flipH="false" flipV="false" rot="-10800000">
              <a:off x="19037765"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8" id="38"/>
            <p:cNvSpPr/>
            <p:nvPr/>
          </p:nvSpPr>
          <p:spPr>
            <a:xfrm flipH="false" flipV="false" rot="-10800000">
              <a:off x="21747024"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9" id="39"/>
            <p:cNvSpPr/>
            <p:nvPr/>
          </p:nvSpPr>
          <p:spPr>
            <a:xfrm flipH="false" flipV="false" rot="-10800000">
              <a:off x="2782211"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0" id="40"/>
            <p:cNvSpPr/>
            <p:nvPr/>
          </p:nvSpPr>
          <p:spPr>
            <a:xfrm flipH="false" flipV="false" rot="0">
              <a:off x="0" y="10944222"/>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1" id="41"/>
            <p:cNvSpPr/>
            <p:nvPr/>
          </p:nvSpPr>
          <p:spPr>
            <a:xfrm flipH="false" flipV="false" rot="-10800000">
              <a:off x="5491470"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2" id="42"/>
            <p:cNvSpPr/>
            <p:nvPr/>
          </p:nvSpPr>
          <p:spPr>
            <a:xfrm flipH="false" flipV="false" rot="-10800000">
              <a:off x="8200729"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3" id="43"/>
            <p:cNvSpPr/>
            <p:nvPr/>
          </p:nvSpPr>
          <p:spPr>
            <a:xfrm flipH="false" flipV="false" rot="-10800000">
              <a:off x="10909988"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4" id="44"/>
            <p:cNvSpPr/>
            <p:nvPr/>
          </p:nvSpPr>
          <p:spPr>
            <a:xfrm flipH="false" flipV="false" rot="-10800000">
              <a:off x="13619247"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5" id="45"/>
            <p:cNvSpPr/>
            <p:nvPr/>
          </p:nvSpPr>
          <p:spPr>
            <a:xfrm flipH="false" flipV="false" rot="-10800000">
              <a:off x="16328506"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6" id="46"/>
            <p:cNvSpPr/>
            <p:nvPr/>
          </p:nvSpPr>
          <p:spPr>
            <a:xfrm flipH="false" flipV="false" rot="-10800000">
              <a:off x="19037765"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7" id="47"/>
            <p:cNvSpPr/>
            <p:nvPr/>
          </p:nvSpPr>
          <p:spPr>
            <a:xfrm flipH="false" flipV="false" rot="-10800000">
              <a:off x="21747024"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grpSp>
      <p:grpSp>
        <p:nvGrpSpPr>
          <p:cNvPr name="Group 48" id="48"/>
          <p:cNvGrpSpPr/>
          <p:nvPr/>
        </p:nvGrpSpPr>
        <p:grpSpPr>
          <a:xfrm rot="0">
            <a:off x="762522" y="4583097"/>
            <a:ext cx="5516844" cy="4509730"/>
            <a:chOff x="0" y="0"/>
            <a:chExt cx="7355792" cy="6012973"/>
          </a:xfrm>
        </p:grpSpPr>
        <p:grpSp>
          <p:nvGrpSpPr>
            <p:cNvPr name="Group 49" id="49"/>
            <p:cNvGrpSpPr/>
            <p:nvPr/>
          </p:nvGrpSpPr>
          <p:grpSpPr>
            <a:xfrm rot="0">
              <a:off x="0" y="0"/>
              <a:ext cx="7355792" cy="6012973"/>
              <a:chOff x="0" y="0"/>
              <a:chExt cx="2235778" cy="1827631"/>
            </a:xfrm>
          </p:grpSpPr>
          <p:sp>
            <p:nvSpPr>
              <p:cNvPr name="Freeform 50" id="50"/>
              <p:cNvSpPr/>
              <p:nvPr/>
            </p:nvSpPr>
            <p:spPr>
              <a:xfrm flipH="false" flipV="false" rot="0">
                <a:off x="0" y="0"/>
                <a:ext cx="2235778" cy="1827631"/>
              </a:xfrm>
              <a:custGeom>
                <a:avLst/>
                <a:gdLst/>
                <a:ahLst/>
                <a:cxnLst/>
                <a:rect r="r" b="b" t="t" l="l"/>
                <a:pathLst>
                  <a:path h="1827631" w="2235778">
                    <a:moveTo>
                      <a:pt x="0" y="0"/>
                    </a:moveTo>
                    <a:lnTo>
                      <a:pt x="2235778" y="0"/>
                    </a:lnTo>
                    <a:lnTo>
                      <a:pt x="2235778" y="1827631"/>
                    </a:lnTo>
                    <a:lnTo>
                      <a:pt x="0" y="1827631"/>
                    </a:lnTo>
                    <a:close/>
                  </a:path>
                </a:pathLst>
              </a:custGeom>
              <a:solidFill>
                <a:srgbClr val="F6C063"/>
              </a:solidFill>
              <a:ln w="28575" cap="sq">
                <a:solidFill>
                  <a:srgbClr val="000000"/>
                </a:solidFill>
                <a:prstDash val="solid"/>
                <a:miter/>
              </a:ln>
            </p:spPr>
          </p:sp>
          <p:sp>
            <p:nvSpPr>
              <p:cNvPr name="TextBox 51" id="51"/>
              <p:cNvSpPr txBox="true"/>
              <p:nvPr/>
            </p:nvSpPr>
            <p:spPr>
              <a:xfrm>
                <a:off x="0" y="-38100"/>
                <a:ext cx="2235778" cy="1865731"/>
              </a:xfrm>
              <a:prstGeom prst="rect">
                <a:avLst/>
              </a:prstGeom>
            </p:spPr>
            <p:txBody>
              <a:bodyPr anchor="ctr" rtlCol="false" tIns="46230" lIns="46230" bIns="46230" rIns="46230"/>
              <a:lstStyle/>
              <a:p>
                <a:pPr algn="ctr" marL="0" indent="0" lvl="0">
                  <a:lnSpc>
                    <a:spcPts val="2659"/>
                  </a:lnSpc>
                  <a:spcBef>
                    <a:spcPct val="0"/>
                  </a:spcBef>
                </a:pPr>
              </a:p>
            </p:txBody>
          </p:sp>
        </p:grpSp>
        <p:sp>
          <p:nvSpPr>
            <p:cNvPr name="TextBox 52" id="52"/>
            <p:cNvSpPr txBox="true"/>
            <p:nvPr/>
          </p:nvSpPr>
          <p:spPr>
            <a:xfrm rot="0">
              <a:off x="249095" y="371535"/>
              <a:ext cx="6857601" cy="5222278"/>
            </a:xfrm>
            <a:prstGeom prst="rect">
              <a:avLst/>
            </a:prstGeom>
          </p:spPr>
          <p:txBody>
            <a:bodyPr anchor="t" rtlCol="false" tIns="0" lIns="0" bIns="0" rIns="0">
              <a:spAutoFit/>
            </a:bodyPr>
            <a:lstStyle/>
            <a:p>
              <a:pPr algn="ctr">
                <a:lnSpc>
                  <a:spcPts val="3952"/>
                </a:lnSpc>
                <a:spcBef>
                  <a:spcPct val="0"/>
                </a:spcBef>
              </a:pPr>
              <a:r>
                <a:rPr lang="en-US" b="true" sz="2823">
                  <a:solidFill>
                    <a:srgbClr val="000000"/>
                  </a:solidFill>
                  <a:latin typeface="Canva Sans Medium"/>
                  <a:ea typeface="Canva Sans Medium"/>
                  <a:cs typeface="Canva Sans Medium"/>
                  <a:sym typeface="Canva Sans Medium"/>
                </a:rPr>
                <a:t>A species that has a disproportionate impact (relative to its numbers or biomass) on the organization of a biological community. Loss of a keystone species can lead to a broader loss of biodiversity.</a:t>
              </a:r>
            </a:p>
          </p:txBody>
        </p:sp>
      </p:grpSp>
      <p:grpSp>
        <p:nvGrpSpPr>
          <p:cNvPr name="Group 53" id="53"/>
          <p:cNvGrpSpPr/>
          <p:nvPr/>
        </p:nvGrpSpPr>
        <p:grpSpPr>
          <a:xfrm rot="0">
            <a:off x="762522" y="1310008"/>
            <a:ext cx="5516844" cy="2773631"/>
            <a:chOff x="0" y="0"/>
            <a:chExt cx="7355792" cy="3698175"/>
          </a:xfrm>
        </p:grpSpPr>
        <p:grpSp>
          <p:nvGrpSpPr>
            <p:cNvPr name="Group 54" id="54"/>
            <p:cNvGrpSpPr/>
            <p:nvPr/>
          </p:nvGrpSpPr>
          <p:grpSpPr>
            <a:xfrm rot="0">
              <a:off x="0" y="0"/>
              <a:ext cx="7355792" cy="3698175"/>
              <a:chOff x="0" y="0"/>
              <a:chExt cx="1613503" cy="811200"/>
            </a:xfrm>
          </p:grpSpPr>
          <p:sp>
            <p:nvSpPr>
              <p:cNvPr name="Freeform 55" id="55"/>
              <p:cNvSpPr/>
              <p:nvPr/>
            </p:nvSpPr>
            <p:spPr>
              <a:xfrm flipH="false" flipV="false" rot="0">
                <a:off x="0" y="0"/>
                <a:ext cx="1613503" cy="811200"/>
              </a:xfrm>
              <a:custGeom>
                <a:avLst/>
                <a:gdLst/>
                <a:ahLst/>
                <a:cxnLst/>
                <a:rect r="r" b="b" t="t" l="l"/>
                <a:pathLst>
                  <a:path h="811200" w="1613503">
                    <a:moveTo>
                      <a:pt x="0" y="0"/>
                    </a:moveTo>
                    <a:lnTo>
                      <a:pt x="1613503" y="0"/>
                    </a:lnTo>
                    <a:lnTo>
                      <a:pt x="1613503" y="811200"/>
                    </a:lnTo>
                    <a:lnTo>
                      <a:pt x="0" y="811200"/>
                    </a:lnTo>
                    <a:close/>
                  </a:path>
                </a:pathLst>
              </a:custGeom>
              <a:solidFill>
                <a:srgbClr val="6D4A20"/>
              </a:solidFill>
              <a:ln w="28575" cap="sq">
                <a:solidFill>
                  <a:srgbClr val="000000"/>
                </a:solidFill>
                <a:prstDash val="solid"/>
                <a:miter/>
              </a:ln>
            </p:spPr>
          </p:sp>
          <p:sp>
            <p:nvSpPr>
              <p:cNvPr name="TextBox 56" id="56"/>
              <p:cNvSpPr txBox="true"/>
              <p:nvPr/>
            </p:nvSpPr>
            <p:spPr>
              <a:xfrm>
                <a:off x="0" y="-38100"/>
                <a:ext cx="1613503" cy="8493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7" id="57"/>
            <p:cNvSpPr txBox="true"/>
            <p:nvPr/>
          </p:nvSpPr>
          <p:spPr>
            <a:xfrm rot="0">
              <a:off x="433645" y="528499"/>
              <a:ext cx="6488501" cy="2803103"/>
            </a:xfrm>
            <a:prstGeom prst="rect">
              <a:avLst/>
            </a:prstGeom>
          </p:spPr>
          <p:txBody>
            <a:bodyPr anchor="t" rtlCol="false" tIns="0" lIns="0" bIns="0" rIns="0">
              <a:spAutoFit/>
            </a:bodyPr>
            <a:lstStyle/>
            <a:p>
              <a:pPr algn="ctr">
                <a:lnSpc>
                  <a:spcPts val="7840"/>
                </a:lnSpc>
              </a:pPr>
              <a:r>
                <a:rPr lang="en-US" sz="8000" b="true">
                  <a:solidFill>
                    <a:srgbClr val="FFFFFF"/>
                  </a:solidFill>
                  <a:latin typeface="Cooper BT Bold"/>
                  <a:ea typeface="Cooper BT Bold"/>
                  <a:cs typeface="Cooper BT Bold"/>
                  <a:sym typeface="Cooper BT Bold"/>
                </a:rPr>
                <a:t>Keystone Species</a:t>
              </a:r>
            </a:p>
          </p:txBody>
        </p:sp>
      </p:grpSp>
      <p:sp>
        <p:nvSpPr>
          <p:cNvPr name="Freeform 58" id="58" descr="An illustration shows the impact of species and proportional biomass of species. Starting from lo for both at a common point, and being high at the other horizontal and vertical end. At the bottom left are, small green leaves, butterfly, and a flo..."/>
          <p:cNvSpPr/>
          <p:nvPr/>
        </p:nvSpPr>
        <p:spPr>
          <a:xfrm flipH="false" flipV="false" rot="0">
            <a:off x="7615004" y="1194173"/>
            <a:ext cx="10260457" cy="7898654"/>
          </a:xfrm>
          <a:custGeom>
            <a:avLst/>
            <a:gdLst/>
            <a:ahLst/>
            <a:cxnLst/>
            <a:rect r="r" b="b" t="t" l="l"/>
            <a:pathLst>
              <a:path h="7898654" w="10260457">
                <a:moveTo>
                  <a:pt x="0" y="0"/>
                </a:moveTo>
                <a:lnTo>
                  <a:pt x="10260457" y="0"/>
                </a:lnTo>
                <a:lnTo>
                  <a:pt x="10260457" y="7898654"/>
                </a:lnTo>
                <a:lnTo>
                  <a:pt x="0" y="7898654"/>
                </a:lnTo>
                <a:lnTo>
                  <a:pt x="0" y="0"/>
                </a:lnTo>
                <a:close/>
              </a:path>
            </a:pathLst>
          </a:custGeom>
          <a:blipFill>
            <a:blip r:embed="rId4"/>
            <a:stretch>
              <a:fillRect l="0" t="0" r="-2238" b="-5233"/>
            </a:stretch>
          </a:blipFill>
          <a:ln w="38100" cap="sq">
            <a:solidFill>
              <a:srgbClr val="000000"/>
            </a:solidFill>
            <a:prstDash val="solid"/>
            <a:miter/>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a:videoFile r:link="rId3"/>
          </p:nvPr>
        </p:nvPicPr>
        <p:blipFill>
          <a:blip r:embed="rId2"/>
          <a:stretch>
            <a:fillRect/>
          </a:stretch>
        </p:blipFill>
        <p:spPr>
          <a:xfrm rot="0">
            <a:off x="2106234" y="0"/>
            <a:ext cx="14075532" cy="7911306"/>
          </a:xfrm>
          <a:prstGeom prst="rect">
            <a:avLst/>
          </a:prstGeom>
        </p:spPr>
      </p:pic>
    </p:spTree>
  </p:cSld>
  <p:clrMapOvr>
    <a:masterClrMapping/>
  </p:clrMapOvr>
  <p:transition spd="slow">
    <p:push dir="l"/>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983533"/>
            <a:chOff x="0" y="0"/>
            <a:chExt cx="24384000" cy="2644711"/>
          </a:xfrm>
        </p:grpSpPr>
        <p:grpSp>
          <p:nvGrpSpPr>
            <p:cNvPr name="Group 3" id="3"/>
            <p:cNvGrpSpPr/>
            <p:nvPr/>
          </p:nvGrpSpPr>
          <p:grpSpPr>
            <a:xfrm rot="0">
              <a:off x="0" y="0"/>
              <a:ext cx="24384000" cy="2644711"/>
              <a:chOff x="0" y="0"/>
              <a:chExt cx="15284694" cy="1657792"/>
            </a:xfrm>
          </p:grpSpPr>
          <p:sp>
            <p:nvSpPr>
              <p:cNvPr name="Freeform 4" id="4"/>
              <p:cNvSpPr/>
              <p:nvPr/>
            </p:nvSpPr>
            <p:spPr>
              <a:xfrm flipH="false" flipV="false" rot="0">
                <a:off x="0" y="0"/>
                <a:ext cx="15284693" cy="1657792"/>
              </a:xfrm>
              <a:custGeom>
                <a:avLst/>
                <a:gdLst/>
                <a:ahLst/>
                <a:cxnLst/>
                <a:rect r="r" b="b" t="t" l="l"/>
                <a:pathLst>
                  <a:path h="1657792" w="15284693">
                    <a:moveTo>
                      <a:pt x="0" y="0"/>
                    </a:moveTo>
                    <a:lnTo>
                      <a:pt x="15284693" y="0"/>
                    </a:lnTo>
                    <a:lnTo>
                      <a:pt x="15284693" y="1657792"/>
                    </a:lnTo>
                    <a:lnTo>
                      <a:pt x="0" y="1657792"/>
                    </a:lnTo>
                    <a:close/>
                  </a:path>
                </a:pathLst>
              </a:custGeom>
              <a:solidFill>
                <a:srgbClr val="6D4A20"/>
              </a:solidFill>
              <a:ln w="28575" cap="sq">
                <a:solidFill>
                  <a:srgbClr val="000000"/>
                </a:solidFill>
                <a:prstDash val="solid"/>
                <a:miter/>
              </a:ln>
            </p:spPr>
          </p:sp>
          <p:sp>
            <p:nvSpPr>
              <p:cNvPr name="TextBox 5" id="5"/>
              <p:cNvSpPr txBox="true"/>
              <p:nvPr/>
            </p:nvSpPr>
            <p:spPr>
              <a:xfrm>
                <a:off x="0" y="-38100"/>
                <a:ext cx="15284694" cy="1695892"/>
              </a:xfrm>
              <a:prstGeom prst="rect">
                <a:avLst/>
              </a:prstGeom>
            </p:spPr>
            <p:txBody>
              <a:bodyPr anchor="ctr" rtlCol="false" tIns="21435" lIns="21435" bIns="21435" rIns="21435"/>
              <a:lstStyle/>
              <a:p>
                <a:pPr algn="ctr" marL="0" indent="0" lvl="0">
                  <a:lnSpc>
                    <a:spcPts val="2659"/>
                  </a:lnSpc>
                  <a:spcBef>
                    <a:spcPct val="0"/>
                  </a:spcBef>
                </a:pPr>
              </a:p>
            </p:txBody>
          </p:sp>
        </p:grpSp>
        <p:sp>
          <p:nvSpPr>
            <p:cNvPr name="TextBox 6" id="6"/>
            <p:cNvSpPr txBox="true"/>
            <p:nvPr/>
          </p:nvSpPr>
          <p:spPr>
            <a:xfrm rot="0">
              <a:off x="685800" y="519008"/>
              <a:ext cx="23012400" cy="1673369"/>
            </a:xfrm>
            <a:prstGeom prst="rect">
              <a:avLst/>
            </a:prstGeom>
          </p:spPr>
          <p:txBody>
            <a:bodyPr anchor="t" rtlCol="false" tIns="0" lIns="0" bIns="0" rIns="0">
              <a:spAutoFit/>
            </a:bodyPr>
            <a:lstStyle/>
            <a:p>
              <a:pPr algn="ctr">
                <a:lnSpc>
                  <a:spcPts val="3177"/>
                </a:lnSpc>
              </a:pPr>
              <a:r>
                <a:rPr lang="en-US" sz="3242" b="true">
                  <a:solidFill>
                    <a:srgbClr val="FFFFFF"/>
                  </a:solidFill>
                  <a:latin typeface="Cooper BT Bold"/>
                  <a:ea typeface="Cooper BT Bold"/>
                  <a:cs typeface="Cooper BT Bold"/>
                  <a:sym typeface="Cooper BT Bold"/>
                </a:rPr>
                <a:t>Selective predation by </a:t>
              </a:r>
              <a:r>
                <a:rPr lang="en-US" b="true" sz="3242" i="true">
                  <a:solidFill>
                    <a:srgbClr val="FFFFFF"/>
                  </a:solidFill>
                  <a:latin typeface="Cooper BT Bold Italics"/>
                  <a:ea typeface="Cooper BT Bold Italics"/>
                  <a:cs typeface="Cooper BT Bold Italics"/>
                  <a:sym typeface="Cooper BT Bold Italics"/>
                </a:rPr>
                <a:t>Pisaster</a:t>
              </a:r>
              <a:r>
                <a:rPr lang="en-US" sz="3242" b="true">
                  <a:solidFill>
                    <a:srgbClr val="FFFFFF"/>
                  </a:solidFill>
                  <a:latin typeface="Cooper BT Bold"/>
                  <a:ea typeface="Cooper BT Bold"/>
                  <a:cs typeface="Cooper BT Bold"/>
                  <a:sym typeface="Cooper BT Bold"/>
                </a:rPr>
                <a:t> on the competitively dominant mollusk species allows a wide variety of intertidal species to persist rather than be outcompeted. If </a:t>
              </a:r>
              <a:r>
                <a:rPr lang="en-US" b="true" sz="3242" i="true">
                  <a:solidFill>
                    <a:srgbClr val="FFFFFF"/>
                  </a:solidFill>
                  <a:latin typeface="Cooper BT Bold Italics"/>
                  <a:ea typeface="Cooper BT Bold Italics"/>
                  <a:cs typeface="Cooper BT Bold Italics"/>
                  <a:sym typeface="Cooper BT Bold Italics"/>
                </a:rPr>
                <a:t>Pisaster</a:t>
              </a:r>
              <a:r>
                <a:rPr lang="en-US" sz="3242" b="true">
                  <a:solidFill>
                    <a:srgbClr val="FFFFFF"/>
                  </a:solidFill>
                  <a:latin typeface="Cooper BT Bold"/>
                  <a:ea typeface="Cooper BT Bold"/>
                  <a:cs typeface="Cooper BT Bold"/>
                  <a:sym typeface="Cooper BT Bold"/>
                </a:rPr>
                <a:t> is removed, diversity of the intertidal community collapses </a:t>
              </a:r>
            </a:p>
          </p:txBody>
        </p:sp>
      </p:grpSp>
      <p:sp>
        <p:nvSpPr>
          <p:cNvPr name="Freeform 7" id="7" descr="A photo of star fish labeled as, Pisaster ochraceus. A line graph is plotted showing the number of species from year 1962 to 1974, in the presence and absence of the Pisaster. Around 1962, the number of species is around 20. Once the pisaster is r..."/>
          <p:cNvSpPr/>
          <p:nvPr/>
        </p:nvSpPr>
        <p:spPr>
          <a:xfrm flipH="false" flipV="false" rot="0">
            <a:off x="0" y="2413722"/>
            <a:ext cx="18288000" cy="7052341"/>
          </a:xfrm>
          <a:custGeom>
            <a:avLst/>
            <a:gdLst/>
            <a:ahLst/>
            <a:cxnLst/>
            <a:rect r="r" b="b" t="t" l="l"/>
            <a:pathLst>
              <a:path h="7052341" w="18288000">
                <a:moveTo>
                  <a:pt x="0" y="0"/>
                </a:moveTo>
                <a:lnTo>
                  <a:pt x="18288000" y="0"/>
                </a:lnTo>
                <a:lnTo>
                  <a:pt x="18288000" y="7052341"/>
                </a:lnTo>
                <a:lnTo>
                  <a:pt x="0" y="7052341"/>
                </a:lnTo>
                <a:lnTo>
                  <a:pt x="0" y="0"/>
                </a:lnTo>
                <a:close/>
              </a:path>
            </a:pathLst>
          </a:custGeom>
          <a:blipFill>
            <a:blip r:embed="rId2"/>
            <a:stretch>
              <a:fillRect l="-3319" t="0" r="-2235" b="-9684"/>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DAGzuSVKVWk</dc:identifier>
  <dcterms:modified xsi:type="dcterms:W3CDTF">2011-08-01T06:04:30Z</dcterms:modified>
  <cp:revision>1</cp:revision>
  <dc:title>3-5_3-6_community_ecosystem_diversity</dc:title>
</cp:coreProperties>
</file>