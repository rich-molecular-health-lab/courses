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394" r:id="rId5"/>
    <p:sldId id="423" r:id="rId6"/>
    <p:sldId id="402" r:id="rId7"/>
    <p:sldId id="417" r:id="rId8"/>
    <p:sldId id="389" r:id="rId9"/>
    <p:sldId id="400" r:id="rId10"/>
    <p:sldId id="391" r:id="rId11"/>
    <p:sldId id="392" r:id="rId12"/>
    <p:sldId id="424" r:id="rId13"/>
    <p:sldId id="412" r:id="rId14"/>
    <p:sldId id="413" r:id="rId15"/>
    <p:sldId id="406" r:id="rId16"/>
    <p:sldId id="408" r:id="rId17"/>
    <p:sldId id="407" r:id="rId18"/>
    <p:sldId id="366" r:id="rId19"/>
    <p:sldId id="373" r:id="rId20"/>
    <p:sldId id="374" r:id="rId21"/>
    <p:sldId id="405" r:id="rId22"/>
    <p:sldId id="378" r:id="rId23"/>
    <p:sldId id="383" r:id="rId24"/>
    <p:sldId id="393" r:id="rId25"/>
    <p:sldId id="411" r:id="rId26"/>
    <p:sldId id="421" r:id="rId27"/>
    <p:sldId id="418" r:id="rId28"/>
    <p:sldId id="419" r:id="rId29"/>
    <p:sldId id="420" r:id="rId30"/>
    <p:sldId id="380" r:id="rId31"/>
    <p:sldId id="422" r:id="rId32"/>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EF4EC"/>
    <a:srgbClr val="18F418"/>
    <a:srgbClr val="2A20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B5C4E7-A78D-4E48-8F77-0536DCD1C3E7}" v="138" dt="2025-09-11T14:34:14.9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91" autoAdjust="0"/>
    <p:restoredTop sz="87567" autoAdjust="0"/>
  </p:normalViewPr>
  <p:slideViewPr>
    <p:cSldViewPr>
      <p:cViewPr varScale="1">
        <p:scale>
          <a:sx n="57" d="100"/>
          <a:sy n="57" d="100"/>
        </p:scale>
        <p:origin x="1144" y="48"/>
      </p:cViewPr>
      <p:guideLst>
        <p:guide orient="horz" pos="2160"/>
        <p:guide pos="3840"/>
      </p:guideLst>
    </p:cSldViewPr>
  </p:slideViewPr>
  <p:notesTextViewPr>
    <p:cViewPr>
      <p:scale>
        <a:sx n="3" d="2"/>
        <a:sy n="3" d="2"/>
      </p:scale>
      <p:origin x="0" y="0"/>
    </p:cViewPr>
  </p:notesTextViewPr>
  <p:sorterViewPr>
    <p:cViewPr>
      <p:scale>
        <a:sx n="100" d="100"/>
        <a:sy n="100" d="100"/>
      </p:scale>
      <p:origin x="0" y="-56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15BD30-2AB6-4677-937B-1B7C04CB5B3A}" type="datetimeFigureOut">
              <a:rPr lang="en-US" smtClean="0"/>
              <a:t>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02DB99-6197-417B-B067-FE6FB9B1E5B1}" type="slidenum">
              <a:rPr lang="en-US" smtClean="0"/>
              <a:t>‹#›</a:t>
            </a:fld>
            <a:endParaRPr lang="en-US"/>
          </a:p>
        </p:txBody>
      </p:sp>
    </p:spTree>
    <p:extLst>
      <p:ext uri="{BB962C8B-B14F-4D97-AF65-F5344CB8AC3E}">
        <p14:creationId xmlns:p14="http://schemas.microsoft.com/office/powerpoint/2010/main" val="1974768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221178-11FB-4BEC-8E0F-DDF6CD1EF485}"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696056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82099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221178-11FB-4BEC-8E0F-DDF6CD1EF485}"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371549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221178-11FB-4BEC-8E0F-DDF6CD1EF485}"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5562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221178-11FB-4BEC-8E0F-DDF6CD1EF485}"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2895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221178-11FB-4BEC-8E0F-DDF6CD1EF485}"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07002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221178-11FB-4BEC-8E0F-DDF6CD1EF485}"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3799255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21178-11FB-4BEC-8E0F-DDF6CD1EF485}"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255537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21178-11FB-4BEC-8E0F-DDF6CD1EF485}"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75373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415311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221178-11FB-4BEC-8E0F-DDF6CD1EF485}"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A0EFE-B331-4723-AD14-CCE6D5E159C3}" type="slidenum">
              <a:rPr lang="en-US" smtClean="0"/>
              <a:t>‹#›</a:t>
            </a:fld>
            <a:endParaRPr lang="en-US"/>
          </a:p>
        </p:txBody>
      </p:sp>
    </p:spTree>
    <p:extLst>
      <p:ext uri="{BB962C8B-B14F-4D97-AF65-F5344CB8AC3E}">
        <p14:creationId xmlns:p14="http://schemas.microsoft.com/office/powerpoint/2010/main" val="108698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221178-11FB-4BEC-8E0F-DDF6CD1EF485}" type="datetimeFigureOut">
              <a:rPr lang="en-US" smtClean="0"/>
              <a:t>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FA0EFE-B331-4723-AD14-CCE6D5E159C3}" type="slidenum">
              <a:rPr lang="en-US" smtClean="0"/>
              <a:t>‹#›</a:t>
            </a:fld>
            <a:endParaRPr lang="en-US"/>
          </a:p>
        </p:txBody>
      </p:sp>
    </p:spTree>
    <p:extLst>
      <p:ext uri="{BB962C8B-B14F-4D97-AF65-F5344CB8AC3E}">
        <p14:creationId xmlns:p14="http://schemas.microsoft.com/office/powerpoint/2010/main" val="235621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atzRgGr1fz4" TargetMode="External"/><Relationship Id="rId2" Type="http://schemas.openxmlformats.org/officeDocument/2006/relationships/hyperlink" Target="https://www.youtube.com/watch?v=-b3Eejf4rDQ" TargetMode="Externa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1.png"/><Relationship Id="rId7" Type="http://schemas.openxmlformats.org/officeDocument/2006/relationships/image" Target="../media/image5.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5FqFg-rjzP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www.youtube.com/watch?v=B79Z56vl02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Z4gK5Kuy1bE" TargetMode="External"/><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2.gif"/></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7.gif"/><Relationship Id="rId4" Type="http://schemas.openxmlformats.org/officeDocument/2006/relationships/image" Target="../media/image26.jpeg"/></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gif"/><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unomaha.edu/college-of-arts-and-sciences/biology/about-us/directory/index.php" TargetMode="External"/><Relationship Id="rId2" Type="http://schemas.openxmlformats.org/officeDocument/2006/relationships/hyperlink" Target="mailto:dquaas@unomaha.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524000" y="2395556"/>
            <a:ext cx="9144000" cy="2300572"/>
            <a:chOff x="0" y="0"/>
            <a:chExt cx="9144000" cy="2300572"/>
          </a:xfrm>
        </p:grpSpPr>
        <p:pic>
          <p:nvPicPr>
            <p:cNvPr id="10" name="Picture 23" descr="31_11eFungalDiversity-U"/>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0" y="1"/>
              <a:ext cx="1828800"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 descr="31_06aPenicilliumMold-U"/>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9028" y="1"/>
              <a:ext cx="2368669"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9" descr="31_16aAscomyceteFungi-U"/>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5" t="1897" r="4179" b="16174"/>
            <a:stretch/>
          </p:blipFill>
          <p:spPr bwMode="auto">
            <a:xfrm>
              <a:off x="1828800" y="0"/>
              <a:ext cx="1570231" cy="230057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1" descr="31_23_LichenForms-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9619" t="1880" r="1857" b="6391"/>
            <a:stretch/>
          </p:blipFill>
          <p:spPr bwMode="auto">
            <a:xfrm>
              <a:off x="7937143" y="1"/>
              <a:ext cx="1206857"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5" descr="31_01ForestMushrooms-U"/>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9855" t="2797" r="7986" b="5134"/>
            <a:stretch/>
          </p:blipFill>
          <p:spPr bwMode="auto">
            <a:xfrm>
              <a:off x="5767697" y="0"/>
              <a:ext cx="2169446" cy="2300572"/>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Title 1"/>
          <p:cNvSpPr txBox="1">
            <a:spLocks/>
          </p:cNvSpPr>
          <p:nvPr/>
        </p:nvSpPr>
        <p:spPr>
          <a:xfrm>
            <a:off x="1524000" y="914401"/>
            <a:ext cx="91440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a:latin typeface="Arial" panose="020B0604020202020204" pitchFamily="34" charset="0"/>
              </a:rPr>
              <a:t>Fungi Diversity and Anatomy</a:t>
            </a:r>
            <a:endParaRPr lang="en-US" altLang="en-US" dirty="0"/>
          </a:p>
        </p:txBody>
      </p:sp>
      <p:sp>
        <p:nvSpPr>
          <p:cNvPr id="18" name="Subtitle 2"/>
          <p:cNvSpPr txBox="1">
            <a:spLocks/>
          </p:cNvSpPr>
          <p:nvPr/>
        </p:nvSpPr>
        <p:spPr>
          <a:xfrm>
            <a:off x="2895600" y="5214991"/>
            <a:ext cx="6400800" cy="1676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800" b="1" dirty="0">
                <a:latin typeface="Arial" panose="020B0604020202020204" pitchFamily="34" charset="0"/>
              </a:rPr>
              <a:t>BIOL 1750 – Biology II Lab</a:t>
            </a:r>
          </a:p>
          <a:p>
            <a:pPr marL="0" indent="0" algn="ctr">
              <a:buNone/>
            </a:pPr>
            <a:r>
              <a:rPr lang="en-US" altLang="en-US" sz="2000" dirty="0">
                <a:latin typeface="Arial" panose="020B0604020202020204" pitchFamily="34" charset="0"/>
              </a:rPr>
              <a:t>University of Nebraska at Omaha</a:t>
            </a:r>
          </a:p>
          <a:p>
            <a:pPr marL="0" indent="0" algn="ctr">
              <a:buNone/>
            </a:pPr>
            <a:r>
              <a:rPr lang="en-US" altLang="en-US" sz="2000" dirty="0">
                <a:latin typeface="Arial" panose="020B0604020202020204" pitchFamily="34" charset="0"/>
              </a:rPr>
              <a:t>AH 225</a:t>
            </a:r>
          </a:p>
        </p:txBody>
      </p:sp>
    </p:spTree>
    <p:extLst>
      <p:ext uri="{BB962C8B-B14F-4D97-AF65-F5344CB8AC3E}">
        <p14:creationId xmlns:p14="http://schemas.microsoft.com/office/powerpoint/2010/main" val="1148806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26050-807E-C2BC-3145-2DE8903D0CD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68AB670-5DC8-4A32-D64D-AA62E7A8C3D8}"/>
              </a:ext>
            </a:extLst>
          </p:cNvPr>
          <p:cNvSpPr txBox="1"/>
          <p:nvPr/>
        </p:nvSpPr>
        <p:spPr>
          <a:xfrm>
            <a:off x="1550910" y="944563"/>
            <a:ext cx="9040890" cy="954107"/>
          </a:xfrm>
          <a:prstGeom prst="rect">
            <a:avLst/>
          </a:prstGeom>
          <a:noFill/>
        </p:spPr>
        <p:txBody>
          <a:bodyPr wrap="square" rtlCol="0">
            <a:spAutoFit/>
          </a:bodyPr>
          <a:lstStyle/>
          <a:p>
            <a:r>
              <a:rPr lang="en-US" sz="2800" b="1" dirty="0"/>
              <a:t>The Results writing assignment takes the place of the pre-lab quiz next week. Due at the beginning of lab next week.</a:t>
            </a:r>
            <a:endParaRPr lang="en-US" sz="2800" dirty="0"/>
          </a:p>
        </p:txBody>
      </p:sp>
      <p:sp>
        <p:nvSpPr>
          <p:cNvPr id="2" name="TextBox 1">
            <a:extLst>
              <a:ext uri="{FF2B5EF4-FFF2-40B4-BE49-F238E27FC236}">
                <a16:creationId xmlns:a16="http://schemas.microsoft.com/office/drawing/2014/main" id="{FB53BB97-9934-8AA0-D26C-483583DA6E43}"/>
              </a:ext>
            </a:extLst>
          </p:cNvPr>
          <p:cNvSpPr txBox="1"/>
          <p:nvPr/>
        </p:nvSpPr>
        <p:spPr>
          <a:xfrm>
            <a:off x="1270755" y="2209800"/>
            <a:ext cx="9601200" cy="4278094"/>
          </a:xfrm>
          <a:prstGeom prst="rect">
            <a:avLst/>
          </a:prstGeom>
          <a:noFill/>
        </p:spPr>
        <p:txBody>
          <a:bodyPr wrap="square" rtlCol="0">
            <a:spAutoFit/>
          </a:bodyPr>
          <a:lstStyle/>
          <a:p>
            <a:r>
              <a:rPr lang="en-US" sz="1700" b="1" dirty="0"/>
              <a:t>Write a Results Section Comparing Biodiversity and Similarity of Two Different Habitats at Glacier Creek Preserve</a:t>
            </a:r>
            <a:r>
              <a:rPr lang="en-US" sz="1700" cap="small" dirty="0"/>
              <a:t> (</a:t>
            </a:r>
            <a:r>
              <a:rPr lang="en-US" sz="1700" dirty="0"/>
              <a:t>4 pts)</a:t>
            </a:r>
          </a:p>
          <a:p>
            <a:r>
              <a:rPr lang="en-US" sz="1700" dirty="0"/>
              <a:t> </a:t>
            </a:r>
          </a:p>
          <a:p>
            <a:r>
              <a:rPr lang="en-US" sz="1700" dirty="0"/>
              <a:t>On the back of this page, write your name, lab time/section, and a paragraph presenting the results of the data analyses we used to compare habitat biodiversity and species composition. Using your group data, </a:t>
            </a:r>
            <a:r>
              <a:rPr lang="en-US" sz="1700" b="1" dirty="0"/>
              <a:t>make a small table</a:t>
            </a:r>
            <a:r>
              <a:rPr lang="en-US" sz="1700" dirty="0"/>
              <a:t> presenting the species richness for each habitat type. Above the table itself, give your table a complete, descriptive </a:t>
            </a:r>
            <a:r>
              <a:rPr lang="en-US" sz="1700" b="1" dirty="0"/>
              <a:t>caption</a:t>
            </a:r>
            <a:r>
              <a:rPr lang="en-US" sz="1700" dirty="0"/>
              <a:t>. Be very specific (include time, measurements made etc.). Describe the legend in paragraph form. For example, “Values represent the mean height of </a:t>
            </a:r>
            <a:r>
              <a:rPr lang="en-US" sz="1700" i="1" dirty="0"/>
              <a:t>Brassica </a:t>
            </a:r>
            <a:r>
              <a:rPr lang="en-US" sz="1700" i="1" dirty="0" err="1"/>
              <a:t>rapa</a:t>
            </a:r>
            <a:r>
              <a:rPr lang="en-US" sz="1700" dirty="0"/>
              <a:t> plants either treated with gibberellic acid (dark bar) or in the control treatment (white bar).”</a:t>
            </a:r>
          </a:p>
          <a:p>
            <a:r>
              <a:rPr lang="en-US" sz="1700" dirty="0"/>
              <a:t> </a:t>
            </a:r>
          </a:p>
          <a:p>
            <a:r>
              <a:rPr lang="en-US" sz="1700" b="1" dirty="0"/>
              <a:t>Report the results by referring to Table 1. </a:t>
            </a:r>
            <a:r>
              <a:rPr lang="en-US" sz="1700" dirty="0"/>
              <a:t>That means</a:t>
            </a:r>
            <a:r>
              <a:rPr lang="en-US" sz="1700" b="1" dirty="0"/>
              <a:t> </a:t>
            </a:r>
            <a:r>
              <a:rPr lang="en-US" sz="1700" dirty="0"/>
              <a:t>cite the Table in your text like: “The woodland habitat had greater overall diversity than the riparian habitat (Table 1).”</a:t>
            </a:r>
            <a:r>
              <a:rPr lang="en-US" sz="1700" b="1" dirty="0"/>
              <a:t> </a:t>
            </a:r>
            <a:r>
              <a:rPr lang="en-US" sz="1700" dirty="0"/>
              <a:t>Make sure you report the results of both the species richness and similarity index, but DO NOT be redundant in reporting the values. Because the Table will have species richness values you will not state the species richness values in paragraph form. Simply state which habitat had higher or lower diversity and cite the Table. Lastly, would you reject or fail to reject your null hypotheses based on your group’s data?</a:t>
            </a:r>
            <a:endParaRPr lang="en-US" sz="1700" dirty="0">
              <a:solidFill>
                <a:srgbClr val="FF0000"/>
              </a:solidFill>
            </a:endParaRPr>
          </a:p>
        </p:txBody>
      </p:sp>
      <p:pic>
        <p:nvPicPr>
          <p:cNvPr id="3" name="Picture 2">
            <a:extLst>
              <a:ext uri="{FF2B5EF4-FFF2-40B4-BE49-F238E27FC236}">
                <a16:creationId xmlns:a16="http://schemas.microsoft.com/office/drawing/2014/main" id="{B2AD46E9-C954-FD9F-0917-3181E94C59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982"/>
          <a:stretch/>
        </p:blipFill>
        <p:spPr bwMode="auto">
          <a:xfrm>
            <a:off x="10896600" y="5819370"/>
            <a:ext cx="109774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3">
            <a:extLst>
              <a:ext uri="{FF2B5EF4-FFF2-40B4-BE49-F238E27FC236}">
                <a16:creationId xmlns:a16="http://schemas.microsoft.com/office/drawing/2014/main" id="{9053F391-0F4E-0F83-AA86-769FE2C9492E}"/>
              </a:ext>
            </a:extLst>
          </p:cNvPr>
          <p:cNvSpPr>
            <a:spLocks noGrp="1"/>
          </p:cNvSpPr>
          <p:nvPr>
            <p:ph type="title"/>
          </p:nvPr>
        </p:nvSpPr>
        <p:spPr>
          <a:xfrm>
            <a:off x="1981200" y="76200"/>
            <a:ext cx="8229600" cy="990600"/>
          </a:xfrm>
        </p:spPr>
        <p:txBody>
          <a:bodyPr>
            <a:normAutofit fontScale="90000"/>
          </a:bodyPr>
          <a:lstStyle/>
          <a:p>
            <a:r>
              <a:rPr lang="en-US" dirty="0"/>
              <a:t>Reminders</a:t>
            </a:r>
            <a:br>
              <a:rPr lang="en-US" dirty="0"/>
            </a:br>
            <a:r>
              <a:rPr lang="en-US" sz="2700" b="1" dirty="0">
                <a:solidFill>
                  <a:srgbClr val="FF0000"/>
                </a:solidFill>
              </a:rPr>
              <a:t>NO QUIZ THIS WEEK!</a:t>
            </a:r>
          </a:p>
        </p:txBody>
      </p:sp>
    </p:spTree>
    <p:extLst>
      <p:ext uri="{BB962C8B-B14F-4D97-AF65-F5344CB8AC3E}">
        <p14:creationId xmlns:p14="http://schemas.microsoft.com/office/powerpoint/2010/main" val="2538402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24000"/>
            <a:ext cx="8382000" cy="4800600"/>
          </a:xfrm>
        </p:spPr>
        <p:txBody>
          <a:bodyPr>
            <a:normAutofit/>
          </a:bodyPr>
          <a:lstStyle/>
          <a:p>
            <a:r>
              <a:rPr lang="en-US" sz="2600" dirty="0"/>
              <a:t>Today – Lab 4 (20-point activity)</a:t>
            </a:r>
          </a:p>
          <a:p>
            <a:pPr lvl="1"/>
            <a:r>
              <a:rPr lang="en-US" sz="2200" dirty="0"/>
              <a:t>Parts of a Microscope</a:t>
            </a:r>
          </a:p>
          <a:p>
            <a:pPr lvl="1"/>
            <a:r>
              <a:rPr lang="en-US" sz="2200" dirty="0"/>
              <a:t>Comparative Anatomy of True Fungi</a:t>
            </a:r>
          </a:p>
          <a:p>
            <a:r>
              <a:rPr lang="en-US" sz="2600" dirty="0"/>
              <a:t>Next Week – Lab 5</a:t>
            </a:r>
          </a:p>
          <a:p>
            <a:pPr lvl="1"/>
            <a:r>
              <a:rPr lang="en-US" sz="2400" dirty="0"/>
              <a:t>Plant Anatomy and Physiology</a:t>
            </a:r>
          </a:p>
        </p:txBody>
      </p:sp>
      <p:sp>
        <p:nvSpPr>
          <p:cNvPr id="15" name="Title 1"/>
          <p:cNvSpPr>
            <a:spLocks noGrp="1"/>
          </p:cNvSpPr>
          <p:nvPr>
            <p:ph type="title"/>
          </p:nvPr>
        </p:nvSpPr>
        <p:spPr>
          <a:xfrm>
            <a:off x="1981200" y="0"/>
            <a:ext cx="8229600" cy="1600200"/>
          </a:xfrm>
        </p:spPr>
        <p:txBody>
          <a:bodyPr>
            <a:normAutofit/>
          </a:bodyPr>
          <a:lstStyle/>
          <a:p>
            <a:r>
              <a:rPr lang="en-US" sz="4000" dirty="0"/>
              <a:t>Today’s lab . . . </a:t>
            </a:r>
            <a:endParaRPr lang="en-US" sz="3200" dirty="0"/>
          </a:p>
        </p:txBody>
      </p:sp>
    </p:spTree>
    <p:extLst>
      <p:ext uri="{BB962C8B-B14F-4D97-AF65-F5344CB8AC3E}">
        <p14:creationId xmlns:p14="http://schemas.microsoft.com/office/powerpoint/2010/main" val="170125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39433" y="1981200"/>
            <a:ext cx="8382000" cy="3891455"/>
          </a:xfrm>
        </p:spPr>
        <p:txBody>
          <a:bodyPr>
            <a:normAutofit/>
          </a:bodyPr>
          <a:lstStyle/>
          <a:p>
            <a:pPr marL="0" indent="0">
              <a:buNone/>
            </a:pPr>
            <a:r>
              <a:rPr lang="en-US" sz="2600" dirty="0"/>
              <a:t>Objectives:  Students will be able to…</a:t>
            </a:r>
          </a:p>
          <a:p>
            <a:pPr marL="457200" indent="-457200">
              <a:buFont typeface="+mj-lt"/>
              <a:buAutoNum type="arabicPeriod"/>
            </a:pPr>
            <a:r>
              <a:rPr lang="en-US" sz="2300" b="1" dirty="0"/>
              <a:t>Use a microscope </a:t>
            </a:r>
            <a:r>
              <a:rPr lang="en-US" sz="2300" dirty="0"/>
              <a:t>and label the parts</a:t>
            </a:r>
          </a:p>
          <a:p>
            <a:pPr marL="457200" indent="-457200">
              <a:buFont typeface="+mj-lt"/>
              <a:buAutoNum type="arabicPeriod"/>
            </a:pPr>
            <a:r>
              <a:rPr lang="en-US" sz="2300" b="1" dirty="0"/>
              <a:t>Name the Fungi phylum</a:t>
            </a:r>
            <a:r>
              <a:rPr lang="en-US" sz="2300" dirty="0"/>
              <a:t>, given representative organisms</a:t>
            </a:r>
          </a:p>
          <a:p>
            <a:pPr marL="457200" indent="-457200">
              <a:buFont typeface="+mj-lt"/>
              <a:buAutoNum type="arabicPeriod"/>
            </a:pPr>
            <a:r>
              <a:rPr lang="en-US" sz="2300" dirty="0"/>
              <a:t>Describe the </a:t>
            </a:r>
            <a:r>
              <a:rPr lang="en-US" sz="2300" b="1" dirty="0"/>
              <a:t>differences in reproduction </a:t>
            </a:r>
            <a:r>
              <a:rPr lang="en-US" sz="2300" dirty="0"/>
              <a:t>between the three Fungi phyla (Zygomycota, Ascomycota, Basidiomycota) and label the major reproductive structures</a:t>
            </a:r>
          </a:p>
          <a:p>
            <a:pPr marL="457200" indent="-457200">
              <a:buFont typeface="+mj-lt"/>
              <a:buAutoNum type="arabicPeriod"/>
            </a:pPr>
            <a:r>
              <a:rPr lang="en-US" sz="2300" dirty="0"/>
              <a:t>Discuss </a:t>
            </a:r>
            <a:r>
              <a:rPr lang="en-US" sz="2300" b="1" dirty="0"/>
              <a:t>ecological roles </a:t>
            </a:r>
            <a:r>
              <a:rPr lang="en-US" sz="2300" dirty="0"/>
              <a:t>and economic importance of fungi</a:t>
            </a:r>
          </a:p>
          <a:p>
            <a:pPr marL="457200" indent="-457200">
              <a:buFont typeface="+mj-lt"/>
              <a:buAutoNum type="arabicPeriod"/>
            </a:pPr>
            <a:r>
              <a:rPr lang="en-US" sz="2300" dirty="0"/>
              <a:t>Describe a lichen, and </a:t>
            </a:r>
            <a:r>
              <a:rPr lang="en-US" sz="2300" b="1" dirty="0"/>
              <a:t>identify the three lichen thallus types</a:t>
            </a:r>
          </a:p>
          <a:p>
            <a:pPr marL="457200" indent="-457200">
              <a:buFont typeface="+mj-lt"/>
              <a:buAutoNum type="arabicPeriod"/>
            </a:pPr>
            <a:r>
              <a:rPr lang="en-US" sz="2300" dirty="0"/>
              <a:t>Describe the </a:t>
            </a:r>
            <a:r>
              <a:rPr lang="en-US" sz="2300" b="1" dirty="0"/>
              <a:t>relationship between mycorrhizal fungi and plants</a:t>
            </a:r>
          </a:p>
        </p:txBody>
      </p:sp>
      <p:sp>
        <p:nvSpPr>
          <p:cNvPr id="15" name="Title 1"/>
          <p:cNvSpPr>
            <a:spLocks noGrp="1"/>
          </p:cNvSpPr>
          <p:nvPr>
            <p:ph type="title"/>
          </p:nvPr>
        </p:nvSpPr>
        <p:spPr>
          <a:xfrm>
            <a:off x="1981200" y="528145"/>
            <a:ext cx="8229600" cy="914400"/>
          </a:xfrm>
        </p:spPr>
        <p:txBody>
          <a:bodyPr>
            <a:normAutofit/>
          </a:bodyPr>
          <a:lstStyle/>
          <a:p>
            <a:r>
              <a:rPr lang="en-US" sz="4000" dirty="0"/>
              <a:t>Fungi Diversity and Anatomy</a:t>
            </a:r>
            <a:endParaRPr lang="en-US" sz="3200" dirty="0"/>
          </a:p>
        </p:txBody>
      </p:sp>
    </p:spTree>
    <p:extLst>
      <p:ext uri="{BB962C8B-B14F-4D97-AF65-F5344CB8AC3E}">
        <p14:creationId xmlns:p14="http://schemas.microsoft.com/office/powerpoint/2010/main" val="210401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81200" y="458786"/>
            <a:ext cx="8229600" cy="685800"/>
          </a:xfrm>
          <a:prstGeom prst="rect">
            <a:avLst/>
          </a:prstGeom>
        </p:spPr>
        <p:txBody>
          <a:bodyPr anchor="ctr" anchorCtr="0">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a:t>Microscopes are Awesome!</a:t>
            </a:r>
            <a:endParaRPr lang="en-US" sz="3200" dirty="0"/>
          </a:p>
        </p:txBody>
      </p:sp>
      <p:sp>
        <p:nvSpPr>
          <p:cNvPr id="12" name="Rectangle 11"/>
          <p:cNvSpPr/>
          <p:nvPr/>
        </p:nvSpPr>
        <p:spPr>
          <a:xfrm>
            <a:off x="2770710" y="1516656"/>
            <a:ext cx="2958054" cy="923330"/>
          </a:xfrm>
          <a:prstGeom prst="rect">
            <a:avLst/>
          </a:prstGeom>
        </p:spPr>
        <p:txBody>
          <a:bodyPr wrap="none">
            <a:spAutoFit/>
          </a:bodyPr>
          <a:lstStyle/>
          <a:p>
            <a:pPr marL="285750" indent="-285750">
              <a:buFont typeface="Arial" panose="020B0604020202020204" pitchFamily="34" charset="0"/>
              <a:buChar char="•"/>
            </a:pPr>
            <a:r>
              <a:rPr lang="en-US" dirty="0"/>
              <a:t>uses only transmitted light</a:t>
            </a:r>
          </a:p>
          <a:p>
            <a:pPr marL="285750" indent="-285750">
              <a:buFont typeface="Arial" panose="020B0604020202020204" pitchFamily="34" charset="0"/>
              <a:buChar char="•"/>
            </a:pPr>
            <a:r>
              <a:rPr lang="en-US" dirty="0"/>
              <a:t>greater magnification</a:t>
            </a:r>
          </a:p>
          <a:p>
            <a:pPr marL="285750" indent="-285750">
              <a:buFont typeface="Arial" panose="020B0604020202020204" pitchFamily="34" charset="0"/>
              <a:buChar char="•"/>
            </a:pPr>
            <a:r>
              <a:rPr lang="en-US" dirty="0"/>
              <a:t>for viewing slides</a:t>
            </a:r>
          </a:p>
        </p:txBody>
      </p:sp>
      <p:sp>
        <p:nvSpPr>
          <p:cNvPr id="13" name="Rectangle 12"/>
          <p:cNvSpPr/>
          <p:nvPr/>
        </p:nvSpPr>
        <p:spPr>
          <a:xfrm>
            <a:off x="6864716" y="1516656"/>
            <a:ext cx="3803285" cy="923330"/>
          </a:xfrm>
          <a:prstGeom prst="rect">
            <a:avLst/>
          </a:prstGeom>
        </p:spPr>
        <p:txBody>
          <a:bodyPr wrap="none">
            <a:spAutoFit/>
          </a:bodyPr>
          <a:lstStyle/>
          <a:p>
            <a:pPr marL="285750" indent="-285750">
              <a:buFont typeface="Arial" panose="020B0604020202020204" pitchFamily="34" charset="0"/>
              <a:buChar char="•"/>
            </a:pPr>
            <a:r>
              <a:rPr lang="en-US" dirty="0"/>
              <a:t>uses transmitted and reflected light</a:t>
            </a:r>
          </a:p>
          <a:p>
            <a:pPr marL="285750" indent="-285750">
              <a:buFont typeface="Arial" panose="020B0604020202020204" pitchFamily="34" charset="0"/>
              <a:buChar char="•"/>
            </a:pPr>
            <a:r>
              <a:rPr lang="en-US" dirty="0"/>
              <a:t>better resolution</a:t>
            </a:r>
          </a:p>
          <a:p>
            <a:pPr marL="285750" indent="-285750">
              <a:buFont typeface="Arial" panose="020B0604020202020204" pitchFamily="34" charset="0"/>
              <a:buChar char="•"/>
            </a:pPr>
            <a:r>
              <a:rPr lang="en-US" dirty="0"/>
              <a:t>for viewing 3D objects</a:t>
            </a:r>
          </a:p>
        </p:txBody>
      </p:sp>
      <p:pic>
        <p:nvPicPr>
          <p:cNvPr id="14" name="Picture 4" descr="shengheng$421162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2439987"/>
            <a:ext cx="3884613" cy="38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 descr="Dissecting-microscope-magnific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2439987"/>
            <a:ext cx="2616200" cy="38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7"/>
          <p:cNvSpPr txBox="1">
            <a:spLocks noChangeArrowheads="1"/>
          </p:cNvSpPr>
          <p:nvPr/>
        </p:nvSpPr>
        <p:spPr bwMode="auto">
          <a:xfrm>
            <a:off x="2590801" y="1144587"/>
            <a:ext cx="335380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spcBef>
                <a:spcPct val="0"/>
              </a:spcBef>
              <a:buFontTx/>
              <a:buNone/>
            </a:pPr>
            <a:r>
              <a:rPr lang="en-US" altLang="en-US" sz="2400" dirty="0">
                <a:latin typeface="Arial" pitchFamily="34" charset="0"/>
              </a:rPr>
              <a:t>Compound microscope</a:t>
            </a:r>
          </a:p>
        </p:txBody>
      </p:sp>
      <p:sp>
        <p:nvSpPr>
          <p:cNvPr id="17" name="Text Box 8"/>
          <p:cNvSpPr txBox="1">
            <a:spLocks noChangeArrowheads="1"/>
          </p:cNvSpPr>
          <p:nvPr/>
        </p:nvSpPr>
        <p:spPr bwMode="auto">
          <a:xfrm>
            <a:off x="6705601" y="1144587"/>
            <a:ext cx="3267241"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spcBef>
                <a:spcPct val="0"/>
              </a:spcBef>
              <a:buFontTx/>
              <a:buNone/>
            </a:pPr>
            <a:r>
              <a:rPr lang="en-US" altLang="en-US" sz="2400" dirty="0">
                <a:latin typeface="Arial" pitchFamily="34" charset="0"/>
              </a:rPr>
              <a:t>Dissecting microscope</a:t>
            </a:r>
          </a:p>
        </p:txBody>
      </p:sp>
    </p:spTree>
    <p:extLst>
      <p:ext uri="{BB962C8B-B14F-4D97-AF65-F5344CB8AC3E}">
        <p14:creationId xmlns:p14="http://schemas.microsoft.com/office/powerpoint/2010/main" val="104358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81200" y="457200"/>
            <a:ext cx="8229600" cy="685800"/>
          </a:xfrm>
          <a:prstGeom prst="rect">
            <a:avLst/>
          </a:prstGeom>
        </p:spPr>
        <p:txBody>
          <a:bodyPr anchor="ctr" anchorCtr="0">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a:t>Microscopes are Awesome!</a:t>
            </a:r>
            <a:endParaRPr lang="en-US" sz="3200" dirty="0"/>
          </a:p>
        </p:txBody>
      </p:sp>
      <p:sp>
        <p:nvSpPr>
          <p:cNvPr id="16" name="Text Box 7"/>
          <p:cNvSpPr txBox="1">
            <a:spLocks noChangeArrowheads="1"/>
          </p:cNvSpPr>
          <p:nvPr/>
        </p:nvSpPr>
        <p:spPr bwMode="auto">
          <a:xfrm>
            <a:off x="1905001" y="1447800"/>
            <a:ext cx="8553945" cy="2308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spcBef>
                <a:spcPct val="0"/>
              </a:spcBef>
              <a:buFontTx/>
              <a:buNone/>
            </a:pPr>
            <a:r>
              <a:rPr lang="en-US" altLang="en-US" sz="2400" dirty="0">
                <a:latin typeface="Arial" pitchFamily="34" charset="0"/>
                <a:hlinkClick r:id="rId2"/>
              </a:rPr>
              <a:t>How to use a compound microscope with Murray </a:t>
            </a:r>
            <a:r>
              <a:rPr lang="en-US" altLang="en-US" sz="2400" dirty="0" err="1">
                <a:latin typeface="Arial" pitchFamily="34" charset="0"/>
                <a:hlinkClick r:id="rId2"/>
              </a:rPr>
              <a:t>Gans</a:t>
            </a:r>
            <a:r>
              <a:rPr lang="en-US" altLang="en-US" sz="2400" dirty="0">
                <a:latin typeface="Arial" pitchFamily="34" charset="0"/>
                <a:hlinkClick r:id="rId2"/>
              </a:rPr>
              <a:t> </a:t>
            </a:r>
            <a:r>
              <a:rPr lang="en-US" altLang="en-US" sz="2400" dirty="0">
                <a:latin typeface="Arial" pitchFamily="34" charset="0"/>
              </a:rPr>
              <a:t>(7:54)</a:t>
            </a:r>
          </a:p>
          <a:p>
            <a:pPr>
              <a:spcBef>
                <a:spcPct val="0"/>
              </a:spcBef>
              <a:buFontTx/>
              <a:buNone/>
            </a:pPr>
            <a:endParaRPr lang="en-US" altLang="en-US" sz="2400" dirty="0">
              <a:latin typeface="Arial" pitchFamily="34" charset="0"/>
            </a:endParaRPr>
          </a:p>
          <a:p>
            <a:pPr>
              <a:spcBef>
                <a:spcPct val="0"/>
              </a:spcBef>
              <a:buFontTx/>
              <a:buNone/>
            </a:pPr>
            <a:endParaRPr lang="en-US" altLang="en-US" sz="2400" dirty="0">
              <a:latin typeface="Arial" pitchFamily="34" charset="0"/>
            </a:endParaRPr>
          </a:p>
          <a:p>
            <a:pPr>
              <a:spcBef>
                <a:spcPct val="0"/>
              </a:spcBef>
              <a:buFontTx/>
              <a:buNone/>
            </a:pPr>
            <a:r>
              <a:rPr lang="en-US" altLang="en-US" sz="2400" dirty="0">
                <a:latin typeface="Arial" pitchFamily="34" charset="0"/>
              </a:rPr>
              <a:t>For review you can watch the video above again, </a:t>
            </a:r>
          </a:p>
          <a:p>
            <a:pPr>
              <a:spcBef>
                <a:spcPct val="0"/>
              </a:spcBef>
              <a:buFontTx/>
              <a:buNone/>
            </a:pPr>
            <a:r>
              <a:rPr lang="en-US" altLang="en-US" sz="2400" dirty="0">
                <a:latin typeface="Arial" pitchFamily="34" charset="0"/>
              </a:rPr>
              <a:t>or watch this shorter video covering only </a:t>
            </a:r>
          </a:p>
          <a:p>
            <a:pPr>
              <a:spcBef>
                <a:spcPct val="0"/>
              </a:spcBef>
              <a:buFontTx/>
              <a:buNone/>
            </a:pPr>
            <a:r>
              <a:rPr lang="en-US" altLang="en-US" sz="2400" dirty="0">
                <a:latin typeface="Arial" pitchFamily="34" charset="0"/>
                <a:hlinkClick r:id="rId3"/>
              </a:rPr>
              <a:t>the parts of the microscope</a:t>
            </a:r>
            <a:r>
              <a:rPr lang="en-US" altLang="en-US" sz="2400" dirty="0">
                <a:latin typeface="Arial" pitchFamily="34" charset="0"/>
              </a:rPr>
              <a:t> (0:48).</a:t>
            </a:r>
          </a:p>
        </p:txBody>
      </p:sp>
      <p:pic>
        <p:nvPicPr>
          <p:cNvPr id="9" name="Picture 4" descr="shengheng$4211622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3581400"/>
            <a:ext cx="2895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91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81200" y="152400"/>
            <a:ext cx="8229600" cy="685800"/>
          </a:xfrm>
          <a:prstGeom prst="rect">
            <a:avLst/>
          </a:prstGeom>
        </p:spPr>
        <p:txBody>
          <a:bodyPr anchor="ctr" anchorCtr="0">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a:t>Magnification</a:t>
            </a:r>
            <a:endParaRPr lang="en-US" sz="3200" dirty="0"/>
          </a:p>
        </p:txBody>
      </p:sp>
      <p:pic>
        <p:nvPicPr>
          <p:cNvPr id="12" name="Picture 4" descr="Microscope-Len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6006" y="1492890"/>
            <a:ext cx="3000828" cy="207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6"/>
          <p:cNvSpPr txBox="1">
            <a:spLocks noChangeArrowheads="1"/>
          </p:cNvSpPr>
          <p:nvPr/>
        </p:nvSpPr>
        <p:spPr bwMode="auto">
          <a:xfrm>
            <a:off x="2301245" y="3810001"/>
            <a:ext cx="7766870"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spcBef>
                <a:spcPct val="20000"/>
              </a:spcBef>
              <a:buFont typeface="Arial" pitchFamily="34" charset="0"/>
              <a:buChar char="•"/>
              <a:defRPr sz="3200">
                <a:solidFill>
                  <a:schemeClr val="tx1"/>
                </a:solidFill>
                <a:latin typeface="Calibri" pitchFamily="34" charset="0"/>
                <a:ea typeface="MS PGothic" pitchFamily="34" charset="-128"/>
              </a:defRPr>
            </a:lvl1pPr>
            <a:lvl2pPr marL="742950" indent="-285750" eaLnBrk="0" hangingPunct="0">
              <a:spcBef>
                <a:spcPct val="20000"/>
              </a:spcBef>
              <a:buFont typeface="Arial" pitchFamily="34" charset="0"/>
              <a:buChar char="–"/>
              <a:defRPr sz="2800">
                <a:solidFill>
                  <a:schemeClr val="tx1"/>
                </a:solidFill>
                <a:latin typeface="Calibri" pitchFamily="34" charset="0"/>
                <a:ea typeface="MS PGothic" pitchFamily="34" charset="-128"/>
              </a:defRPr>
            </a:lvl2pPr>
            <a:lvl3pPr marL="1143000" indent="-228600" eaLnBrk="0" hangingPunct="0">
              <a:spcBef>
                <a:spcPct val="20000"/>
              </a:spcBef>
              <a:buFont typeface="Arial" pitchFamily="34" charset="0"/>
              <a:buChar char="•"/>
              <a:defRPr sz="2400">
                <a:solidFill>
                  <a:schemeClr val="tx1"/>
                </a:solidFill>
                <a:latin typeface="Calibri" pitchFamily="34" charset="0"/>
                <a:ea typeface="MS PGothic" pitchFamily="34" charset="-128"/>
              </a:defRPr>
            </a:lvl3pPr>
            <a:lvl4pPr marL="16002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4pPr>
            <a:lvl5pPr marL="2057400" indent="-228600" eaLnBrk="0" hangingPunct="0">
              <a:spcBef>
                <a:spcPct val="20000"/>
              </a:spcBef>
              <a:buFont typeface="Arial" pitchFamily="34" charset="0"/>
              <a:buChar char="»"/>
              <a:defRPr sz="20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MS PGothic" pitchFamily="34" charset="-128"/>
              </a:defRPr>
            </a:lvl9pPr>
          </a:lstStyle>
          <a:p>
            <a:pPr>
              <a:spcBef>
                <a:spcPct val="0"/>
              </a:spcBef>
              <a:buFontTx/>
              <a:buNone/>
            </a:pPr>
            <a:r>
              <a:rPr lang="en-US" altLang="en-US" dirty="0">
                <a:latin typeface="Arial" pitchFamily="34" charset="0"/>
              </a:rPr>
              <a:t>Remember the eyepiece has a 10x lens.</a:t>
            </a:r>
            <a:endParaRPr lang="en-US" altLang="en-US" sz="2800" dirty="0">
              <a:latin typeface="Arial" pitchFamily="34" charset="0"/>
            </a:endParaRPr>
          </a:p>
        </p:txBody>
      </p:sp>
      <p:pic>
        <p:nvPicPr>
          <p:cNvPr id="1026" name="Picture 2" descr="http://www.microscopesamerica.com/catalog/images/images/ACCU-SCOPE%20Microscopes/Large%20Accu-Scope%20Model%203050%20Stereo%20Microscope.png"/>
          <p:cNvPicPr>
            <a:picLocks noChangeAspect="1" noChangeArrowheads="1"/>
          </p:cNvPicPr>
          <p:nvPr/>
        </p:nvPicPr>
        <p:blipFill rotWithShape="1">
          <a:blip r:embed="rId3">
            <a:extLst>
              <a:ext uri="{28A0092B-C50C-407E-A947-70E740481C1C}">
                <a14:useLocalDpi xmlns:a14="http://schemas.microsoft.com/office/drawing/2010/main" val="0"/>
              </a:ext>
            </a:extLst>
          </a:blip>
          <a:srcRect b="64862"/>
          <a:stretch/>
        </p:blipFill>
        <p:spPr bwMode="auto">
          <a:xfrm>
            <a:off x="2517659" y="1490231"/>
            <a:ext cx="3269186" cy="20763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912325" y="2205234"/>
            <a:ext cx="838200" cy="646331"/>
          </a:xfrm>
          <a:prstGeom prst="rect">
            <a:avLst/>
          </a:prstGeom>
          <a:noFill/>
        </p:spPr>
        <p:txBody>
          <a:bodyPr wrap="square" rtlCol="0">
            <a:spAutoFit/>
          </a:bodyPr>
          <a:lstStyle/>
          <a:p>
            <a:pPr algn="ctr"/>
            <a:r>
              <a:rPr lang="en-US" sz="3600" dirty="0"/>
              <a:t>X</a:t>
            </a:r>
          </a:p>
        </p:txBody>
      </p:sp>
      <p:sp>
        <p:nvSpPr>
          <p:cNvPr id="15" name="TextBox 14"/>
          <p:cNvSpPr txBox="1"/>
          <p:nvPr/>
        </p:nvSpPr>
        <p:spPr>
          <a:xfrm>
            <a:off x="1679459" y="2143678"/>
            <a:ext cx="838200" cy="769441"/>
          </a:xfrm>
          <a:prstGeom prst="rect">
            <a:avLst/>
          </a:prstGeom>
          <a:noFill/>
        </p:spPr>
        <p:txBody>
          <a:bodyPr wrap="square" rtlCol="0">
            <a:spAutoFit/>
          </a:bodyPr>
          <a:lstStyle/>
          <a:p>
            <a:pPr algn="ctr"/>
            <a:r>
              <a:rPr lang="en-US" sz="4400" dirty="0"/>
              <a:t>=</a:t>
            </a:r>
          </a:p>
        </p:txBody>
      </p:sp>
      <p:sp>
        <p:nvSpPr>
          <p:cNvPr id="14" name="TextBox 13"/>
          <p:cNvSpPr txBox="1"/>
          <p:nvPr/>
        </p:nvSpPr>
        <p:spPr>
          <a:xfrm>
            <a:off x="2399652" y="902710"/>
            <a:ext cx="3467748" cy="584775"/>
          </a:xfrm>
          <a:prstGeom prst="rect">
            <a:avLst/>
          </a:prstGeom>
          <a:noFill/>
        </p:spPr>
        <p:txBody>
          <a:bodyPr wrap="square" rtlCol="0">
            <a:spAutoFit/>
          </a:bodyPr>
          <a:lstStyle/>
          <a:p>
            <a:pPr algn="ctr"/>
            <a:r>
              <a:rPr lang="en-US" sz="3200" dirty="0"/>
              <a:t>Eyepiece (Ocular)</a:t>
            </a:r>
          </a:p>
        </p:txBody>
      </p:sp>
      <p:sp>
        <p:nvSpPr>
          <p:cNvPr id="17" name="TextBox 16"/>
          <p:cNvSpPr txBox="1"/>
          <p:nvPr/>
        </p:nvSpPr>
        <p:spPr>
          <a:xfrm>
            <a:off x="7157220" y="902710"/>
            <a:ext cx="2438400" cy="584775"/>
          </a:xfrm>
          <a:prstGeom prst="rect">
            <a:avLst/>
          </a:prstGeom>
          <a:noFill/>
        </p:spPr>
        <p:txBody>
          <a:bodyPr wrap="square" rtlCol="0">
            <a:spAutoFit/>
          </a:bodyPr>
          <a:lstStyle/>
          <a:p>
            <a:pPr algn="ctr"/>
            <a:r>
              <a:rPr lang="en-US" sz="3200" dirty="0"/>
              <a:t>Objective</a:t>
            </a:r>
          </a:p>
        </p:txBody>
      </p:sp>
      <p:grpSp>
        <p:nvGrpSpPr>
          <p:cNvPr id="2" name="Group 1">
            <a:extLst>
              <a:ext uri="{FF2B5EF4-FFF2-40B4-BE49-F238E27FC236}">
                <a16:creationId xmlns:a16="http://schemas.microsoft.com/office/drawing/2014/main" id="{965BE8C9-7864-DC28-70FE-B7E5796AB393}"/>
              </a:ext>
            </a:extLst>
          </p:cNvPr>
          <p:cNvGrpSpPr/>
          <p:nvPr/>
        </p:nvGrpSpPr>
        <p:grpSpPr>
          <a:xfrm>
            <a:off x="1524000" y="4561602"/>
            <a:ext cx="9144000" cy="2300572"/>
            <a:chOff x="0" y="0"/>
            <a:chExt cx="9144000" cy="2300572"/>
          </a:xfrm>
        </p:grpSpPr>
        <p:pic>
          <p:nvPicPr>
            <p:cNvPr id="16" name="Picture 23" descr="31_11eFungalDiversity-U">
              <a:extLst>
                <a:ext uri="{FF2B5EF4-FFF2-40B4-BE49-F238E27FC236}">
                  <a16:creationId xmlns:a16="http://schemas.microsoft.com/office/drawing/2014/main" id="{49869EAC-2889-C92B-0E59-DDD55CFC094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74" t="2235" r="16968" b="12423"/>
            <a:stretch/>
          </p:blipFill>
          <p:spPr bwMode="auto">
            <a:xfrm>
              <a:off x="0" y="1"/>
              <a:ext cx="1828800"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9" descr="31_06aPenicilliumMold-U">
              <a:extLst>
                <a:ext uri="{FF2B5EF4-FFF2-40B4-BE49-F238E27FC236}">
                  <a16:creationId xmlns:a16="http://schemas.microsoft.com/office/drawing/2014/main" id="{6229EE54-856B-85C3-4A43-7121A12F4C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99028" y="1"/>
              <a:ext cx="2368669"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9" descr="31_16aAscomyceteFungi-U">
              <a:extLst>
                <a:ext uri="{FF2B5EF4-FFF2-40B4-BE49-F238E27FC236}">
                  <a16:creationId xmlns:a16="http://schemas.microsoft.com/office/drawing/2014/main" id="{BE7313C9-202C-9148-D051-5CEB1B07121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045" t="1897" r="4179" b="16174"/>
            <a:stretch/>
          </p:blipFill>
          <p:spPr bwMode="auto">
            <a:xfrm>
              <a:off x="1828800" y="0"/>
              <a:ext cx="1570231" cy="230057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1" descr="31_23_LichenForms-U">
              <a:extLst>
                <a:ext uri="{FF2B5EF4-FFF2-40B4-BE49-F238E27FC236}">
                  <a16:creationId xmlns:a16="http://schemas.microsoft.com/office/drawing/2014/main" id="{34D7E457-B7B5-79C0-7CA3-B61B13C883EB}"/>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69619" t="1880" r="1857" b="6391"/>
            <a:stretch/>
          </p:blipFill>
          <p:spPr bwMode="auto">
            <a:xfrm>
              <a:off x="7937143" y="1"/>
              <a:ext cx="1206857" cy="230057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55" descr="31_01ForestMushrooms-U">
              <a:extLst>
                <a:ext uri="{FF2B5EF4-FFF2-40B4-BE49-F238E27FC236}">
                  <a16:creationId xmlns:a16="http://schemas.microsoft.com/office/drawing/2014/main" id="{B5C7C861-B7D1-C1E4-4465-C4230CDE83B8}"/>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9855" t="2797" r="7986" b="5134"/>
            <a:stretch/>
          </p:blipFill>
          <p:spPr bwMode="auto">
            <a:xfrm>
              <a:off x="5767697" y="0"/>
              <a:ext cx="2169446" cy="23005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47669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81200" y="304800"/>
            <a:ext cx="8229600" cy="838200"/>
          </a:xfrm>
          <a:prstGeom prst="rect">
            <a:avLst/>
          </a:prstGeom>
        </p:spPr>
        <p:txBody>
          <a:bodyPr anchor="ctr"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a:t>Using a Microscope</a:t>
            </a:r>
            <a:endParaRPr lang="en-US" sz="3200" dirty="0"/>
          </a:p>
        </p:txBody>
      </p:sp>
      <p:sp>
        <p:nvSpPr>
          <p:cNvPr id="12" name="Content Placeholder 2"/>
          <p:cNvSpPr txBox="1">
            <a:spLocks/>
          </p:cNvSpPr>
          <p:nvPr/>
        </p:nvSpPr>
        <p:spPr>
          <a:xfrm>
            <a:off x="1998766" y="1143000"/>
            <a:ext cx="8382000" cy="389145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en-US" sz="2800" dirty="0"/>
              <a:t>Only use lens paper to clean objectives.</a:t>
            </a:r>
          </a:p>
          <a:p>
            <a:pPr marL="457200" indent="-457200">
              <a:buFont typeface="+mj-lt"/>
              <a:buAutoNum type="arabicPeriod"/>
            </a:pPr>
            <a:r>
              <a:rPr lang="en-US" sz="2800" dirty="0">
                <a:solidFill>
                  <a:srgbClr val="FF0000"/>
                </a:solidFill>
              </a:rPr>
              <a:t>Wash, dry, and reuse slides. </a:t>
            </a:r>
            <a:r>
              <a:rPr lang="en-US" sz="2800" dirty="0"/>
              <a:t>When finished place slide on paper towel at front bench to dry.</a:t>
            </a:r>
          </a:p>
          <a:p>
            <a:pPr marL="457200" indent="-457200">
              <a:buFont typeface="+mj-lt"/>
              <a:buAutoNum type="arabicPeriod"/>
            </a:pPr>
            <a:r>
              <a:rPr lang="en-US" sz="2800" dirty="0">
                <a:solidFill>
                  <a:srgbClr val="FF0000"/>
                </a:solidFill>
              </a:rPr>
              <a:t>Discard coverslips or broken glass in the sharps box </a:t>
            </a:r>
            <a:r>
              <a:rPr lang="en-US" sz="2800" dirty="0"/>
              <a:t>NOT the trash can.</a:t>
            </a:r>
          </a:p>
          <a:p>
            <a:pPr marL="457200" indent="-457200">
              <a:buFont typeface="+mj-lt"/>
              <a:buAutoNum type="arabicPeriod"/>
            </a:pPr>
            <a:r>
              <a:rPr lang="en-US" sz="2800" dirty="0"/>
              <a:t>Let us know if a microscope is not working</a:t>
            </a:r>
          </a:p>
        </p:txBody>
      </p:sp>
      <p:grpSp>
        <p:nvGrpSpPr>
          <p:cNvPr id="2" name="Group 1">
            <a:extLst>
              <a:ext uri="{FF2B5EF4-FFF2-40B4-BE49-F238E27FC236}">
                <a16:creationId xmlns:a16="http://schemas.microsoft.com/office/drawing/2014/main" id="{37C119F7-D2BE-9EA0-9A14-C2607F1D4A5B}"/>
              </a:ext>
            </a:extLst>
          </p:cNvPr>
          <p:cNvGrpSpPr/>
          <p:nvPr/>
        </p:nvGrpSpPr>
        <p:grpSpPr>
          <a:xfrm>
            <a:off x="1524000" y="4561602"/>
            <a:ext cx="9144000" cy="2300572"/>
            <a:chOff x="0" y="0"/>
            <a:chExt cx="9144000" cy="2300572"/>
          </a:xfrm>
        </p:grpSpPr>
        <p:pic>
          <p:nvPicPr>
            <p:cNvPr id="3" name="Picture 23" descr="31_11eFungalDiversity-U">
              <a:extLst>
                <a:ext uri="{FF2B5EF4-FFF2-40B4-BE49-F238E27FC236}">
                  <a16:creationId xmlns:a16="http://schemas.microsoft.com/office/drawing/2014/main" id="{7D67D8D0-A6C2-3AFF-8EA1-3909E76CF4E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0" y="1"/>
              <a:ext cx="1828800"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9" descr="31_06aPenicilliumMold-U">
              <a:extLst>
                <a:ext uri="{FF2B5EF4-FFF2-40B4-BE49-F238E27FC236}">
                  <a16:creationId xmlns:a16="http://schemas.microsoft.com/office/drawing/2014/main" id="{319C4FAF-AA5F-C29A-5C4A-7DA993BFD6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9028" y="1"/>
              <a:ext cx="2368669"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9" descr="31_16aAscomyceteFungi-U">
              <a:extLst>
                <a:ext uri="{FF2B5EF4-FFF2-40B4-BE49-F238E27FC236}">
                  <a16:creationId xmlns:a16="http://schemas.microsoft.com/office/drawing/2014/main" id="{B564C727-7422-D63C-61DB-EECC3F462A1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5" t="1897" r="4179" b="16174"/>
            <a:stretch/>
          </p:blipFill>
          <p:spPr bwMode="auto">
            <a:xfrm>
              <a:off x="1828800" y="0"/>
              <a:ext cx="1570231" cy="230057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1" descr="31_23_LichenForms-U">
              <a:extLst>
                <a:ext uri="{FF2B5EF4-FFF2-40B4-BE49-F238E27FC236}">
                  <a16:creationId xmlns:a16="http://schemas.microsoft.com/office/drawing/2014/main" id="{888007A5-3E41-CBBD-1F91-6F0363E9A55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9619" t="1880" r="1857" b="6391"/>
            <a:stretch/>
          </p:blipFill>
          <p:spPr bwMode="auto">
            <a:xfrm>
              <a:off x="7937143" y="1"/>
              <a:ext cx="1206857" cy="230057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5" descr="31_01ForestMushrooms-U">
              <a:extLst>
                <a:ext uri="{FF2B5EF4-FFF2-40B4-BE49-F238E27FC236}">
                  <a16:creationId xmlns:a16="http://schemas.microsoft.com/office/drawing/2014/main" id="{7061D3DF-872B-CCE4-7A3E-ADCA1A24D64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9855" t="2797" r="7986" b="5134"/>
            <a:stretch/>
          </p:blipFill>
          <p:spPr bwMode="auto">
            <a:xfrm>
              <a:off x="5767697" y="0"/>
              <a:ext cx="2169446" cy="2300572"/>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16" descr="A statue of a person&#10;&#10;Description automatically generated">
            <a:extLst>
              <a:ext uri="{FF2B5EF4-FFF2-40B4-BE49-F238E27FC236}">
                <a16:creationId xmlns:a16="http://schemas.microsoft.com/office/drawing/2014/main" id="{91687500-438D-9F7D-8B11-2417E5BD9C4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42653" y="5628967"/>
            <a:ext cx="658270" cy="1243588"/>
          </a:xfrm>
          <a:prstGeom prst="rect">
            <a:avLst/>
          </a:prstGeom>
        </p:spPr>
      </p:pic>
    </p:spTree>
    <p:extLst>
      <p:ext uri="{BB962C8B-B14F-4D97-AF65-F5344CB8AC3E}">
        <p14:creationId xmlns:p14="http://schemas.microsoft.com/office/powerpoint/2010/main" val="2043012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D729A-ABA8-D431-8EFD-CC51CAC519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BF9F99-1EB8-872A-7522-07D4ECD61522}"/>
              </a:ext>
            </a:extLst>
          </p:cNvPr>
          <p:cNvSpPr>
            <a:spLocks noGrp="1"/>
          </p:cNvSpPr>
          <p:nvPr>
            <p:ph idx="1"/>
          </p:nvPr>
        </p:nvSpPr>
        <p:spPr>
          <a:xfrm>
            <a:off x="1981200" y="1524000"/>
            <a:ext cx="8382000" cy="4800600"/>
          </a:xfrm>
        </p:spPr>
        <p:txBody>
          <a:bodyPr>
            <a:normAutofit/>
          </a:bodyPr>
          <a:lstStyle/>
          <a:p>
            <a:r>
              <a:rPr lang="en-US" sz="2600" dirty="0"/>
              <a:t>Today – Lab 4 (20-point activity)</a:t>
            </a:r>
          </a:p>
          <a:p>
            <a:pPr lvl="1"/>
            <a:r>
              <a:rPr lang="en-US" sz="2200" dirty="0"/>
              <a:t>Parts of a Microscope</a:t>
            </a:r>
          </a:p>
          <a:p>
            <a:pPr lvl="1"/>
            <a:r>
              <a:rPr lang="en-US" sz="2200" dirty="0"/>
              <a:t>Comparative Anatomy of True Fungi</a:t>
            </a:r>
          </a:p>
          <a:p>
            <a:r>
              <a:rPr lang="en-US" sz="2600" dirty="0"/>
              <a:t>Next Week – Lab 5</a:t>
            </a:r>
          </a:p>
          <a:p>
            <a:pPr lvl="1"/>
            <a:r>
              <a:rPr lang="en-US" sz="2400" dirty="0"/>
              <a:t>Plant Anatomy and Physiology</a:t>
            </a:r>
          </a:p>
          <a:p>
            <a:pPr lvl="1"/>
            <a:endParaRPr lang="en-US" sz="2400" dirty="0"/>
          </a:p>
          <a:p>
            <a:pPr lvl="1"/>
            <a:endParaRPr lang="en-US" sz="2400" dirty="0"/>
          </a:p>
          <a:p>
            <a:pPr marL="457200" lvl="1" indent="0">
              <a:buNone/>
            </a:pPr>
            <a:r>
              <a:rPr lang="en-US" sz="2400" dirty="0">
                <a:hlinkClick r:id="rId2"/>
              </a:rPr>
              <a:t>The Fascinating Map of Fungi </a:t>
            </a:r>
            <a:r>
              <a:rPr lang="en-US" sz="2400" dirty="0"/>
              <a:t>(23:09)</a:t>
            </a:r>
          </a:p>
        </p:txBody>
      </p:sp>
      <p:sp>
        <p:nvSpPr>
          <p:cNvPr id="15" name="Title 1">
            <a:extLst>
              <a:ext uri="{FF2B5EF4-FFF2-40B4-BE49-F238E27FC236}">
                <a16:creationId xmlns:a16="http://schemas.microsoft.com/office/drawing/2014/main" id="{9D27E00E-CC50-CBD9-E496-1C95F431B4AF}"/>
              </a:ext>
            </a:extLst>
          </p:cNvPr>
          <p:cNvSpPr>
            <a:spLocks noGrp="1"/>
          </p:cNvSpPr>
          <p:nvPr>
            <p:ph type="title"/>
          </p:nvPr>
        </p:nvSpPr>
        <p:spPr>
          <a:xfrm>
            <a:off x="1981200" y="0"/>
            <a:ext cx="8229600" cy="1600200"/>
          </a:xfrm>
        </p:spPr>
        <p:txBody>
          <a:bodyPr>
            <a:normAutofit/>
          </a:bodyPr>
          <a:lstStyle/>
          <a:p>
            <a:r>
              <a:rPr lang="en-US" sz="4000" dirty="0"/>
              <a:t>Today’s lab . . . </a:t>
            </a:r>
            <a:endParaRPr lang="en-US" sz="3200" dirty="0"/>
          </a:p>
        </p:txBody>
      </p:sp>
    </p:spTree>
    <p:extLst>
      <p:ext uri="{BB962C8B-B14F-4D97-AF65-F5344CB8AC3E}">
        <p14:creationId xmlns:p14="http://schemas.microsoft.com/office/powerpoint/2010/main" val="4168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6900" y="2209800"/>
            <a:ext cx="8458200" cy="3962400"/>
          </a:xfrm>
        </p:spPr>
        <p:txBody>
          <a:bodyPr>
            <a:normAutofit/>
          </a:bodyPr>
          <a:lstStyle/>
          <a:p>
            <a:pPr>
              <a:spcBef>
                <a:spcPts val="0"/>
              </a:spcBef>
              <a:spcAft>
                <a:spcPts val="2400"/>
              </a:spcAft>
            </a:pPr>
            <a:r>
              <a:rPr lang="en-US" dirty="0"/>
              <a:t>Any organism not classified as a </a:t>
            </a:r>
            <a:r>
              <a:rPr lang="en-US" b="1" dirty="0"/>
              <a:t>plant</a:t>
            </a:r>
            <a:r>
              <a:rPr lang="en-US" dirty="0"/>
              <a:t>, </a:t>
            </a:r>
            <a:r>
              <a:rPr lang="en-US" b="1" dirty="0"/>
              <a:t>animal</a:t>
            </a:r>
            <a:r>
              <a:rPr lang="en-US" dirty="0"/>
              <a:t>, </a:t>
            </a:r>
            <a:r>
              <a:rPr lang="en-US" b="1" dirty="0"/>
              <a:t>fungus</a:t>
            </a:r>
            <a:r>
              <a:rPr lang="en-US" dirty="0"/>
              <a:t>, or </a:t>
            </a:r>
            <a:r>
              <a:rPr lang="en-US" b="1" dirty="0"/>
              <a:t>bacteria</a:t>
            </a:r>
            <a:r>
              <a:rPr lang="en-US" dirty="0"/>
              <a:t> (prokaryote).</a:t>
            </a:r>
          </a:p>
          <a:p>
            <a:pPr>
              <a:spcBef>
                <a:spcPts val="0"/>
              </a:spcBef>
              <a:spcAft>
                <a:spcPts val="2400"/>
              </a:spcAft>
            </a:pPr>
            <a:r>
              <a:rPr lang="en-US" dirty="0" err="1"/>
              <a:t>Protists</a:t>
            </a:r>
            <a:r>
              <a:rPr lang="en-US" dirty="0"/>
              <a:t> are </a:t>
            </a:r>
            <a:r>
              <a:rPr lang="en-US" b="1" dirty="0"/>
              <a:t>eukaryotic</a:t>
            </a:r>
            <a:r>
              <a:rPr lang="en-US" dirty="0"/>
              <a:t> having a distinct nucleus and organelles.</a:t>
            </a:r>
          </a:p>
          <a:p>
            <a:pPr>
              <a:spcBef>
                <a:spcPts val="0"/>
              </a:spcBef>
              <a:spcAft>
                <a:spcPts val="2400"/>
              </a:spcAft>
            </a:pPr>
            <a:r>
              <a:rPr lang="en-US" dirty="0"/>
              <a:t>Most </a:t>
            </a:r>
            <a:r>
              <a:rPr lang="en-US" dirty="0" err="1"/>
              <a:t>protists</a:t>
            </a:r>
            <a:r>
              <a:rPr lang="en-US" dirty="0"/>
              <a:t> are </a:t>
            </a:r>
            <a:r>
              <a:rPr lang="en-US" b="1" dirty="0"/>
              <a:t>unicellular</a:t>
            </a:r>
            <a:r>
              <a:rPr lang="en-US" dirty="0"/>
              <a:t> (one-celled) but some are </a:t>
            </a:r>
            <a:r>
              <a:rPr lang="en-US" b="1" dirty="0"/>
              <a:t>multicellular</a:t>
            </a:r>
            <a:r>
              <a:rPr lang="en-US" dirty="0"/>
              <a:t>.</a:t>
            </a:r>
          </a:p>
        </p:txBody>
      </p:sp>
      <p:sp>
        <p:nvSpPr>
          <p:cNvPr id="13" name="Title 1"/>
          <p:cNvSpPr>
            <a:spLocks noGrp="1"/>
          </p:cNvSpPr>
          <p:nvPr>
            <p:ph type="title"/>
          </p:nvPr>
        </p:nvSpPr>
        <p:spPr>
          <a:xfrm>
            <a:off x="1981200" y="304800"/>
            <a:ext cx="8229600" cy="1600200"/>
          </a:xfrm>
        </p:spPr>
        <p:txBody>
          <a:bodyPr>
            <a:normAutofit/>
          </a:bodyPr>
          <a:lstStyle/>
          <a:p>
            <a:r>
              <a:rPr lang="en-US" sz="4000" dirty="0" err="1"/>
              <a:t>Protists</a:t>
            </a:r>
            <a:br>
              <a:rPr lang="en-US" sz="4000" dirty="0"/>
            </a:br>
            <a:r>
              <a:rPr lang="en-US" sz="3100" dirty="0"/>
              <a:t>General Characteristics</a:t>
            </a:r>
          </a:p>
        </p:txBody>
      </p:sp>
    </p:spTree>
    <p:extLst>
      <p:ext uri="{BB962C8B-B14F-4D97-AF65-F5344CB8AC3E}">
        <p14:creationId xmlns:p14="http://schemas.microsoft.com/office/powerpoint/2010/main" val="15839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628" y="241116"/>
            <a:ext cx="9644743" cy="1477962"/>
          </a:xfrm>
        </p:spPr>
        <p:txBody>
          <a:bodyPr>
            <a:normAutofit/>
          </a:bodyPr>
          <a:lstStyle/>
          <a:p>
            <a:pPr marL="53975" indent="9525" algn="l"/>
            <a:r>
              <a:rPr lang="en-US" sz="4000" dirty="0" err="1"/>
              <a:t>Protists</a:t>
            </a:r>
            <a:r>
              <a:rPr lang="en-US" sz="4000" dirty="0"/>
              <a:t> are primarily classified according to how they obtain </a:t>
            </a:r>
            <a:r>
              <a:rPr lang="en-US" sz="4000" b="1" dirty="0"/>
              <a:t>nutrition</a:t>
            </a:r>
            <a:endParaRPr lang="en-US" sz="4000" dirty="0"/>
          </a:p>
        </p:txBody>
      </p:sp>
      <p:sp>
        <p:nvSpPr>
          <p:cNvPr id="4" name="TextBox 3"/>
          <p:cNvSpPr txBox="1"/>
          <p:nvPr/>
        </p:nvSpPr>
        <p:spPr>
          <a:xfrm>
            <a:off x="914400" y="1577976"/>
            <a:ext cx="5486400" cy="4708981"/>
          </a:xfrm>
          <a:prstGeom prst="rect">
            <a:avLst/>
          </a:prstGeom>
          <a:noFill/>
        </p:spPr>
        <p:txBody>
          <a:bodyPr wrap="square" rtlCol="0">
            <a:spAutoFit/>
          </a:bodyPr>
          <a:lstStyle/>
          <a:p>
            <a:r>
              <a:rPr lang="en-US" sz="2800" dirty="0"/>
              <a:t>Animal-like </a:t>
            </a:r>
          </a:p>
          <a:p>
            <a:pPr marL="457200" indent="-457200">
              <a:spcAft>
                <a:spcPts val="1200"/>
              </a:spcAft>
              <a:buFont typeface="Arial" panose="020B0604020202020204" pitchFamily="34" charset="0"/>
              <a:buChar char="•"/>
            </a:pPr>
            <a:r>
              <a:rPr lang="en-US" sz="2800" b="1" dirty="0"/>
              <a:t>heterotrophs</a:t>
            </a:r>
            <a:r>
              <a:rPr lang="en-US" sz="2800" dirty="0"/>
              <a:t> (eat other organisms)</a:t>
            </a:r>
          </a:p>
          <a:p>
            <a:pPr marL="342900" indent="-342900"/>
            <a:r>
              <a:rPr lang="en-US" sz="2800" dirty="0"/>
              <a:t>Plant-like </a:t>
            </a:r>
          </a:p>
          <a:p>
            <a:pPr marL="457200" indent="-457200">
              <a:spcAft>
                <a:spcPts val="1200"/>
              </a:spcAft>
              <a:buFont typeface="Arial" panose="020B0604020202020204" pitchFamily="34" charset="0"/>
              <a:buChar char="•"/>
            </a:pPr>
            <a:r>
              <a:rPr lang="en-US" sz="2800" b="1" dirty="0"/>
              <a:t>autotrophs</a:t>
            </a:r>
            <a:r>
              <a:rPr lang="en-US" sz="2800" dirty="0"/>
              <a:t> that contain chloroplasts and make their own food (photosynthesis).</a:t>
            </a:r>
          </a:p>
          <a:p>
            <a:r>
              <a:rPr lang="en-US" sz="2800" dirty="0"/>
              <a:t>Fungus-like </a:t>
            </a:r>
          </a:p>
          <a:p>
            <a:pPr marL="457200" indent="-457200">
              <a:buFont typeface="Arial" panose="020B0604020202020204" pitchFamily="34" charset="0"/>
              <a:buChar char="•"/>
            </a:pPr>
            <a:r>
              <a:rPr lang="en-US" sz="2800" b="1" dirty="0"/>
              <a:t>decomposers and/or heterotrophs</a:t>
            </a:r>
          </a:p>
        </p:txBody>
      </p:sp>
      <p:grpSp>
        <p:nvGrpSpPr>
          <p:cNvPr id="21" name="Group 20"/>
          <p:cNvGrpSpPr/>
          <p:nvPr/>
        </p:nvGrpSpPr>
        <p:grpSpPr>
          <a:xfrm>
            <a:off x="6781800" y="1620737"/>
            <a:ext cx="3581400" cy="1381125"/>
            <a:chOff x="304800" y="2362200"/>
            <a:chExt cx="3581400" cy="1381125"/>
          </a:xfrm>
        </p:grpSpPr>
        <p:pic>
          <p:nvPicPr>
            <p:cNvPr id="8" name="Picture 7" descr="didinium eating paramecium.jpg"/>
            <p:cNvPicPr>
              <a:picLocks noChangeAspect="1"/>
            </p:cNvPicPr>
            <p:nvPr/>
          </p:nvPicPr>
          <p:blipFill>
            <a:blip r:embed="rId2"/>
            <a:stretch>
              <a:fillRect/>
            </a:stretch>
          </p:blipFill>
          <p:spPr>
            <a:xfrm>
              <a:off x="1676400" y="2362200"/>
              <a:ext cx="2209800" cy="1381125"/>
            </a:xfrm>
            <a:prstGeom prst="rect">
              <a:avLst/>
            </a:prstGeom>
          </p:spPr>
        </p:pic>
        <p:grpSp>
          <p:nvGrpSpPr>
            <p:cNvPr id="19" name="Group 18"/>
            <p:cNvGrpSpPr/>
            <p:nvPr/>
          </p:nvGrpSpPr>
          <p:grpSpPr>
            <a:xfrm>
              <a:off x="304800" y="2514600"/>
              <a:ext cx="1371600" cy="826532"/>
              <a:chOff x="304800" y="2514600"/>
              <a:chExt cx="1371600" cy="826532"/>
            </a:xfrm>
          </p:grpSpPr>
          <p:sp>
            <p:nvSpPr>
              <p:cNvPr id="13" name="TextBox 12"/>
              <p:cNvSpPr txBox="1"/>
              <p:nvPr/>
            </p:nvSpPr>
            <p:spPr>
              <a:xfrm>
                <a:off x="457200" y="2514600"/>
                <a:ext cx="1066800" cy="369332"/>
              </a:xfrm>
              <a:prstGeom prst="rect">
                <a:avLst/>
              </a:prstGeom>
              <a:noFill/>
            </p:spPr>
            <p:txBody>
              <a:bodyPr wrap="square" rtlCol="0">
                <a:spAutoFit/>
              </a:bodyPr>
              <a:lstStyle/>
              <a:p>
                <a:r>
                  <a:rPr lang="en-US" dirty="0"/>
                  <a:t>Didinium</a:t>
                </a:r>
              </a:p>
            </p:txBody>
          </p:sp>
          <p:sp>
            <p:nvSpPr>
              <p:cNvPr id="14" name="TextBox 13"/>
              <p:cNvSpPr txBox="1"/>
              <p:nvPr/>
            </p:nvSpPr>
            <p:spPr>
              <a:xfrm>
                <a:off x="304800" y="2971800"/>
                <a:ext cx="1371600" cy="369332"/>
              </a:xfrm>
              <a:prstGeom prst="rect">
                <a:avLst/>
              </a:prstGeom>
              <a:noFill/>
            </p:spPr>
            <p:txBody>
              <a:bodyPr wrap="square" rtlCol="0">
                <a:spAutoFit/>
              </a:bodyPr>
              <a:lstStyle/>
              <a:p>
                <a:r>
                  <a:rPr lang="en-US" dirty="0"/>
                  <a:t>Paramecium</a:t>
                </a:r>
              </a:p>
            </p:txBody>
          </p:sp>
          <p:sp>
            <p:nvSpPr>
              <p:cNvPr id="17" name="TextBox 16"/>
              <p:cNvSpPr txBox="1"/>
              <p:nvPr/>
            </p:nvSpPr>
            <p:spPr>
              <a:xfrm>
                <a:off x="533400" y="2743200"/>
                <a:ext cx="838200" cy="369332"/>
              </a:xfrm>
              <a:prstGeom prst="rect">
                <a:avLst/>
              </a:prstGeom>
              <a:noFill/>
            </p:spPr>
            <p:txBody>
              <a:bodyPr wrap="square" rtlCol="0">
                <a:spAutoFit/>
              </a:bodyPr>
              <a:lstStyle/>
              <a:p>
                <a:r>
                  <a:rPr lang="en-US" dirty="0"/>
                  <a:t>eating</a:t>
                </a:r>
              </a:p>
            </p:txBody>
          </p:sp>
        </p:grpSp>
      </p:grpSp>
      <p:grpSp>
        <p:nvGrpSpPr>
          <p:cNvPr id="27" name="Group 26"/>
          <p:cNvGrpSpPr/>
          <p:nvPr/>
        </p:nvGrpSpPr>
        <p:grpSpPr>
          <a:xfrm>
            <a:off x="6912429" y="3195409"/>
            <a:ext cx="3397250" cy="1905000"/>
            <a:chOff x="5334000" y="3779775"/>
            <a:chExt cx="3397250" cy="1905000"/>
          </a:xfrm>
        </p:grpSpPr>
        <p:pic>
          <p:nvPicPr>
            <p:cNvPr id="22" name="Picture 21" descr="autotroph protist.jpg"/>
            <p:cNvPicPr>
              <a:picLocks noChangeAspect="1"/>
            </p:cNvPicPr>
            <p:nvPr/>
          </p:nvPicPr>
          <p:blipFill>
            <a:blip r:embed="rId3"/>
            <a:stretch>
              <a:fillRect/>
            </a:stretch>
          </p:blipFill>
          <p:spPr>
            <a:xfrm rot="5400000">
              <a:off x="5089525" y="4024250"/>
              <a:ext cx="1905000" cy="1416050"/>
            </a:xfrm>
            <a:prstGeom prst="rect">
              <a:avLst/>
            </a:prstGeom>
          </p:spPr>
        </p:pic>
        <p:sp>
          <p:nvSpPr>
            <p:cNvPr id="26" name="TextBox 25"/>
            <p:cNvSpPr txBox="1"/>
            <p:nvPr/>
          </p:nvSpPr>
          <p:spPr>
            <a:xfrm>
              <a:off x="6750050" y="4306631"/>
              <a:ext cx="1981200" cy="369332"/>
            </a:xfrm>
            <a:prstGeom prst="rect">
              <a:avLst/>
            </a:prstGeom>
            <a:noFill/>
          </p:spPr>
          <p:txBody>
            <a:bodyPr wrap="square" rtlCol="0">
              <a:spAutoFit/>
            </a:bodyPr>
            <a:lstStyle/>
            <a:p>
              <a:r>
                <a:rPr lang="en-US" dirty="0"/>
                <a:t>Green like plants!</a:t>
              </a:r>
            </a:p>
          </p:txBody>
        </p:sp>
      </p:grpSp>
      <p:grpSp>
        <p:nvGrpSpPr>
          <p:cNvPr id="35" name="Group 34"/>
          <p:cNvGrpSpPr/>
          <p:nvPr/>
        </p:nvGrpSpPr>
        <p:grpSpPr>
          <a:xfrm>
            <a:off x="7307012" y="5145309"/>
            <a:ext cx="3035324" cy="1447800"/>
            <a:chOff x="5516312" y="5145310"/>
            <a:chExt cx="3035324" cy="1447800"/>
          </a:xfrm>
        </p:grpSpPr>
        <p:pic>
          <p:nvPicPr>
            <p:cNvPr id="28" name="Picture 27" descr="water mold.jpg"/>
            <p:cNvPicPr>
              <a:picLocks noChangeAspect="1"/>
            </p:cNvPicPr>
            <p:nvPr/>
          </p:nvPicPr>
          <p:blipFill>
            <a:blip r:embed="rId4"/>
            <a:stretch>
              <a:fillRect/>
            </a:stretch>
          </p:blipFill>
          <p:spPr>
            <a:xfrm rot="16200000">
              <a:off x="6957774" y="4999248"/>
              <a:ext cx="1447800" cy="1739924"/>
            </a:xfrm>
            <a:prstGeom prst="rect">
              <a:avLst/>
            </a:prstGeom>
          </p:spPr>
        </p:pic>
        <p:sp>
          <p:nvSpPr>
            <p:cNvPr id="34" name="TextBox 33"/>
            <p:cNvSpPr txBox="1"/>
            <p:nvPr/>
          </p:nvSpPr>
          <p:spPr>
            <a:xfrm>
              <a:off x="5516312" y="5741050"/>
              <a:ext cx="1295400" cy="369332"/>
            </a:xfrm>
            <a:prstGeom prst="rect">
              <a:avLst/>
            </a:prstGeom>
            <a:noFill/>
          </p:spPr>
          <p:txBody>
            <a:bodyPr wrap="square" rtlCol="0">
              <a:spAutoFit/>
            </a:bodyPr>
            <a:lstStyle/>
            <a:p>
              <a:r>
                <a:rPr lang="en-US" dirty="0"/>
                <a:t>Water mold</a:t>
              </a:r>
            </a:p>
          </p:txBody>
        </p:sp>
      </p:grpSp>
    </p:spTree>
    <p:extLst>
      <p:ext uri="{BB962C8B-B14F-4D97-AF65-F5344CB8AC3E}">
        <p14:creationId xmlns:p14="http://schemas.microsoft.com/office/powerpoint/2010/main" val="394863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7"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1000"/>
                                        <p:tgtEl>
                                          <p:spTgt spid="4">
                                            <p:txEl>
                                              <p:pRg st="3" end="3"/>
                                            </p:txEl>
                                          </p:spTgt>
                                        </p:tgtEl>
                                      </p:cBhvr>
                                    </p:animEffect>
                                    <p:anim calcmode="lin" valueType="num">
                                      <p:cBhvr>
                                        <p:cTn id="3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1000"/>
                                        <p:tgtEl>
                                          <p:spTgt spid="27"/>
                                        </p:tgtEl>
                                      </p:cBhvr>
                                    </p:animEffect>
                                    <p:anim calcmode="lin" valueType="num">
                                      <p:cBhvr>
                                        <p:cTn id="39" dur="1000" fill="hold"/>
                                        <p:tgtEl>
                                          <p:spTgt spid="27"/>
                                        </p:tgtEl>
                                        <p:attrNameLst>
                                          <p:attrName>ppt_x</p:attrName>
                                        </p:attrNameLst>
                                      </p:cBhvr>
                                      <p:tavLst>
                                        <p:tav tm="0">
                                          <p:val>
                                            <p:strVal val="#ppt_x"/>
                                          </p:val>
                                        </p:tav>
                                        <p:tav tm="100000">
                                          <p:val>
                                            <p:strVal val="#ppt_x"/>
                                          </p:val>
                                        </p:tav>
                                      </p:tavLst>
                                    </p:anim>
                                    <p:anim calcmode="lin" valueType="num">
                                      <p:cBhvr>
                                        <p:cTn id="4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animEffect transition="in" filter="fade">
                                      <p:cBhvr>
                                        <p:cTn id="45" dur="1000"/>
                                        <p:tgtEl>
                                          <p:spTgt spid="4">
                                            <p:txEl>
                                              <p:pRg st="4" end="4"/>
                                            </p:txEl>
                                          </p:spTgt>
                                        </p:tgtEl>
                                      </p:cBhvr>
                                    </p:animEffect>
                                    <p:anim calcmode="lin" valueType="num">
                                      <p:cBhvr>
                                        <p:cTn id="4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4">
                                            <p:txEl>
                                              <p:pRg st="5" end="5"/>
                                            </p:txEl>
                                          </p:spTgt>
                                        </p:tgtEl>
                                        <p:attrNameLst>
                                          <p:attrName>style.visibility</p:attrName>
                                        </p:attrNameLst>
                                      </p:cBhvr>
                                      <p:to>
                                        <p:strVal val="visible"/>
                                      </p:to>
                                    </p:set>
                                    <p:animEffect transition="in" filter="fade">
                                      <p:cBhvr>
                                        <p:cTn id="52" dur="1000"/>
                                        <p:tgtEl>
                                          <p:spTgt spid="4">
                                            <p:txEl>
                                              <p:pRg st="5" end="5"/>
                                            </p:txEl>
                                          </p:spTgt>
                                        </p:tgtEl>
                                      </p:cBhvr>
                                    </p:animEffect>
                                    <p:anim calcmode="lin" valueType="num">
                                      <p:cBhvr>
                                        <p:cTn id="5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1000"/>
                                        <p:tgtEl>
                                          <p:spTgt spid="35"/>
                                        </p:tgtEl>
                                      </p:cBhvr>
                                    </p:animEffect>
                                    <p:anim calcmode="lin" valueType="num">
                                      <p:cBhvr>
                                        <p:cTn id="58" dur="1000" fill="hold"/>
                                        <p:tgtEl>
                                          <p:spTgt spid="35"/>
                                        </p:tgtEl>
                                        <p:attrNameLst>
                                          <p:attrName>ppt_x</p:attrName>
                                        </p:attrNameLst>
                                      </p:cBhvr>
                                      <p:tavLst>
                                        <p:tav tm="0">
                                          <p:val>
                                            <p:strVal val="#ppt_x"/>
                                          </p:val>
                                        </p:tav>
                                        <p:tav tm="100000">
                                          <p:val>
                                            <p:strVal val="#ppt_x"/>
                                          </p:val>
                                        </p:tav>
                                      </p:tavLst>
                                    </p:anim>
                                    <p:anim calcmode="lin" valueType="num">
                                      <p:cBhvr>
                                        <p:cTn id="5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554162"/>
          </a:xfrm>
        </p:spPr>
        <p:txBody>
          <a:bodyPr>
            <a:normAutofit/>
          </a:bodyPr>
          <a:lstStyle/>
          <a:p>
            <a:r>
              <a:rPr lang="en-US" dirty="0"/>
              <a:t>Fungus-Like Protists </a:t>
            </a:r>
            <a:br>
              <a:rPr lang="en-US" dirty="0"/>
            </a:br>
            <a:r>
              <a:rPr lang="en-US" dirty="0">
                <a:solidFill>
                  <a:schemeClr val="accent1"/>
                </a:solidFill>
              </a:rPr>
              <a:t>No chitin!</a:t>
            </a:r>
          </a:p>
        </p:txBody>
      </p:sp>
      <p:sp>
        <p:nvSpPr>
          <p:cNvPr id="3" name="Content Placeholder 2"/>
          <p:cNvSpPr>
            <a:spLocks noGrp="1"/>
          </p:cNvSpPr>
          <p:nvPr>
            <p:ph idx="1"/>
          </p:nvPr>
        </p:nvSpPr>
        <p:spPr/>
        <p:txBody>
          <a:bodyPr/>
          <a:lstStyle/>
          <a:p>
            <a:r>
              <a:rPr lang="en-US" dirty="0"/>
              <a:t>Water molds, downy molds, and slime molds </a:t>
            </a:r>
          </a:p>
          <a:p>
            <a:r>
              <a:rPr lang="en-US" dirty="0"/>
              <a:t>Unicellular to colonial</a:t>
            </a:r>
          </a:p>
          <a:p>
            <a:r>
              <a:rPr lang="en-US" dirty="0"/>
              <a:t>Heterotrophic </a:t>
            </a:r>
          </a:p>
          <a:p>
            <a:pPr lvl="1"/>
            <a:r>
              <a:rPr lang="en-US" dirty="0"/>
              <a:t>Many are </a:t>
            </a:r>
            <a:r>
              <a:rPr lang="en-US" b="1" dirty="0"/>
              <a:t>saprophytic</a:t>
            </a:r>
            <a:r>
              <a:rPr lang="en-US" dirty="0"/>
              <a:t> (get energy from dead, decaying organisms)</a:t>
            </a:r>
          </a:p>
          <a:p>
            <a:r>
              <a:rPr lang="en-US" dirty="0"/>
              <a:t>Need moist environment</a:t>
            </a:r>
          </a:p>
          <a:p>
            <a:r>
              <a:rPr lang="en-US" dirty="0"/>
              <a:t>All exhibit movement at some point during life cycle</a:t>
            </a:r>
          </a:p>
          <a:p>
            <a:endParaRPr lang="en-US" dirty="0"/>
          </a:p>
        </p:txBody>
      </p:sp>
    </p:spTree>
    <p:extLst>
      <p:ext uri="{BB962C8B-B14F-4D97-AF65-F5344CB8AC3E}">
        <p14:creationId xmlns:p14="http://schemas.microsoft.com/office/powerpoint/2010/main" val="621239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Oomycetes - Water molds and downy mildews</a:t>
            </a:r>
          </a:p>
          <a:p>
            <a:pPr lvl="1"/>
            <a:r>
              <a:rPr lang="en-US" dirty="0"/>
              <a:t>Have flagellated reproductive cells</a:t>
            </a:r>
          </a:p>
          <a:p>
            <a:pPr lvl="1"/>
            <a:r>
              <a:rPr lang="en-US" dirty="0"/>
              <a:t>Large and diverse group</a:t>
            </a:r>
          </a:p>
        </p:txBody>
      </p:sp>
      <p:pic>
        <p:nvPicPr>
          <p:cNvPr id="3074" name="Picture 2" descr="Image result for oomycetes"/>
          <p:cNvPicPr>
            <a:picLocks noChangeAspect="1" noChangeArrowheads="1"/>
          </p:cNvPicPr>
          <p:nvPr/>
        </p:nvPicPr>
        <p:blipFill rotWithShape="1">
          <a:blip r:embed="rId2">
            <a:extLst>
              <a:ext uri="{28A0092B-C50C-407E-A947-70E740481C1C}">
                <a14:useLocalDpi xmlns:a14="http://schemas.microsoft.com/office/drawing/2010/main" val="0"/>
              </a:ext>
            </a:extLst>
          </a:blip>
          <a:srcRect l="3956" t="8248" r="14505" b="9279"/>
          <a:stretch/>
        </p:blipFill>
        <p:spPr bwMode="auto">
          <a:xfrm>
            <a:off x="1861457" y="3429000"/>
            <a:ext cx="4038600" cy="304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524000" y="6633551"/>
            <a:ext cx="5181600" cy="246221"/>
          </a:xfrm>
          <a:prstGeom prst="rect">
            <a:avLst/>
          </a:prstGeom>
          <a:noFill/>
        </p:spPr>
        <p:txBody>
          <a:bodyPr wrap="square" rtlCol="0">
            <a:spAutoFit/>
          </a:bodyPr>
          <a:lstStyle/>
          <a:p>
            <a:r>
              <a:rPr lang="en-US" sz="1000" dirty="0"/>
              <a:t>https://owlcation.com/stem/Saprolegnia-and-Phytophthora-Oomycetes-or-Water-Molds</a:t>
            </a:r>
          </a:p>
        </p:txBody>
      </p:sp>
      <p:pic>
        <p:nvPicPr>
          <p:cNvPr id="3076" name="Picture 4" descr="Oomycetes on a leaf"/>
          <p:cNvPicPr>
            <a:picLocks noChangeAspect="1" noChangeArrowheads="1"/>
          </p:cNvPicPr>
          <p:nvPr/>
        </p:nvPicPr>
        <p:blipFill rotWithShape="1">
          <a:blip r:embed="rId3">
            <a:extLst>
              <a:ext uri="{28A0092B-C50C-407E-A947-70E740481C1C}">
                <a14:useLocalDpi xmlns:a14="http://schemas.microsoft.com/office/drawing/2010/main" val="0"/>
              </a:ext>
            </a:extLst>
          </a:blip>
          <a:srcRect t="7055" b="5929"/>
          <a:stretch/>
        </p:blipFill>
        <p:spPr bwMode="auto">
          <a:xfrm>
            <a:off x="6286075" y="3429001"/>
            <a:ext cx="4044468" cy="30480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064829" y="6611780"/>
            <a:ext cx="3276600" cy="246221"/>
          </a:xfrm>
          <a:prstGeom prst="rect">
            <a:avLst/>
          </a:prstGeom>
          <a:noFill/>
        </p:spPr>
        <p:txBody>
          <a:bodyPr wrap="square" rtlCol="0">
            <a:spAutoFit/>
          </a:bodyPr>
          <a:lstStyle/>
          <a:p>
            <a:r>
              <a:rPr lang="en-US" sz="1000" dirty="0"/>
              <a:t>http://lifeofplant.blogspot.com/2011/03/oomycetes.html</a:t>
            </a:r>
          </a:p>
        </p:txBody>
      </p:sp>
      <p:sp>
        <p:nvSpPr>
          <p:cNvPr id="8" name="Title 1">
            <a:extLst>
              <a:ext uri="{FF2B5EF4-FFF2-40B4-BE49-F238E27FC236}">
                <a16:creationId xmlns:a16="http://schemas.microsoft.com/office/drawing/2014/main" id="{59EE643F-CB23-E957-66E0-766A09572054}"/>
              </a:ext>
            </a:extLst>
          </p:cNvPr>
          <p:cNvSpPr>
            <a:spLocks noGrp="1"/>
          </p:cNvSpPr>
          <p:nvPr>
            <p:ph type="title"/>
          </p:nvPr>
        </p:nvSpPr>
        <p:spPr>
          <a:xfrm>
            <a:off x="609600" y="274638"/>
            <a:ext cx="10972800" cy="1554162"/>
          </a:xfrm>
        </p:spPr>
        <p:txBody>
          <a:bodyPr>
            <a:normAutofit/>
          </a:bodyPr>
          <a:lstStyle/>
          <a:p>
            <a:r>
              <a:rPr lang="en-US" dirty="0"/>
              <a:t>Fungus-Like Protists </a:t>
            </a:r>
            <a:br>
              <a:rPr lang="en-US" dirty="0"/>
            </a:br>
            <a:r>
              <a:rPr lang="en-US" dirty="0">
                <a:solidFill>
                  <a:schemeClr val="accent1"/>
                </a:solidFill>
              </a:rPr>
              <a:t>No chitin!</a:t>
            </a:r>
          </a:p>
        </p:txBody>
      </p:sp>
    </p:spTree>
    <p:extLst>
      <p:ext uri="{BB962C8B-B14F-4D97-AF65-F5344CB8AC3E}">
        <p14:creationId xmlns:p14="http://schemas.microsoft.com/office/powerpoint/2010/main" val="68483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752600"/>
            <a:ext cx="9753600" cy="4525963"/>
          </a:xfrm>
        </p:spPr>
        <p:txBody>
          <a:bodyPr>
            <a:normAutofit lnSpcReduction="10000"/>
          </a:bodyPr>
          <a:lstStyle/>
          <a:p>
            <a:pPr marL="0" indent="0">
              <a:buNone/>
            </a:pPr>
            <a:r>
              <a:rPr lang="en-US" dirty="0" err="1"/>
              <a:t>Plasmodial</a:t>
            </a:r>
            <a:r>
              <a:rPr lang="en-US" dirty="0"/>
              <a:t> and cellular slime molds 	</a:t>
            </a:r>
          </a:p>
          <a:p>
            <a:r>
              <a:rPr lang="en-US" dirty="0" err="1"/>
              <a:t>Myxomycetes</a:t>
            </a:r>
            <a:r>
              <a:rPr lang="en-US" dirty="0"/>
              <a:t> – </a:t>
            </a:r>
            <a:r>
              <a:rPr lang="en-US" dirty="0" err="1"/>
              <a:t>Plasmodial</a:t>
            </a:r>
            <a:r>
              <a:rPr lang="en-US" dirty="0"/>
              <a:t> slime molds</a:t>
            </a:r>
          </a:p>
          <a:p>
            <a:pPr lvl="1"/>
            <a:r>
              <a:rPr lang="en-US" dirty="0">
                <a:hlinkClick r:id="rId2"/>
              </a:rPr>
              <a:t>Cells merge together into large mass</a:t>
            </a:r>
            <a:r>
              <a:rPr lang="en-US" dirty="0"/>
              <a:t> (3:13)</a:t>
            </a:r>
          </a:p>
          <a:p>
            <a:pPr lvl="1"/>
            <a:r>
              <a:rPr lang="en-US" dirty="0"/>
              <a:t>Amoeboid movement</a:t>
            </a:r>
          </a:p>
          <a:p>
            <a:pPr lvl="1"/>
            <a:r>
              <a:rPr lang="en-US" dirty="0"/>
              <a:t>Reproduce with spores in harsh environments (low food and/or moisture)</a:t>
            </a:r>
          </a:p>
          <a:p>
            <a:r>
              <a:rPr lang="en-US" dirty="0" err="1"/>
              <a:t>Dictyostelids</a:t>
            </a:r>
            <a:r>
              <a:rPr lang="en-US" dirty="0"/>
              <a:t> – Cellular slime molds </a:t>
            </a:r>
          </a:p>
          <a:p>
            <a:pPr lvl="1"/>
            <a:r>
              <a:rPr lang="en-US" dirty="0"/>
              <a:t>Independent except to reproduce, again only when food is scarce 	Haploid during entire life cycle</a:t>
            </a:r>
          </a:p>
        </p:txBody>
      </p:sp>
      <p:pic>
        <p:nvPicPr>
          <p:cNvPr id="2050" name="Picture 2" descr="Plasmodial Slime Mold (Tubifera sp), Mindo, Ecuador : Stock Photo"/>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3793"/>
          <a:stretch/>
        </p:blipFill>
        <p:spPr bwMode="auto">
          <a:xfrm>
            <a:off x="8534400" y="1394619"/>
            <a:ext cx="2916438" cy="223996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BE5B5C29-F83B-57F0-EA7F-527954226B61}"/>
              </a:ext>
            </a:extLst>
          </p:cNvPr>
          <p:cNvSpPr>
            <a:spLocks noGrp="1"/>
          </p:cNvSpPr>
          <p:nvPr>
            <p:ph type="title"/>
          </p:nvPr>
        </p:nvSpPr>
        <p:spPr>
          <a:xfrm>
            <a:off x="609600" y="274638"/>
            <a:ext cx="10972800" cy="1554162"/>
          </a:xfrm>
        </p:spPr>
        <p:txBody>
          <a:bodyPr>
            <a:normAutofit/>
          </a:bodyPr>
          <a:lstStyle/>
          <a:p>
            <a:r>
              <a:rPr lang="en-US" dirty="0"/>
              <a:t>Fungus-Like Protists </a:t>
            </a:r>
            <a:br>
              <a:rPr lang="en-US" dirty="0"/>
            </a:br>
            <a:r>
              <a:rPr lang="en-US" dirty="0">
                <a:solidFill>
                  <a:schemeClr val="accent1"/>
                </a:solidFill>
              </a:rPr>
              <a:t>No chitin!</a:t>
            </a:r>
          </a:p>
        </p:txBody>
      </p:sp>
    </p:spTree>
    <p:extLst>
      <p:ext uri="{BB962C8B-B14F-4D97-AF65-F5344CB8AC3E}">
        <p14:creationId xmlns:p14="http://schemas.microsoft.com/office/powerpoint/2010/main" val="1726346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75040"/>
            <a:ext cx="4659340" cy="1981200"/>
          </a:xfrm>
        </p:spPr>
        <p:txBody>
          <a:bodyPr>
            <a:normAutofit/>
          </a:bodyPr>
          <a:lstStyle/>
          <a:p>
            <a:pPr marL="0" indent="0">
              <a:buNone/>
            </a:pPr>
            <a:r>
              <a:rPr lang="en-US" sz="2600" dirty="0"/>
              <a:t>Fungi are usually filamentous organisms composed of:  </a:t>
            </a:r>
            <a:r>
              <a:rPr lang="en-US" sz="2600" b="1" u="sng" dirty="0"/>
              <a:t>hyphae</a:t>
            </a:r>
            <a:r>
              <a:rPr lang="en-US" sz="2600" dirty="0"/>
              <a:t> (</a:t>
            </a:r>
            <a:r>
              <a:rPr lang="en-US" sz="2600" i="1" dirty="0"/>
              <a:t>singular</a:t>
            </a:r>
            <a:r>
              <a:rPr lang="en-US" sz="2600" dirty="0"/>
              <a:t> = hypha) that make up the </a:t>
            </a:r>
            <a:r>
              <a:rPr lang="en-US" sz="2600" b="1" u="sng" dirty="0"/>
              <a:t>mycelium</a:t>
            </a:r>
            <a:r>
              <a:rPr lang="en-US" sz="2600" dirty="0"/>
              <a:t> (</a:t>
            </a:r>
            <a:r>
              <a:rPr lang="en-US" sz="2600" i="1" dirty="0"/>
              <a:t>plural </a:t>
            </a:r>
            <a:r>
              <a:rPr lang="en-US" sz="2600" dirty="0"/>
              <a:t>= mycelia)</a:t>
            </a:r>
            <a:endParaRPr lang="en-US" sz="2000" dirty="0"/>
          </a:p>
        </p:txBody>
      </p:sp>
      <p:sp>
        <p:nvSpPr>
          <p:cNvPr id="15" name="Title 1"/>
          <p:cNvSpPr>
            <a:spLocks noGrp="1"/>
          </p:cNvSpPr>
          <p:nvPr>
            <p:ph type="title"/>
          </p:nvPr>
        </p:nvSpPr>
        <p:spPr>
          <a:xfrm>
            <a:off x="609600" y="458160"/>
            <a:ext cx="4125939" cy="914400"/>
          </a:xfrm>
        </p:spPr>
        <p:txBody>
          <a:bodyPr>
            <a:normAutofit/>
          </a:bodyPr>
          <a:lstStyle/>
          <a:p>
            <a:r>
              <a:rPr lang="en-US" sz="4000" dirty="0"/>
              <a:t>Fungi Anatomy</a:t>
            </a:r>
            <a:endParaRPr lang="en-US" sz="32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49940" y="228601"/>
            <a:ext cx="5211065" cy="4114800"/>
          </a:xfrm>
          <a:prstGeom prst="rect">
            <a:avLst/>
          </a:prstGeom>
        </p:spPr>
      </p:pic>
      <p:sp>
        <p:nvSpPr>
          <p:cNvPr id="2" name="Rectangle 1"/>
          <p:cNvSpPr/>
          <p:nvPr/>
        </p:nvSpPr>
        <p:spPr>
          <a:xfrm>
            <a:off x="5867400" y="381001"/>
            <a:ext cx="1180836" cy="276999"/>
          </a:xfrm>
          <a:prstGeom prst="rect">
            <a:avLst/>
          </a:prstGeom>
        </p:spPr>
        <p:txBody>
          <a:bodyPr wrap="none">
            <a:spAutoFit/>
          </a:bodyPr>
          <a:lstStyle/>
          <a:p>
            <a:r>
              <a:rPr lang="en-US" sz="1200" dirty="0"/>
              <a:t>(</a:t>
            </a:r>
            <a:r>
              <a:rPr lang="en-US" sz="1200" dirty="0" err="1"/>
              <a:t>basidiomycete</a:t>
            </a:r>
            <a:r>
              <a:rPr lang="en-US" sz="1200" dirty="0"/>
              <a:t>)</a:t>
            </a:r>
          </a:p>
        </p:txBody>
      </p:sp>
      <p:pic>
        <p:nvPicPr>
          <p:cNvPr id="1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76600"/>
            <a:ext cx="3124200"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600740" y="3276599"/>
            <a:ext cx="2412840" cy="369332"/>
          </a:xfrm>
          <a:prstGeom prst="rect">
            <a:avLst/>
          </a:prstGeom>
          <a:solidFill>
            <a:schemeClr val="tx1"/>
          </a:solidFill>
        </p:spPr>
        <p:txBody>
          <a:bodyPr wrap="none">
            <a:spAutoFit/>
          </a:bodyPr>
          <a:lstStyle/>
          <a:p>
            <a:r>
              <a:rPr lang="en-US" b="1" dirty="0">
                <a:solidFill>
                  <a:schemeClr val="bg1"/>
                </a:solidFill>
              </a:rPr>
              <a:t>mycelium on agar plate</a:t>
            </a:r>
          </a:p>
        </p:txBody>
      </p:sp>
      <p:sp>
        <p:nvSpPr>
          <p:cNvPr id="5" name="TextBox 4"/>
          <p:cNvSpPr txBox="1"/>
          <p:nvPr/>
        </p:nvSpPr>
        <p:spPr>
          <a:xfrm>
            <a:off x="3977908" y="4384118"/>
            <a:ext cx="7604492" cy="2092881"/>
          </a:xfrm>
          <a:prstGeom prst="rect">
            <a:avLst/>
          </a:prstGeom>
          <a:noFill/>
        </p:spPr>
        <p:txBody>
          <a:bodyPr wrap="square" rtlCol="0">
            <a:spAutoFit/>
          </a:bodyPr>
          <a:lstStyle/>
          <a:p>
            <a:r>
              <a:rPr lang="en-US" sz="2600" b="1" dirty="0">
                <a:solidFill>
                  <a:srgbClr val="7030A0"/>
                </a:solidFill>
              </a:rPr>
              <a:t>Four main structures</a:t>
            </a:r>
          </a:p>
          <a:p>
            <a:pPr marL="285750" indent="-285750">
              <a:buFont typeface="Arial" panose="020B0604020202020204" pitchFamily="34" charset="0"/>
              <a:buChar char="•"/>
            </a:pPr>
            <a:r>
              <a:rPr lang="en-US" sz="2600" dirty="0"/>
              <a:t>Hyphae (together are mycelium, which is the body)</a:t>
            </a:r>
          </a:p>
          <a:p>
            <a:pPr marL="285750" indent="-285750">
              <a:buFont typeface="Arial" panose="020B0604020202020204" pitchFamily="34" charset="0"/>
              <a:buChar char="•"/>
            </a:pPr>
            <a:r>
              <a:rPr lang="en-US" sz="2600" dirty="0"/>
              <a:t>Fruiting body</a:t>
            </a:r>
          </a:p>
          <a:p>
            <a:pPr marL="285750" indent="-285750">
              <a:buFont typeface="Arial" panose="020B0604020202020204" pitchFamily="34" charset="0"/>
              <a:buChar char="•"/>
            </a:pPr>
            <a:r>
              <a:rPr lang="en-US" sz="2600" dirty="0"/>
              <a:t>Sporangia</a:t>
            </a:r>
          </a:p>
          <a:p>
            <a:pPr marL="285750" indent="-285750">
              <a:buFont typeface="Arial" panose="020B0604020202020204" pitchFamily="34" charset="0"/>
              <a:buChar char="•"/>
            </a:pPr>
            <a:r>
              <a:rPr lang="en-US" sz="2600" dirty="0"/>
              <a:t>Spores</a:t>
            </a:r>
          </a:p>
        </p:txBody>
      </p:sp>
    </p:spTree>
    <p:extLst>
      <p:ext uri="{BB962C8B-B14F-4D97-AF65-F5344CB8AC3E}">
        <p14:creationId xmlns:p14="http://schemas.microsoft.com/office/powerpoint/2010/main" val="341832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227B5E3-33EB-EAC8-E956-6379A9DCD0E2}"/>
              </a:ext>
            </a:extLst>
          </p:cNvPr>
          <p:cNvSpPr txBox="1"/>
          <p:nvPr/>
        </p:nvSpPr>
        <p:spPr>
          <a:xfrm>
            <a:off x="7955307" y="5065557"/>
            <a:ext cx="2651453" cy="646331"/>
          </a:xfrm>
          <a:prstGeom prst="rect">
            <a:avLst/>
          </a:prstGeom>
          <a:noFill/>
        </p:spPr>
        <p:txBody>
          <a:bodyPr wrap="square">
            <a:spAutoFit/>
          </a:bodyPr>
          <a:lstStyle/>
          <a:p>
            <a:r>
              <a:rPr lang="en-US" dirty="0" err="1"/>
              <a:t>png</a:t>
            </a:r>
            <a:r>
              <a:rPr lang="en-US" dirty="0"/>
              <a:t> image from pngtree.com</a:t>
            </a:r>
          </a:p>
        </p:txBody>
      </p:sp>
      <p:sp>
        <p:nvSpPr>
          <p:cNvPr id="3" name="Content Placeholder 2"/>
          <p:cNvSpPr>
            <a:spLocks noGrp="1"/>
          </p:cNvSpPr>
          <p:nvPr>
            <p:ph idx="1"/>
          </p:nvPr>
        </p:nvSpPr>
        <p:spPr>
          <a:xfrm>
            <a:off x="990600" y="919716"/>
            <a:ext cx="10047038" cy="3886200"/>
          </a:xfrm>
        </p:spPr>
        <p:txBody>
          <a:bodyPr>
            <a:normAutofit/>
          </a:bodyPr>
          <a:lstStyle/>
          <a:p>
            <a:r>
              <a:rPr lang="en-US" sz="3000" dirty="0"/>
              <a:t>We are focusing on three groups that are distinguished by their reproductive structures:</a:t>
            </a:r>
          </a:p>
          <a:p>
            <a:pPr lvl="1"/>
            <a:r>
              <a:rPr lang="en-US" sz="2600" dirty="0"/>
              <a:t>Zygomycota (bread molds, etc.) (Now split into many phyla)</a:t>
            </a:r>
          </a:p>
          <a:p>
            <a:pPr lvl="1"/>
            <a:r>
              <a:rPr lang="en-US" sz="2600" dirty="0"/>
              <a:t>Ascomycota (sac fungi)</a:t>
            </a:r>
          </a:p>
          <a:p>
            <a:pPr lvl="1"/>
            <a:r>
              <a:rPr lang="en-US" sz="2600" dirty="0" err="1"/>
              <a:t>Basidiomycota</a:t>
            </a:r>
            <a:r>
              <a:rPr lang="en-US" sz="2600" dirty="0"/>
              <a:t> (club fungi)</a:t>
            </a:r>
          </a:p>
          <a:p>
            <a:r>
              <a:rPr lang="en-US" sz="3000" dirty="0"/>
              <a:t>May reproduce sexually or asexually</a:t>
            </a:r>
          </a:p>
        </p:txBody>
      </p:sp>
      <p:sp>
        <p:nvSpPr>
          <p:cNvPr id="15" name="Title 1"/>
          <p:cNvSpPr>
            <a:spLocks noGrp="1"/>
          </p:cNvSpPr>
          <p:nvPr>
            <p:ph type="title"/>
          </p:nvPr>
        </p:nvSpPr>
        <p:spPr>
          <a:xfrm>
            <a:off x="1981200" y="152400"/>
            <a:ext cx="8229600" cy="914400"/>
          </a:xfrm>
        </p:spPr>
        <p:txBody>
          <a:bodyPr>
            <a:normAutofit/>
          </a:bodyPr>
          <a:lstStyle/>
          <a:p>
            <a:r>
              <a:rPr lang="en-US" sz="4000" dirty="0"/>
              <a:t>Fungi Phyla</a:t>
            </a:r>
            <a:endParaRPr lang="en-US" sz="3200" dirty="0"/>
          </a:p>
        </p:txBody>
      </p:sp>
      <p:grpSp>
        <p:nvGrpSpPr>
          <p:cNvPr id="2" name="Group 1">
            <a:extLst>
              <a:ext uri="{FF2B5EF4-FFF2-40B4-BE49-F238E27FC236}">
                <a16:creationId xmlns:a16="http://schemas.microsoft.com/office/drawing/2014/main" id="{F9DE8ED8-1249-944A-5B8C-805AE81E60BB}"/>
              </a:ext>
            </a:extLst>
          </p:cNvPr>
          <p:cNvGrpSpPr/>
          <p:nvPr/>
        </p:nvGrpSpPr>
        <p:grpSpPr>
          <a:xfrm>
            <a:off x="1524000" y="4561602"/>
            <a:ext cx="9144000" cy="2300572"/>
            <a:chOff x="0" y="0"/>
            <a:chExt cx="9144000" cy="2300572"/>
          </a:xfrm>
        </p:grpSpPr>
        <p:pic>
          <p:nvPicPr>
            <p:cNvPr id="4" name="Picture 23" descr="31_11eFungalDiversity-U">
              <a:extLst>
                <a:ext uri="{FF2B5EF4-FFF2-40B4-BE49-F238E27FC236}">
                  <a16:creationId xmlns:a16="http://schemas.microsoft.com/office/drawing/2014/main" id="{F5DFBF0E-D37D-C06C-0974-07B95815E51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4" t="2235" r="16968" b="12423"/>
            <a:stretch/>
          </p:blipFill>
          <p:spPr bwMode="auto">
            <a:xfrm>
              <a:off x="0" y="1"/>
              <a:ext cx="1828800" cy="23005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9" descr="31_06aPenicilliumMold-U">
              <a:extLst>
                <a:ext uri="{FF2B5EF4-FFF2-40B4-BE49-F238E27FC236}">
                  <a16:creationId xmlns:a16="http://schemas.microsoft.com/office/drawing/2014/main" id="{FE04D024-19E8-3AC4-6CF6-2A9D382B80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9028" y="1"/>
              <a:ext cx="2368669" cy="23005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9" descr="31_16aAscomyceteFungi-U">
              <a:extLst>
                <a:ext uri="{FF2B5EF4-FFF2-40B4-BE49-F238E27FC236}">
                  <a16:creationId xmlns:a16="http://schemas.microsoft.com/office/drawing/2014/main" id="{590C032E-2E33-661C-1D16-41C0E7436B4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5" t="1897" r="4179" b="16174"/>
            <a:stretch/>
          </p:blipFill>
          <p:spPr bwMode="auto">
            <a:xfrm>
              <a:off x="1828800" y="0"/>
              <a:ext cx="1570231" cy="23005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31_23_LichenForms-U">
              <a:extLst>
                <a:ext uri="{FF2B5EF4-FFF2-40B4-BE49-F238E27FC236}">
                  <a16:creationId xmlns:a16="http://schemas.microsoft.com/office/drawing/2014/main" id="{DF623E98-4F17-EFE0-BA2B-EC8AD17F65D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9619" t="1880" r="1857" b="6391"/>
            <a:stretch/>
          </p:blipFill>
          <p:spPr bwMode="auto">
            <a:xfrm>
              <a:off x="7937143" y="1"/>
              <a:ext cx="1206857" cy="230057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5" descr="31_01ForestMushrooms-U">
              <a:extLst>
                <a:ext uri="{FF2B5EF4-FFF2-40B4-BE49-F238E27FC236}">
                  <a16:creationId xmlns:a16="http://schemas.microsoft.com/office/drawing/2014/main" id="{D28C8828-AC67-28EB-ED5B-AF627A4FAE9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9855" t="2797" r="7986" b="5134"/>
            <a:stretch/>
          </p:blipFill>
          <p:spPr bwMode="auto">
            <a:xfrm>
              <a:off x="5767697" y="0"/>
              <a:ext cx="2169446" cy="2300572"/>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9" descr="A statue of a person&#10;&#10;Description automatically generated">
            <a:extLst>
              <a:ext uri="{FF2B5EF4-FFF2-40B4-BE49-F238E27FC236}">
                <a16:creationId xmlns:a16="http://schemas.microsoft.com/office/drawing/2014/main" id="{D3629D29-3429-2605-15A5-CC3785FF429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42653" y="5628967"/>
            <a:ext cx="658270" cy="1243588"/>
          </a:xfrm>
          <a:prstGeom prst="rect">
            <a:avLst/>
          </a:prstGeom>
        </p:spPr>
      </p:pic>
    </p:spTree>
    <p:extLst>
      <p:ext uri="{BB962C8B-B14F-4D97-AF65-F5344CB8AC3E}">
        <p14:creationId xmlns:p14="http://schemas.microsoft.com/office/powerpoint/2010/main" val="211505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44425"/>
            <a:ext cx="7162800" cy="3886200"/>
          </a:xfrm>
        </p:spPr>
        <p:txBody>
          <a:bodyPr>
            <a:normAutofit/>
          </a:bodyPr>
          <a:lstStyle/>
          <a:p>
            <a:r>
              <a:rPr lang="en-US" sz="3000" i="1" dirty="0" err="1"/>
              <a:t>Rhizopus</a:t>
            </a:r>
            <a:r>
              <a:rPr lang="en-US" sz="3000" i="1" dirty="0"/>
              <a:t> </a:t>
            </a:r>
            <a:r>
              <a:rPr lang="en-US" sz="3000" i="1" dirty="0" err="1"/>
              <a:t>stolonifer</a:t>
            </a:r>
            <a:r>
              <a:rPr lang="en-US" sz="3000" dirty="0"/>
              <a:t>, see life cycle in lab manual</a:t>
            </a:r>
          </a:p>
          <a:p>
            <a:pPr lvl="1"/>
            <a:r>
              <a:rPr lang="en-US" sz="2600" dirty="0"/>
              <a:t>distinguish between sexual and asexual reproductive process</a:t>
            </a:r>
          </a:p>
          <a:p>
            <a:r>
              <a:rPr lang="en-US" sz="3000" dirty="0"/>
              <a:t>Identify hyphae, sporangia, and zygosporangia</a:t>
            </a:r>
          </a:p>
        </p:txBody>
      </p:sp>
      <p:sp>
        <p:nvSpPr>
          <p:cNvPr id="15" name="Title 1"/>
          <p:cNvSpPr>
            <a:spLocks noGrp="1"/>
          </p:cNvSpPr>
          <p:nvPr>
            <p:ph type="title"/>
          </p:nvPr>
        </p:nvSpPr>
        <p:spPr>
          <a:xfrm>
            <a:off x="304800" y="228600"/>
            <a:ext cx="8610600" cy="1102165"/>
          </a:xfrm>
        </p:spPr>
        <p:txBody>
          <a:bodyPr>
            <a:normAutofit fontScale="90000"/>
          </a:bodyPr>
          <a:lstStyle/>
          <a:p>
            <a:r>
              <a:rPr lang="en-US" sz="4000" dirty="0"/>
              <a:t>Zygomycota (zygote fungi)</a:t>
            </a:r>
            <a:br>
              <a:rPr lang="en-US" sz="4000" dirty="0"/>
            </a:br>
            <a:r>
              <a:rPr lang="en-US" sz="4000" dirty="0"/>
              <a:t>These species are now in </a:t>
            </a:r>
            <a:r>
              <a:rPr lang="en-US" sz="4000" dirty="0" err="1"/>
              <a:t>Mucuromycota</a:t>
            </a:r>
            <a:r>
              <a:rPr lang="en-US" sz="4000" dirty="0"/>
              <a:t> </a:t>
            </a:r>
            <a:endParaRPr lang="en-US" sz="3200" dirty="0"/>
          </a:p>
        </p:txBody>
      </p:sp>
      <p:pic>
        <p:nvPicPr>
          <p:cNvPr id="1026" name="Picture 2" descr="http://www.connecticutvalleybiological.com/images/l9030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654" y="4418422"/>
            <a:ext cx="4114800" cy="2420993"/>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2722953" y="6291573"/>
            <a:ext cx="2153945" cy="547842"/>
          </a:xfrm>
          <a:prstGeom prst="rect">
            <a:avLst/>
          </a:prstGeom>
          <a:solidFill>
            <a:schemeClr val="bg1"/>
          </a:solidFill>
        </p:spPr>
        <p:txBody>
          <a:bodyPr wrap="square" lIns="27432" tIns="27432" rIns="27432" bIns="27432" rtlCol="0">
            <a:spAutoFit/>
          </a:bodyPr>
          <a:lstStyle/>
          <a:p>
            <a:pPr algn="ctr"/>
            <a:r>
              <a:rPr lang="en-US" sz="1600" b="1" i="1" dirty="0" err="1">
                <a:latin typeface="Times New Roman" panose="02020603050405020304" pitchFamily="18" charset="0"/>
                <a:cs typeface="Times New Roman" panose="02020603050405020304" pitchFamily="18" charset="0"/>
              </a:rPr>
              <a:t>Rhizopus</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stolonifer</a:t>
            </a:r>
            <a:r>
              <a:rPr lang="en-US" sz="1600" b="1" dirty="0">
                <a:latin typeface="Times New Roman" panose="02020603050405020304" pitchFamily="18" charset="0"/>
                <a:cs typeface="Times New Roman" panose="02020603050405020304" pitchFamily="18" charset="0"/>
              </a:rPr>
              <a:t>, common bread mold</a:t>
            </a:r>
          </a:p>
        </p:txBody>
      </p:sp>
      <p:sp>
        <p:nvSpPr>
          <p:cNvPr id="2" name="Rectangle 1"/>
          <p:cNvSpPr/>
          <p:nvPr/>
        </p:nvSpPr>
        <p:spPr>
          <a:xfrm>
            <a:off x="6781799" y="2166559"/>
            <a:ext cx="5105401" cy="707886"/>
          </a:xfrm>
          <a:prstGeom prst="rect">
            <a:avLst/>
          </a:prstGeom>
        </p:spPr>
        <p:txBody>
          <a:bodyPr wrap="square">
            <a:spAutoFit/>
          </a:bodyPr>
          <a:lstStyle/>
          <a:p>
            <a:pPr algn="ctr">
              <a:defRPr/>
            </a:pPr>
            <a:r>
              <a:rPr lang="en-US" sz="2000" i="1" dirty="0">
                <a:latin typeface="Times" charset="0"/>
                <a:cs typeface="ＭＳ Ｐゴシック" charset="0"/>
                <a:hlinkClick r:id="rId3"/>
              </a:rPr>
              <a:t>Watch: The fastest living thing on the planet</a:t>
            </a:r>
            <a:r>
              <a:rPr lang="en-US" sz="2000" i="1" dirty="0">
                <a:latin typeface="Times" charset="0"/>
                <a:cs typeface="ＭＳ Ｐゴシック" charset="0"/>
              </a:rPr>
              <a:t> </a:t>
            </a:r>
            <a:r>
              <a:rPr lang="en-US" sz="2000" dirty="0">
                <a:latin typeface="Times" charset="0"/>
                <a:cs typeface="ＭＳ Ｐゴシック" charset="0"/>
              </a:rPr>
              <a:t>(4:59)</a:t>
            </a:r>
          </a:p>
        </p:txBody>
      </p:sp>
      <p:pic>
        <p:nvPicPr>
          <p:cNvPr id="2050" name="Picture 2" descr="Fungus Cannon In Sugar Love on Make a GIF">
            <a:extLst>
              <a:ext uri="{FF2B5EF4-FFF2-40B4-BE49-F238E27FC236}">
                <a16:creationId xmlns:a16="http://schemas.microsoft.com/office/drawing/2014/main" id="{48DE7CDE-B0CD-4AE5-931D-A73B8BAC5CD3}"/>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127507"/>
            <a:ext cx="6056971" cy="340704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9770426" y="5991632"/>
            <a:ext cx="2153945" cy="547842"/>
          </a:xfrm>
          <a:prstGeom prst="rect">
            <a:avLst/>
          </a:prstGeom>
          <a:solidFill>
            <a:schemeClr val="bg1"/>
          </a:solidFill>
        </p:spPr>
        <p:txBody>
          <a:bodyPr wrap="square" lIns="27432" tIns="27432" rIns="27432" bIns="27432" rtlCol="0">
            <a:spAutoFit/>
          </a:bodyPr>
          <a:lstStyle/>
          <a:p>
            <a:pPr algn="ctr"/>
            <a:r>
              <a:rPr lang="en-US" sz="1600" b="1" i="1" dirty="0" err="1">
                <a:latin typeface="Times New Roman" panose="02020603050405020304" pitchFamily="18" charset="0"/>
                <a:cs typeface="Times New Roman" panose="02020603050405020304" pitchFamily="18" charset="0"/>
              </a:rPr>
              <a:t>Pilobolus</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crystallinus</a:t>
            </a:r>
            <a:r>
              <a:rPr lang="en-US" sz="1600" b="1" dirty="0">
                <a:latin typeface="Times New Roman" panose="02020603050405020304" pitchFamily="18" charset="0"/>
                <a:cs typeface="Times New Roman" panose="02020603050405020304" pitchFamily="18" charset="0"/>
              </a:rPr>
              <a:t>, shotgun fungus</a:t>
            </a:r>
          </a:p>
        </p:txBody>
      </p:sp>
    </p:spTree>
    <p:extLst>
      <p:ext uri="{BB962C8B-B14F-4D97-AF65-F5344CB8AC3E}">
        <p14:creationId xmlns:p14="http://schemas.microsoft.com/office/powerpoint/2010/main" val="211505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152400"/>
            <a:ext cx="9144000" cy="914400"/>
          </a:xfrm>
        </p:spPr>
        <p:txBody>
          <a:bodyPr>
            <a:normAutofit/>
          </a:bodyPr>
          <a:lstStyle/>
          <a:p>
            <a:r>
              <a:rPr lang="en-US" sz="4000" dirty="0" err="1"/>
              <a:t>Zygomycota</a:t>
            </a:r>
            <a:r>
              <a:rPr lang="en-US" sz="4000" dirty="0"/>
              <a:t> Life cycle</a:t>
            </a:r>
            <a:endParaRPr lang="en-US" sz="3200" dirty="0"/>
          </a:p>
        </p:txBody>
      </p:sp>
      <p:pic>
        <p:nvPicPr>
          <p:cNvPr id="1026" name="Picture 2" descr="Image result for zygomycota life cy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878272"/>
            <a:ext cx="7315200" cy="597972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648200" y="6464730"/>
            <a:ext cx="5257800" cy="276999"/>
          </a:xfrm>
          <a:prstGeom prst="rect">
            <a:avLst/>
          </a:prstGeom>
          <a:noFill/>
        </p:spPr>
        <p:txBody>
          <a:bodyPr wrap="square" rtlCol="0">
            <a:spAutoFit/>
          </a:bodyPr>
          <a:lstStyle/>
          <a:p>
            <a:r>
              <a:rPr lang="en-US" sz="1200" dirty="0"/>
              <a:t>http://bio1151.nicerweb.com/Locked/media/ch31/31_12ZygomyceteLifCycle.jpg</a:t>
            </a:r>
          </a:p>
        </p:txBody>
      </p:sp>
    </p:spTree>
    <p:extLst>
      <p:ext uri="{BB962C8B-B14F-4D97-AF65-F5344CB8AC3E}">
        <p14:creationId xmlns:p14="http://schemas.microsoft.com/office/powerpoint/2010/main" val="3663942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981200" y="0"/>
            <a:ext cx="8229600" cy="914400"/>
          </a:xfrm>
        </p:spPr>
        <p:txBody>
          <a:bodyPr>
            <a:normAutofit/>
          </a:bodyPr>
          <a:lstStyle/>
          <a:p>
            <a:r>
              <a:rPr lang="en-US" sz="4000" dirty="0"/>
              <a:t>Ascomycota </a:t>
            </a:r>
            <a:endParaRPr lang="en-US" sz="3200" dirty="0"/>
          </a:p>
        </p:txBody>
      </p:sp>
      <p:pic>
        <p:nvPicPr>
          <p:cNvPr id="3074" name="Picture 2" descr="http://www.daviddarling.info/images/cup-fungi.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829344"/>
            <a:ext cx="5343328" cy="4199856"/>
          </a:xfrm>
          <a:prstGeom prst="rect">
            <a:avLst/>
          </a:prstGeom>
          <a:noFill/>
          <a:extLst>
            <a:ext uri="{909E8E84-426E-40DD-AFC4-6F175D3DCCD1}">
              <a14:hiddenFill xmlns:a14="http://schemas.microsoft.com/office/drawing/2010/main">
                <a:solidFill>
                  <a:srgbClr val="FFFFFF"/>
                </a:solidFill>
              </a14:hiddenFill>
            </a:ext>
          </a:extLst>
        </p:spPr>
      </p:pic>
      <p:sp>
        <p:nvSpPr>
          <p:cNvPr id="2" name="Right Brace 1"/>
          <p:cNvSpPr/>
          <p:nvPr/>
        </p:nvSpPr>
        <p:spPr>
          <a:xfrm>
            <a:off x="8991600" y="929640"/>
            <a:ext cx="426720" cy="2438400"/>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4"/>
          <p:cNvSpPr/>
          <p:nvPr/>
        </p:nvSpPr>
        <p:spPr>
          <a:xfrm>
            <a:off x="9418321" y="1964174"/>
            <a:ext cx="1022139" cy="369332"/>
          </a:xfrm>
          <a:prstGeom prst="rect">
            <a:avLst/>
          </a:prstGeom>
        </p:spPr>
        <p:txBody>
          <a:bodyPr wrap="none">
            <a:spAutoFit/>
          </a:bodyPr>
          <a:lstStyle/>
          <a:p>
            <a:r>
              <a:rPr lang="en-US" b="1" dirty="0" err="1"/>
              <a:t>ascocarp</a:t>
            </a:r>
            <a:endParaRPr lang="en-US" b="1" dirty="0"/>
          </a:p>
        </p:txBody>
      </p:sp>
      <p:pic>
        <p:nvPicPr>
          <p:cNvPr id="3078" name="Picture 6" descr="http://en.academic.ru/pictures/enwiki/65/Ascocarp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9240" y="3810000"/>
            <a:ext cx="338328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apsnet.org/edcenter/illglossary/Article%20Images/apotheciu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518280"/>
            <a:ext cx="3505200" cy="233972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811224" y="809201"/>
            <a:ext cx="2249334" cy="646331"/>
          </a:xfrm>
          <a:prstGeom prst="rect">
            <a:avLst/>
          </a:prstGeom>
          <a:solidFill>
            <a:srgbClr val="FEF4EC"/>
          </a:solidFill>
        </p:spPr>
        <p:txBody>
          <a:bodyPr wrap="none">
            <a:spAutoFit/>
          </a:bodyPr>
          <a:lstStyle/>
          <a:p>
            <a:r>
              <a:rPr lang="en-US" b="1" dirty="0" err="1"/>
              <a:t>asci</a:t>
            </a:r>
            <a:r>
              <a:rPr lang="en-US" b="1" dirty="0"/>
              <a:t> (</a:t>
            </a:r>
            <a:r>
              <a:rPr lang="en-US" b="1" i="1" dirty="0"/>
              <a:t>singular</a:t>
            </a:r>
            <a:r>
              <a:rPr lang="en-US" b="1" dirty="0"/>
              <a:t> = </a:t>
            </a:r>
            <a:r>
              <a:rPr lang="en-US" b="1" dirty="0" err="1"/>
              <a:t>ascus</a:t>
            </a:r>
            <a:r>
              <a:rPr lang="en-US" b="1" dirty="0"/>
              <a:t>)</a:t>
            </a:r>
          </a:p>
          <a:p>
            <a:r>
              <a:rPr lang="en-US" b="1" dirty="0"/>
              <a:t>with </a:t>
            </a:r>
            <a:r>
              <a:rPr lang="en-US" b="1" dirty="0" err="1"/>
              <a:t>ascospores</a:t>
            </a:r>
            <a:endParaRPr lang="en-US" b="1" dirty="0"/>
          </a:p>
        </p:txBody>
      </p:sp>
      <p:sp>
        <p:nvSpPr>
          <p:cNvPr id="11" name="Rectangle 10"/>
          <p:cNvSpPr/>
          <p:nvPr/>
        </p:nvSpPr>
        <p:spPr>
          <a:xfrm>
            <a:off x="4572000" y="1524000"/>
            <a:ext cx="889026" cy="369332"/>
          </a:xfrm>
          <a:prstGeom prst="rect">
            <a:avLst/>
          </a:prstGeom>
          <a:solidFill>
            <a:srgbClr val="FEF4EC"/>
          </a:solidFill>
        </p:spPr>
        <p:txBody>
          <a:bodyPr wrap="none">
            <a:spAutoFit/>
          </a:bodyPr>
          <a:lstStyle/>
          <a:p>
            <a:r>
              <a:rPr lang="en-US" b="1" dirty="0"/>
              <a:t>hyphae</a:t>
            </a:r>
          </a:p>
        </p:txBody>
      </p:sp>
      <p:pic>
        <p:nvPicPr>
          <p:cNvPr id="1026" name="Picture 2" descr="http://www.botany.hawaii.edu/faculty/wong/BOT135/Ascosporedisp.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528952" y="809200"/>
            <a:ext cx="447153" cy="2676878"/>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a:endCxn id="1026" idx="3"/>
          </p:cNvCxnSpPr>
          <p:nvPr/>
        </p:nvCxnSpPr>
        <p:spPr>
          <a:xfrm flipH="1">
            <a:off x="2976105" y="1023383"/>
            <a:ext cx="891263" cy="11242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statue of a person&#10;&#10;Description automatically generated">
            <a:extLst>
              <a:ext uri="{FF2B5EF4-FFF2-40B4-BE49-F238E27FC236}">
                <a16:creationId xmlns:a16="http://schemas.microsoft.com/office/drawing/2014/main" id="{AD63FBA4-61FA-2BF1-D99A-FA9011AAAD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0682" y="5599857"/>
            <a:ext cx="658270" cy="1243588"/>
          </a:xfrm>
          <a:prstGeom prst="rect">
            <a:avLst/>
          </a:prstGeom>
        </p:spPr>
      </p:pic>
    </p:spTree>
    <p:extLst>
      <p:ext uri="{BB962C8B-B14F-4D97-AF65-F5344CB8AC3E}">
        <p14:creationId xmlns:p14="http://schemas.microsoft.com/office/powerpoint/2010/main" val="191121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828800" y="0"/>
            <a:ext cx="8534400" cy="914400"/>
          </a:xfrm>
        </p:spPr>
        <p:txBody>
          <a:bodyPr>
            <a:normAutofit/>
          </a:bodyPr>
          <a:lstStyle/>
          <a:p>
            <a:r>
              <a:rPr lang="en-US" sz="4000" dirty="0"/>
              <a:t>Basidiomycota</a:t>
            </a:r>
            <a:endParaRPr lang="en-US" sz="3200" dirty="0"/>
          </a:p>
        </p:txBody>
      </p:sp>
      <p:pic>
        <p:nvPicPr>
          <p:cNvPr id="7170" name="Picture 2" descr="http://img.sparknotes.com/figures/5/5b2570b38ff96026a03c4f4d6d510ed7/basidiostructur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81050"/>
            <a:ext cx="4000500" cy="320040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comenius.susqu.edu/biol/202/fungi/basidiomycota/basidiomycota/basidiocarp-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0300" y="781050"/>
            <a:ext cx="4457700" cy="60769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bio.miami.edu/dana/pix/amanita.jpg"/>
          <p:cNvPicPr>
            <a:picLocks noChangeAspect="1" noChangeArrowheads="1"/>
          </p:cNvPicPr>
          <p:nvPr/>
        </p:nvPicPr>
        <p:blipFill rotWithShape="1">
          <a:blip r:embed="rId4">
            <a:extLst>
              <a:ext uri="{28A0092B-C50C-407E-A947-70E740481C1C}">
                <a14:useLocalDpi xmlns:a14="http://schemas.microsoft.com/office/drawing/2010/main" val="0"/>
              </a:ext>
            </a:extLst>
          </a:blip>
          <a:srcRect t="6790" r="16539"/>
          <a:stretch/>
        </p:blipFill>
        <p:spPr bwMode="auto">
          <a:xfrm>
            <a:off x="2802322" y="3981450"/>
            <a:ext cx="3434255" cy="28765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0064911" y="3495814"/>
            <a:ext cx="309380" cy="184666"/>
          </a:xfrm>
          <a:prstGeom prst="rect">
            <a:avLst/>
          </a:prstGeom>
          <a:solidFill>
            <a:schemeClr val="bg1"/>
          </a:solidFill>
        </p:spPr>
        <p:txBody>
          <a:bodyPr wrap="none" lIns="0" tIns="0" rIns="0" bIns="0">
            <a:spAutoFit/>
          </a:bodyPr>
          <a:lstStyle/>
          <a:p>
            <a:r>
              <a:rPr lang="en-US" sz="1200" b="1" dirty="0">
                <a:latin typeface="Arial" panose="020B0604020202020204" pitchFamily="34" charset="0"/>
                <a:cs typeface="Arial" panose="020B0604020202020204" pitchFamily="34" charset="0"/>
              </a:rPr>
              <a:t>gills</a:t>
            </a:r>
          </a:p>
        </p:txBody>
      </p:sp>
      <p:pic>
        <p:nvPicPr>
          <p:cNvPr id="2" name="Picture 1" descr="A statue of a person&#10;&#10;Description automatically generated">
            <a:extLst>
              <a:ext uri="{FF2B5EF4-FFF2-40B4-BE49-F238E27FC236}">
                <a16:creationId xmlns:a16="http://schemas.microsoft.com/office/drawing/2014/main" id="{34284469-E323-43A3-ECFB-30097DA34D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29000" y="5614412"/>
            <a:ext cx="658270" cy="1243588"/>
          </a:xfrm>
          <a:prstGeom prst="rect">
            <a:avLst/>
          </a:prstGeom>
        </p:spPr>
      </p:pic>
    </p:spTree>
    <p:extLst>
      <p:ext uri="{BB962C8B-B14F-4D97-AF65-F5344CB8AC3E}">
        <p14:creationId xmlns:p14="http://schemas.microsoft.com/office/powerpoint/2010/main" val="171455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8617" y="990600"/>
            <a:ext cx="8382000" cy="5562600"/>
          </a:xfrm>
        </p:spPr>
        <p:txBody>
          <a:bodyPr>
            <a:normAutofit fontScale="77500" lnSpcReduction="20000"/>
          </a:bodyPr>
          <a:lstStyle/>
          <a:p>
            <a:pPr marL="0" indent="0">
              <a:buNone/>
            </a:pPr>
            <a:r>
              <a:rPr lang="en-US" sz="2600" dirty="0"/>
              <a:t>Exercise 1: Microscope Anatomy</a:t>
            </a:r>
          </a:p>
          <a:p>
            <a:r>
              <a:rPr lang="en-US" sz="2300" dirty="0"/>
              <a:t>Label the parts of a microscope</a:t>
            </a:r>
          </a:p>
          <a:p>
            <a:r>
              <a:rPr lang="en-US" sz="2300" dirty="0"/>
              <a:t>Learn how to make a wet mount</a:t>
            </a:r>
          </a:p>
          <a:p>
            <a:pPr marL="0" indent="0">
              <a:buNone/>
            </a:pPr>
            <a:endParaRPr lang="en-US" sz="2600" dirty="0"/>
          </a:p>
          <a:p>
            <a:pPr marL="0" indent="0">
              <a:buNone/>
            </a:pPr>
            <a:r>
              <a:rPr lang="en-US" sz="2600" dirty="0"/>
              <a:t>Exercise 2: Comparative Anatomy of True Fungi</a:t>
            </a:r>
          </a:p>
          <a:p>
            <a:r>
              <a:rPr lang="en-US" sz="2300" dirty="0" err="1"/>
              <a:t>Zygomcetes</a:t>
            </a:r>
            <a:endParaRPr lang="en-US" sz="2300" dirty="0"/>
          </a:p>
          <a:p>
            <a:pPr lvl="1"/>
            <a:r>
              <a:rPr lang="en-US" sz="1900" dirty="0" err="1"/>
              <a:t>Rhyzopus</a:t>
            </a:r>
            <a:r>
              <a:rPr lang="en-US" sz="1900" dirty="0"/>
              <a:t> – </a:t>
            </a:r>
            <a:r>
              <a:rPr lang="en-US" sz="1900" b="1" dirty="0">
                <a:solidFill>
                  <a:srgbClr val="7030A0"/>
                </a:solidFill>
              </a:rPr>
              <a:t>make tape mount</a:t>
            </a:r>
          </a:p>
          <a:p>
            <a:pPr lvl="1"/>
            <a:r>
              <a:rPr lang="en-US" sz="1900" dirty="0"/>
              <a:t>Pilobolus viewing on demo</a:t>
            </a:r>
          </a:p>
          <a:p>
            <a:r>
              <a:rPr lang="en-US" sz="2300" dirty="0"/>
              <a:t>Ascomycetes</a:t>
            </a:r>
          </a:p>
          <a:p>
            <a:pPr lvl="1"/>
            <a:r>
              <a:rPr lang="en-US" sz="1900" dirty="0"/>
              <a:t>Peziza prepared slide</a:t>
            </a:r>
          </a:p>
          <a:p>
            <a:pPr lvl="1"/>
            <a:r>
              <a:rPr lang="en-US" sz="1900" dirty="0" err="1"/>
              <a:t>Sordaria</a:t>
            </a:r>
            <a:r>
              <a:rPr lang="en-US" sz="1900" dirty="0"/>
              <a:t> - </a:t>
            </a:r>
            <a:r>
              <a:rPr lang="en-US" sz="1900" b="1" dirty="0">
                <a:solidFill>
                  <a:srgbClr val="7030A0"/>
                </a:solidFill>
              </a:rPr>
              <a:t>make wet mount</a:t>
            </a:r>
          </a:p>
          <a:p>
            <a:pPr lvl="1"/>
            <a:r>
              <a:rPr lang="en-US" sz="1900" dirty="0"/>
              <a:t>Saccharomyces – </a:t>
            </a:r>
            <a:r>
              <a:rPr lang="en-US" sz="1900" b="1" dirty="0">
                <a:solidFill>
                  <a:srgbClr val="7030A0"/>
                </a:solidFill>
              </a:rPr>
              <a:t>make wet mount (yeast)</a:t>
            </a:r>
          </a:p>
          <a:p>
            <a:r>
              <a:rPr lang="en-US" sz="2300" dirty="0"/>
              <a:t>Basidiomycetes</a:t>
            </a:r>
          </a:p>
          <a:p>
            <a:pPr lvl="1"/>
            <a:r>
              <a:rPr lang="en-US" sz="1900" dirty="0"/>
              <a:t>Common mushroom – </a:t>
            </a:r>
            <a:r>
              <a:rPr lang="en-US" sz="1900" b="1" dirty="0">
                <a:solidFill>
                  <a:srgbClr val="7030A0"/>
                </a:solidFill>
              </a:rPr>
              <a:t>make dry mount</a:t>
            </a:r>
          </a:p>
          <a:p>
            <a:pPr lvl="1"/>
            <a:r>
              <a:rPr lang="en-US" sz="1900" dirty="0"/>
              <a:t>Coprinus prepared slide</a:t>
            </a:r>
          </a:p>
          <a:p>
            <a:pPr lvl="1"/>
            <a:r>
              <a:rPr lang="en-US" sz="1900" dirty="0"/>
              <a:t>Basidiocarp examples on demo</a:t>
            </a:r>
          </a:p>
          <a:p>
            <a:pPr marL="0" indent="0">
              <a:buNone/>
            </a:pPr>
            <a:endParaRPr lang="en-US" sz="2600" dirty="0"/>
          </a:p>
          <a:p>
            <a:pPr marL="0" indent="0">
              <a:buNone/>
            </a:pPr>
            <a:r>
              <a:rPr lang="en-US" sz="2600" dirty="0"/>
              <a:t>Exercise 3: Lichens and Mycorrhizae</a:t>
            </a:r>
          </a:p>
          <a:p>
            <a:r>
              <a:rPr lang="en-US" sz="2300" dirty="0"/>
              <a:t>Examine lichens on demo</a:t>
            </a:r>
          </a:p>
          <a:p>
            <a:r>
              <a:rPr lang="en-US" sz="2300" dirty="0"/>
              <a:t>View figures of mycorrhizae</a:t>
            </a:r>
          </a:p>
        </p:txBody>
      </p:sp>
      <p:sp>
        <p:nvSpPr>
          <p:cNvPr id="15" name="Title 1"/>
          <p:cNvSpPr>
            <a:spLocks noGrp="1"/>
          </p:cNvSpPr>
          <p:nvPr>
            <p:ph type="title"/>
          </p:nvPr>
        </p:nvSpPr>
        <p:spPr>
          <a:xfrm>
            <a:off x="1981200" y="152400"/>
            <a:ext cx="8229600" cy="914400"/>
          </a:xfrm>
        </p:spPr>
        <p:txBody>
          <a:bodyPr>
            <a:normAutofit/>
          </a:bodyPr>
          <a:lstStyle/>
          <a:p>
            <a:r>
              <a:rPr lang="en-US" sz="4000" dirty="0"/>
              <a:t>Lab 4 – Fungi Diversity and Anatomy</a:t>
            </a:r>
            <a:endParaRPr lang="en-US" sz="3200" dirty="0"/>
          </a:p>
        </p:txBody>
      </p:sp>
    </p:spTree>
    <p:extLst>
      <p:ext uri="{BB962C8B-B14F-4D97-AF65-F5344CB8AC3E}">
        <p14:creationId xmlns:p14="http://schemas.microsoft.com/office/powerpoint/2010/main" val="1690641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81200" y="0"/>
            <a:ext cx="8229600" cy="1143000"/>
          </a:xfrm>
        </p:spPr>
        <p:txBody>
          <a:bodyPr/>
          <a:lstStyle/>
          <a:p>
            <a:r>
              <a:rPr lang="en-US" dirty="0"/>
              <a:t>Reminders</a:t>
            </a:r>
          </a:p>
        </p:txBody>
      </p:sp>
      <p:sp>
        <p:nvSpPr>
          <p:cNvPr id="6" name="TextBox 5"/>
          <p:cNvSpPr txBox="1"/>
          <p:nvPr/>
        </p:nvSpPr>
        <p:spPr>
          <a:xfrm>
            <a:off x="1905000" y="864958"/>
            <a:ext cx="7821690" cy="1384995"/>
          </a:xfrm>
          <a:prstGeom prst="rect">
            <a:avLst/>
          </a:prstGeom>
          <a:noFill/>
        </p:spPr>
        <p:txBody>
          <a:bodyPr wrap="square" rtlCol="0">
            <a:spAutoFit/>
          </a:bodyPr>
          <a:lstStyle/>
          <a:p>
            <a:r>
              <a:rPr lang="en-US" sz="2800" b="1" dirty="0"/>
              <a:t>The Discussion writing assignment takes the place of the pre-lab quiz next week. Due at the beginning of lab next week.</a:t>
            </a:r>
            <a:endParaRPr lang="en-US" sz="2800" dirty="0"/>
          </a:p>
        </p:txBody>
      </p:sp>
      <p:sp>
        <p:nvSpPr>
          <p:cNvPr id="2" name="TextBox 1"/>
          <p:cNvSpPr txBox="1"/>
          <p:nvPr/>
        </p:nvSpPr>
        <p:spPr>
          <a:xfrm>
            <a:off x="1828800" y="2590801"/>
            <a:ext cx="8610600" cy="3693319"/>
          </a:xfrm>
          <a:prstGeom prst="rect">
            <a:avLst/>
          </a:prstGeom>
          <a:noFill/>
        </p:spPr>
        <p:txBody>
          <a:bodyPr wrap="square" rtlCol="0">
            <a:spAutoFit/>
          </a:bodyPr>
          <a:lstStyle/>
          <a:p>
            <a:r>
              <a:rPr lang="en-US" b="1" dirty="0"/>
              <a:t>Write a Discussion Section Explaining the Anatomical Structures of Fungi and the Main Differences among the Three Major Phyla</a:t>
            </a:r>
            <a:r>
              <a:rPr lang="en-US" cap="small" dirty="0"/>
              <a:t> (</a:t>
            </a:r>
            <a:r>
              <a:rPr lang="en-US" dirty="0"/>
              <a:t>4 pts)</a:t>
            </a:r>
          </a:p>
          <a:p>
            <a:r>
              <a:rPr lang="en-US" dirty="0"/>
              <a:t> </a:t>
            </a:r>
          </a:p>
          <a:p>
            <a:r>
              <a:rPr lang="en-US" dirty="0"/>
              <a:t>On the back of this page, write your name, lab time/section, and a paragraph discussing the results of our discovery-based scientific study exploring fungi anatomy and reproduction. Compare the structures of the three major fungi phyla, </a:t>
            </a:r>
            <a:r>
              <a:rPr lang="en-US" dirty="0" err="1"/>
              <a:t>zygomycetes</a:t>
            </a:r>
            <a:r>
              <a:rPr lang="en-US" dirty="0"/>
              <a:t>, ascomycetes, and basidiomycetes. Explain what potential benefits you think may be associated with the different structures and reproductive modes (sexual and asexual) among the phyla. Incorporate one article about fungi that you find on your own (through </a:t>
            </a:r>
            <a:r>
              <a:rPr lang="en-US" dirty="0" err="1"/>
              <a:t>Criss</a:t>
            </a:r>
            <a:r>
              <a:rPr lang="en-US" dirty="0"/>
              <a:t> Library, Web of Science, or Google Scholar). Paraphrase the information and cite your article correctly in the text (Author, Year). Lastly, describe an aspect of the comparative study that you would suggest be modified in the future to gain further insight into fungi anatomy and reproduction.</a:t>
            </a:r>
          </a:p>
        </p:txBody>
      </p:sp>
    </p:spTree>
    <p:extLst>
      <p:ext uri="{BB962C8B-B14F-4D97-AF65-F5344CB8AC3E}">
        <p14:creationId xmlns:p14="http://schemas.microsoft.com/office/powerpoint/2010/main" val="1229659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46029CDD-66DF-23AB-9B03-3168CD795BE2}"/>
              </a:ext>
            </a:extLst>
          </p:cNvPr>
          <p:cNvGraphicFramePr>
            <a:graphicFrameLocks noChangeAspect="1"/>
          </p:cNvGraphicFramePr>
          <p:nvPr>
            <p:extLst>
              <p:ext uri="{D42A27DB-BD31-4B8C-83A1-F6EECF244321}">
                <p14:modId xmlns:p14="http://schemas.microsoft.com/office/powerpoint/2010/main" val="917185253"/>
              </p:ext>
            </p:extLst>
          </p:nvPr>
        </p:nvGraphicFramePr>
        <p:xfrm>
          <a:off x="0" y="0"/>
          <a:ext cx="5300922" cy="6858000"/>
        </p:xfrm>
        <a:graphic>
          <a:graphicData uri="http://schemas.openxmlformats.org/presentationml/2006/ole">
            <mc:AlternateContent xmlns:mc="http://schemas.openxmlformats.org/markup-compatibility/2006">
              <mc:Choice xmlns:v="urn:schemas-microsoft-com:vml" Requires="v">
                <p:oleObj spid="_x0000_s1032" name="Acrobat Document" r:id="rId3" imgW="4663440" imgH="6034757" progId="Acrobat.Document.DC">
                  <p:embed/>
                </p:oleObj>
              </mc:Choice>
              <mc:Fallback>
                <p:oleObj name="Acrobat Document" r:id="rId3" imgW="4663440" imgH="6034757" progId="Acrobat.Document.DC">
                  <p:embed/>
                  <p:pic>
                    <p:nvPicPr>
                      <p:cNvPr id="2" name="Object 1">
                        <a:extLst>
                          <a:ext uri="{FF2B5EF4-FFF2-40B4-BE49-F238E27FC236}">
                            <a16:creationId xmlns:a16="http://schemas.microsoft.com/office/drawing/2014/main" id="{46029CDD-66DF-23AB-9B03-3168CD795BE2}"/>
                          </a:ext>
                        </a:extLst>
                      </p:cNvPr>
                      <p:cNvPicPr/>
                      <p:nvPr/>
                    </p:nvPicPr>
                    <p:blipFill>
                      <a:blip r:embed="rId4"/>
                      <a:stretch>
                        <a:fillRect/>
                      </a:stretch>
                    </p:blipFill>
                    <p:spPr>
                      <a:xfrm>
                        <a:off x="0" y="0"/>
                        <a:ext cx="5300922" cy="685800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71F656CF-0135-0FC3-E7CF-D848219BE8A3}"/>
              </a:ext>
            </a:extLst>
          </p:cNvPr>
          <p:cNvSpPr txBox="1"/>
          <p:nvPr/>
        </p:nvSpPr>
        <p:spPr>
          <a:xfrm>
            <a:off x="7162800" y="2828835"/>
            <a:ext cx="4114800" cy="1200329"/>
          </a:xfrm>
          <a:prstGeom prst="rect">
            <a:avLst/>
          </a:prstGeom>
          <a:noFill/>
        </p:spPr>
        <p:txBody>
          <a:bodyPr wrap="square" rtlCol="0">
            <a:spAutoFit/>
          </a:bodyPr>
          <a:lstStyle/>
          <a:p>
            <a:r>
              <a:rPr lang="en-US" sz="7200" dirty="0">
                <a:solidFill>
                  <a:schemeClr val="accent1"/>
                </a:solidFill>
              </a:rPr>
              <a:t>The End</a:t>
            </a:r>
          </a:p>
        </p:txBody>
      </p:sp>
    </p:spTree>
    <p:extLst>
      <p:ext uri="{BB962C8B-B14F-4D97-AF65-F5344CB8AC3E}">
        <p14:creationId xmlns:p14="http://schemas.microsoft.com/office/powerpoint/2010/main" val="3001366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371600"/>
            <a:ext cx="10287000" cy="4800600"/>
          </a:xfrm>
        </p:spPr>
        <p:txBody>
          <a:bodyPr>
            <a:normAutofit fontScale="85000" lnSpcReduction="10000"/>
          </a:bodyPr>
          <a:lstStyle/>
          <a:p>
            <a:pPr marL="0" indent="0">
              <a:buNone/>
            </a:pPr>
            <a:r>
              <a:rPr lang="en-US" sz="3100" b="1" dirty="0"/>
              <a:t>Lab 4</a:t>
            </a:r>
            <a:r>
              <a:rPr lang="en-US" sz="3100" dirty="0"/>
              <a:t> – </a:t>
            </a:r>
            <a:r>
              <a:rPr lang="en-US" sz="3100" b="1" dirty="0"/>
              <a:t>Fungi Diversity and Anatomy (and proper use of microscopes) (pre-lab)</a:t>
            </a:r>
            <a:endParaRPr lang="en-US" sz="3100" dirty="0"/>
          </a:p>
          <a:p>
            <a:pPr marL="0" indent="0" fontAlgn="base">
              <a:buNone/>
            </a:pPr>
            <a:r>
              <a:rPr lang="en-US" dirty="0"/>
              <a:t>1. What are the three phyla (true fungi) we will focus on in today’s lab?</a:t>
            </a:r>
          </a:p>
          <a:p>
            <a:pPr marL="0" indent="0" fontAlgn="base">
              <a:buNone/>
            </a:pPr>
            <a:r>
              <a:rPr lang="en-US" dirty="0"/>
              <a:t>2. If you focus on a slide using the 4X magnification objective, what is the total magnification you will observe using a compound microscope?</a:t>
            </a:r>
          </a:p>
          <a:p>
            <a:pPr marL="0" indent="0" fontAlgn="base">
              <a:buNone/>
            </a:pPr>
            <a:r>
              <a:rPr lang="en-US" dirty="0"/>
              <a:t>3. Lichens are symbiotic associations between __________ and ___________</a:t>
            </a:r>
          </a:p>
          <a:p>
            <a:pPr marL="0" indent="0" fontAlgn="base">
              <a:buNone/>
            </a:pPr>
            <a:r>
              <a:rPr lang="en-US" dirty="0"/>
              <a:t>4. Give one important role that fungi play in ecosystems.</a:t>
            </a:r>
          </a:p>
          <a:p>
            <a:pPr marL="0" indent="0" fontAlgn="base">
              <a:buNone/>
            </a:pPr>
            <a:r>
              <a:rPr lang="en-US" dirty="0"/>
              <a:t>5. Are fungi autotrophic, heterotrophic, or both?</a:t>
            </a:r>
          </a:p>
          <a:p>
            <a:pPr marL="0" indent="0" fontAlgn="base">
              <a:buNone/>
            </a:pPr>
            <a:r>
              <a:rPr lang="en-US" dirty="0"/>
              <a:t>6. How is a saprophyte different from a parasite?</a:t>
            </a:r>
          </a:p>
          <a:p>
            <a:pPr marL="0" indent="0" fontAlgn="base">
              <a:buNone/>
            </a:pPr>
            <a:r>
              <a:rPr lang="en-US" dirty="0"/>
              <a:t>7. Are fungi generally sexual, asexual, or both?</a:t>
            </a:r>
          </a:p>
        </p:txBody>
      </p:sp>
      <p:sp>
        <p:nvSpPr>
          <p:cNvPr id="15" name="Title 1"/>
          <p:cNvSpPr>
            <a:spLocks noGrp="1"/>
          </p:cNvSpPr>
          <p:nvPr>
            <p:ph type="title"/>
          </p:nvPr>
        </p:nvSpPr>
        <p:spPr>
          <a:xfrm>
            <a:off x="1981200" y="533400"/>
            <a:ext cx="8229600" cy="762000"/>
          </a:xfrm>
        </p:spPr>
        <p:txBody>
          <a:bodyPr>
            <a:normAutofit/>
          </a:bodyPr>
          <a:lstStyle/>
          <a:p>
            <a:r>
              <a:rPr lang="en-US" sz="4000" dirty="0"/>
              <a:t>Pre/Post-lab Questions</a:t>
            </a:r>
            <a:endParaRPr lang="en-US" sz="3200" dirty="0"/>
          </a:p>
        </p:txBody>
      </p:sp>
    </p:spTree>
    <p:extLst>
      <p:ext uri="{BB962C8B-B14F-4D97-AF65-F5344CB8AC3E}">
        <p14:creationId xmlns:p14="http://schemas.microsoft.com/office/powerpoint/2010/main" val="722767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676400"/>
            <a:ext cx="9867900" cy="4038600"/>
          </a:xfrm>
        </p:spPr>
        <p:txBody>
          <a:bodyPr>
            <a:normAutofit fontScale="77500" lnSpcReduction="20000"/>
          </a:bodyPr>
          <a:lstStyle/>
          <a:p>
            <a:pPr marL="0" indent="0">
              <a:buNone/>
            </a:pPr>
            <a:r>
              <a:rPr lang="en-US" b="1" dirty="0"/>
              <a:t>Lab 3 – Microbes and Ecosystem Ecology (post-lab)</a:t>
            </a:r>
            <a:endParaRPr lang="en-US" dirty="0"/>
          </a:p>
          <a:p>
            <a:pPr marL="0" indent="0" fontAlgn="base">
              <a:buNone/>
            </a:pPr>
            <a:r>
              <a:rPr lang="en-US" dirty="0"/>
              <a:t>1. Is there typically more soil organic carbon in soils near the equator or near the poles of the earth? </a:t>
            </a:r>
          </a:p>
          <a:p>
            <a:pPr marL="0" indent="0" fontAlgn="base">
              <a:buNone/>
            </a:pPr>
            <a:r>
              <a:rPr lang="en-US" dirty="0"/>
              <a:t>2. Soil contains more organic carbon than the atmosphere, true or false? </a:t>
            </a:r>
          </a:p>
          <a:p>
            <a:pPr marL="0" indent="0" fontAlgn="base">
              <a:buNone/>
            </a:pPr>
            <a:r>
              <a:rPr lang="en-US" dirty="0"/>
              <a:t>3. Why do we find more soil organic carbon at some latitudes than others?</a:t>
            </a:r>
          </a:p>
          <a:p>
            <a:pPr marL="0" indent="0" fontAlgn="base">
              <a:buNone/>
            </a:pPr>
            <a:r>
              <a:rPr lang="en-US" dirty="0"/>
              <a:t>4. What is the approximate level of CO2 in our Earth’s atmosphere?</a:t>
            </a:r>
          </a:p>
          <a:p>
            <a:pPr marL="0" indent="0" fontAlgn="base">
              <a:buNone/>
            </a:pPr>
            <a:r>
              <a:rPr lang="en-US" dirty="0"/>
              <a:t>5. What was the dependent variable in our soil respiration experiment?</a:t>
            </a:r>
          </a:p>
          <a:p>
            <a:pPr marL="0" indent="0" fontAlgn="base">
              <a:buNone/>
            </a:pPr>
            <a:r>
              <a:rPr lang="en-US" dirty="0"/>
              <a:t>6. Briefly explain why changes in temperature may affect soil respiration rates?</a:t>
            </a:r>
          </a:p>
          <a:p>
            <a:pPr marL="0" indent="0" fontAlgn="base">
              <a:buNone/>
            </a:pPr>
            <a:r>
              <a:rPr lang="en-US" dirty="0"/>
              <a:t>7. Briefly explain why changes in moisture may affect soil respiration rates?</a:t>
            </a:r>
          </a:p>
        </p:txBody>
      </p:sp>
      <p:sp>
        <p:nvSpPr>
          <p:cNvPr id="15" name="Title 1"/>
          <p:cNvSpPr>
            <a:spLocks noGrp="1"/>
          </p:cNvSpPr>
          <p:nvPr>
            <p:ph type="title"/>
          </p:nvPr>
        </p:nvSpPr>
        <p:spPr>
          <a:xfrm>
            <a:off x="1981200" y="533400"/>
            <a:ext cx="8229600" cy="762000"/>
          </a:xfrm>
        </p:spPr>
        <p:txBody>
          <a:bodyPr>
            <a:normAutofit/>
          </a:bodyPr>
          <a:lstStyle/>
          <a:p>
            <a:r>
              <a:rPr lang="en-US" sz="4000" dirty="0"/>
              <a:t>Pre/Post-lab Questions</a:t>
            </a:r>
            <a:endParaRPr lang="en-US" sz="3200" dirty="0"/>
          </a:p>
        </p:txBody>
      </p:sp>
    </p:spTree>
    <p:extLst>
      <p:ext uri="{BB962C8B-B14F-4D97-AF65-F5344CB8AC3E}">
        <p14:creationId xmlns:p14="http://schemas.microsoft.com/office/powerpoint/2010/main" val="2087642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524000"/>
            <a:ext cx="8647660" cy="4191000"/>
          </a:xfrm>
        </p:spPr>
        <p:txBody>
          <a:bodyPr>
            <a:normAutofit/>
          </a:bodyPr>
          <a:lstStyle/>
          <a:p>
            <a:pPr marL="0" indent="0">
              <a:buNone/>
            </a:pPr>
            <a:r>
              <a:rPr lang="en-US" dirty="0"/>
              <a:t>1. </a:t>
            </a:r>
          </a:p>
          <a:p>
            <a:pPr marL="0" indent="0">
              <a:buNone/>
            </a:pPr>
            <a:r>
              <a:rPr lang="en-US" dirty="0"/>
              <a:t>2. </a:t>
            </a:r>
          </a:p>
          <a:p>
            <a:pPr marL="0" indent="0">
              <a:buNone/>
            </a:pPr>
            <a:r>
              <a:rPr lang="en-US" dirty="0"/>
              <a:t>3. </a:t>
            </a:r>
          </a:p>
          <a:p>
            <a:pPr marL="0" indent="0">
              <a:buNone/>
            </a:pPr>
            <a:r>
              <a:rPr lang="en-US" dirty="0"/>
              <a:t>4. </a:t>
            </a:r>
          </a:p>
        </p:txBody>
      </p:sp>
      <p:sp>
        <p:nvSpPr>
          <p:cNvPr id="15" name="Title 1"/>
          <p:cNvSpPr>
            <a:spLocks noGrp="1"/>
          </p:cNvSpPr>
          <p:nvPr>
            <p:ph type="title"/>
          </p:nvPr>
        </p:nvSpPr>
        <p:spPr>
          <a:xfrm>
            <a:off x="1981200" y="705293"/>
            <a:ext cx="8229600" cy="762000"/>
          </a:xfrm>
        </p:spPr>
        <p:txBody>
          <a:bodyPr>
            <a:normAutofit/>
          </a:bodyPr>
          <a:lstStyle/>
          <a:p>
            <a:r>
              <a:rPr lang="en-US" sz="4000" dirty="0"/>
              <a:t>Pre/Post-lab Quiz</a:t>
            </a:r>
            <a:endParaRPr lang="en-US" sz="3200" dirty="0"/>
          </a:p>
        </p:txBody>
      </p:sp>
    </p:spTree>
    <p:extLst>
      <p:ext uri="{BB962C8B-B14F-4D97-AF65-F5344CB8AC3E}">
        <p14:creationId xmlns:p14="http://schemas.microsoft.com/office/powerpoint/2010/main" val="4271341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524000" y="76200"/>
            <a:ext cx="9144000" cy="914400"/>
          </a:xfrm>
        </p:spPr>
        <p:txBody>
          <a:bodyPr>
            <a:normAutofit/>
          </a:bodyPr>
          <a:lstStyle/>
          <a:p>
            <a:r>
              <a:rPr lang="en-US" sz="4000" dirty="0" err="1"/>
              <a:t>Zygomycota</a:t>
            </a:r>
            <a:r>
              <a:rPr lang="en-US" sz="4000" dirty="0"/>
              <a:t> Life cycle (detailed)</a:t>
            </a:r>
            <a:endParaRPr lang="en-US" sz="3200"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2076450" y="771526"/>
            <a:ext cx="8039100" cy="6086475"/>
          </a:xfrm>
          <a:prstGeom prst="rect">
            <a:avLst/>
          </a:prstGeom>
        </p:spPr>
      </p:pic>
      <p:sp>
        <p:nvSpPr>
          <p:cNvPr id="9" name="TextBox 8"/>
          <p:cNvSpPr txBox="1"/>
          <p:nvPr/>
        </p:nvSpPr>
        <p:spPr>
          <a:xfrm>
            <a:off x="2100262" y="6587158"/>
            <a:ext cx="1785938" cy="270843"/>
          </a:xfrm>
          <a:prstGeom prst="rect">
            <a:avLst/>
          </a:prstGeom>
          <a:solidFill>
            <a:schemeClr val="bg1"/>
          </a:solidFill>
        </p:spPr>
        <p:txBody>
          <a:bodyPr wrap="none" lIns="27432" tIns="27432" rIns="27432" bIns="27432" rtlCol="0">
            <a:spAutoFit/>
          </a:bodyPr>
          <a:lstStyle/>
          <a:p>
            <a:r>
              <a:rPr lang="en-US" sz="1400" b="1" dirty="0">
                <a:cs typeface="Times New Roman" panose="02020603050405020304" pitchFamily="18" charset="0"/>
              </a:rPr>
              <a:t>(b) sexual reproduction</a:t>
            </a:r>
          </a:p>
        </p:txBody>
      </p:sp>
    </p:spTree>
    <p:extLst>
      <p:ext uri="{BB962C8B-B14F-4D97-AF65-F5344CB8AC3E}">
        <p14:creationId xmlns:p14="http://schemas.microsoft.com/office/powerpoint/2010/main" val="1288290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5E9E01-7727-1CC9-C439-143FADACC1B3}"/>
              </a:ext>
            </a:extLst>
          </p:cNvPr>
          <p:cNvSpPr txBox="1"/>
          <p:nvPr/>
        </p:nvSpPr>
        <p:spPr>
          <a:xfrm>
            <a:off x="2286000" y="322647"/>
            <a:ext cx="7620000" cy="992901"/>
          </a:xfrm>
          <a:prstGeom prst="rect">
            <a:avLst/>
          </a:prstGeom>
          <a:noFill/>
        </p:spPr>
        <p:txBody>
          <a:bodyPr wrap="square">
            <a:spAutoFit/>
          </a:bodyPr>
          <a:lstStyle/>
          <a:p>
            <a:pPr algn="ctr">
              <a:lnSpc>
                <a:spcPct val="107000"/>
              </a:lnSpc>
              <a:spcAft>
                <a:spcPts val="800"/>
              </a:spcAft>
            </a:pPr>
            <a:r>
              <a:rPr lang="en-US" sz="2800"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Research Lab Assistant – Biology Department (Work Study)</a:t>
            </a:r>
            <a:endParaRPr lang="en-US" sz="28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F6427CF-CA0F-E328-2529-181B3F1341E2}"/>
              </a:ext>
            </a:extLst>
          </p:cNvPr>
          <p:cNvSpPr txBox="1"/>
          <p:nvPr/>
        </p:nvSpPr>
        <p:spPr>
          <a:xfrm>
            <a:off x="1752600" y="1624120"/>
            <a:ext cx="8686800" cy="3236207"/>
          </a:xfrm>
          <a:prstGeom prst="rect">
            <a:avLst/>
          </a:prstGeom>
          <a:noFill/>
        </p:spPr>
        <p:txBody>
          <a:bodyPr wrap="square">
            <a:spAutoFit/>
          </a:bodyPr>
          <a:lstStyle/>
          <a:p>
            <a:pPr>
              <a:lnSpc>
                <a:spcPct val="107000"/>
              </a:lnSpc>
              <a:spcAft>
                <a:spcPts val="800"/>
              </a:spcAft>
            </a:pPr>
            <a:r>
              <a:rPr lang="en-US" sz="2400" b="1" dirty="0">
                <a:latin typeface="Calibri" panose="020F0502020204030204" pitchFamily="34" charset="0"/>
                <a:ea typeface="Calibri" panose="020F0502020204030204" pitchFamily="34" charset="0"/>
                <a:cs typeface="Calibri" panose="020F0502020204030204" pitchFamily="34" charset="0"/>
              </a:rPr>
              <a:t>Duties may include</a:t>
            </a:r>
            <a:r>
              <a:rPr lang="en-US" sz="2400" dirty="0">
                <a:latin typeface="Calibri" panose="020F0502020204030204" pitchFamily="34" charset="0"/>
                <a:ea typeface="Calibri" panose="020F0502020204030204" pitchFamily="34" charset="0"/>
                <a:cs typeface="Calibri" panose="020F0502020204030204" pitchFamily="34" charset="0"/>
              </a:rPr>
              <a:t> - </a:t>
            </a:r>
            <a:r>
              <a:rPr lang="en-US" sz="2400" dirty="0">
                <a:solidFill>
                  <a:srgbClr val="222222"/>
                </a:solidFill>
                <a:latin typeface="Calibri" panose="020F0502020204030204" pitchFamily="34" charset="0"/>
                <a:ea typeface="Calibri" panose="020F0502020204030204" pitchFamily="34" charset="0"/>
                <a:cs typeface="Calibri" panose="020F0502020204030204" pitchFamily="34" charset="0"/>
              </a:rPr>
              <a:t>The research lab assistant will assist in research projects based on UNO research lab foci, which range from </a:t>
            </a:r>
            <a:r>
              <a:rPr lang="en-US" sz="2400" b="1" dirty="0">
                <a:solidFill>
                  <a:srgbClr val="222222"/>
                </a:solidFill>
                <a:latin typeface="Calibri" panose="020F0502020204030204" pitchFamily="34" charset="0"/>
                <a:ea typeface="Calibri" panose="020F0502020204030204" pitchFamily="34" charset="0"/>
                <a:cs typeface="Calibri" panose="020F0502020204030204" pitchFamily="34" charset="0"/>
              </a:rPr>
              <a:t>cellular and molecular biology, physiology, ecology, and evolution of plants, fungi, and animals</a:t>
            </a:r>
            <a:r>
              <a:rPr lang="en-US" sz="2400" dirty="0">
                <a:solidFill>
                  <a:srgbClr val="222222"/>
                </a:solidFill>
                <a:latin typeface="Calibri" panose="020F0502020204030204" pitchFamily="34" charset="0"/>
                <a:ea typeface="Calibri" panose="020F0502020204030204" pitchFamily="34" charset="0"/>
                <a:cs typeface="Calibri" panose="020F0502020204030204" pitchFamily="34" charset="0"/>
              </a:rPr>
              <a:t>. Duties may include care for study organisms, data collection both in the </a:t>
            </a:r>
            <a:r>
              <a:rPr lang="en-US" sz="2400" b="1" dirty="0">
                <a:solidFill>
                  <a:srgbClr val="222222"/>
                </a:solidFill>
                <a:latin typeface="Calibri" panose="020F0502020204030204" pitchFamily="34" charset="0"/>
                <a:ea typeface="Calibri" panose="020F0502020204030204" pitchFamily="34" charset="0"/>
                <a:cs typeface="Calibri" panose="020F0502020204030204" pitchFamily="34" charset="0"/>
              </a:rPr>
              <a:t>lab and field</a:t>
            </a:r>
            <a:r>
              <a:rPr lang="en-US" sz="2400" dirty="0">
                <a:solidFill>
                  <a:srgbClr val="222222"/>
                </a:solidFill>
                <a:latin typeface="Calibri" panose="020F0502020204030204" pitchFamily="34" charset="0"/>
                <a:ea typeface="Calibri" panose="020F0502020204030204" pitchFamily="34" charset="0"/>
                <a:cs typeface="Calibri" panose="020F0502020204030204" pitchFamily="34" charset="0"/>
              </a:rPr>
              <a:t>, data organization, general lab maintenance, </a:t>
            </a:r>
            <a:r>
              <a:rPr lang="en-US" sz="2400" dirty="0">
                <a:latin typeface="Calibri" panose="020F0502020204030204" pitchFamily="34" charset="0"/>
                <a:ea typeface="Calibri" panose="020F0502020204030204" pitchFamily="34" charset="0"/>
                <a:cs typeface="Calibri" panose="020F0502020204030204" pitchFamily="34" charset="0"/>
              </a:rPr>
              <a:t>identification of specimens, organization of specimens, dish-washing, data entry, preparing chemical solutions, and general laboratory work.</a:t>
            </a: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CCD6F7E8-44E6-ABFF-BAC2-5A43E894E321}"/>
              </a:ext>
            </a:extLst>
          </p:cNvPr>
          <p:cNvSpPr txBox="1"/>
          <p:nvPr/>
        </p:nvSpPr>
        <p:spPr>
          <a:xfrm>
            <a:off x="2209800" y="5477470"/>
            <a:ext cx="7772400" cy="923330"/>
          </a:xfrm>
          <a:prstGeom prst="rect">
            <a:avLst/>
          </a:prstGeom>
          <a:noFill/>
        </p:spPr>
        <p:txBody>
          <a:bodyPr wrap="square">
            <a:spAutoFit/>
          </a:bodyPr>
          <a:lstStyle/>
          <a:p>
            <a:r>
              <a:rPr lang="en-US" dirty="0">
                <a:solidFill>
                  <a:srgbClr val="222222"/>
                </a:solidFill>
                <a:latin typeface="Calibri" panose="020F0502020204030204" pitchFamily="34" charset="0"/>
                <a:ea typeface="Calibri" panose="020F0502020204030204" pitchFamily="34" charset="0"/>
              </a:rPr>
              <a:t>Inquiries can be made to Debbie </a:t>
            </a:r>
            <a:r>
              <a:rPr lang="en-US" dirty="0" err="1">
                <a:solidFill>
                  <a:srgbClr val="222222"/>
                </a:solidFill>
                <a:latin typeface="Calibri" panose="020F0502020204030204" pitchFamily="34" charset="0"/>
                <a:ea typeface="Calibri" panose="020F0502020204030204" pitchFamily="34" charset="0"/>
              </a:rPr>
              <a:t>Quaas</a:t>
            </a:r>
            <a:r>
              <a:rPr lang="en-US" dirty="0">
                <a:solidFill>
                  <a:srgbClr val="222222"/>
                </a:solidFill>
                <a:latin typeface="Calibri" panose="020F0502020204030204" pitchFamily="34" charset="0"/>
                <a:ea typeface="Calibri" panose="020F0502020204030204" pitchFamily="34" charset="0"/>
              </a:rPr>
              <a:t> at </a:t>
            </a:r>
            <a:r>
              <a:rPr lang="en-US"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2"/>
              </a:rPr>
              <a:t>dquaas@unomaha.edu</a:t>
            </a:r>
            <a:r>
              <a:rPr lang="en-US" dirty="0">
                <a:solidFill>
                  <a:srgbClr val="222222"/>
                </a:solidFill>
                <a:latin typeface="Calibri" panose="020F0502020204030204" pitchFamily="34" charset="0"/>
                <a:ea typeface="Calibri" panose="020F0502020204030204" pitchFamily="34" charset="0"/>
              </a:rPr>
              <a:t> or in the Biology Office (AH 114). For more information on the particular UNO research labs, please visit the UNO </a:t>
            </a:r>
            <a:r>
              <a:rPr lang="en-US"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3"/>
              </a:rPr>
              <a:t>Biology Faculty and Staff Page</a:t>
            </a:r>
            <a:r>
              <a:rPr lang="en-US" dirty="0">
                <a:solidFill>
                  <a:srgbClr val="222222"/>
                </a:solidFill>
                <a:latin typeface="Calibri" panose="020F0502020204030204" pitchFamily="34" charset="0"/>
                <a:ea typeface="Calibri" panose="020F0502020204030204" pitchFamily="34" charset="0"/>
              </a:rPr>
              <a:t>.   </a:t>
            </a:r>
            <a:endParaRPr lang="en-US" dirty="0"/>
          </a:p>
        </p:txBody>
      </p:sp>
    </p:spTree>
    <p:extLst>
      <p:ext uri="{BB962C8B-B14F-4D97-AF65-F5344CB8AC3E}">
        <p14:creationId xmlns:p14="http://schemas.microsoft.com/office/powerpoint/2010/main" val="4213113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5955&quot;&gt;&lt;property id=&quot;20148&quot; value=&quot;5&quot;/&gt;&lt;property id=&quot;20300&quot; value=&quot;Slide 1 - &amp;quot;Biology II – Lab (Spring 2017)&amp;#x0D;&amp;#x0A;P. Roxanne Kellar, Ph.D.&amp;quot;&quot;/&gt;&lt;property id=&quot;20307&quot; value=&quot;344&quot;/&gt;&lt;/object&gt;&lt;object type=&quot;3&quot; unique_id=&quot;17850&quot;&gt;&lt;property id=&quot;20148&quot; value=&quot;5&quot;/&gt;&lt;property id=&quot;20300&quot; value=&quot;Slide 2 - &amp;quot;Lab 4 – Kingdom: Fungi&amp;quot;&quot;/&gt;&lt;property id=&quot;20307&quot; value=&quot;361&quot;/&gt;&lt;/object&gt;&lt;object type=&quot;3&quot; unique_id=&quot;17907&quot;&gt;&lt;property id=&quot;20148&quot; value=&quot;5&quot;/&gt;&lt;property id=&quot;20300&quot; value=&quot;Slide 8 - &amp;quot;Lab 4: Fungi&amp;quot;&quot;/&gt;&lt;property id=&quot;20307&quot; value=&quot;366&quot;/&gt;&lt;/object&gt;&lt;object type=&quot;3&quot; unique_id=&quot;18020&quot;&gt;&lt;property id=&quot;20148&quot; value=&quot;5&quot;/&gt;&lt;property id=&quot;20300&quot; value=&quot;Slide 7 - &amp;quot;Lab 4: Fungi&amp;quot;&quot;/&gt;&lt;property id=&quot;20307&quot; value=&quot;372&quot;/&gt;&lt;/object&gt;&lt;object type=&quot;3&quot; unique_id=&quot;21228&quot;&gt;&lt;property id=&quot;20148&quot; value=&quot;5&quot;/&gt;&lt;property id=&quot;20300&quot; value=&quot;Slide 9 - &amp;quot;Lab 4: Fungi – Phyla&amp;quot;&quot;/&gt;&lt;property id=&quot;20307&quot; value=&quot;373&quot;/&gt;&lt;/object&gt;&lt;object type=&quot;3&quot; unique_id=&quot;21229&quot;&gt;&lt;property id=&quot;20148&quot; value=&quot;5&quot;/&gt;&lt;property id=&quot;20300&quot; value=&quot;Slide 10 - &amp;quot;Lab 4: Fungi – Zygomycota&amp;quot;&quot;/&gt;&lt;property id=&quot;20307&quot; value=&quot;374&quot;/&gt;&lt;/object&gt;&lt;object type=&quot;3&quot; unique_id=&quot;21304&quot;&gt;&lt;property id=&quot;20148&quot; value=&quot;5&quot;/&gt;&lt;property id=&quot;20300&quot; value=&quot;Slide 11 - &amp;quot;Lab 4: Fungi – Zygomycota Life cycle&amp;quot;&quot;/&gt;&lt;property id=&quot;20307&quot; value=&quot;380&quot;/&gt;&lt;/object&gt;&lt;object type=&quot;3&quot; unique_id=&quot;21305&quot;&gt;&lt;property id=&quot;20148&quot; value=&quot;5&quot;/&gt;&lt;property id=&quot;20300&quot; value=&quot;Slide 12 - &amp;quot;Lab 4: Fungi – Ascomycota (sac fungi)&amp;quot;&quot;/&gt;&lt;property id=&quot;20307&quot; value=&quot;378&quot;/&gt;&lt;/object&gt;&lt;object type=&quot;3&quot; unique_id=&quot;21307&quot;&gt;&lt;property id=&quot;20148&quot; value=&quot;5&quot;/&gt;&lt;property id=&quot;20300&quot; value=&quot;Slide 19 - &amp;quot;Lab 4: Lichens&amp;quot;&quot;/&gt;&lt;property id=&quot;20307&quot; value=&quot;375&quot;/&gt;&lt;/object&gt;&lt;object type=&quot;3&quot; unique_id=&quot;21308&quot;&gt;&lt;property id=&quot;20148&quot; value=&quot;5&quot;/&gt;&lt;property id=&quot;20300&quot; value=&quot;Slide 20 - &amp;quot;Lab 4: Mycorrhizae&amp;quot;&quot;/&gt;&lt;property id=&quot;20307&quot; value=&quot;376&quot;/&gt;&lt;/object&gt;&lt;object type=&quot;3&quot; unique_id=&quot;21309&quot;&gt;&lt;property id=&quot;20148&quot; value=&quot;5&quot;/&gt;&lt;property id=&quot;20300&quot; value=&quot;Slide 21 - &amp;quot;Lab 4: Mycorrhizae&amp;quot;&quot;/&gt;&lt;property id=&quot;20307&quot; value=&quot;377&quot;/&gt;&lt;/object&gt;&lt;object type=&quot;3&quot; unique_id=&quot;21366&quot;&gt;&lt;property id=&quot;20148&quot; value=&quot;5&quot;/&gt;&lt;property id=&quot;20300&quot; value=&quot;Slide 13 - &amp;quot;Lab 4: Fungi – Ascomycota (sac fungi)&amp;quot;&quot;/&gt;&lt;property id=&quot;20307&quot; value=&quot;381&quot;/&gt;&lt;/object&gt;&lt;object type=&quot;3&quot; unique_id=&quot;21412&quot;&gt;&lt;property id=&quot;20148&quot; value=&quot;5&quot;/&gt;&lt;property id=&quot;20300&quot; value=&quot;Slide 14 - &amp;quot;Lab 4: Fungi – Ascomycota (sac fungi)&amp;quot;&quot;/&gt;&lt;property id=&quot;20307&quot; value=&quot;382&quot;/&gt;&lt;/object&gt;&lt;object type=&quot;3&quot; unique_id=&quot;21509&quot;&gt;&lt;property id=&quot;20148&quot; value=&quot;5&quot;/&gt;&lt;property id=&quot;20300&quot; value=&quot;Slide 15 - &amp;quot;Lab 4: Fungi – Basidiomycota (club fungi)&amp;quot;&quot;/&gt;&lt;property id=&quot;20307&quot; value=&quot;383&quot;/&gt;&lt;/object&gt;&lt;object type=&quot;3&quot; unique_id=&quot;21510&quot;&gt;&lt;property id=&quot;20148&quot; value=&quot;5&quot;/&gt;&lt;property id=&quot;20300&quot; value=&quot;Slide 16 - &amp;quot;Lab 4: Fungi – Basidiomycota&amp;quot;&quot;/&gt;&lt;property id=&quot;20307&quot; value=&quot;385&quot;/&gt;&lt;/object&gt;&lt;object type=&quot;3&quot; unique_id=&quot;21511&quot;&gt;&lt;property id=&quot;20148&quot; value=&quot;5&quot;/&gt;&lt;property id=&quot;20300&quot; value=&quot;Slide 17 - &amp;quot;Lab 4: Fungi – Basidiomycota&amp;quot;&quot;/&gt;&lt;property id=&quot;20307&quot; value=&quot;386&quot;/&gt;&lt;/object&gt;&lt;object type=&quot;3&quot; unique_id=&quot;21603&quot;&gt;&lt;property id=&quot;20148&quot; value=&quot;5&quot;/&gt;&lt;property id=&quot;20300&quot; value=&quot;Slide 18 - &amp;quot;Lab 4: Fungi – Basidiomycota&amp;quot;&quot;/&gt;&lt;property id=&quot;20307&quot; value=&quot;387&quot;/&gt;&lt;/object&gt;&lt;object type=&quot;3&quot; unique_id=&quot;21644&quot;&gt;&lt;property id=&quot;20148&quot; value=&quot;5&quot;/&gt;&lt;property id=&quot;20300&quot; value=&quot;Slide 3&quot;/&gt;&lt;property id=&quot;20307&quot; value=&quot;389&quot;/&gt;&lt;/object&gt;&lt;object type=&quot;3&quot; unique_id=&quot;21792&quot;&gt;&lt;property id=&quot;20148&quot; value=&quot;5&quot;/&gt;&lt;property id=&quot;20300&quot; value=&quot;Slide 4&quot;/&gt;&lt;property id=&quot;20307&quot; value=&quot;390&quot;/&gt;&lt;/object&gt;&lt;object type=&quot;3&quot; unique_id=&quot;21793&quot;&gt;&lt;property id=&quot;20148&quot; value=&quot;5&quot;/&gt;&lt;property id=&quot;20300&quot; value=&quot;Slide 5&quot;/&gt;&lt;property id=&quot;20307&quot; value=&quot;391&quot;/&gt;&lt;/object&gt;&lt;object type=&quot;3&quot; unique_id=&quot;21794&quot;&gt;&lt;property id=&quot;20148&quot; value=&quot;5&quot;/&gt;&lt;property id=&quot;20300&quot; value=&quot;Slide 6&quot;/&gt;&lt;property id=&quot;20307&quot; value=&quot;392&quot;/&gt;&lt;/object&gt;&lt;object type=&quot;3&quot; unique_id=&quot;21870&quot;&gt;&lt;property id=&quot;20148&quot; value=&quot;5&quot;/&gt;&lt;property id=&quot;20300&quot; value=&quot;Slide 22 - &amp;quot;Lab 4 – Kingdom: Fungi&amp;quot;&quot;/&gt;&lt;property id=&quot;20307&quot; value=&quot;39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46E5A3E9C7FC429CBF6AF21B67FB00" ma:contentTypeVersion="20" ma:contentTypeDescription="Create a new document." ma:contentTypeScope="" ma:versionID="f1a74daf3db0417c1d0f2237ac0d0fa9">
  <xsd:schema xmlns:xsd="http://www.w3.org/2001/XMLSchema" xmlns:xs="http://www.w3.org/2001/XMLSchema" xmlns:p="http://schemas.microsoft.com/office/2006/metadata/properties" xmlns:ns2="0a3debf8-bfb3-4e2a-9540-36d8cad61acc" xmlns:ns3="7003c64d-e6d3-4008-b37b-8dcb739b0592" targetNamespace="http://schemas.microsoft.com/office/2006/metadata/properties" ma:root="true" ma:fieldsID="e083d3b604b9340300eca2f3db3f8a21" ns2:_="" ns3:_="">
    <xsd:import namespace="0a3debf8-bfb3-4e2a-9540-36d8cad61acc"/>
    <xsd:import namespace="7003c64d-e6d3-4008-b37b-8dcb739b0592"/>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debf8-bfb3-4e2a-9540-36d8cad61acc"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GenerationTime" ma:index="6" nillable="true" ma:displayName="MediaServiceGenerationTime" ma:hidden="true" ma:internalName="MediaServiceGenerationTime" ma:readOnly="true">
      <xsd:simpleType>
        <xsd:restriction base="dms:Text"/>
      </xsd:simpleType>
    </xsd:element>
    <xsd:element name="MediaServiceEventHashCode" ma:index="7" nillable="true" ma:displayName="MediaServiceEventHashCode" ma:hidden="true" ma:internalName="MediaServiceEventHashCode" ma:readOnly="true">
      <xsd:simpleType>
        <xsd:restriction base="dms:Text"/>
      </xsd:simpleType>
    </xsd:element>
    <xsd:element name="MediaServiceDateTaken" ma:index="8" nillable="true" ma:displayName="MediaServiceDateTaken" ma:hidden="true" ma:indexed="true" ma:internalName="MediaServiceDateTaken" ma:readOnly="true">
      <xsd:simpleType>
        <xsd:restriction base="dms:Text"/>
      </xsd:simpleType>
    </xsd:element>
    <xsd:element name="MediaLengthInSeconds" ma:index="9" nillable="true" ma:displayName="MediaLengthInSeconds" ma:hidden="true" ma:internalName="MediaLengthInSeconds" ma:readOnly="true">
      <xsd:simpleType>
        <xsd:restriction base="dms:Unknown"/>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7fa96fb-b0ee-4967-af60-c778f60915c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03c64d-e6d3-4008-b37b-8dcb739b059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f0bd993-5cdf-4aea-a3de-9641f7e3ffe2}" ma:internalName="TaxCatchAll" ma:showField="CatchAllData" ma:web="7003c64d-e6d3-4008-b37b-8dcb739b05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a3debf8-bfb3-4e2a-9540-36d8cad61acc">
      <Terms xmlns="http://schemas.microsoft.com/office/infopath/2007/PartnerControls"/>
    </lcf76f155ced4ddcb4097134ff3c332f>
    <TaxCatchAll xmlns="7003c64d-e6d3-4008-b37b-8dcb739b0592" xsi:nil="true"/>
  </documentManagement>
</p:properties>
</file>

<file path=customXml/item3.xml><?xml version="1.0" encoding="utf-8"?>
<?mso-contentType ?>
<FormTemplates xmlns="http://schemas.microsoft.com/sharepoint/v3/contenttype/forms"/>
</file>

<file path=customXml/itemProps1.xml><?xml version="1.0" encoding="utf-8"?>
<ds:datastoreItem xmlns:ds="http://schemas.openxmlformats.org/officeDocument/2006/customXml" ds:itemID="{B6FBDD9A-2DBB-4677-8F68-3FDFB6F0DEE6}"/>
</file>

<file path=customXml/itemProps2.xml><?xml version="1.0" encoding="utf-8"?>
<ds:datastoreItem xmlns:ds="http://schemas.openxmlformats.org/officeDocument/2006/customXml" ds:itemID="{206AD538-AE8C-42F0-BAC3-2492C2AD9C52}">
  <ds:schemaRefs>
    <ds:schemaRef ds:uri="http://schemas.microsoft.com/office/2006/metadata/properties"/>
    <ds:schemaRef ds:uri="http://schemas.microsoft.com/office/infopath/2007/PartnerControls"/>
    <ds:schemaRef ds:uri="f77bcdf1-20e2-41e0-baf4-b4ad2893c760"/>
    <ds:schemaRef ds:uri="9cd26ddd-bd77-4774-8487-dbd52e2b790d"/>
    <ds:schemaRef ds:uri="0a3debf8-bfb3-4e2a-9540-36d8cad61acc"/>
    <ds:schemaRef ds:uri="7003c64d-e6d3-4008-b37b-8dcb739b0592"/>
  </ds:schemaRefs>
</ds:datastoreItem>
</file>

<file path=customXml/itemProps3.xml><?xml version="1.0" encoding="utf-8"?>
<ds:datastoreItem xmlns:ds="http://schemas.openxmlformats.org/officeDocument/2006/customXml" ds:itemID="{B59CA767-AFB1-44B4-AB23-FC61B87D85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5000</TotalTime>
  <Words>1703</Words>
  <Application>Microsoft Office PowerPoint</Application>
  <PresentationFormat>Widescreen</PresentationFormat>
  <Paragraphs>185</Paragraphs>
  <Slides>28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5" baseType="lpstr">
      <vt:lpstr>Arial</vt:lpstr>
      <vt:lpstr>Calibri</vt:lpstr>
      <vt:lpstr>Comic Sans MS</vt:lpstr>
      <vt:lpstr>Times</vt:lpstr>
      <vt:lpstr>Times New Roman</vt:lpstr>
      <vt:lpstr>Office Theme</vt:lpstr>
      <vt:lpstr>Acrobat Document</vt:lpstr>
      <vt:lpstr>PowerPoint Presentation</vt:lpstr>
      <vt:lpstr>Reminders NO QUIZ THIS WEEK!</vt:lpstr>
      <vt:lpstr>Today’s lab . . . </vt:lpstr>
      <vt:lpstr>Fungi Diversity and Anatomy</vt:lpstr>
      <vt:lpstr>PowerPoint Presentation</vt:lpstr>
      <vt:lpstr>PowerPoint Presentation</vt:lpstr>
      <vt:lpstr>PowerPoint Presentation</vt:lpstr>
      <vt:lpstr>PowerPoint Presentation</vt:lpstr>
      <vt:lpstr>Today’s lab . . . </vt:lpstr>
      <vt:lpstr>Protists General Characteristics</vt:lpstr>
      <vt:lpstr>Protists are primarily classified according to how they obtain nutrition</vt:lpstr>
      <vt:lpstr>Fungus-Like Protists  No chitin!</vt:lpstr>
      <vt:lpstr>Fungus-Like Protists  No chitin!</vt:lpstr>
      <vt:lpstr>Fungus-Like Protists  No chitin!</vt:lpstr>
      <vt:lpstr>Fungi Anatomy</vt:lpstr>
      <vt:lpstr>Fungi Phyla</vt:lpstr>
      <vt:lpstr>Zygomycota (zygote fungi) These species are now in Mucuromycota </vt:lpstr>
      <vt:lpstr>Zygomycota Life cycle</vt:lpstr>
      <vt:lpstr>Ascomycota </vt:lpstr>
      <vt:lpstr>Basidiomycota</vt:lpstr>
      <vt:lpstr>Lab 4 – Fungi Diversity and Anatomy</vt:lpstr>
      <vt:lpstr>Reminders</vt:lpstr>
      <vt:lpstr>PowerPoint Presentation</vt:lpstr>
      <vt:lpstr>Pre/Post-lab Questions</vt:lpstr>
      <vt:lpstr>Pre/Post-lab Questions</vt:lpstr>
      <vt:lpstr>Pre/Post-lab Quiz</vt:lpstr>
      <vt:lpstr>Zygomycota Life cycle (detailed)</vt:lpstr>
      <vt:lpstr>PowerPoint Presentation</vt:lpstr>
    </vt:vector>
  </TitlesOfParts>
  <Company>uno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22 – Descent with Modification</dc:title>
  <dc:creator>uno user</dc:creator>
  <cp:lastModifiedBy>Travis Robbins</cp:lastModifiedBy>
  <cp:revision>303</cp:revision>
  <dcterms:created xsi:type="dcterms:W3CDTF">2011-12-26T16:38:39Z</dcterms:created>
  <dcterms:modified xsi:type="dcterms:W3CDTF">2026-02-09T19:06:31Z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0x0101005146E5A3E9C7FC429CBF6AF21B67FB00</vt:lpwstr>
  </property>
  <property fmtid="{D5CDD505-2E9C-101B-9397-08002B2CF9AE}" pid="3" name="MediaServiceImageTags">
    <vt:lpwstr/>
  </property>
  <property fmtid="{D5CDD505-2E9C-101B-9397-08002B2CF9AE}" pid="4" name="_ExtendedDescription">
    <vt:lpwstr/>
  </property>
</Properties>
</file>