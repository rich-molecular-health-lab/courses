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337" r:id="rId6"/>
    <p:sldId id="351" r:id="rId7"/>
    <p:sldId id="368" r:id="rId8"/>
    <p:sldId id="328" r:id="rId9"/>
    <p:sldId id="333" r:id="rId10"/>
    <p:sldId id="316" r:id="rId11"/>
    <p:sldId id="318" r:id="rId12"/>
    <p:sldId id="336" r:id="rId13"/>
    <p:sldId id="319" r:id="rId14"/>
    <p:sldId id="347" r:id="rId15"/>
    <p:sldId id="330" r:id="rId16"/>
    <p:sldId id="348" r:id="rId17"/>
    <p:sldId id="321" r:id="rId18"/>
    <p:sldId id="325" r:id="rId19"/>
    <p:sldId id="343" r:id="rId20"/>
    <p:sldId id="345" r:id="rId21"/>
    <p:sldId id="346" r:id="rId22"/>
    <p:sldId id="349" r:id="rId23"/>
    <p:sldId id="352" r:id="rId24"/>
    <p:sldId id="365" r:id="rId25"/>
    <p:sldId id="366" r:id="rId26"/>
  </p:sldIdLst>
  <p:sldSz cx="12192000" cy="6858000"/>
  <p:notesSz cx="7010400" cy="92964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0EFB11-3872-4468-8E24-DD16D2F1B871}" v="3" dt="2026-01-22T16:09:24.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65" autoAdjust="0"/>
    <p:restoredTop sz="89165" autoAdjust="0"/>
  </p:normalViewPr>
  <p:slideViewPr>
    <p:cSldViewPr>
      <p:cViewPr varScale="1">
        <p:scale>
          <a:sx n="91" d="100"/>
          <a:sy n="91" d="100"/>
        </p:scale>
        <p:origin x="948" y="9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vis Robbins" userId="47b46fb5-27c3-483a-abe4-5b0e45afa2e4" providerId="ADAL" clId="{0C92D019-473C-4AFF-BB2B-3847E4F802D7}"/>
    <pc:docChg chg="addSld delSld modSld">
      <pc:chgData name="Travis Robbins" userId="47b46fb5-27c3-483a-abe4-5b0e45afa2e4" providerId="ADAL" clId="{0C92D019-473C-4AFF-BB2B-3847E4F802D7}" dt="2026-01-22T16:10:16.783" v="8" actId="47"/>
      <pc:docMkLst>
        <pc:docMk/>
      </pc:docMkLst>
      <pc:sldChg chg="del">
        <pc:chgData name="Travis Robbins" userId="47b46fb5-27c3-483a-abe4-5b0e45afa2e4" providerId="ADAL" clId="{0C92D019-473C-4AFF-BB2B-3847E4F802D7}" dt="2026-01-22T16:09:54.950" v="7" actId="47"/>
        <pc:sldMkLst>
          <pc:docMk/>
          <pc:sldMk cId="516266234" sldId="335"/>
        </pc:sldMkLst>
      </pc:sldChg>
      <pc:sldChg chg="modSp add mod">
        <pc:chgData name="Travis Robbins" userId="47b46fb5-27c3-483a-abe4-5b0e45afa2e4" providerId="ADAL" clId="{0C92D019-473C-4AFF-BB2B-3847E4F802D7}" dt="2026-01-22T16:09:29.958" v="5" actId="122"/>
        <pc:sldMkLst>
          <pc:docMk/>
          <pc:sldMk cId="2474807912" sldId="337"/>
        </pc:sldMkLst>
        <pc:spChg chg="mod">
          <ac:chgData name="Travis Robbins" userId="47b46fb5-27c3-483a-abe4-5b0e45afa2e4" providerId="ADAL" clId="{0C92D019-473C-4AFF-BB2B-3847E4F802D7}" dt="2026-01-22T16:09:29.958" v="5" actId="122"/>
          <ac:spMkLst>
            <pc:docMk/>
            <pc:sldMk cId="2474807912" sldId="337"/>
            <ac:spMk id="3" creationId="{00000000-0000-0000-0000-000000000000}"/>
          </ac:spMkLst>
        </pc:spChg>
      </pc:sldChg>
      <pc:sldChg chg="del">
        <pc:chgData name="Travis Robbins" userId="47b46fb5-27c3-483a-abe4-5b0e45afa2e4" providerId="ADAL" clId="{0C92D019-473C-4AFF-BB2B-3847E4F802D7}" dt="2026-01-22T16:09:06.111" v="1" actId="2696"/>
        <pc:sldMkLst>
          <pc:docMk/>
          <pc:sldMk cId="4199582342" sldId="337"/>
        </pc:sldMkLst>
      </pc:sldChg>
      <pc:sldChg chg="del">
        <pc:chgData name="Travis Robbins" userId="47b46fb5-27c3-483a-abe4-5b0e45afa2e4" providerId="ADAL" clId="{0C92D019-473C-4AFF-BB2B-3847E4F802D7}" dt="2026-01-22T16:10:16.783" v="8" actId="47"/>
        <pc:sldMkLst>
          <pc:docMk/>
          <pc:sldMk cId="2785125558" sldId="340"/>
        </pc:sldMkLst>
      </pc:sldChg>
      <pc:sldChg chg="del">
        <pc:chgData name="Travis Robbins" userId="47b46fb5-27c3-483a-abe4-5b0e45afa2e4" providerId="ADAL" clId="{0C92D019-473C-4AFF-BB2B-3847E4F802D7}" dt="2026-01-22T16:09:06.111" v="1" actId="2696"/>
        <pc:sldMkLst>
          <pc:docMk/>
          <pc:sldMk cId="1203432038" sldId="351"/>
        </pc:sldMkLst>
      </pc:sldChg>
      <pc:sldChg chg="add">
        <pc:chgData name="Travis Robbins" userId="47b46fb5-27c3-483a-abe4-5b0e45afa2e4" providerId="ADAL" clId="{0C92D019-473C-4AFF-BB2B-3847E4F802D7}" dt="2026-01-22T16:09:11.965" v="2"/>
        <pc:sldMkLst>
          <pc:docMk/>
          <pc:sldMk cId="1647997139" sldId="351"/>
        </pc:sldMkLst>
      </pc:sldChg>
      <pc:sldChg chg="del">
        <pc:chgData name="Travis Robbins" userId="47b46fb5-27c3-483a-abe4-5b0e45afa2e4" providerId="ADAL" clId="{0C92D019-473C-4AFF-BB2B-3847E4F802D7}" dt="2026-01-22T16:09:52.494" v="6" actId="47"/>
        <pc:sldMkLst>
          <pc:docMk/>
          <pc:sldMk cId="2440242706" sldId="363"/>
        </pc:sldMkLst>
      </pc:sldChg>
      <pc:sldChg chg="add">
        <pc:chgData name="Travis Robbins" userId="47b46fb5-27c3-483a-abe4-5b0e45afa2e4" providerId="ADAL" clId="{0C92D019-473C-4AFF-BB2B-3847E4F802D7}" dt="2026-01-22T16:08:33.868" v="0"/>
        <pc:sldMkLst>
          <pc:docMk/>
          <pc:sldMk cId="1755053762" sldId="365"/>
        </pc:sldMkLst>
      </pc:sldChg>
      <pc:sldChg chg="add">
        <pc:chgData name="Travis Robbins" userId="47b46fb5-27c3-483a-abe4-5b0e45afa2e4" providerId="ADAL" clId="{0C92D019-473C-4AFF-BB2B-3847E4F802D7}" dt="2026-01-22T16:08:33.868" v="0"/>
        <pc:sldMkLst>
          <pc:docMk/>
          <pc:sldMk cId="1852163635" sldId="3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DDEEDFBC-8F3C-4D3F-B12E-3A70B3DC8959}" type="datetimeFigureOut">
              <a:rPr lang="en-US" smtClean="0"/>
              <a:t>1/22/2026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6506B1C-58C1-41D3-9EC2-70DEB5A28979}" type="slidenum">
              <a:rPr lang="en-US" smtClean="0"/>
              <a:t>‹#›</a:t>
            </a:fld>
            <a:endParaRPr lang="en-US"/>
          </a:p>
        </p:txBody>
      </p:sp>
    </p:spTree>
    <p:extLst>
      <p:ext uri="{BB962C8B-B14F-4D97-AF65-F5344CB8AC3E}">
        <p14:creationId xmlns:p14="http://schemas.microsoft.com/office/powerpoint/2010/main" val="2555160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5202DB99-6197-417B-B067-FE6FB9B1E5B1}" type="slidenum">
              <a:rPr lang="en-US" smtClean="0"/>
              <a:t>15</a:t>
            </a:fld>
            <a:endParaRPr lang="en-US"/>
          </a:p>
        </p:txBody>
      </p:sp>
    </p:spTree>
    <p:extLst>
      <p:ext uri="{BB962C8B-B14F-4D97-AF65-F5344CB8AC3E}">
        <p14:creationId xmlns:p14="http://schemas.microsoft.com/office/powerpoint/2010/main" val="2326628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5202DB99-6197-417B-B067-FE6FB9B1E5B1}" type="slidenum">
              <a:rPr lang="en-US" smtClean="0"/>
              <a:t>16</a:t>
            </a:fld>
            <a:endParaRPr lang="en-US"/>
          </a:p>
        </p:txBody>
      </p:sp>
    </p:spTree>
    <p:extLst>
      <p:ext uri="{BB962C8B-B14F-4D97-AF65-F5344CB8AC3E}">
        <p14:creationId xmlns:p14="http://schemas.microsoft.com/office/powerpoint/2010/main" val="3281543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506B1C-58C1-41D3-9EC2-70DEB5A28979}" type="slidenum">
              <a:rPr lang="en-US" smtClean="0"/>
              <a:t>21</a:t>
            </a:fld>
            <a:endParaRPr lang="en-US"/>
          </a:p>
        </p:txBody>
      </p:sp>
    </p:spTree>
    <p:extLst>
      <p:ext uri="{BB962C8B-B14F-4D97-AF65-F5344CB8AC3E}">
        <p14:creationId xmlns:p14="http://schemas.microsoft.com/office/powerpoint/2010/main" val="1789267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8221178-11FB-4BEC-8E0F-DDF6CD1EF485}"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696056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820993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221178-11FB-4BEC-8E0F-DDF6CD1EF485}"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371549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221178-11FB-4BEC-8E0F-DDF6CD1EF485}"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5562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221178-11FB-4BEC-8E0F-DDF6CD1EF485}"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2895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221178-11FB-4BEC-8E0F-DDF6CD1EF485}"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07002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221178-11FB-4BEC-8E0F-DDF6CD1EF485}"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799255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221178-11FB-4BEC-8E0F-DDF6CD1EF485}"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55537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221178-11FB-4BEC-8E0F-DDF6CD1EF485}"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75373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415311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086982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10000">
              <a:schemeClr val="accent2">
                <a:lumMod val="0"/>
                <a:lumOff val="100000"/>
              </a:schemeClr>
            </a:gs>
            <a:gs pos="100000">
              <a:schemeClr val="accent2">
                <a:lumMod val="100000"/>
              </a:schemeClr>
            </a:gs>
          </a:gsLst>
          <a:lin ang="135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221178-11FB-4BEC-8E0F-DDF6CD1EF485}" type="datetimeFigureOut">
              <a:rPr lang="en-US" smtClean="0"/>
              <a:t>1/22/2026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FA0EFE-B331-4723-AD14-CCE6D5E159C3}" type="slidenum">
              <a:rPr lang="en-US" smtClean="0"/>
              <a:t>‹#›</a:t>
            </a:fld>
            <a:endParaRPr lang="en-US"/>
          </a:p>
        </p:txBody>
      </p:sp>
    </p:spTree>
    <p:extLst>
      <p:ext uri="{BB962C8B-B14F-4D97-AF65-F5344CB8AC3E}">
        <p14:creationId xmlns:p14="http://schemas.microsoft.com/office/powerpoint/2010/main" val="2356210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12" Type="http://schemas.openxmlformats.org/officeDocument/2006/relationships/image" Target="../media/image10.jp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12" Type="http://schemas.openxmlformats.org/officeDocument/2006/relationships/hyperlink" Target="http://www.hhmi.org/biointeractive/making-fittest-natural-selection-and-adaptation"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5.xml.rels><?xml version="1.0" encoding="UTF-8" standalone="yes"?>
<Relationships xmlns="http://schemas.openxmlformats.org/package/2006/relationships"><Relationship Id="rId8" Type="http://schemas.openxmlformats.org/officeDocument/2006/relationships/image" Target="../media/image16.jpeg"/><Relationship Id="rId13" Type="http://schemas.openxmlformats.org/officeDocument/2006/relationships/image" Target="../media/image21.png"/><Relationship Id="rId3" Type="http://schemas.openxmlformats.org/officeDocument/2006/relationships/image" Target="../media/image11.jpeg"/><Relationship Id="rId7" Type="http://schemas.openxmlformats.org/officeDocument/2006/relationships/image" Target="../media/image15.jpeg"/><Relationship Id="rId12"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jpeg"/><Relationship Id="rId11" Type="http://schemas.openxmlformats.org/officeDocument/2006/relationships/image" Target="../media/image19.jpeg"/><Relationship Id="rId5" Type="http://schemas.openxmlformats.org/officeDocument/2006/relationships/image" Target="../media/image13.jpeg"/><Relationship Id="rId10" Type="http://schemas.openxmlformats.org/officeDocument/2006/relationships/image" Target="../media/image18.jpeg"/><Relationship Id="rId4" Type="http://schemas.openxmlformats.org/officeDocument/2006/relationships/image" Target="../media/image12.jpeg"/><Relationship Id="rId9" Type="http://schemas.openxmlformats.org/officeDocument/2006/relationships/image" Target="../media/image17.jpeg"/></Relationships>
</file>

<file path=ppt/slides/_rels/slide1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jpeg"/><Relationship Id="rId12"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jpeg"/><Relationship Id="rId11" Type="http://schemas.openxmlformats.org/officeDocument/2006/relationships/image" Target="../media/image19.jpeg"/><Relationship Id="rId5" Type="http://schemas.openxmlformats.org/officeDocument/2006/relationships/image" Target="../media/image13.jpeg"/><Relationship Id="rId10" Type="http://schemas.openxmlformats.org/officeDocument/2006/relationships/image" Target="../media/image18.jpeg"/><Relationship Id="rId4" Type="http://schemas.openxmlformats.org/officeDocument/2006/relationships/image" Target="../media/image12.jpeg"/><Relationship Id="rId9" Type="http://schemas.openxmlformats.org/officeDocument/2006/relationships/image" Target="../media/image17.jpeg"/></Relationships>
</file>

<file path=ppt/slides/_rels/slide1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12" Type="http://schemas.openxmlformats.org/officeDocument/2006/relationships/hyperlink" Target="http://www.hhmi.org/biointeractive/making-fittest-natural-selection-and-adaptation"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1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jpeg"/><Relationship Id="rId10" Type="http://schemas.openxmlformats.org/officeDocument/2006/relationships/image" Target="../media/image8.jpeg"/><Relationship Id="rId4" Type="http://schemas.openxmlformats.org/officeDocument/2006/relationships/image" Target="../media/image3.jpeg"/><Relationship Id="rId9" Type="http://schemas.openxmlformats.org/officeDocument/2006/relationships/image" Target="../media/image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2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2" y="1219201"/>
            <a:ext cx="9143997" cy="1470025"/>
          </a:xfrm>
        </p:spPr>
        <p:txBody>
          <a:bodyPr>
            <a:normAutofit/>
          </a:bodyPr>
          <a:lstStyle/>
          <a:p>
            <a:r>
              <a:rPr lang="en-US" dirty="0"/>
              <a:t>Population Genetics, Evolution, and</a:t>
            </a:r>
            <a:br>
              <a:rPr lang="en-US" dirty="0"/>
            </a:br>
            <a:r>
              <a:rPr lang="en-US" dirty="0"/>
              <a:t>the Hardy-Weinberg Principle</a:t>
            </a:r>
          </a:p>
        </p:txBody>
      </p:sp>
      <p:sp>
        <p:nvSpPr>
          <p:cNvPr id="3" name="Subtitle 2"/>
          <p:cNvSpPr>
            <a:spLocks noGrp="1"/>
          </p:cNvSpPr>
          <p:nvPr>
            <p:ph type="subTitle" idx="1"/>
          </p:nvPr>
        </p:nvSpPr>
        <p:spPr>
          <a:xfrm>
            <a:off x="2895600" y="3200400"/>
            <a:ext cx="6400800" cy="1676400"/>
          </a:xfrm>
        </p:spPr>
        <p:txBody>
          <a:bodyPr>
            <a:normAutofit/>
          </a:bodyPr>
          <a:lstStyle/>
          <a:p>
            <a:r>
              <a:rPr lang="en-US" sz="2800" b="1" dirty="0">
                <a:solidFill>
                  <a:schemeClr val="tx1"/>
                </a:solidFill>
              </a:rPr>
              <a:t>BIOL 1750 – Biology II Lab</a:t>
            </a:r>
          </a:p>
          <a:p>
            <a:r>
              <a:rPr lang="en-US" sz="2000" dirty="0">
                <a:solidFill>
                  <a:schemeClr val="tx1"/>
                </a:solidFill>
              </a:rPr>
              <a:t>University of Nebraska at Omaha</a:t>
            </a:r>
          </a:p>
          <a:p>
            <a:r>
              <a:rPr lang="en-US" sz="2000" dirty="0">
                <a:solidFill>
                  <a:schemeClr val="tx1"/>
                </a:solidFill>
              </a:rPr>
              <a:t>AH 225</a:t>
            </a:r>
          </a:p>
        </p:txBody>
      </p:sp>
      <p:grpSp>
        <p:nvGrpSpPr>
          <p:cNvPr id="4" name="Group 3"/>
          <p:cNvGrpSpPr/>
          <p:nvPr/>
        </p:nvGrpSpPr>
        <p:grpSpPr>
          <a:xfrm>
            <a:off x="1524001" y="5943600"/>
            <a:ext cx="9143998" cy="914400"/>
            <a:chOff x="1" y="5943600"/>
            <a:chExt cx="9143998" cy="914400"/>
          </a:xfrm>
        </p:grpSpPr>
        <p:pic>
          <p:nvPicPr>
            <p:cNvPr id="3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34" name="Picture 3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77094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524001" y="5943600"/>
            <a:ext cx="9143998" cy="914400"/>
            <a:chOff x="1" y="5943600"/>
            <a:chExt cx="9143998" cy="914400"/>
          </a:xfrm>
        </p:grpSpPr>
        <p:pic>
          <p:nvPicPr>
            <p:cNvPr id="3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34" name="Picture 3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p:cNvSpPr txBox="1"/>
          <p:nvPr/>
        </p:nvSpPr>
        <p:spPr>
          <a:xfrm>
            <a:off x="3464452" y="381000"/>
            <a:ext cx="5049784" cy="1384995"/>
          </a:xfrm>
          <a:prstGeom prst="rect">
            <a:avLst/>
          </a:prstGeom>
          <a:noFill/>
        </p:spPr>
        <p:txBody>
          <a:bodyPr wrap="square" rtlCol="0">
            <a:spAutoFit/>
          </a:bodyPr>
          <a:lstStyle/>
          <a:p>
            <a:pPr algn="ctr"/>
            <a:r>
              <a:rPr lang="en-US" sz="2800" dirty="0"/>
              <a:t>Pre- and Post-lab Quiz Questions</a:t>
            </a:r>
          </a:p>
          <a:p>
            <a:pPr algn="ctr"/>
            <a:r>
              <a:rPr lang="en-US" sz="2800" b="1" dirty="0">
                <a:solidFill>
                  <a:srgbClr val="C00000"/>
                </a:solidFill>
              </a:rPr>
              <a:t>NO QUIZ THIS WEEK! </a:t>
            </a:r>
          </a:p>
          <a:p>
            <a:pPr algn="ctr"/>
            <a:endParaRPr lang="en-US" sz="2800" dirty="0"/>
          </a:p>
        </p:txBody>
      </p:sp>
      <p:sp>
        <p:nvSpPr>
          <p:cNvPr id="6" name="TextBox 5"/>
          <p:cNvSpPr txBox="1"/>
          <p:nvPr/>
        </p:nvSpPr>
        <p:spPr>
          <a:xfrm>
            <a:off x="1923888" y="1447800"/>
            <a:ext cx="8130915" cy="3785652"/>
          </a:xfrm>
          <a:prstGeom prst="rect">
            <a:avLst/>
          </a:prstGeom>
          <a:noFill/>
        </p:spPr>
        <p:txBody>
          <a:bodyPr wrap="square" rtlCol="0">
            <a:spAutoFit/>
          </a:bodyPr>
          <a:lstStyle/>
          <a:p>
            <a:r>
              <a:rPr lang="en-US" sz="2000" b="1" dirty="0"/>
              <a:t>Lab 1.2 </a:t>
            </a:r>
            <a:endParaRPr lang="en-US" sz="2000" dirty="0"/>
          </a:p>
          <a:p>
            <a:r>
              <a:rPr lang="en-US" sz="2000" b="1" dirty="0"/>
              <a:t>Practicing the Scientific Method</a:t>
            </a:r>
            <a:endParaRPr lang="en-US" sz="2000" dirty="0"/>
          </a:p>
          <a:p>
            <a:r>
              <a:rPr lang="en-US" sz="2000" b="1" dirty="0"/>
              <a:t>Post-lab Questions</a:t>
            </a:r>
            <a:endParaRPr lang="en-US" sz="2000" dirty="0"/>
          </a:p>
          <a:p>
            <a:r>
              <a:rPr lang="en-US" sz="2000" dirty="0"/>
              <a:t>1. How do you calculate degrees of freedom (</a:t>
            </a:r>
            <a:r>
              <a:rPr lang="en-US" sz="2000" i="1" dirty="0" err="1"/>
              <a:t>df</a:t>
            </a:r>
            <a:r>
              <a:rPr lang="en-US" sz="2000" dirty="0"/>
              <a:t>) for Chi-square tests?</a:t>
            </a:r>
          </a:p>
          <a:p>
            <a:r>
              <a:rPr lang="en-US" sz="2000" dirty="0"/>
              <a:t>2. Conventionally, what must the p-value be smaller than to be statistically significant?</a:t>
            </a:r>
          </a:p>
          <a:p>
            <a:r>
              <a:rPr lang="en-US" sz="2000" dirty="0"/>
              <a:t>3. What was the dependent variable in the wild primate experiment?</a:t>
            </a:r>
          </a:p>
          <a:p>
            <a:r>
              <a:rPr lang="en-US" sz="2000" dirty="0"/>
              <a:t>4. What was the independent variable in the wild primate experiment when comparing the two locations?</a:t>
            </a:r>
          </a:p>
          <a:p>
            <a:r>
              <a:rPr lang="en-US" sz="2000" dirty="0"/>
              <a:t>5. Behavioral data can be difficult to collect in a consistent manner. What decision did your research group make to collect consistent (unbiased) behavioral data?</a:t>
            </a:r>
            <a:endParaRPr lang="en-US" sz="2000" b="1" dirty="0"/>
          </a:p>
        </p:txBody>
      </p:sp>
    </p:spTree>
    <p:extLst>
      <p:ext uri="{BB962C8B-B14F-4D97-AF65-F5344CB8AC3E}">
        <p14:creationId xmlns:p14="http://schemas.microsoft.com/office/powerpoint/2010/main" val="2474807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524001" y="5943600"/>
            <a:ext cx="9143998" cy="914400"/>
            <a:chOff x="1" y="5943600"/>
            <a:chExt cx="9143998" cy="914400"/>
          </a:xfrm>
        </p:grpSpPr>
        <p:pic>
          <p:nvPicPr>
            <p:cNvPr id="3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34" name="Picture 3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1981200" y="914401"/>
            <a:ext cx="8229600" cy="4708981"/>
          </a:xfrm>
          <a:prstGeom prst="rect">
            <a:avLst/>
          </a:prstGeom>
          <a:noFill/>
        </p:spPr>
        <p:txBody>
          <a:bodyPr wrap="square" rtlCol="0">
            <a:spAutoFit/>
          </a:bodyPr>
          <a:lstStyle/>
          <a:p>
            <a:r>
              <a:rPr lang="en-US" sz="2000" b="1" dirty="0"/>
              <a:t>Lab 2</a:t>
            </a:r>
            <a:endParaRPr lang="en-US" sz="2000" dirty="0"/>
          </a:p>
          <a:p>
            <a:r>
              <a:rPr lang="en-US" sz="2000" b="1" dirty="0"/>
              <a:t>Population Genetics, Evolution, and the Hardy-Weinberg Principle</a:t>
            </a:r>
            <a:endParaRPr lang="en-US" sz="2000" dirty="0"/>
          </a:p>
          <a:p>
            <a:r>
              <a:rPr lang="en-US" sz="2000" dirty="0"/>
              <a:t> </a:t>
            </a:r>
            <a:r>
              <a:rPr lang="en-US" sz="2000" b="1" dirty="0"/>
              <a:t>Pre-lab Questions</a:t>
            </a:r>
            <a:endParaRPr lang="en-US" sz="2000" dirty="0"/>
          </a:p>
          <a:p>
            <a:r>
              <a:rPr lang="en-US" sz="2000" dirty="0"/>
              <a:t>1. What is a population?</a:t>
            </a:r>
          </a:p>
          <a:p>
            <a:r>
              <a:rPr lang="en-US" sz="2000" dirty="0"/>
              <a:t>2. What are three of the five conditions that must be met for a population to be in Hardy-Weinberg equilibrium?</a:t>
            </a:r>
          </a:p>
          <a:p>
            <a:r>
              <a:rPr lang="en-US" sz="2000" dirty="0"/>
              <a:t>3. What is a gene pool?</a:t>
            </a:r>
          </a:p>
          <a:p>
            <a:r>
              <a:rPr lang="en-US" sz="2000" dirty="0"/>
              <a:t>4. How do we see evolution with regard to population genetics? </a:t>
            </a:r>
          </a:p>
          <a:p>
            <a:r>
              <a:rPr lang="en-US" sz="2000" dirty="0"/>
              <a:t>5. What does an individual bead in this lab represent? </a:t>
            </a:r>
          </a:p>
          <a:p>
            <a:r>
              <a:rPr lang="en-US" sz="2000" dirty="0"/>
              <a:t>6. What is the name of the computer program we will use to conduct simulations of evolution?</a:t>
            </a:r>
          </a:p>
          <a:p>
            <a:r>
              <a:rPr lang="en-US" sz="2000" dirty="0"/>
              <a:t>7. Does the Hardy-Weinberg Equation follow allelic frequencies, genotypic frequencies, or both?</a:t>
            </a:r>
          </a:p>
          <a:p>
            <a:r>
              <a:rPr lang="en-US" sz="2000" dirty="0"/>
              <a:t>8. What is natural selection?</a:t>
            </a:r>
          </a:p>
          <a:p>
            <a:r>
              <a:rPr lang="en-US" sz="2000" dirty="0"/>
              <a:t>9. What does p + q equal?</a:t>
            </a:r>
          </a:p>
        </p:txBody>
      </p:sp>
      <p:sp>
        <p:nvSpPr>
          <p:cNvPr id="14" name="TextBox 13"/>
          <p:cNvSpPr txBox="1"/>
          <p:nvPr/>
        </p:nvSpPr>
        <p:spPr>
          <a:xfrm>
            <a:off x="3464452" y="381000"/>
            <a:ext cx="5049784" cy="523220"/>
          </a:xfrm>
          <a:prstGeom prst="rect">
            <a:avLst/>
          </a:prstGeom>
          <a:noFill/>
        </p:spPr>
        <p:txBody>
          <a:bodyPr wrap="square" rtlCol="0">
            <a:spAutoFit/>
          </a:bodyPr>
          <a:lstStyle/>
          <a:p>
            <a:r>
              <a:rPr lang="en-US" sz="2800" dirty="0"/>
              <a:t>Pre- and Post-lab Quiz Questions</a:t>
            </a:r>
          </a:p>
        </p:txBody>
      </p:sp>
    </p:spTree>
    <p:extLst>
      <p:ext uri="{BB962C8B-B14F-4D97-AF65-F5344CB8AC3E}">
        <p14:creationId xmlns:p14="http://schemas.microsoft.com/office/powerpoint/2010/main" val="1647997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390461" y="838200"/>
            <a:ext cx="9906000" cy="5029200"/>
          </a:xfrm>
        </p:spPr>
        <p:txBody>
          <a:bodyPr>
            <a:normAutofit/>
          </a:bodyPr>
          <a:lstStyle/>
          <a:p>
            <a:pPr marL="0" indent="0">
              <a:buNone/>
            </a:pPr>
            <a:r>
              <a:rPr lang="en-US" sz="2400" b="1" dirty="0"/>
              <a:t>Population Genetics, Evolution and the Hardy-Weinberg Principle</a:t>
            </a:r>
            <a:endParaRPr lang="en-US" sz="2400" dirty="0"/>
          </a:p>
          <a:p>
            <a:pPr lvl="1"/>
            <a:r>
              <a:rPr lang="en-US" sz="2600" dirty="0"/>
              <a:t>Exercise 1: Testing H-W equilibrium (Bead model)</a:t>
            </a:r>
          </a:p>
          <a:p>
            <a:pPr lvl="2"/>
            <a:r>
              <a:rPr lang="en-US" dirty="0"/>
              <a:t>Conduct all procedures, fill out the tables in your manual, and answer the questions on your Assignment Sheet, including calculating the Chi-squared test. </a:t>
            </a:r>
            <a:r>
              <a:rPr lang="en-US" dirty="0">
                <a:solidFill>
                  <a:srgbClr val="C00000"/>
                </a:solidFill>
              </a:rPr>
              <a:t>Also, run a simulation </a:t>
            </a:r>
            <a:r>
              <a:rPr lang="en-US" dirty="0"/>
              <a:t>with the program </a:t>
            </a:r>
            <a:r>
              <a:rPr lang="en-US" i="1" dirty="0"/>
              <a:t>Allele A1 </a:t>
            </a:r>
            <a:r>
              <a:rPr lang="en-US" dirty="0"/>
              <a:t>from the University of Washington.</a:t>
            </a:r>
          </a:p>
          <a:p>
            <a:pPr lvl="3"/>
            <a:r>
              <a:rPr lang="en-US" i="1" dirty="0"/>
              <a:t>https://faculty.washington.edu/herronjc/a1/</a:t>
            </a:r>
          </a:p>
          <a:p>
            <a:pPr lvl="1"/>
            <a:r>
              <a:rPr lang="en-US" sz="2600" dirty="0"/>
              <a:t>Exercise 2: Simulations of evolutionary change (</a:t>
            </a:r>
            <a:r>
              <a:rPr lang="en-US" sz="2600" i="1" dirty="0"/>
              <a:t>Allele A1</a:t>
            </a:r>
            <a:r>
              <a:rPr lang="en-US" sz="2600" dirty="0"/>
              <a:t>)</a:t>
            </a:r>
          </a:p>
          <a:p>
            <a:pPr lvl="2"/>
            <a:r>
              <a:rPr lang="en-US" dirty="0"/>
              <a:t>Genetic drift</a:t>
            </a:r>
          </a:p>
          <a:p>
            <a:pPr lvl="2"/>
            <a:r>
              <a:rPr lang="en-US" dirty="0"/>
              <a:t>Gene flow caused by migration</a:t>
            </a:r>
          </a:p>
          <a:p>
            <a:pPr lvl="2"/>
            <a:r>
              <a:rPr lang="en-US" dirty="0"/>
              <a:t>Natural selection </a:t>
            </a:r>
          </a:p>
          <a:p>
            <a:pPr lvl="3"/>
            <a:r>
              <a:rPr lang="en-US" dirty="0"/>
              <a:t>In a sickle-cell disease system</a:t>
            </a:r>
          </a:p>
          <a:p>
            <a:pPr marL="914400" lvl="2" indent="0">
              <a:buNone/>
            </a:pPr>
            <a:endParaRPr lang="en-US" dirty="0"/>
          </a:p>
          <a:p>
            <a:pPr marL="457200" lvl="1" indent="0">
              <a:buNone/>
            </a:pPr>
            <a:endParaRPr lang="en-US" sz="2400" i="1" dirty="0"/>
          </a:p>
        </p:txBody>
      </p:sp>
      <p:sp>
        <p:nvSpPr>
          <p:cNvPr id="32" name="Title 1"/>
          <p:cNvSpPr>
            <a:spLocks noGrp="1"/>
          </p:cNvSpPr>
          <p:nvPr>
            <p:ph type="title"/>
          </p:nvPr>
        </p:nvSpPr>
        <p:spPr>
          <a:xfrm>
            <a:off x="1981200" y="0"/>
            <a:ext cx="8229600" cy="914400"/>
          </a:xfrm>
        </p:spPr>
        <p:txBody>
          <a:bodyPr>
            <a:normAutofit/>
          </a:bodyPr>
          <a:lstStyle/>
          <a:p>
            <a:r>
              <a:rPr lang="en-US" sz="4000" dirty="0"/>
              <a:t>In Today’s Lab…</a:t>
            </a:r>
            <a:endParaRPr lang="en-US" sz="3200" dirty="0"/>
          </a:p>
        </p:txBody>
      </p:sp>
    </p:spTree>
    <p:extLst>
      <p:ext uri="{BB962C8B-B14F-4D97-AF65-F5344CB8AC3E}">
        <p14:creationId xmlns:p14="http://schemas.microsoft.com/office/powerpoint/2010/main" val="3122493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371601" y="1127760"/>
            <a:ext cx="9524999" cy="5120640"/>
          </a:xfrm>
        </p:spPr>
        <p:txBody>
          <a:bodyPr>
            <a:normAutofit/>
          </a:bodyPr>
          <a:lstStyle/>
          <a:p>
            <a:pPr marL="0" indent="0">
              <a:buNone/>
            </a:pPr>
            <a:r>
              <a:rPr lang="en-US" sz="2400" b="1" dirty="0"/>
              <a:t>Population Genetics, Evolution and the Hardy-Weinberg Principle</a:t>
            </a:r>
            <a:endParaRPr lang="en-US" sz="2000" dirty="0"/>
          </a:p>
          <a:p>
            <a:pPr lvl="1"/>
            <a:r>
              <a:rPr lang="en-US" sz="2600" dirty="0"/>
              <a:t>Exercise 3. Natural selection of coat color variation in animals</a:t>
            </a:r>
            <a:r>
              <a:rPr lang="en-US" sz="2400" dirty="0"/>
              <a:t> </a:t>
            </a:r>
          </a:p>
          <a:p>
            <a:pPr marL="457200" lvl="1" indent="0">
              <a:buNone/>
            </a:pPr>
            <a:r>
              <a:rPr lang="en-US" sz="2400" dirty="0"/>
              <a:t>(on side benches)</a:t>
            </a:r>
          </a:p>
          <a:p>
            <a:pPr lvl="2"/>
            <a:r>
              <a:rPr lang="en-US" sz="2200" dirty="0"/>
              <a:t>Rock pocket mice and fox squirrel</a:t>
            </a:r>
          </a:p>
          <a:p>
            <a:pPr lvl="1"/>
            <a:endParaRPr lang="en-US" sz="2400" i="1" dirty="0"/>
          </a:p>
          <a:p>
            <a:pPr lvl="1"/>
            <a:endParaRPr lang="en-US" sz="2400" i="1" dirty="0"/>
          </a:p>
          <a:p>
            <a:pPr marL="457200" lvl="1" indent="0">
              <a:buNone/>
            </a:pPr>
            <a:r>
              <a:rPr lang="en-US" sz="2400" i="1" dirty="0">
                <a:solidFill>
                  <a:srgbClr val="C00000"/>
                </a:solidFill>
              </a:rPr>
              <a:t>Turn in Assignment Sheet at end of Lab period (20 points)</a:t>
            </a:r>
          </a:p>
          <a:p>
            <a:pPr lvl="1"/>
            <a:endParaRPr lang="en-US" sz="2400" i="1" dirty="0"/>
          </a:p>
          <a:p>
            <a:pPr lvl="1"/>
            <a:endParaRPr lang="en-US" sz="2400" i="1" dirty="0"/>
          </a:p>
          <a:p>
            <a:pPr lvl="1"/>
            <a:endParaRPr lang="en-US" sz="2400" i="1" dirty="0"/>
          </a:p>
          <a:p>
            <a:pPr lvl="1"/>
            <a:endParaRPr lang="en-US" sz="2400" i="1" dirty="0"/>
          </a:p>
          <a:p>
            <a:pPr lvl="1"/>
            <a:endParaRPr lang="en-US" sz="2400" i="1" dirty="0"/>
          </a:p>
        </p:txBody>
      </p:sp>
      <p:sp>
        <p:nvSpPr>
          <p:cNvPr id="32" name="Title 1"/>
          <p:cNvSpPr>
            <a:spLocks noGrp="1"/>
          </p:cNvSpPr>
          <p:nvPr>
            <p:ph type="title"/>
          </p:nvPr>
        </p:nvSpPr>
        <p:spPr>
          <a:xfrm>
            <a:off x="1981200" y="0"/>
            <a:ext cx="8229600" cy="914400"/>
          </a:xfrm>
        </p:spPr>
        <p:txBody>
          <a:bodyPr>
            <a:normAutofit/>
          </a:bodyPr>
          <a:lstStyle/>
          <a:p>
            <a:r>
              <a:rPr lang="en-US" sz="4000" dirty="0"/>
              <a:t>In Today’s Lab…</a:t>
            </a:r>
            <a:endParaRPr lang="en-US" sz="3200" dirty="0"/>
          </a:p>
        </p:txBody>
      </p:sp>
    </p:spTree>
    <p:extLst>
      <p:ext uri="{BB962C8B-B14F-4D97-AF65-F5344CB8AC3E}">
        <p14:creationId xmlns:p14="http://schemas.microsoft.com/office/powerpoint/2010/main" val="1267053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295400" y="1219200"/>
            <a:ext cx="9753599" cy="3977640"/>
          </a:xfrm>
        </p:spPr>
        <p:txBody>
          <a:bodyPr>
            <a:normAutofit/>
          </a:bodyPr>
          <a:lstStyle/>
          <a:p>
            <a:pPr lvl="1"/>
            <a:endParaRPr lang="en-US" sz="2400" i="1" dirty="0">
              <a:solidFill>
                <a:srgbClr val="C00000"/>
              </a:solidFill>
            </a:endParaRPr>
          </a:p>
          <a:p>
            <a:pPr>
              <a:lnSpc>
                <a:spcPct val="90000"/>
              </a:lnSpc>
            </a:pPr>
            <a:r>
              <a:rPr lang="en-US" sz="3000" i="1" dirty="0">
                <a:solidFill>
                  <a:srgbClr val="C00000"/>
                </a:solidFill>
              </a:rPr>
              <a:t>Each group has 60 blue beads and 40 red beads.</a:t>
            </a:r>
            <a:r>
              <a:rPr lang="en-US" sz="3000" dirty="0">
                <a:solidFill>
                  <a:srgbClr val="C00000"/>
                </a:solidFill>
              </a:rPr>
              <a:t> </a:t>
            </a:r>
          </a:p>
          <a:p>
            <a:pPr>
              <a:lnSpc>
                <a:spcPct val="90000"/>
              </a:lnSpc>
            </a:pPr>
            <a:endParaRPr lang="en-US" sz="3000" dirty="0">
              <a:solidFill>
                <a:srgbClr val="C00000"/>
              </a:solidFill>
            </a:endParaRPr>
          </a:p>
          <a:p>
            <a:pPr>
              <a:lnSpc>
                <a:spcPct val="90000"/>
              </a:lnSpc>
            </a:pPr>
            <a:r>
              <a:rPr lang="en-US" sz="3000" i="1" dirty="0">
                <a:solidFill>
                  <a:srgbClr val="C00000"/>
                </a:solidFill>
              </a:rPr>
              <a:t>Please count them out and mix your 100 beads in the plastic container. This will be your population and the beads will represent alleles (from the haploid gametes).</a:t>
            </a:r>
          </a:p>
          <a:p>
            <a:pPr>
              <a:lnSpc>
                <a:spcPct val="90000"/>
              </a:lnSpc>
            </a:pPr>
            <a:endParaRPr lang="en-US" sz="3000" i="1" dirty="0">
              <a:solidFill>
                <a:srgbClr val="C00000"/>
              </a:solidFill>
            </a:endParaRPr>
          </a:p>
          <a:p>
            <a:pPr lvl="1">
              <a:lnSpc>
                <a:spcPct val="90000"/>
              </a:lnSpc>
            </a:pPr>
            <a:r>
              <a:rPr lang="en-US" i="1" dirty="0"/>
              <a:t>How many individuals are in this population?</a:t>
            </a:r>
          </a:p>
        </p:txBody>
      </p:sp>
      <p:sp>
        <p:nvSpPr>
          <p:cNvPr id="32" name="Title 1"/>
          <p:cNvSpPr>
            <a:spLocks noGrp="1"/>
          </p:cNvSpPr>
          <p:nvPr>
            <p:ph type="title"/>
          </p:nvPr>
        </p:nvSpPr>
        <p:spPr>
          <a:xfrm>
            <a:off x="1981200" y="0"/>
            <a:ext cx="8229600" cy="914400"/>
          </a:xfrm>
        </p:spPr>
        <p:txBody>
          <a:bodyPr>
            <a:normAutofit/>
          </a:bodyPr>
          <a:lstStyle/>
          <a:p>
            <a:r>
              <a:rPr lang="en-US" sz="4000" dirty="0"/>
              <a:t>In Today’s Lab…</a:t>
            </a:r>
            <a:endParaRPr lang="en-US" sz="3200" dirty="0"/>
          </a:p>
        </p:txBody>
      </p:sp>
    </p:spTree>
    <p:extLst>
      <p:ext uri="{BB962C8B-B14F-4D97-AF65-F5344CB8AC3E}">
        <p14:creationId xmlns:p14="http://schemas.microsoft.com/office/powerpoint/2010/main" val="315225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15" name="Content Placeholder 2"/>
          <p:cNvSpPr>
            <a:spLocks noGrp="1"/>
          </p:cNvSpPr>
          <p:nvPr>
            <p:ph idx="1"/>
          </p:nvPr>
        </p:nvSpPr>
        <p:spPr>
          <a:xfrm>
            <a:off x="1371600" y="762000"/>
            <a:ext cx="9601200" cy="4983163"/>
          </a:xfrm>
        </p:spPr>
        <p:txBody>
          <a:bodyPr>
            <a:normAutofit/>
          </a:bodyPr>
          <a:lstStyle/>
          <a:p>
            <a:r>
              <a:rPr lang="en-US" sz="2600" dirty="0"/>
              <a:t>A </a:t>
            </a:r>
            <a:r>
              <a:rPr lang="en-US" sz="2600" b="1" dirty="0"/>
              <a:t>population</a:t>
            </a:r>
            <a:r>
              <a:rPr lang="en-US" sz="2600" dirty="0"/>
              <a:t> is defined as a group of organisms of the same species that occur in the same area and interbreed or share a common </a:t>
            </a:r>
            <a:r>
              <a:rPr lang="en-US" sz="2600" b="1" dirty="0"/>
              <a:t>gene pool</a:t>
            </a:r>
            <a:r>
              <a:rPr lang="en-US" sz="2600" dirty="0"/>
              <a:t> (all the alleles at all gene loci of all individuals in the population)</a:t>
            </a:r>
          </a:p>
          <a:p>
            <a:r>
              <a:rPr lang="en-US" sz="2600" b="1" dirty="0"/>
              <a:t>Alleles</a:t>
            </a:r>
            <a:r>
              <a:rPr lang="en-US" sz="2600" dirty="0"/>
              <a:t> – alternate versions of a gene</a:t>
            </a:r>
            <a:endParaRPr lang="en-US" sz="2600" b="1" u="sng" dirty="0"/>
          </a:p>
        </p:txBody>
      </p:sp>
      <p:pic>
        <p:nvPicPr>
          <p:cNvPr id="16" name="Picture 15"/>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3200" y="2971800"/>
            <a:ext cx="6705600" cy="2911580"/>
          </a:xfrm>
          <a:prstGeom prst="rect">
            <a:avLst/>
          </a:prstGeom>
        </p:spPr>
      </p:pic>
    </p:spTree>
    <p:extLst>
      <p:ext uri="{BB962C8B-B14F-4D97-AF65-F5344CB8AC3E}">
        <p14:creationId xmlns:p14="http://schemas.microsoft.com/office/powerpoint/2010/main" val="2364579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17" name="Content Placeholder 2"/>
          <p:cNvSpPr txBox="1">
            <a:spLocks/>
          </p:cNvSpPr>
          <p:nvPr/>
        </p:nvSpPr>
        <p:spPr>
          <a:xfrm>
            <a:off x="1539767" y="914400"/>
            <a:ext cx="9144000" cy="51816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600" dirty="0"/>
              <a:t>Hardy-Weinberg equilibrium – the </a:t>
            </a:r>
            <a:r>
              <a:rPr lang="en-US" sz="2600" b="1" dirty="0">
                <a:solidFill>
                  <a:srgbClr val="C00000"/>
                </a:solidFill>
              </a:rPr>
              <a:t>frequency of alleles </a:t>
            </a:r>
            <a:r>
              <a:rPr lang="en-US" sz="2600" dirty="0"/>
              <a:t>in the population will remain the same from generation to generation. Used as a </a:t>
            </a:r>
            <a:r>
              <a:rPr lang="en-US" sz="2600" dirty="0">
                <a:solidFill>
                  <a:srgbClr val="C00000"/>
                </a:solidFill>
              </a:rPr>
              <a:t>null hypothesis</a:t>
            </a:r>
            <a:r>
              <a:rPr lang="en-US" sz="2600" dirty="0"/>
              <a:t>.</a:t>
            </a:r>
          </a:p>
          <a:p>
            <a:r>
              <a:rPr lang="en-US" sz="2600" dirty="0"/>
              <a:t>This principle is valid only if certain conditions are met: </a:t>
            </a:r>
            <a:r>
              <a:rPr lang="en-US" sz="2000" dirty="0"/>
              <a:t>(</a:t>
            </a:r>
            <a:r>
              <a:rPr lang="en-US" sz="2000" dirty="0">
                <a:solidFill>
                  <a:srgbClr val="C00000"/>
                </a:solidFill>
              </a:rPr>
              <a:t>Simulations in </a:t>
            </a:r>
            <a:r>
              <a:rPr lang="en-US" sz="2000" i="1" dirty="0">
                <a:solidFill>
                  <a:srgbClr val="C00000"/>
                </a:solidFill>
              </a:rPr>
              <a:t>Allele A1 </a:t>
            </a:r>
            <a:r>
              <a:rPr lang="en-US" sz="2000" dirty="0">
                <a:solidFill>
                  <a:srgbClr val="C00000"/>
                </a:solidFill>
              </a:rPr>
              <a:t>will change these parameters</a:t>
            </a:r>
            <a:r>
              <a:rPr lang="en-US" sz="2000" dirty="0"/>
              <a:t>)</a:t>
            </a:r>
          </a:p>
          <a:p>
            <a:pPr marL="914400" lvl="1" indent="-457200">
              <a:buFont typeface="+mj-lt"/>
              <a:buAutoNum type="arabicPeriod"/>
            </a:pPr>
            <a:r>
              <a:rPr lang="en-US" sz="2200" dirty="0"/>
              <a:t>The population is very </a:t>
            </a:r>
            <a:r>
              <a:rPr lang="en-US" sz="2200" b="1" dirty="0"/>
              <a:t>large.</a:t>
            </a:r>
          </a:p>
          <a:p>
            <a:pPr marL="914400" lvl="1" indent="-457200">
              <a:buFont typeface="+mj-lt"/>
              <a:buAutoNum type="arabicPeriod"/>
            </a:pPr>
            <a:r>
              <a:rPr lang="en-US" sz="2200" dirty="0"/>
              <a:t>Matings are </a:t>
            </a:r>
            <a:r>
              <a:rPr lang="en-US" sz="2200" b="1" dirty="0"/>
              <a:t>random.</a:t>
            </a:r>
          </a:p>
          <a:p>
            <a:pPr marL="914400" lvl="1" indent="-457200">
              <a:buFont typeface="+mj-lt"/>
              <a:buAutoNum type="arabicPeriod"/>
            </a:pPr>
            <a:r>
              <a:rPr lang="en-US" sz="2200" dirty="0"/>
              <a:t>There are </a:t>
            </a:r>
            <a:r>
              <a:rPr lang="en-US" sz="2200" b="1" dirty="0"/>
              <a:t>no</a:t>
            </a:r>
            <a:r>
              <a:rPr lang="en-US" sz="2200" dirty="0"/>
              <a:t> net changes in the gene pool due to </a:t>
            </a:r>
            <a:r>
              <a:rPr lang="en-US" sz="2200" b="1" dirty="0"/>
              <a:t>mutation</a:t>
            </a:r>
            <a:r>
              <a:rPr lang="en-US" sz="2200" dirty="0"/>
              <a:t>; that is, mutation from </a:t>
            </a:r>
            <a:r>
              <a:rPr lang="en-US" sz="2200" b="1" i="1" dirty="0">
                <a:latin typeface="Times New Roman" panose="02020603050405020304" pitchFamily="18" charset="0"/>
                <a:cs typeface="Times New Roman" panose="02020603050405020304" pitchFamily="18" charset="0"/>
              </a:rPr>
              <a:t>A</a:t>
            </a:r>
            <a:r>
              <a:rPr lang="en-US" sz="2200" dirty="0"/>
              <a:t> to </a:t>
            </a:r>
            <a:r>
              <a:rPr lang="en-US" sz="2200" b="1" i="1" dirty="0">
                <a:latin typeface="Times New Roman" panose="02020603050405020304" pitchFamily="18" charset="0"/>
                <a:cs typeface="Times New Roman" panose="02020603050405020304" pitchFamily="18" charset="0"/>
              </a:rPr>
              <a:t>a</a:t>
            </a:r>
            <a:r>
              <a:rPr lang="en-US" sz="2200" dirty="0"/>
              <a:t> must be equal to mutation from </a:t>
            </a:r>
            <a:r>
              <a:rPr lang="en-US" sz="2200" b="1" i="1" dirty="0">
                <a:latin typeface="Times New Roman" panose="02020603050405020304" pitchFamily="18" charset="0"/>
                <a:cs typeface="Times New Roman" panose="02020603050405020304" pitchFamily="18" charset="0"/>
              </a:rPr>
              <a:t>a</a:t>
            </a:r>
            <a:r>
              <a:rPr lang="en-US" sz="2200" dirty="0"/>
              <a:t> to </a:t>
            </a:r>
            <a:r>
              <a:rPr lang="en-US" sz="2200" b="1" i="1" dirty="0">
                <a:latin typeface="Times New Roman" panose="02020603050405020304" pitchFamily="18" charset="0"/>
                <a:cs typeface="Times New Roman" panose="02020603050405020304" pitchFamily="18" charset="0"/>
              </a:rPr>
              <a:t>A</a:t>
            </a:r>
            <a:r>
              <a:rPr lang="en-US" sz="2200" dirty="0"/>
              <a:t>.</a:t>
            </a:r>
          </a:p>
          <a:p>
            <a:pPr marL="914400" lvl="1" indent="-457200">
              <a:buFont typeface="+mj-lt"/>
              <a:buAutoNum type="arabicPeriod"/>
            </a:pPr>
            <a:r>
              <a:rPr lang="en-US" sz="2200" dirty="0"/>
              <a:t>There is </a:t>
            </a:r>
            <a:r>
              <a:rPr lang="en-US" sz="2200" b="1" dirty="0"/>
              <a:t>no migration </a:t>
            </a:r>
            <a:r>
              <a:rPr lang="en-US" sz="2200" dirty="0"/>
              <a:t>of individuals into and out of the population.</a:t>
            </a:r>
          </a:p>
          <a:p>
            <a:pPr marL="914400" lvl="1" indent="-457200">
              <a:buFont typeface="+mj-lt"/>
              <a:buAutoNum type="arabicPeriod"/>
            </a:pPr>
            <a:r>
              <a:rPr lang="en-US" sz="2200" dirty="0"/>
              <a:t>There is </a:t>
            </a:r>
            <a:r>
              <a:rPr lang="en-US" sz="2200" b="1" dirty="0"/>
              <a:t>no selection</a:t>
            </a:r>
            <a:r>
              <a:rPr lang="en-US" sz="2200" dirty="0"/>
              <a:t>; all genotypes are equal in reproductive success.</a:t>
            </a:r>
          </a:p>
        </p:txBody>
      </p:sp>
    </p:spTree>
    <p:extLst>
      <p:ext uri="{BB962C8B-B14F-4D97-AF65-F5344CB8AC3E}">
        <p14:creationId xmlns:p14="http://schemas.microsoft.com/office/powerpoint/2010/main" val="408200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752601" y="822960"/>
            <a:ext cx="8686799" cy="5120640"/>
          </a:xfrm>
        </p:spPr>
        <p:txBody>
          <a:bodyPr>
            <a:normAutofit/>
          </a:bodyPr>
          <a:lstStyle/>
          <a:p>
            <a:pPr lvl="2"/>
            <a:endParaRPr lang="en-US" sz="2200" dirty="0">
              <a:hlinkClick r:id="rId12"/>
            </a:endParaRPr>
          </a:p>
          <a:p>
            <a:r>
              <a:rPr lang="en-US" sz="3000" dirty="0"/>
              <a:t>Populations of rock pocket mice are great examples of the use of Hardy-Weinberg as a null hypothesis</a:t>
            </a:r>
          </a:p>
          <a:p>
            <a:endParaRPr lang="en-US" sz="3000" dirty="0">
              <a:hlinkClick r:id="rId12"/>
            </a:endParaRPr>
          </a:p>
          <a:p>
            <a:pPr marL="457200" lvl="1" indent="0">
              <a:buNone/>
            </a:pPr>
            <a:r>
              <a:rPr lang="en-US" sz="2600" dirty="0">
                <a:hlinkClick r:id="rId12"/>
              </a:rPr>
              <a:t>Rock pocket mice in the Valley of Fire </a:t>
            </a:r>
            <a:r>
              <a:rPr lang="en-US" sz="2600" dirty="0"/>
              <a:t>(10:31)</a:t>
            </a:r>
          </a:p>
          <a:p>
            <a:pPr marL="457200" lvl="1" indent="0">
              <a:buNone/>
            </a:pPr>
            <a:endParaRPr lang="en-US" sz="2600" dirty="0"/>
          </a:p>
          <a:p>
            <a:r>
              <a:rPr lang="en-US" sz="3000" dirty="0"/>
              <a:t>In this case, allele frequencies are NOT staying the same generation after generation. </a:t>
            </a:r>
          </a:p>
          <a:p>
            <a:pPr lvl="1"/>
            <a:r>
              <a:rPr lang="en-US" dirty="0"/>
              <a:t>Which of the 5 conditions are not being met?</a:t>
            </a:r>
          </a:p>
          <a:p>
            <a:pPr lvl="1"/>
            <a:endParaRPr lang="en-US" sz="2400" i="1" dirty="0"/>
          </a:p>
          <a:p>
            <a:pPr lvl="1"/>
            <a:endParaRPr lang="en-US" sz="2400" i="1" dirty="0"/>
          </a:p>
          <a:p>
            <a:pPr lvl="1"/>
            <a:endParaRPr lang="en-US" sz="2400" i="1" dirty="0"/>
          </a:p>
          <a:p>
            <a:pPr lvl="1"/>
            <a:endParaRPr lang="en-US" sz="2400" i="1" dirty="0"/>
          </a:p>
          <a:p>
            <a:pPr lvl="1"/>
            <a:endParaRPr lang="en-US" sz="2400" i="1" dirty="0"/>
          </a:p>
        </p:txBody>
      </p:sp>
      <p:sp>
        <p:nvSpPr>
          <p:cNvPr id="32" name="Title 1"/>
          <p:cNvSpPr>
            <a:spLocks noGrp="1"/>
          </p:cNvSpPr>
          <p:nvPr>
            <p:ph type="title"/>
          </p:nvPr>
        </p:nvSpPr>
        <p:spPr>
          <a:xfrm>
            <a:off x="1981200" y="0"/>
            <a:ext cx="8229600" cy="914400"/>
          </a:xfrm>
        </p:spPr>
        <p:txBody>
          <a:bodyPr>
            <a:normAutofit/>
          </a:bodyPr>
          <a:lstStyle/>
          <a:p>
            <a:r>
              <a:rPr lang="en-US" sz="4000" dirty="0"/>
              <a:t>Hardy-Weinberg in Action</a:t>
            </a:r>
            <a:endParaRPr lang="en-US" sz="3200" dirty="0"/>
          </a:p>
        </p:txBody>
      </p:sp>
    </p:spTree>
    <p:extLst>
      <p:ext uri="{BB962C8B-B14F-4D97-AF65-F5344CB8AC3E}">
        <p14:creationId xmlns:p14="http://schemas.microsoft.com/office/powerpoint/2010/main" val="343744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37" name="Content Placeholder 2"/>
          <p:cNvSpPr txBox="1">
            <a:spLocks/>
          </p:cNvSpPr>
          <p:nvPr/>
        </p:nvSpPr>
        <p:spPr>
          <a:xfrm>
            <a:off x="1924230" y="914400"/>
            <a:ext cx="9067800" cy="4343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a:t>Exercise 1 – Test H-W equilibrium</a:t>
            </a:r>
          </a:p>
          <a:p>
            <a:r>
              <a:rPr lang="en-US" sz="2800" dirty="0"/>
              <a:t>H</a:t>
            </a:r>
            <a:r>
              <a:rPr lang="en-US" sz="2800" baseline="-25000" dirty="0"/>
              <a:t>0</a:t>
            </a:r>
            <a:r>
              <a:rPr lang="en-US" sz="2800" dirty="0"/>
              <a:t>= There is no difference in allelic frequency between the parent and new populations. (i.e. The population is in Hardy-Weinberg equilibrium)</a:t>
            </a:r>
          </a:p>
          <a:p>
            <a:r>
              <a:rPr lang="en-US" sz="2800" dirty="0"/>
              <a:t>Parent population:</a:t>
            </a:r>
          </a:p>
          <a:p>
            <a:pPr marL="0" indent="0">
              <a:buNone/>
            </a:pPr>
            <a:r>
              <a:rPr lang="en-US" sz="2800" b="1" dirty="0"/>
              <a:t>Dominant</a:t>
            </a:r>
            <a:r>
              <a:rPr lang="en-US" sz="2800" dirty="0"/>
              <a:t> allele</a:t>
            </a:r>
            <a:endParaRPr lang="en-US" sz="1400" dirty="0"/>
          </a:p>
          <a:p>
            <a:pPr marL="457200" lvl="1" indent="0">
              <a:buNone/>
            </a:pPr>
            <a:r>
              <a:rPr lang="en-US" sz="2400" i="1" dirty="0"/>
              <a:t>A</a:t>
            </a:r>
            <a:r>
              <a:rPr lang="en-US" sz="2400" dirty="0"/>
              <a:t> = ___________ color; _________ allelic frequency</a:t>
            </a:r>
          </a:p>
          <a:p>
            <a:pPr marL="57150" indent="0">
              <a:buNone/>
            </a:pPr>
            <a:r>
              <a:rPr lang="en-US" sz="2800" b="1" dirty="0"/>
              <a:t>Recessive</a:t>
            </a:r>
            <a:r>
              <a:rPr lang="en-US" sz="2800" dirty="0"/>
              <a:t> allele</a:t>
            </a:r>
          </a:p>
          <a:p>
            <a:pPr marL="457200" lvl="1" indent="0">
              <a:buNone/>
            </a:pPr>
            <a:r>
              <a:rPr lang="en-US" sz="2400" i="1" dirty="0"/>
              <a:t>a</a:t>
            </a:r>
            <a:r>
              <a:rPr lang="en-US" sz="2400" dirty="0"/>
              <a:t> = ___________ color; _________ allelic frequency</a:t>
            </a:r>
            <a:endParaRPr lang="en-US" sz="2400" i="1" u="sng" dirty="0"/>
          </a:p>
        </p:txBody>
      </p:sp>
      <p:sp>
        <p:nvSpPr>
          <p:cNvPr id="39" name="Content Placeholder 2"/>
          <p:cNvSpPr txBox="1">
            <a:spLocks/>
          </p:cNvSpPr>
          <p:nvPr/>
        </p:nvSpPr>
        <p:spPr>
          <a:xfrm>
            <a:off x="3416304" y="3763773"/>
            <a:ext cx="745717"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blue</a:t>
            </a:r>
            <a:endParaRPr lang="en-US" sz="2400" i="1" u="sng" dirty="0"/>
          </a:p>
        </p:txBody>
      </p:sp>
      <p:sp>
        <p:nvSpPr>
          <p:cNvPr id="40" name="Content Placeholder 2"/>
          <p:cNvSpPr txBox="1">
            <a:spLocks/>
          </p:cNvSpPr>
          <p:nvPr/>
        </p:nvSpPr>
        <p:spPr>
          <a:xfrm>
            <a:off x="5893244" y="3764440"/>
            <a:ext cx="577402"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0.6</a:t>
            </a:r>
            <a:endParaRPr lang="en-US" sz="2400" i="1" u="sng" dirty="0"/>
          </a:p>
        </p:txBody>
      </p:sp>
      <p:sp>
        <p:nvSpPr>
          <p:cNvPr id="41" name="Content Placeholder 2"/>
          <p:cNvSpPr txBox="1">
            <a:spLocks/>
          </p:cNvSpPr>
          <p:nvPr/>
        </p:nvSpPr>
        <p:spPr>
          <a:xfrm>
            <a:off x="3429000" y="4719936"/>
            <a:ext cx="610808"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red</a:t>
            </a:r>
            <a:endParaRPr lang="en-US" sz="2400" i="1" u="sng" dirty="0"/>
          </a:p>
        </p:txBody>
      </p:sp>
      <p:sp>
        <p:nvSpPr>
          <p:cNvPr id="42" name="Content Placeholder 2"/>
          <p:cNvSpPr txBox="1">
            <a:spLocks/>
          </p:cNvSpPr>
          <p:nvPr/>
        </p:nvSpPr>
        <p:spPr>
          <a:xfrm>
            <a:off x="5910464" y="4719936"/>
            <a:ext cx="577402"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0.4</a:t>
            </a:r>
            <a:endParaRPr lang="en-US" sz="2400" i="1" u="sng" dirty="0"/>
          </a:p>
        </p:txBody>
      </p:sp>
    </p:spTree>
    <p:extLst>
      <p:ext uri="{BB962C8B-B14F-4D97-AF65-F5344CB8AC3E}">
        <p14:creationId xmlns:p14="http://schemas.microsoft.com/office/powerpoint/2010/main" val="3771376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14" name="Content Placeholder 2"/>
          <p:cNvSpPr>
            <a:spLocks noGrp="1"/>
          </p:cNvSpPr>
          <p:nvPr>
            <p:ph idx="1"/>
          </p:nvPr>
        </p:nvSpPr>
        <p:spPr>
          <a:xfrm>
            <a:off x="1981200" y="2295966"/>
            <a:ext cx="8393646" cy="3830197"/>
          </a:xfrm>
        </p:spPr>
        <p:txBody>
          <a:bodyPr>
            <a:normAutofit/>
          </a:bodyPr>
          <a:lstStyle/>
          <a:p>
            <a:pPr marL="0" indent="0">
              <a:buNone/>
            </a:pPr>
            <a:r>
              <a:rPr lang="en-US" sz="2600" i="1" dirty="0">
                <a:latin typeface="Times New Roman" panose="02020603050405020304" pitchFamily="18" charset="0"/>
                <a:cs typeface="Times New Roman" panose="02020603050405020304" pitchFamily="18" charset="0"/>
              </a:rPr>
              <a:t>p</a:t>
            </a:r>
            <a:r>
              <a:rPr lang="en-US" sz="2600" dirty="0"/>
              <a:t> = frequency of dominant allele (A)</a:t>
            </a:r>
          </a:p>
          <a:p>
            <a:pPr marL="0" indent="0">
              <a:buNone/>
            </a:pPr>
            <a:r>
              <a:rPr lang="en-US" sz="2600" i="1" dirty="0">
                <a:latin typeface="Times New Roman" panose="02020603050405020304" pitchFamily="18" charset="0"/>
                <a:cs typeface="Times New Roman" panose="02020603050405020304" pitchFamily="18" charset="0"/>
              </a:rPr>
              <a:t>q</a:t>
            </a:r>
            <a:r>
              <a:rPr lang="en-US" sz="2600" dirty="0"/>
              <a:t> = frequency of recessive allele (a)</a:t>
            </a:r>
          </a:p>
          <a:p>
            <a:pPr marL="0" indent="0">
              <a:buNone/>
            </a:pPr>
            <a:endParaRPr lang="en-US" sz="2600" i="1" dirty="0">
              <a:latin typeface="Times New Roman" panose="02020603050405020304" pitchFamily="18" charset="0"/>
              <a:cs typeface="Times New Roman" panose="02020603050405020304" pitchFamily="18" charset="0"/>
            </a:endParaRPr>
          </a:p>
          <a:p>
            <a:pPr marL="0" indent="0">
              <a:buNone/>
            </a:pPr>
            <a:r>
              <a:rPr lang="en-US" sz="2600" i="1" dirty="0">
                <a:latin typeface="Times New Roman" panose="02020603050405020304" pitchFamily="18" charset="0"/>
                <a:cs typeface="Times New Roman" panose="02020603050405020304" pitchFamily="18" charset="0"/>
              </a:rPr>
              <a:t>          p  </a:t>
            </a:r>
            <a:r>
              <a:rPr lang="en-US" sz="2600" dirty="0"/>
              <a:t>+  </a:t>
            </a:r>
            <a:r>
              <a:rPr lang="en-US" sz="2600" i="1" dirty="0">
                <a:latin typeface="Times New Roman" panose="02020603050405020304" pitchFamily="18" charset="0"/>
                <a:cs typeface="Times New Roman" panose="02020603050405020304" pitchFamily="18" charset="0"/>
              </a:rPr>
              <a:t>q</a:t>
            </a:r>
            <a:r>
              <a:rPr lang="en-US" sz="2600" dirty="0"/>
              <a:t>  = 1       </a:t>
            </a:r>
            <a:r>
              <a:rPr lang="en-US" sz="2600" dirty="0">
                <a:solidFill>
                  <a:srgbClr val="C00000"/>
                </a:solidFill>
              </a:rPr>
              <a:t>CIRCLE THIS IN YOUR MANUAL!</a:t>
            </a:r>
          </a:p>
        </p:txBody>
      </p:sp>
      <p:sp>
        <p:nvSpPr>
          <p:cNvPr id="18" name="TextBox 17"/>
          <p:cNvSpPr txBox="1"/>
          <p:nvPr/>
        </p:nvSpPr>
        <p:spPr>
          <a:xfrm>
            <a:off x="7238642" y="2358074"/>
            <a:ext cx="604971" cy="424732"/>
          </a:xfrm>
          <a:prstGeom prst="rect">
            <a:avLst/>
          </a:prstGeom>
          <a:noFill/>
        </p:spPr>
        <p:txBody>
          <a:bodyPr wrap="square" lIns="27432" tIns="27432" rIns="45720" bIns="27432" rtlCol="0">
            <a:spAutoFit/>
          </a:bodyPr>
          <a:lstStyle/>
          <a:p>
            <a:r>
              <a:rPr lang="en-US" sz="2400" b="1" dirty="0">
                <a:solidFill>
                  <a:srgbClr val="0000FF"/>
                </a:solidFill>
                <a:sym typeface="Wingdings 2"/>
              </a:rPr>
              <a:t>0.6</a:t>
            </a:r>
            <a:endParaRPr lang="en-US" sz="2400" b="1" dirty="0">
              <a:solidFill>
                <a:srgbClr val="0000FF"/>
              </a:solidFill>
            </a:endParaRPr>
          </a:p>
        </p:txBody>
      </p:sp>
      <p:sp>
        <p:nvSpPr>
          <p:cNvPr id="19" name="TextBox 18"/>
          <p:cNvSpPr txBox="1"/>
          <p:nvPr/>
        </p:nvSpPr>
        <p:spPr>
          <a:xfrm>
            <a:off x="7238642" y="2830431"/>
            <a:ext cx="604971" cy="424732"/>
          </a:xfrm>
          <a:prstGeom prst="rect">
            <a:avLst/>
          </a:prstGeom>
          <a:noFill/>
        </p:spPr>
        <p:txBody>
          <a:bodyPr wrap="square" lIns="27432" tIns="27432" rIns="45720" bIns="27432" rtlCol="0">
            <a:spAutoFit/>
          </a:bodyPr>
          <a:lstStyle/>
          <a:p>
            <a:r>
              <a:rPr lang="en-US" sz="2400" b="1" dirty="0">
                <a:solidFill>
                  <a:srgbClr val="0000FF"/>
                </a:solidFill>
                <a:sym typeface="Wingdings 2"/>
              </a:rPr>
              <a:t>0.4</a:t>
            </a:r>
            <a:endParaRPr lang="en-US" sz="2400" b="1" dirty="0">
              <a:solidFill>
                <a:srgbClr val="0000FF"/>
              </a:solidFill>
            </a:endParaRPr>
          </a:p>
        </p:txBody>
      </p:sp>
      <p:sp>
        <p:nvSpPr>
          <p:cNvPr id="20" name="TextBox 19"/>
          <p:cNvSpPr txBox="1"/>
          <p:nvPr/>
        </p:nvSpPr>
        <p:spPr>
          <a:xfrm>
            <a:off x="2784520" y="4223468"/>
            <a:ext cx="2016081" cy="424732"/>
          </a:xfrm>
          <a:prstGeom prst="rect">
            <a:avLst/>
          </a:prstGeom>
          <a:noFill/>
        </p:spPr>
        <p:txBody>
          <a:bodyPr wrap="square" lIns="27432" tIns="27432" rIns="45720" bIns="27432" rtlCol="0">
            <a:spAutoFit/>
          </a:bodyPr>
          <a:lstStyle/>
          <a:p>
            <a:r>
              <a:rPr lang="en-US" sz="2400" b="1" dirty="0">
                <a:solidFill>
                  <a:srgbClr val="0000FF"/>
                </a:solidFill>
                <a:sym typeface="Wingdings 2"/>
              </a:rPr>
              <a:t>0.6 + 0.4 = 1.0</a:t>
            </a:r>
            <a:endParaRPr lang="en-US" sz="2400" b="1" dirty="0">
              <a:solidFill>
                <a:srgbClr val="0000FF"/>
              </a:solidFill>
            </a:endParaRPr>
          </a:p>
        </p:txBody>
      </p:sp>
      <p:sp>
        <p:nvSpPr>
          <p:cNvPr id="31" name="TextBox 30"/>
          <p:cNvSpPr txBox="1"/>
          <p:nvPr/>
        </p:nvSpPr>
        <p:spPr>
          <a:xfrm>
            <a:off x="8045794" y="2601068"/>
            <a:ext cx="2155909" cy="400110"/>
          </a:xfrm>
          <a:prstGeom prst="rect">
            <a:avLst/>
          </a:prstGeom>
          <a:noFill/>
        </p:spPr>
        <p:txBody>
          <a:bodyPr wrap="square" rtlCol="0">
            <a:spAutoFit/>
          </a:bodyPr>
          <a:lstStyle/>
          <a:p>
            <a:r>
              <a:rPr lang="en-US" sz="2000" b="1" dirty="0"/>
              <a:t>allele frequencies</a:t>
            </a:r>
          </a:p>
        </p:txBody>
      </p:sp>
      <p:sp>
        <p:nvSpPr>
          <p:cNvPr id="33" name="Right Brace 32"/>
          <p:cNvSpPr/>
          <p:nvPr/>
        </p:nvSpPr>
        <p:spPr>
          <a:xfrm>
            <a:off x="7722493" y="2366206"/>
            <a:ext cx="297303" cy="882580"/>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Content Placeholder 2"/>
          <p:cNvSpPr txBox="1">
            <a:spLocks/>
          </p:cNvSpPr>
          <p:nvPr/>
        </p:nvSpPr>
        <p:spPr>
          <a:xfrm>
            <a:off x="1981200" y="914401"/>
            <a:ext cx="8382000" cy="14883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sz="2400" i="1" dirty="0"/>
              <a:t>A</a:t>
            </a:r>
            <a:r>
              <a:rPr lang="en-US" sz="2400" dirty="0"/>
              <a:t> = ___________ color; _________ allelic frequency</a:t>
            </a:r>
          </a:p>
          <a:p>
            <a:pPr marL="457200" lvl="1" indent="0">
              <a:buNone/>
            </a:pPr>
            <a:r>
              <a:rPr lang="en-US" sz="2400" i="1" dirty="0"/>
              <a:t>a</a:t>
            </a:r>
            <a:r>
              <a:rPr lang="en-US" sz="2400" dirty="0"/>
              <a:t> = ___________ color; _________ allelic frequency</a:t>
            </a:r>
            <a:endParaRPr lang="en-US" sz="2400" i="1" u="sng" dirty="0"/>
          </a:p>
        </p:txBody>
      </p:sp>
      <p:sp>
        <p:nvSpPr>
          <p:cNvPr id="39" name="Content Placeholder 2"/>
          <p:cNvSpPr txBox="1">
            <a:spLocks/>
          </p:cNvSpPr>
          <p:nvPr/>
        </p:nvSpPr>
        <p:spPr>
          <a:xfrm>
            <a:off x="3416304" y="914401"/>
            <a:ext cx="745717"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blue</a:t>
            </a:r>
            <a:endParaRPr lang="en-US" sz="2400" i="1" u="sng" dirty="0"/>
          </a:p>
        </p:txBody>
      </p:sp>
      <p:sp>
        <p:nvSpPr>
          <p:cNvPr id="40" name="Content Placeholder 2"/>
          <p:cNvSpPr txBox="1">
            <a:spLocks/>
          </p:cNvSpPr>
          <p:nvPr/>
        </p:nvSpPr>
        <p:spPr>
          <a:xfrm>
            <a:off x="5893244" y="915068"/>
            <a:ext cx="577402"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0.6</a:t>
            </a:r>
            <a:endParaRPr lang="en-US" sz="2400" i="1" u="sng" dirty="0"/>
          </a:p>
        </p:txBody>
      </p:sp>
      <p:sp>
        <p:nvSpPr>
          <p:cNvPr id="41" name="Content Placeholder 2"/>
          <p:cNvSpPr txBox="1">
            <a:spLocks/>
          </p:cNvSpPr>
          <p:nvPr/>
        </p:nvSpPr>
        <p:spPr>
          <a:xfrm>
            <a:off x="3429000" y="1348894"/>
            <a:ext cx="610808"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red</a:t>
            </a:r>
            <a:endParaRPr lang="en-US" sz="2400" i="1" u="sng" dirty="0"/>
          </a:p>
        </p:txBody>
      </p:sp>
      <p:sp>
        <p:nvSpPr>
          <p:cNvPr id="42" name="Content Placeholder 2"/>
          <p:cNvSpPr txBox="1">
            <a:spLocks/>
          </p:cNvSpPr>
          <p:nvPr/>
        </p:nvSpPr>
        <p:spPr>
          <a:xfrm>
            <a:off x="5910464" y="1348894"/>
            <a:ext cx="577402"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0.4</a:t>
            </a:r>
            <a:endParaRPr lang="en-US" sz="2400" i="1" u="sng" dirty="0"/>
          </a:p>
        </p:txBody>
      </p:sp>
    </p:spTree>
    <p:extLst>
      <p:ext uri="{BB962C8B-B14F-4D97-AF65-F5344CB8AC3E}">
        <p14:creationId xmlns:p14="http://schemas.microsoft.com/office/powerpoint/2010/main" val="2527403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14" name="Content Placeholder 2"/>
          <p:cNvSpPr>
            <a:spLocks noGrp="1"/>
          </p:cNvSpPr>
          <p:nvPr>
            <p:ph idx="1"/>
          </p:nvPr>
        </p:nvSpPr>
        <p:spPr>
          <a:xfrm>
            <a:off x="1981200" y="2295966"/>
            <a:ext cx="8393646" cy="3830197"/>
          </a:xfrm>
        </p:spPr>
        <p:txBody>
          <a:bodyPr>
            <a:normAutofit/>
          </a:bodyPr>
          <a:lstStyle/>
          <a:p>
            <a:pPr marL="0" indent="0">
              <a:buNone/>
            </a:pPr>
            <a:r>
              <a:rPr lang="en-US" sz="2600" dirty="0"/>
              <a:t>genotype = AA  called?</a:t>
            </a:r>
          </a:p>
          <a:p>
            <a:pPr marL="0" indent="0">
              <a:buNone/>
            </a:pPr>
            <a:r>
              <a:rPr lang="en-US" sz="2600" dirty="0"/>
              <a:t>genotype = </a:t>
            </a:r>
            <a:r>
              <a:rPr lang="en-US" sz="2600" dirty="0" err="1"/>
              <a:t>aa</a:t>
            </a:r>
            <a:r>
              <a:rPr lang="en-US" sz="2600" dirty="0"/>
              <a:t>  called?</a:t>
            </a:r>
          </a:p>
          <a:p>
            <a:pPr marL="0" indent="0">
              <a:buNone/>
            </a:pPr>
            <a:r>
              <a:rPr lang="en-US" sz="2600" dirty="0"/>
              <a:t>genotype = </a:t>
            </a:r>
            <a:r>
              <a:rPr lang="en-US" sz="2600" dirty="0" err="1"/>
              <a:t>Aa</a:t>
            </a:r>
            <a:r>
              <a:rPr lang="en-US" sz="2600" dirty="0"/>
              <a:t>  called?</a:t>
            </a:r>
          </a:p>
          <a:p>
            <a:endParaRPr lang="en-US" sz="2600" dirty="0"/>
          </a:p>
          <a:p>
            <a:r>
              <a:rPr lang="en-US" sz="2600" dirty="0"/>
              <a:t>Given </a:t>
            </a:r>
            <a:r>
              <a:rPr lang="en-US" sz="2600" b="1" dirty="0"/>
              <a:t>allele</a:t>
            </a:r>
            <a:r>
              <a:rPr lang="en-US" sz="2600" dirty="0"/>
              <a:t> frequencies, we can </a:t>
            </a:r>
            <a:r>
              <a:rPr lang="en-US" sz="2600" b="1" u="sng" dirty="0"/>
              <a:t>predict</a:t>
            </a:r>
            <a:r>
              <a:rPr lang="en-US" sz="2600" dirty="0"/>
              <a:t> the genotypic number (of individuals) and genotypic frequency in a population.</a:t>
            </a:r>
          </a:p>
        </p:txBody>
      </p:sp>
      <p:sp>
        <p:nvSpPr>
          <p:cNvPr id="34" name="TextBox 33"/>
          <p:cNvSpPr txBox="1"/>
          <p:nvPr/>
        </p:nvSpPr>
        <p:spPr>
          <a:xfrm>
            <a:off x="5700150" y="2362200"/>
            <a:ext cx="2986651" cy="424732"/>
          </a:xfrm>
          <a:prstGeom prst="rect">
            <a:avLst/>
          </a:prstGeom>
          <a:noFill/>
        </p:spPr>
        <p:txBody>
          <a:bodyPr wrap="none" lIns="27432" tIns="27432" rIns="45720" bIns="27432" rtlCol="0">
            <a:spAutoFit/>
          </a:bodyPr>
          <a:lstStyle/>
          <a:p>
            <a:r>
              <a:rPr lang="en-US" sz="2400" b="1" dirty="0">
                <a:solidFill>
                  <a:srgbClr val="0000FF"/>
                </a:solidFill>
                <a:sym typeface="Wingdings 2"/>
              </a:rPr>
              <a:t>homozygous dominant</a:t>
            </a:r>
            <a:endParaRPr lang="en-US" sz="2400" b="1" dirty="0">
              <a:solidFill>
                <a:srgbClr val="0000FF"/>
              </a:solidFill>
            </a:endParaRPr>
          </a:p>
        </p:txBody>
      </p:sp>
      <p:sp>
        <p:nvSpPr>
          <p:cNvPr id="35" name="TextBox 34"/>
          <p:cNvSpPr txBox="1"/>
          <p:nvPr/>
        </p:nvSpPr>
        <p:spPr>
          <a:xfrm>
            <a:off x="5700149" y="2827837"/>
            <a:ext cx="2909451" cy="424732"/>
          </a:xfrm>
          <a:prstGeom prst="rect">
            <a:avLst/>
          </a:prstGeom>
          <a:noFill/>
        </p:spPr>
        <p:txBody>
          <a:bodyPr wrap="none" lIns="27432" tIns="27432" rIns="45720" bIns="27432" rtlCol="0">
            <a:spAutoFit/>
          </a:bodyPr>
          <a:lstStyle/>
          <a:p>
            <a:r>
              <a:rPr lang="en-US" sz="2400" b="1" dirty="0">
                <a:solidFill>
                  <a:srgbClr val="0000FF"/>
                </a:solidFill>
                <a:sym typeface="Wingdings 2"/>
              </a:rPr>
              <a:t>homozygous recessive</a:t>
            </a:r>
            <a:endParaRPr lang="en-US" sz="2400" b="1" dirty="0">
              <a:solidFill>
                <a:srgbClr val="0000FF"/>
              </a:solidFill>
            </a:endParaRPr>
          </a:p>
        </p:txBody>
      </p:sp>
      <p:sp>
        <p:nvSpPr>
          <p:cNvPr id="36" name="TextBox 35"/>
          <p:cNvSpPr txBox="1"/>
          <p:nvPr/>
        </p:nvSpPr>
        <p:spPr>
          <a:xfrm>
            <a:off x="5700148" y="3288279"/>
            <a:ext cx="1777603" cy="424732"/>
          </a:xfrm>
          <a:prstGeom prst="rect">
            <a:avLst/>
          </a:prstGeom>
          <a:noFill/>
        </p:spPr>
        <p:txBody>
          <a:bodyPr wrap="none" lIns="27432" tIns="27432" rIns="45720" bIns="27432" rtlCol="0">
            <a:spAutoFit/>
          </a:bodyPr>
          <a:lstStyle/>
          <a:p>
            <a:r>
              <a:rPr lang="en-US" sz="2400" b="1" dirty="0">
                <a:solidFill>
                  <a:srgbClr val="0000FF"/>
                </a:solidFill>
                <a:sym typeface="Wingdings 2"/>
              </a:rPr>
              <a:t>heterozygous</a:t>
            </a:r>
            <a:endParaRPr lang="en-US" sz="2400" b="1" dirty="0">
              <a:solidFill>
                <a:srgbClr val="0000FF"/>
              </a:solidFill>
            </a:endParaRPr>
          </a:p>
        </p:txBody>
      </p:sp>
      <p:sp>
        <p:nvSpPr>
          <p:cNvPr id="37" name="Content Placeholder 2"/>
          <p:cNvSpPr txBox="1">
            <a:spLocks/>
          </p:cNvSpPr>
          <p:nvPr/>
        </p:nvSpPr>
        <p:spPr>
          <a:xfrm>
            <a:off x="1981200" y="914401"/>
            <a:ext cx="8382000" cy="14883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sz="2400" i="1" dirty="0"/>
              <a:t>A</a:t>
            </a:r>
            <a:r>
              <a:rPr lang="en-US" sz="2400" dirty="0"/>
              <a:t> = ___________ color; _________ allelic frequency</a:t>
            </a:r>
          </a:p>
          <a:p>
            <a:pPr marL="457200" lvl="1" indent="0">
              <a:buNone/>
            </a:pPr>
            <a:r>
              <a:rPr lang="en-US" sz="2400" i="1" dirty="0"/>
              <a:t>a</a:t>
            </a:r>
            <a:r>
              <a:rPr lang="en-US" sz="2400" dirty="0"/>
              <a:t> = ___________ color; _________ allelic frequency</a:t>
            </a:r>
            <a:endParaRPr lang="en-US" sz="2400" i="1" u="sng" dirty="0"/>
          </a:p>
        </p:txBody>
      </p:sp>
      <p:sp>
        <p:nvSpPr>
          <p:cNvPr id="39" name="Content Placeholder 2"/>
          <p:cNvSpPr txBox="1">
            <a:spLocks/>
          </p:cNvSpPr>
          <p:nvPr/>
        </p:nvSpPr>
        <p:spPr>
          <a:xfrm>
            <a:off x="3416304" y="914401"/>
            <a:ext cx="745717"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blue</a:t>
            </a:r>
            <a:endParaRPr lang="en-US" sz="2400" i="1" u="sng" dirty="0"/>
          </a:p>
        </p:txBody>
      </p:sp>
      <p:sp>
        <p:nvSpPr>
          <p:cNvPr id="40" name="Content Placeholder 2"/>
          <p:cNvSpPr txBox="1">
            <a:spLocks/>
          </p:cNvSpPr>
          <p:nvPr/>
        </p:nvSpPr>
        <p:spPr>
          <a:xfrm>
            <a:off x="5893244" y="915068"/>
            <a:ext cx="577402"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0.6</a:t>
            </a:r>
            <a:endParaRPr lang="en-US" sz="2400" i="1" u="sng" dirty="0"/>
          </a:p>
        </p:txBody>
      </p:sp>
      <p:sp>
        <p:nvSpPr>
          <p:cNvPr id="41" name="Content Placeholder 2"/>
          <p:cNvSpPr txBox="1">
            <a:spLocks/>
          </p:cNvSpPr>
          <p:nvPr/>
        </p:nvSpPr>
        <p:spPr>
          <a:xfrm>
            <a:off x="3429000" y="1348894"/>
            <a:ext cx="610808"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red</a:t>
            </a:r>
            <a:endParaRPr lang="en-US" sz="2400" i="1" u="sng" dirty="0"/>
          </a:p>
        </p:txBody>
      </p:sp>
      <p:sp>
        <p:nvSpPr>
          <p:cNvPr id="42" name="Content Placeholder 2"/>
          <p:cNvSpPr txBox="1">
            <a:spLocks/>
          </p:cNvSpPr>
          <p:nvPr/>
        </p:nvSpPr>
        <p:spPr>
          <a:xfrm>
            <a:off x="5910464" y="1348894"/>
            <a:ext cx="577402" cy="461665"/>
          </a:xfrm>
          <a:prstGeom prst="rect">
            <a:avLst/>
          </a:prstGeom>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00FF"/>
                </a:solidFill>
              </a:rPr>
              <a:t>0.4</a:t>
            </a:r>
            <a:endParaRPr lang="en-US" sz="2400" i="1" u="sng" dirty="0"/>
          </a:p>
        </p:txBody>
      </p:sp>
    </p:spTree>
    <p:extLst>
      <p:ext uri="{BB962C8B-B14F-4D97-AF65-F5344CB8AC3E}">
        <p14:creationId xmlns:p14="http://schemas.microsoft.com/office/powerpoint/2010/main" val="176574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13" name="Content Placeholder 2"/>
          <p:cNvSpPr>
            <a:spLocks noGrp="1"/>
          </p:cNvSpPr>
          <p:nvPr>
            <p:ph idx="1"/>
          </p:nvPr>
        </p:nvSpPr>
        <p:spPr>
          <a:xfrm>
            <a:off x="1219200" y="1066801"/>
            <a:ext cx="9906000" cy="5410199"/>
          </a:xfrm>
        </p:spPr>
        <p:txBody>
          <a:bodyPr>
            <a:normAutofit/>
          </a:bodyPr>
          <a:lstStyle/>
          <a:p>
            <a:pPr marL="0" indent="0">
              <a:buNone/>
            </a:pPr>
            <a:r>
              <a:rPr lang="en-US" sz="2600" b="1" dirty="0"/>
              <a:t>genotypic</a:t>
            </a:r>
            <a:r>
              <a:rPr lang="en-US" sz="2600" dirty="0"/>
              <a:t> frequency: meeting the 5 assumptions, including random mating</a:t>
            </a:r>
          </a:p>
          <a:p>
            <a:pPr marL="0" indent="0">
              <a:buNone/>
            </a:pPr>
            <a:endParaRPr lang="en-US" sz="2600" dirty="0"/>
          </a:p>
          <a:p>
            <a:pPr marL="0" indent="0">
              <a:buNone/>
            </a:pPr>
            <a:endParaRPr lang="en-US" sz="2600" dirty="0"/>
          </a:p>
          <a:p>
            <a:pPr marL="457200" lvl="1" indent="0">
              <a:lnSpc>
                <a:spcPct val="150000"/>
              </a:lnSpc>
              <a:buNone/>
            </a:pPr>
            <a:r>
              <a:rPr lang="en-US" sz="2400" i="1" dirty="0">
                <a:latin typeface="Times New Roman" panose="02020603050405020304" pitchFamily="18" charset="0"/>
                <a:cs typeface="Times New Roman" panose="02020603050405020304" pitchFamily="18" charset="0"/>
              </a:rPr>
              <a:t>p</a:t>
            </a:r>
            <a:r>
              <a:rPr lang="en-US" sz="2400" baseline="30000" dirty="0"/>
              <a:t>2</a:t>
            </a:r>
            <a:r>
              <a:rPr lang="en-US" sz="2400" dirty="0"/>
              <a:t> = frequency of AA = ?</a:t>
            </a:r>
          </a:p>
          <a:p>
            <a:pPr marL="457200" lvl="1" indent="0">
              <a:lnSpc>
                <a:spcPct val="150000"/>
              </a:lnSpc>
              <a:buNone/>
            </a:pPr>
            <a:r>
              <a:rPr lang="en-US" sz="2400" i="1" dirty="0">
                <a:latin typeface="Times New Roman" panose="02020603050405020304" pitchFamily="18" charset="0"/>
                <a:cs typeface="Times New Roman" panose="02020603050405020304" pitchFamily="18" charset="0"/>
              </a:rPr>
              <a:t>q</a:t>
            </a:r>
            <a:r>
              <a:rPr lang="en-US" sz="2400" baseline="30000" dirty="0"/>
              <a:t>2</a:t>
            </a:r>
            <a:r>
              <a:rPr lang="en-US" sz="2400" dirty="0"/>
              <a:t> = frequency of </a:t>
            </a:r>
            <a:r>
              <a:rPr lang="en-US" sz="2400" dirty="0" err="1"/>
              <a:t>aa</a:t>
            </a:r>
            <a:r>
              <a:rPr lang="en-US" sz="2400" dirty="0"/>
              <a:t> = ?</a:t>
            </a:r>
          </a:p>
          <a:p>
            <a:pPr marL="457200" lvl="1" indent="0">
              <a:lnSpc>
                <a:spcPct val="150000"/>
              </a:lnSpc>
              <a:buNone/>
            </a:pPr>
            <a:r>
              <a:rPr lang="en-US" sz="2400" dirty="0">
                <a:latin typeface="Times New Roman" panose="02020603050405020304" pitchFamily="18" charset="0"/>
                <a:cs typeface="Times New Roman" panose="02020603050405020304" pitchFamily="18" charset="0"/>
              </a:rPr>
              <a:t>2</a:t>
            </a:r>
            <a:r>
              <a:rPr lang="en-US" sz="2400" i="1" dirty="0">
                <a:latin typeface="Times New Roman" panose="02020603050405020304" pitchFamily="18" charset="0"/>
                <a:cs typeface="Times New Roman" panose="02020603050405020304" pitchFamily="18" charset="0"/>
              </a:rPr>
              <a:t>pq</a:t>
            </a:r>
            <a:r>
              <a:rPr lang="en-US" sz="2400" dirty="0"/>
              <a:t> = frequency of </a:t>
            </a:r>
            <a:r>
              <a:rPr lang="en-US" sz="2400" dirty="0" err="1"/>
              <a:t>Aa</a:t>
            </a:r>
            <a:r>
              <a:rPr lang="en-US" sz="2400" dirty="0"/>
              <a:t> = ?</a:t>
            </a:r>
          </a:p>
          <a:p>
            <a:pPr marL="457200" lvl="1" indent="0">
              <a:buNone/>
            </a:pPr>
            <a:endParaRPr lang="en-US" sz="2400" dirty="0"/>
          </a:p>
          <a:p>
            <a:pPr marL="457200" lvl="1" indent="0">
              <a:buNone/>
            </a:pPr>
            <a:r>
              <a:rPr lang="en-US" dirty="0"/>
              <a:t>Each and every gene may or may not be experiencing evolution</a:t>
            </a:r>
          </a:p>
        </p:txBody>
      </p:sp>
      <p:sp>
        <p:nvSpPr>
          <p:cNvPr id="15" name="TextBox 14"/>
          <p:cNvSpPr txBox="1"/>
          <p:nvPr/>
        </p:nvSpPr>
        <p:spPr>
          <a:xfrm>
            <a:off x="6294018" y="3048000"/>
            <a:ext cx="2164182" cy="424732"/>
          </a:xfrm>
          <a:prstGeom prst="rect">
            <a:avLst/>
          </a:prstGeom>
          <a:noFill/>
        </p:spPr>
        <p:txBody>
          <a:bodyPr wrap="none" lIns="27432" tIns="27432" rIns="45720" bIns="27432" rtlCol="0">
            <a:spAutoFit/>
          </a:bodyPr>
          <a:lstStyle/>
          <a:p>
            <a:r>
              <a:rPr lang="en-US" sz="2400" b="1" i="1" dirty="0">
                <a:solidFill>
                  <a:srgbClr val="0000FF"/>
                </a:solidFill>
                <a:latin typeface="Times New Roman" panose="02020603050405020304" pitchFamily="18" charset="0"/>
                <a:cs typeface="Times New Roman" panose="02020603050405020304" pitchFamily="18" charset="0"/>
                <a:sym typeface="Wingdings 2"/>
              </a:rPr>
              <a:t>p</a:t>
            </a:r>
            <a:r>
              <a:rPr lang="en-US" sz="2400" b="1" baseline="30000" dirty="0">
                <a:solidFill>
                  <a:srgbClr val="0000FF"/>
                </a:solidFill>
                <a:sym typeface="Wingdings 2"/>
              </a:rPr>
              <a:t>2</a:t>
            </a:r>
            <a:r>
              <a:rPr lang="en-US" sz="2400" b="1" dirty="0">
                <a:solidFill>
                  <a:srgbClr val="0000FF"/>
                </a:solidFill>
                <a:sym typeface="Wingdings 2"/>
              </a:rPr>
              <a:t> = (0.6)</a:t>
            </a:r>
            <a:r>
              <a:rPr lang="en-US" sz="2400" b="1" baseline="30000" dirty="0">
                <a:solidFill>
                  <a:srgbClr val="0000FF"/>
                </a:solidFill>
                <a:sym typeface="Wingdings 2"/>
              </a:rPr>
              <a:t>2</a:t>
            </a:r>
            <a:r>
              <a:rPr lang="en-US" sz="2400" b="1" dirty="0">
                <a:solidFill>
                  <a:srgbClr val="0000FF"/>
                </a:solidFill>
                <a:sym typeface="Wingdings 2"/>
              </a:rPr>
              <a:t> = 0.36</a:t>
            </a:r>
            <a:endParaRPr lang="en-US" sz="2400" b="1" dirty="0">
              <a:solidFill>
                <a:srgbClr val="0000FF"/>
              </a:solidFill>
            </a:endParaRPr>
          </a:p>
        </p:txBody>
      </p:sp>
      <p:sp>
        <p:nvSpPr>
          <p:cNvPr id="16" name="TextBox 15"/>
          <p:cNvSpPr txBox="1"/>
          <p:nvPr/>
        </p:nvSpPr>
        <p:spPr>
          <a:xfrm>
            <a:off x="6229038" y="3690068"/>
            <a:ext cx="2152962" cy="424732"/>
          </a:xfrm>
          <a:prstGeom prst="rect">
            <a:avLst/>
          </a:prstGeom>
          <a:noFill/>
        </p:spPr>
        <p:txBody>
          <a:bodyPr wrap="none" lIns="27432" tIns="27432" rIns="45720" bIns="27432" rtlCol="0">
            <a:spAutoFit/>
          </a:bodyPr>
          <a:lstStyle/>
          <a:p>
            <a:r>
              <a:rPr lang="en-US" sz="2400" b="1" i="1" dirty="0">
                <a:solidFill>
                  <a:srgbClr val="0000FF"/>
                </a:solidFill>
                <a:latin typeface="Times New Roman" panose="02020603050405020304" pitchFamily="18" charset="0"/>
                <a:cs typeface="Times New Roman" panose="02020603050405020304" pitchFamily="18" charset="0"/>
                <a:sym typeface="Wingdings 2"/>
              </a:rPr>
              <a:t>q</a:t>
            </a:r>
            <a:r>
              <a:rPr lang="en-US" sz="2400" b="1" baseline="30000" dirty="0">
                <a:solidFill>
                  <a:srgbClr val="0000FF"/>
                </a:solidFill>
                <a:sym typeface="Wingdings 2"/>
              </a:rPr>
              <a:t>2</a:t>
            </a:r>
            <a:r>
              <a:rPr lang="en-US" sz="2400" b="1" dirty="0">
                <a:solidFill>
                  <a:srgbClr val="0000FF"/>
                </a:solidFill>
                <a:sym typeface="Wingdings 2"/>
              </a:rPr>
              <a:t> = (0.4)</a:t>
            </a:r>
            <a:r>
              <a:rPr lang="en-US" sz="2400" b="1" baseline="30000" dirty="0">
                <a:solidFill>
                  <a:srgbClr val="0000FF"/>
                </a:solidFill>
                <a:sym typeface="Wingdings 2"/>
              </a:rPr>
              <a:t>2</a:t>
            </a:r>
            <a:r>
              <a:rPr lang="en-US" sz="2400" b="1" dirty="0">
                <a:solidFill>
                  <a:srgbClr val="0000FF"/>
                </a:solidFill>
                <a:sym typeface="Wingdings 2"/>
              </a:rPr>
              <a:t> = 0.16</a:t>
            </a:r>
            <a:endParaRPr lang="en-US" sz="2400" b="1" dirty="0">
              <a:solidFill>
                <a:srgbClr val="0000FF"/>
              </a:solidFill>
            </a:endParaRPr>
          </a:p>
        </p:txBody>
      </p:sp>
      <p:sp>
        <p:nvSpPr>
          <p:cNvPr id="17" name="TextBox 16"/>
          <p:cNvSpPr txBox="1"/>
          <p:nvPr/>
        </p:nvSpPr>
        <p:spPr>
          <a:xfrm>
            <a:off x="6206540" y="4299668"/>
            <a:ext cx="3166060" cy="424732"/>
          </a:xfrm>
          <a:prstGeom prst="rect">
            <a:avLst/>
          </a:prstGeom>
          <a:noFill/>
        </p:spPr>
        <p:txBody>
          <a:bodyPr wrap="none" lIns="27432" tIns="27432" rIns="45720" bIns="27432" rtlCol="0">
            <a:spAutoFit/>
          </a:bodyPr>
          <a:lstStyle/>
          <a:p>
            <a:r>
              <a:rPr lang="en-US" sz="2400" b="1" dirty="0">
                <a:solidFill>
                  <a:srgbClr val="0000FF"/>
                </a:solidFill>
                <a:latin typeface="Times New Roman" panose="02020603050405020304" pitchFamily="18" charset="0"/>
                <a:cs typeface="Times New Roman" panose="02020603050405020304" pitchFamily="18" charset="0"/>
                <a:sym typeface="Wingdings 2"/>
              </a:rPr>
              <a:t>2</a:t>
            </a:r>
            <a:r>
              <a:rPr lang="en-US" sz="2400" b="1" i="1" dirty="0">
                <a:solidFill>
                  <a:srgbClr val="0000FF"/>
                </a:solidFill>
                <a:latin typeface="Times New Roman" panose="02020603050405020304" pitchFamily="18" charset="0"/>
                <a:cs typeface="Times New Roman" panose="02020603050405020304" pitchFamily="18" charset="0"/>
                <a:sym typeface="Wingdings 2"/>
              </a:rPr>
              <a:t>pq</a:t>
            </a:r>
            <a:r>
              <a:rPr lang="en-US" sz="2400" b="1" dirty="0">
                <a:solidFill>
                  <a:srgbClr val="0000FF"/>
                </a:solidFill>
                <a:sym typeface="Wingdings 2"/>
              </a:rPr>
              <a:t> = 2 x 0.6 x 0.4 = 0.48</a:t>
            </a:r>
            <a:endParaRPr lang="en-US" sz="2400" b="1" dirty="0">
              <a:solidFill>
                <a:srgbClr val="0000FF"/>
              </a:solidFill>
            </a:endParaRPr>
          </a:p>
        </p:txBody>
      </p:sp>
      <p:sp>
        <p:nvSpPr>
          <p:cNvPr id="41" name="TextBox 40"/>
          <p:cNvSpPr txBox="1"/>
          <p:nvPr/>
        </p:nvSpPr>
        <p:spPr>
          <a:xfrm>
            <a:off x="2338115" y="2186763"/>
            <a:ext cx="2220288" cy="424732"/>
          </a:xfrm>
          <a:prstGeom prst="rect">
            <a:avLst/>
          </a:prstGeom>
          <a:solidFill>
            <a:schemeClr val="bg1">
              <a:alpha val="50000"/>
            </a:schemeClr>
          </a:solidFill>
        </p:spPr>
        <p:txBody>
          <a:bodyPr wrap="none" lIns="27432" tIns="27432" rIns="45720" bIns="27432" rtlCol="0">
            <a:spAutoFit/>
          </a:bodyPr>
          <a:lstStyle/>
          <a:p>
            <a:r>
              <a:rPr lang="en-US" sz="2400" b="1" i="1" dirty="0">
                <a:solidFill>
                  <a:srgbClr val="7030A0"/>
                </a:solidFill>
                <a:latin typeface="Times New Roman" panose="02020603050405020304" pitchFamily="18" charset="0"/>
                <a:cs typeface="Times New Roman" panose="02020603050405020304" pitchFamily="18" charset="0"/>
                <a:sym typeface="Wingdings 2"/>
              </a:rPr>
              <a:t>p</a:t>
            </a:r>
            <a:r>
              <a:rPr lang="en-US" sz="2400" b="1" baseline="30000" dirty="0">
                <a:solidFill>
                  <a:srgbClr val="7030A0"/>
                </a:solidFill>
                <a:sym typeface="Wingdings 2"/>
              </a:rPr>
              <a:t>2</a:t>
            </a:r>
            <a:r>
              <a:rPr lang="en-US" sz="2400" b="1" dirty="0">
                <a:solidFill>
                  <a:srgbClr val="7030A0"/>
                </a:solidFill>
                <a:sym typeface="Wingdings 2"/>
              </a:rPr>
              <a:t> + </a:t>
            </a:r>
            <a:r>
              <a:rPr lang="en-US" sz="2400" b="1" dirty="0">
                <a:solidFill>
                  <a:srgbClr val="7030A0"/>
                </a:solidFill>
                <a:latin typeface="Times New Roman" panose="02020603050405020304" pitchFamily="18" charset="0"/>
                <a:cs typeface="Times New Roman" panose="02020603050405020304" pitchFamily="18" charset="0"/>
                <a:sym typeface="Wingdings 2"/>
              </a:rPr>
              <a:t>2</a:t>
            </a:r>
            <a:r>
              <a:rPr lang="en-US" sz="2400" b="1" i="1" dirty="0">
                <a:solidFill>
                  <a:srgbClr val="7030A0"/>
                </a:solidFill>
                <a:latin typeface="Times New Roman" panose="02020603050405020304" pitchFamily="18" charset="0"/>
                <a:cs typeface="Times New Roman" panose="02020603050405020304" pitchFamily="18" charset="0"/>
                <a:sym typeface="Wingdings 2"/>
              </a:rPr>
              <a:t>pq</a:t>
            </a:r>
            <a:r>
              <a:rPr lang="en-US" sz="2400" b="1" dirty="0">
                <a:solidFill>
                  <a:srgbClr val="7030A0"/>
                </a:solidFill>
                <a:sym typeface="Wingdings 2"/>
              </a:rPr>
              <a:t> + </a:t>
            </a:r>
            <a:r>
              <a:rPr lang="en-US" sz="2400" b="1" i="1" dirty="0">
                <a:solidFill>
                  <a:srgbClr val="7030A0"/>
                </a:solidFill>
                <a:latin typeface="Times New Roman" panose="02020603050405020304" pitchFamily="18" charset="0"/>
                <a:cs typeface="Times New Roman" panose="02020603050405020304" pitchFamily="18" charset="0"/>
                <a:sym typeface="Wingdings 2"/>
              </a:rPr>
              <a:t>q</a:t>
            </a:r>
            <a:r>
              <a:rPr lang="en-US" sz="2400" b="1" baseline="30000" dirty="0">
                <a:solidFill>
                  <a:srgbClr val="7030A0"/>
                </a:solidFill>
                <a:sym typeface="Wingdings 2"/>
              </a:rPr>
              <a:t>2</a:t>
            </a:r>
            <a:r>
              <a:rPr lang="en-US" sz="2400" b="1" dirty="0">
                <a:solidFill>
                  <a:srgbClr val="7030A0"/>
                </a:solidFill>
                <a:sym typeface="Wingdings 2"/>
              </a:rPr>
              <a:t> = 1  </a:t>
            </a:r>
            <a:endParaRPr lang="en-US" sz="2400" b="1" dirty="0">
              <a:solidFill>
                <a:srgbClr val="7030A0"/>
              </a:solidFill>
            </a:endParaRPr>
          </a:p>
        </p:txBody>
      </p:sp>
      <p:sp>
        <p:nvSpPr>
          <p:cNvPr id="2" name="TextBox 1"/>
          <p:cNvSpPr txBox="1"/>
          <p:nvPr/>
        </p:nvSpPr>
        <p:spPr>
          <a:xfrm>
            <a:off x="9355893" y="2618298"/>
            <a:ext cx="1226274" cy="400110"/>
          </a:xfrm>
          <a:prstGeom prst="rect">
            <a:avLst/>
          </a:prstGeom>
          <a:noFill/>
        </p:spPr>
        <p:txBody>
          <a:bodyPr wrap="square" rtlCol="0">
            <a:spAutoFit/>
          </a:bodyPr>
          <a:lstStyle/>
          <a:p>
            <a:pPr algn="ctr"/>
            <a:r>
              <a:rPr lang="en-US" sz="2000" dirty="0"/>
              <a:t>Expected</a:t>
            </a:r>
          </a:p>
        </p:txBody>
      </p:sp>
      <p:sp>
        <p:nvSpPr>
          <p:cNvPr id="19" name="TextBox 18"/>
          <p:cNvSpPr txBox="1"/>
          <p:nvPr/>
        </p:nvSpPr>
        <p:spPr>
          <a:xfrm>
            <a:off x="9614570" y="3060311"/>
            <a:ext cx="742334" cy="400110"/>
          </a:xfrm>
          <a:prstGeom prst="rect">
            <a:avLst/>
          </a:prstGeom>
          <a:noFill/>
        </p:spPr>
        <p:txBody>
          <a:bodyPr wrap="square" rtlCol="0">
            <a:spAutoFit/>
          </a:bodyPr>
          <a:lstStyle/>
          <a:p>
            <a:pPr algn="ctr"/>
            <a:r>
              <a:rPr lang="en-US" sz="2000" b="1" dirty="0"/>
              <a:t>18</a:t>
            </a:r>
          </a:p>
        </p:txBody>
      </p:sp>
      <p:sp>
        <p:nvSpPr>
          <p:cNvPr id="20" name="TextBox 19"/>
          <p:cNvSpPr txBox="1"/>
          <p:nvPr/>
        </p:nvSpPr>
        <p:spPr>
          <a:xfrm>
            <a:off x="9614570" y="3702379"/>
            <a:ext cx="742334" cy="400110"/>
          </a:xfrm>
          <a:prstGeom prst="rect">
            <a:avLst/>
          </a:prstGeom>
          <a:noFill/>
        </p:spPr>
        <p:txBody>
          <a:bodyPr wrap="square" rtlCol="0">
            <a:spAutoFit/>
          </a:bodyPr>
          <a:lstStyle/>
          <a:p>
            <a:pPr algn="ctr"/>
            <a:r>
              <a:rPr lang="en-US" sz="2000" b="1" dirty="0"/>
              <a:t>8</a:t>
            </a:r>
          </a:p>
        </p:txBody>
      </p:sp>
      <p:sp>
        <p:nvSpPr>
          <p:cNvPr id="31" name="TextBox 30"/>
          <p:cNvSpPr txBox="1"/>
          <p:nvPr/>
        </p:nvSpPr>
        <p:spPr>
          <a:xfrm>
            <a:off x="9610144" y="4311979"/>
            <a:ext cx="742334" cy="400110"/>
          </a:xfrm>
          <a:prstGeom prst="rect">
            <a:avLst/>
          </a:prstGeom>
          <a:noFill/>
        </p:spPr>
        <p:txBody>
          <a:bodyPr wrap="square" rtlCol="0">
            <a:spAutoFit/>
          </a:bodyPr>
          <a:lstStyle/>
          <a:p>
            <a:pPr algn="ctr"/>
            <a:r>
              <a:rPr lang="en-US" sz="2000" b="1" dirty="0"/>
              <a:t>24</a:t>
            </a:r>
          </a:p>
        </p:txBody>
      </p:sp>
      <p:sp>
        <p:nvSpPr>
          <p:cNvPr id="5" name="TextBox 4">
            <a:extLst>
              <a:ext uri="{FF2B5EF4-FFF2-40B4-BE49-F238E27FC236}">
                <a16:creationId xmlns:a16="http://schemas.microsoft.com/office/drawing/2014/main" id="{EE08C3B8-F101-6587-7352-55511E48DE5C}"/>
              </a:ext>
            </a:extLst>
          </p:cNvPr>
          <p:cNvSpPr txBox="1"/>
          <p:nvPr/>
        </p:nvSpPr>
        <p:spPr>
          <a:xfrm>
            <a:off x="4732258" y="2132213"/>
            <a:ext cx="4533482" cy="492443"/>
          </a:xfrm>
          <a:prstGeom prst="rect">
            <a:avLst/>
          </a:prstGeom>
          <a:noFill/>
        </p:spPr>
        <p:txBody>
          <a:bodyPr wrap="square">
            <a:spAutoFit/>
          </a:bodyPr>
          <a:lstStyle/>
          <a:p>
            <a:r>
              <a:rPr lang="en-US" sz="2600" dirty="0">
                <a:solidFill>
                  <a:srgbClr val="C00000"/>
                </a:solidFill>
              </a:rPr>
              <a:t>CIRCLE THIS IN YOUR MANUAL!</a:t>
            </a:r>
            <a:endParaRPr lang="en-US" sz="2600" dirty="0"/>
          </a:p>
        </p:txBody>
      </p:sp>
    </p:spTree>
    <p:extLst>
      <p:ext uri="{BB962C8B-B14F-4D97-AF65-F5344CB8AC3E}">
        <p14:creationId xmlns:p14="http://schemas.microsoft.com/office/powerpoint/2010/main" val="27437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16" name="Content Placeholder 2"/>
          <p:cNvSpPr>
            <a:spLocks noGrp="1"/>
          </p:cNvSpPr>
          <p:nvPr>
            <p:ph idx="1"/>
          </p:nvPr>
        </p:nvSpPr>
        <p:spPr>
          <a:xfrm>
            <a:off x="1981200" y="1066801"/>
            <a:ext cx="8393646" cy="5059363"/>
          </a:xfrm>
        </p:spPr>
        <p:txBody>
          <a:bodyPr>
            <a:normAutofit/>
          </a:bodyPr>
          <a:lstStyle/>
          <a:p>
            <a:r>
              <a:rPr lang="en-US" sz="2600" dirty="0"/>
              <a:t>Calculate </a:t>
            </a:r>
            <a:r>
              <a:rPr lang="en-US" sz="2600" b="1" i="1" dirty="0"/>
              <a:t>Observed</a:t>
            </a:r>
            <a:r>
              <a:rPr lang="en-US" sz="2600" dirty="0"/>
              <a:t> frequencies (Table 2)</a:t>
            </a:r>
          </a:p>
          <a:p>
            <a:r>
              <a:rPr lang="en-US" sz="2600" dirty="0"/>
              <a:t>Compare your observed results with those expected using the chi-square statistical test (Table 3)</a:t>
            </a:r>
          </a:p>
        </p:txBody>
      </p:sp>
      <p:graphicFrame>
        <p:nvGraphicFramePr>
          <p:cNvPr id="17" name="Table 16"/>
          <p:cNvGraphicFramePr>
            <a:graphicFrameLocks noGrp="1"/>
          </p:cNvGraphicFramePr>
          <p:nvPr>
            <p:extLst>
              <p:ext uri="{D42A27DB-BD31-4B8C-83A1-F6EECF244321}">
                <p14:modId xmlns:p14="http://schemas.microsoft.com/office/powerpoint/2010/main" val="1889942241"/>
              </p:ext>
            </p:extLst>
          </p:nvPr>
        </p:nvGraphicFramePr>
        <p:xfrm>
          <a:off x="2133600" y="2438400"/>
          <a:ext cx="7848600" cy="3288684"/>
        </p:xfrm>
        <a:graphic>
          <a:graphicData uri="http://schemas.openxmlformats.org/drawingml/2006/table">
            <a:tbl>
              <a:tblPr firstRow="1" firstCol="1" bandRow="1">
                <a:tableStyleId>{5C22544A-7EE6-4342-B048-85BDC9FD1C3A}</a:tableStyleId>
              </a:tblPr>
              <a:tblGrid>
                <a:gridCol w="3200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69812">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r>
                        <a:rPr lang="en-US" sz="2000" dirty="0">
                          <a:solidFill>
                            <a:schemeClr val="tx1"/>
                          </a:solidFill>
                          <a:effectLst/>
                          <a:latin typeface="Calibri"/>
                          <a:ea typeface="Calibri"/>
                          <a:cs typeface="Times New Roman"/>
                        </a:rPr>
                        <a:t>AA</a:t>
                      </a: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r>
                        <a:rPr lang="en-US" sz="2000" dirty="0" err="1">
                          <a:solidFill>
                            <a:schemeClr val="tx1"/>
                          </a:solidFill>
                          <a:effectLst/>
                          <a:latin typeface="Calibri"/>
                          <a:ea typeface="Calibri"/>
                          <a:cs typeface="Times New Roman"/>
                        </a:rPr>
                        <a:t>Aa</a:t>
                      </a: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r>
                        <a:rPr lang="en-US" sz="2000" dirty="0" err="1">
                          <a:solidFill>
                            <a:schemeClr val="tx1"/>
                          </a:solidFill>
                          <a:effectLst/>
                          <a:latin typeface="Calibri"/>
                          <a:ea typeface="Calibri"/>
                          <a:cs typeface="Times New Roman"/>
                        </a:rPr>
                        <a:t>aa</a:t>
                      </a: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0"/>
                  </a:ext>
                </a:extLst>
              </a:tr>
              <a:tr h="469812">
                <a:tc>
                  <a:txBody>
                    <a:bodyPr/>
                    <a:lstStyle/>
                    <a:p>
                      <a:pPr marL="0" marR="0" algn="l">
                        <a:lnSpc>
                          <a:spcPct val="115000"/>
                        </a:lnSpc>
                        <a:spcBef>
                          <a:spcPts val="0"/>
                        </a:spcBef>
                        <a:spcAft>
                          <a:spcPts val="0"/>
                        </a:spcAft>
                      </a:pPr>
                      <a:r>
                        <a:rPr lang="en-US" sz="2000" dirty="0">
                          <a:solidFill>
                            <a:schemeClr val="tx1"/>
                          </a:solidFill>
                          <a:effectLst/>
                          <a:latin typeface="Calibri"/>
                          <a:ea typeface="Calibri"/>
                          <a:cs typeface="Times New Roman"/>
                        </a:rPr>
                        <a:t>Observed</a:t>
                      </a:r>
                      <a:r>
                        <a:rPr lang="en-US" sz="2000" baseline="0" dirty="0">
                          <a:solidFill>
                            <a:schemeClr val="tx1"/>
                          </a:solidFill>
                          <a:effectLst/>
                          <a:latin typeface="Calibri"/>
                          <a:ea typeface="Calibri"/>
                          <a:cs typeface="Times New Roman"/>
                        </a:rPr>
                        <a:t> value (</a:t>
                      </a:r>
                      <a:r>
                        <a:rPr lang="en-US" sz="2000" i="1" baseline="0" dirty="0">
                          <a:solidFill>
                            <a:schemeClr val="tx1"/>
                          </a:solidFill>
                          <a:effectLst/>
                          <a:latin typeface="Times New Roman" panose="02020603050405020304" pitchFamily="18" charset="0"/>
                          <a:ea typeface="Calibri"/>
                          <a:cs typeface="Times New Roman" panose="02020603050405020304" pitchFamily="18" charset="0"/>
                        </a:rPr>
                        <a:t>o</a:t>
                      </a:r>
                      <a:r>
                        <a:rPr lang="en-US" sz="2000" i="0" baseline="0" dirty="0">
                          <a:solidFill>
                            <a:schemeClr val="tx1"/>
                          </a:solidFill>
                          <a:effectLst/>
                          <a:latin typeface="Calibri"/>
                          <a:ea typeface="Calibri"/>
                          <a:cs typeface="Times New Roman"/>
                        </a:rPr>
                        <a:t>)</a:t>
                      </a: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1"/>
                  </a:ext>
                </a:extLst>
              </a:tr>
              <a:tr h="469812">
                <a:tc>
                  <a:txBody>
                    <a:bodyPr/>
                    <a:lstStyle/>
                    <a:p>
                      <a:pPr marL="0" marR="0" algn="l">
                        <a:lnSpc>
                          <a:spcPct val="115000"/>
                        </a:lnSpc>
                        <a:spcBef>
                          <a:spcPts val="0"/>
                        </a:spcBef>
                        <a:spcAft>
                          <a:spcPts val="0"/>
                        </a:spcAft>
                      </a:pPr>
                      <a:r>
                        <a:rPr lang="en-US" sz="2000" dirty="0">
                          <a:solidFill>
                            <a:schemeClr val="tx1"/>
                          </a:solidFill>
                          <a:effectLst/>
                          <a:latin typeface="Calibri"/>
                          <a:ea typeface="Calibri"/>
                          <a:cs typeface="Times New Roman"/>
                        </a:rPr>
                        <a:t>Expected value (</a:t>
                      </a:r>
                      <a:r>
                        <a:rPr lang="en-US" sz="2000" i="1" dirty="0">
                          <a:solidFill>
                            <a:schemeClr val="tx1"/>
                          </a:solidFill>
                          <a:effectLst/>
                          <a:latin typeface="Times New Roman" panose="02020603050405020304" pitchFamily="18" charset="0"/>
                          <a:ea typeface="Calibri"/>
                          <a:cs typeface="Times New Roman" panose="02020603050405020304" pitchFamily="18" charset="0"/>
                        </a:rPr>
                        <a:t>e</a:t>
                      </a:r>
                      <a:r>
                        <a:rPr lang="en-US" sz="2000" i="0" dirty="0">
                          <a:solidFill>
                            <a:schemeClr val="tx1"/>
                          </a:solidFill>
                          <a:effectLst/>
                          <a:latin typeface="Calibri"/>
                          <a:ea typeface="Calibri"/>
                          <a:cs typeface="Times New Roman"/>
                        </a:rPr>
                        <a:t>)</a:t>
                      </a: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r>
                        <a:rPr lang="en-US" sz="2000" dirty="0">
                          <a:solidFill>
                            <a:schemeClr val="tx1"/>
                          </a:solidFill>
                          <a:effectLst/>
                          <a:latin typeface="Calibri"/>
                          <a:ea typeface="Calibri"/>
                          <a:cs typeface="Times New Roman"/>
                        </a:rPr>
                        <a:t>18</a:t>
                      </a: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r>
                        <a:rPr lang="en-US" sz="2000" dirty="0">
                          <a:solidFill>
                            <a:schemeClr val="tx1"/>
                          </a:solidFill>
                          <a:effectLst/>
                          <a:latin typeface="Calibri"/>
                          <a:ea typeface="Calibri"/>
                          <a:cs typeface="Times New Roman"/>
                        </a:rPr>
                        <a:t>24</a:t>
                      </a: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r>
                        <a:rPr lang="en-US" sz="2000" dirty="0">
                          <a:solidFill>
                            <a:schemeClr val="tx1"/>
                          </a:solidFill>
                          <a:effectLst/>
                          <a:latin typeface="Calibri"/>
                          <a:ea typeface="Calibri"/>
                          <a:cs typeface="Times New Roman"/>
                        </a:rPr>
                        <a:t>8</a:t>
                      </a:r>
                    </a:p>
                  </a:txBody>
                  <a:tcPr marL="68580" marR="68580" marT="0" marB="0" anchor="ctr">
                    <a:solidFill>
                      <a:schemeClr val="accent1">
                        <a:lumMod val="40000"/>
                        <a:lumOff val="60000"/>
                      </a:schemeClr>
                    </a:solidFill>
                  </a:tcPr>
                </a:tc>
                <a:extLst>
                  <a:ext uri="{0D108BD9-81ED-4DB2-BD59-A6C34878D82A}">
                    <a16:rowId xmlns:a16="http://schemas.microsoft.com/office/drawing/2014/main" val="10002"/>
                  </a:ext>
                </a:extLst>
              </a:tr>
              <a:tr h="469812">
                <a:tc>
                  <a:txBody>
                    <a:bodyPr/>
                    <a:lstStyle/>
                    <a:p>
                      <a:pPr marL="0" marR="0" algn="l">
                        <a:lnSpc>
                          <a:spcPct val="115000"/>
                        </a:lnSpc>
                        <a:spcBef>
                          <a:spcPts val="0"/>
                        </a:spcBef>
                        <a:spcAft>
                          <a:spcPts val="0"/>
                        </a:spcAft>
                      </a:pPr>
                      <a:r>
                        <a:rPr lang="en-US" sz="2000" dirty="0">
                          <a:solidFill>
                            <a:schemeClr val="tx1"/>
                          </a:solidFill>
                          <a:effectLst/>
                          <a:latin typeface="Calibri"/>
                          <a:ea typeface="Calibri"/>
                          <a:cs typeface="Times New Roman"/>
                        </a:rPr>
                        <a:t>Deviation (</a:t>
                      </a:r>
                      <a:r>
                        <a:rPr lang="en-US" sz="2000" i="1" dirty="0">
                          <a:solidFill>
                            <a:schemeClr val="tx1"/>
                          </a:solidFill>
                          <a:effectLst/>
                          <a:latin typeface="Times New Roman" panose="02020603050405020304" pitchFamily="18" charset="0"/>
                          <a:ea typeface="Calibri"/>
                          <a:cs typeface="Times New Roman" panose="02020603050405020304" pitchFamily="18" charset="0"/>
                        </a:rPr>
                        <a:t>o – e</a:t>
                      </a:r>
                      <a:r>
                        <a:rPr lang="en-US" sz="2000" i="0" dirty="0">
                          <a:solidFill>
                            <a:schemeClr val="tx1"/>
                          </a:solidFill>
                          <a:effectLst/>
                          <a:latin typeface="Calibri"/>
                          <a:ea typeface="Calibri"/>
                          <a:cs typeface="Times New Roman"/>
                        </a:rPr>
                        <a:t>) = </a:t>
                      </a:r>
                      <a:r>
                        <a:rPr lang="en-US" sz="2000" i="1" dirty="0">
                          <a:solidFill>
                            <a:schemeClr val="tx1"/>
                          </a:solidFill>
                          <a:effectLst/>
                          <a:latin typeface="Times New Roman" panose="02020603050405020304" pitchFamily="18" charset="0"/>
                          <a:ea typeface="Calibri"/>
                          <a:cs typeface="Times New Roman" panose="02020603050405020304" pitchFamily="18" charset="0"/>
                        </a:rPr>
                        <a:t>d</a:t>
                      </a:r>
                      <a:endParaRPr lang="en-US" sz="20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3"/>
                  </a:ext>
                </a:extLst>
              </a:tr>
              <a:tr h="469812">
                <a:tc>
                  <a:txBody>
                    <a:bodyPr/>
                    <a:lstStyle/>
                    <a:p>
                      <a:pPr marL="0" marR="0" algn="l">
                        <a:lnSpc>
                          <a:spcPct val="115000"/>
                        </a:lnSpc>
                        <a:spcBef>
                          <a:spcPts val="0"/>
                        </a:spcBef>
                        <a:spcAft>
                          <a:spcPts val="0"/>
                        </a:spcAft>
                      </a:pPr>
                      <a:r>
                        <a:rPr lang="en-US" sz="2000" i="1" dirty="0">
                          <a:solidFill>
                            <a:schemeClr val="tx1"/>
                          </a:solidFill>
                          <a:effectLst/>
                          <a:latin typeface="Times New Roman" panose="02020603050405020304" pitchFamily="18" charset="0"/>
                          <a:ea typeface="Calibri"/>
                          <a:cs typeface="Times New Roman" panose="02020603050405020304" pitchFamily="18" charset="0"/>
                        </a:rPr>
                        <a:t>d</a:t>
                      </a:r>
                      <a:r>
                        <a:rPr lang="en-US" sz="2000" baseline="30000" dirty="0">
                          <a:solidFill>
                            <a:schemeClr val="tx1"/>
                          </a:solidFill>
                          <a:effectLst/>
                          <a:latin typeface="Calibri"/>
                          <a:ea typeface="Calibri"/>
                          <a:cs typeface="Times New Roman"/>
                        </a:rPr>
                        <a:t>2</a:t>
                      </a: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4"/>
                  </a:ext>
                </a:extLst>
              </a:tr>
              <a:tr h="469812">
                <a:tc>
                  <a:txBody>
                    <a:bodyPr/>
                    <a:lstStyle/>
                    <a:p>
                      <a:pPr marL="0" marR="0" algn="l">
                        <a:lnSpc>
                          <a:spcPct val="115000"/>
                        </a:lnSpc>
                        <a:spcBef>
                          <a:spcPts val="0"/>
                        </a:spcBef>
                        <a:spcAft>
                          <a:spcPts val="0"/>
                        </a:spcAft>
                      </a:pPr>
                      <a:r>
                        <a:rPr lang="en-US" sz="2000" b="0" i="1" dirty="0">
                          <a:solidFill>
                            <a:schemeClr val="tx1"/>
                          </a:solidFill>
                          <a:effectLst/>
                          <a:latin typeface="Times New Roman" panose="02020603050405020304" pitchFamily="18" charset="0"/>
                          <a:ea typeface="Calibri"/>
                          <a:cs typeface="Times New Roman" panose="02020603050405020304" pitchFamily="18" charset="0"/>
                        </a:rPr>
                        <a:t>d</a:t>
                      </a:r>
                      <a:r>
                        <a:rPr lang="en-US" sz="2000" baseline="30000" dirty="0">
                          <a:solidFill>
                            <a:schemeClr val="tx1"/>
                          </a:solidFill>
                          <a:effectLst/>
                          <a:latin typeface="Calibri"/>
                          <a:ea typeface="Calibri"/>
                          <a:cs typeface="Times New Roman"/>
                        </a:rPr>
                        <a:t>2</a:t>
                      </a:r>
                      <a:r>
                        <a:rPr lang="en-US" sz="2000" baseline="0" dirty="0">
                          <a:solidFill>
                            <a:schemeClr val="tx1"/>
                          </a:solidFill>
                          <a:effectLst/>
                          <a:latin typeface="Calibri"/>
                          <a:ea typeface="Calibri"/>
                          <a:cs typeface="Times New Roman"/>
                        </a:rPr>
                        <a:t>/</a:t>
                      </a:r>
                      <a:r>
                        <a:rPr lang="en-US" sz="2000" i="1" baseline="0" dirty="0">
                          <a:solidFill>
                            <a:schemeClr val="tx1"/>
                          </a:solidFill>
                          <a:effectLst/>
                          <a:latin typeface="Times New Roman" panose="02020603050405020304" pitchFamily="18" charset="0"/>
                          <a:ea typeface="Calibri"/>
                          <a:cs typeface="Times New Roman" panose="02020603050405020304" pitchFamily="18" charset="0"/>
                        </a:rPr>
                        <a:t>e</a:t>
                      </a:r>
                      <a:endParaRPr lang="en-US" sz="20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5"/>
                  </a:ext>
                </a:extLst>
              </a:tr>
              <a:tr h="469812">
                <a:tc>
                  <a:txBody>
                    <a:bodyPr/>
                    <a:lstStyle/>
                    <a:p>
                      <a:pPr marL="0" marR="0" algn="l">
                        <a:lnSpc>
                          <a:spcPct val="115000"/>
                        </a:lnSpc>
                        <a:spcBef>
                          <a:spcPts val="0"/>
                        </a:spcBef>
                        <a:spcAft>
                          <a:spcPts val="0"/>
                        </a:spcAft>
                      </a:pPr>
                      <a:r>
                        <a:rPr lang="en-US" sz="2000" dirty="0">
                          <a:solidFill>
                            <a:schemeClr val="tx1"/>
                          </a:solidFill>
                          <a:effectLst/>
                          <a:latin typeface="Calibri"/>
                          <a:ea typeface="Calibri"/>
                          <a:cs typeface="Times New Roman"/>
                        </a:rPr>
                        <a:t>Chi-square (</a:t>
                      </a:r>
                      <a:r>
                        <a:rPr lang="el-GR" sz="2000" dirty="0">
                          <a:solidFill>
                            <a:schemeClr val="tx1"/>
                          </a:solidFill>
                          <a:effectLst/>
                          <a:latin typeface="Calibri"/>
                          <a:ea typeface="Calibri"/>
                          <a:cs typeface="Times New Roman"/>
                        </a:rPr>
                        <a:t>χ</a:t>
                      </a:r>
                      <a:r>
                        <a:rPr lang="en-US" sz="2000" baseline="30000" dirty="0">
                          <a:solidFill>
                            <a:schemeClr val="tx1"/>
                          </a:solidFill>
                          <a:effectLst/>
                          <a:latin typeface="Calibri"/>
                          <a:ea typeface="Calibri"/>
                          <a:cs typeface="Times New Roman"/>
                        </a:rPr>
                        <a:t>2</a:t>
                      </a:r>
                      <a:r>
                        <a:rPr lang="en-US" sz="2000" baseline="0" dirty="0">
                          <a:solidFill>
                            <a:schemeClr val="tx1"/>
                          </a:solidFill>
                          <a:effectLst/>
                          <a:latin typeface="Calibri"/>
                          <a:ea typeface="Calibri"/>
                          <a:cs typeface="Times New Roman"/>
                        </a:rPr>
                        <a:t>) = </a:t>
                      </a:r>
                      <a:r>
                        <a:rPr lang="el-GR" sz="2000" baseline="0" dirty="0">
                          <a:solidFill>
                            <a:schemeClr val="tx1"/>
                          </a:solidFill>
                          <a:effectLst/>
                          <a:latin typeface="Calibri"/>
                          <a:ea typeface="Calibri"/>
                          <a:cs typeface="Times New Roman"/>
                        </a:rPr>
                        <a:t>Σ</a:t>
                      </a:r>
                      <a:r>
                        <a:rPr lang="en-US" sz="2000" i="1" baseline="0" dirty="0">
                          <a:solidFill>
                            <a:schemeClr val="tx1"/>
                          </a:solidFill>
                          <a:effectLst/>
                          <a:latin typeface="Times New Roman" panose="02020603050405020304" pitchFamily="18" charset="0"/>
                          <a:ea typeface="Calibri"/>
                          <a:cs typeface="Times New Roman" panose="02020603050405020304" pitchFamily="18" charset="0"/>
                        </a:rPr>
                        <a:t>d</a:t>
                      </a:r>
                      <a:r>
                        <a:rPr lang="en-US" sz="2000" baseline="30000" dirty="0">
                          <a:solidFill>
                            <a:schemeClr val="tx1"/>
                          </a:solidFill>
                          <a:effectLst/>
                          <a:latin typeface="Calibri"/>
                          <a:ea typeface="Calibri"/>
                          <a:cs typeface="Times New Roman"/>
                        </a:rPr>
                        <a:t>2</a:t>
                      </a:r>
                      <a:r>
                        <a:rPr lang="en-US" sz="2000" baseline="0" dirty="0">
                          <a:solidFill>
                            <a:schemeClr val="tx1"/>
                          </a:solidFill>
                          <a:effectLst/>
                          <a:latin typeface="Calibri"/>
                          <a:ea typeface="Calibri"/>
                          <a:cs typeface="Times New Roman"/>
                        </a:rPr>
                        <a:t>/</a:t>
                      </a:r>
                      <a:r>
                        <a:rPr lang="en-US" sz="2000" i="1" baseline="0" dirty="0">
                          <a:solidFill>
                            <a:schemeClr val="tx1"/>
                          </a:solidFill>
                          <a:effectLst/>
                          <a:latin typeface="Times New Roman" panose="02020603050405020304" pitchFamily="18" charset="0"/>
                          <a:ea typeface="Calibri"/>
                          <a:cs typeface="Times New Roman" panose="02020603050405020304" pitchFamily="18" charset="0"/>
                        </a:rPr>
                        <a:t>e</a:t>
                      </a:r>
                      <a:endParaRPr lang="en-US" sz="2000" dirty="0">
                        <a:solidFill>
                          <a:schemeClr val="tx1"/>
                        </a:solidFill>
                        <a:effectLst/>
                        <a:latin typeface="Times New Roman" panose="02020603050405020304" pitchFamily="18" charset="0"/>
                        <a:ea typeface="Calibri"/>
                        <a:cs typeface="Times New Roman" panose="02020603050405020304" pitchFamily="18" charset="0"/>
                      </a:endParaRPr>
                    </a:p>
                  </a:txBody>
                  <a:tcPr marL="68580" marR="68580" marT="0" marB="0" anchor="ctr">
                    <a:solidFill>
                      <a:schemeClr val="accent1">
                        <a:lumMod val="40000"/>
                        <a:lumOff val="60000"/>
                      </a:schemeClr>
                    </a:solidFill>
                  </a:tcPr>
                </a:tc>
                <a:tc gridSpan="3">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hMerge="1">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tc hMerge="1">
                  <a:txBody>
                    <a:bodyPr/>
                    <a:lstStyle/>
                    <a:p>
                      <a:pPr marL="0" marR="0" algn="ctr">
                        <a:lnSpc>
                          <a:spcPct val="115000"/>
                        </a:lnSpc>
                        <a:spcBef>
                          <a:spcPts val="0"/>
                        </a:spcBef>
                        <a:spcAft>
                          <a:spcPts val="0"/>
                        </a:spcAft>
                      </a:pPr>
                      <a:endParaRPr lang="en-US" sz="2000" dirty="0">
                        <a:solidFill>
                          <a:schemeClr val="tx1"/>
                        </a:solidFill>
                        <a:effectLst/>
                        <a:latin typeface="Calibri"/>
                        <a:ea typeface="Calibri"/>
                        <a:cs typeface="Times New Roman"/>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92495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524001" y="6172200"/>
            <a:ext cx="9144001" cy="685800"/>
            <a:chOff x="0" y="6172200"/>
            <a:chExt cx="9144001" cy="685800"/>
          </a:xfrm>
        </p:grpSpPr>
        <p:pic>
          <p:nvPicPr>
            <p:cNvPr id="5" name="Picture 55" descr="23_01MedGroundFinch-L"/>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098" t="2684" r="1685" b="4295"/>
            <a:stretch/>
          </p:blipFill>
          <p:spPr bwMode="auto">
            <a:xfrm>
              <a:off x="0" y="6172200"/>
              <a:ext cx="911066" cy="685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25_T01bGeologicRecord-L"/>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28" t="2292" r="1512" b="5046"/>
            <a:stretch/>
          </p:blipFill>
          <p:spPr bwMode="auto">
            <a:xfrm>
              <a:off x="911066" y="6172200"/>
              <a:ext cx="1014353" cy="685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7" descr="27_02_ProkaryoteShapes-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712" t="1981" r="750" b="11531"/>
            <a:stretch/>
          </p:blipFill>
          <p:spPr bwMode="auto">
            <a:xfrm>
              <a:off x="1925419" y="6172200"/>
              <a:ext cx="91121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30_05aGymnospermDivers-U"/>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814" t="2407" r="1876" b="15774"/>
            <a:stretch/>
          </p:blipFill>
          <p:spPr bwMode="auto">
            <a:xfrm>
              <a:off x="2836629" y="6172200"/>
              <a:ext cx="1065106" cy="685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5" descr="31_01ForestMushrooms-U"/>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030" t="2186" r="1887" b="4272"/>
            <a:stretch/>
          </p:blipFill>
          <p:spPr bwMode="auto">
            <a:xfrm>
              <a:off x="3901735" y="6172200"/>
              <a:ext cx="963256" cy="6858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6" descr="32_12Ecdysis-U"/>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438" t="1637" r="1626" b="5949"/>
            <a:stretch/>
          </p:blipFill>
          <p:spPr bwMode="auto">
            <a:xfrm>
              <a:off x="4864991" y="6172200"/>
              <a:ext cx="772645" cy="685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0" descr="34_14EarlyGnathostome-U"/>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b="2930"/>
            <a:stretch/>
          </p:blipFill>
          <p:spPr bwMode="auto">
            <a:xfrm>
              <a:off x="5637636" y="6172200"/>
              <a:ext cx="857665" cy="6858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rotWithShape="1">
            <a:blip r:embed="rId10" cstate="print">
              <a:extLst>
                <a:ext uri="{28A0092B-C50C-407E-A947-70E740481C1C}">
                  <a14:useLocalDpi xmlns:a14="http://schemas.microsoft.com/office/drawing/2010/main" val="0"/>
                </a:ext>
              </a:extLst>
            </a:blip>
            <a:srcRect r="26785"/>
            <a:stretch/>
          </p:blipFill>
          <p:spPr>
            <a:xfrm>
              <a:off x="8390315" y="6172200"/>
              <a:ext cx="753686" cy="685800"/>
            </a:xfrm>
            <a:prstGeom prst="rect">
              <a:avLst/>
            </a:prstGeom>
          </p:spPr>
        </p:pic>
        <p:pic>
          <p:nvPicPr>
            <p:cNvPr id="13" name="Picture 55" descr="46_01SeaSlugsMating-U"/>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5084" t="3713" r="2214" b="4291"/>
            <a:stretch/>
          </p:blipFill>
          <p:spPr bwMode="auto">
            <a:xfrm>
              <a:off x="7493167" y="6172200"/>
              <a:ext cx="89714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descr="34_23cFrogMetamorphosis-U"/>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2590" t="6069" r="3123" b="12275"/>
            <a:stretch/>
          </p:blipFill>
          <p:spPr bwMode="auto">
            <a:xfrm>
              <a:off x="6495301" y="6172200"/>
              <a:ext cx="997866" cy="685800"/>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itle 1"/>
          <p:cNvSpPr txBox="1">
            <a:spLocks/>
          </p:cNvSpPr>
          <p:nvPr/>
        </p:nvSpPr>
        <p:spPr>
          <a:xfrm>
            <a:off x="1825171" y="159856"/>
            <a:ext cx="8458200" cy="1492716"/>
          </a:xfrm>
          <a:prstGeom prst="rect">
            <a:avLst/>
          </a:prstGeom>
        </p:spPr>
        <p:txBody>
          <a:bodyPr vert="horz" wrap="square" lIns="91440" tIns="45720" rIns="91440" bIns="4572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Aft>
                <a:spcPts val="1800"/>
              </a:spcAft>
            </a:pPr>
            <a:r>
              <a:rPr lang="en-US" sz="3600" dirty="0"/>
              <a:t>Hypothesis Testing with Statistics: Example</a:t>
            </a:r>
          </a:p>
          <a:p>
            <a:pPr algn="l"/>
            <a:r>
              <a:rPr lang="en-US" sz="2000" dirty="0"/>
              <a:t>H</a:t>
            </a:r>
            <a:r>
              <a:rPr lang="en-US" sz="2000" baseline="-25000" dirty="0"/>
              <a:t>0</a:t>
            </a:r>
            <a:r>
              <a:rPr lang="en-US" sz="2000" dirty="0"/>
              <a:t>= There is no difference in allelic frequency between the parent and new populations. (i.e. The population is in Hardy-Weinberg equilibrium)</a:t>
            </a:r>
          </a:p>
        </p:txBody>
      </p:sp>
      <p:sp>
        <p:nvSpPr>
          <p:cNvPr id="33" name="Content Placeholder 2"/>
          <p:cNvSpPr>
            <a:spLocks noGrp="1"/>
          </p:cNvSpPr>
          <p:nvPr>
            <p:ph idx="1"/>
          </p:nvPr>
        </p:nvSpPr>
        <p:spPr>
          <a:xfrm>
            <a:off x="1981200" y="1795594"/>
            <a:ext cx="8309958" cy="4757606"/>
          </a:xfrm>
        </p:spPr>
        <p:txBody>
          <a:bodyPr>
            <a:noAutofit/>
          </a:bodyPr>
          <a:lstStyle/>
          <a:p>
            <a:pPr>
              <a:spcBef>
                <a:spcPts val="0"/>
              </a:spcBef>
            </a:pPr>
            <a:r>
              <a:rPr lang="en-US" sz="2800" dirty="0"/>
              <a:t>Calculated </a:t>
            </a:r>
            <a:r>
              <a:rPr lang="el-GR" sz="2800" dirty="0"/>
              <a:t>χ</a:t>
            </a:r>
            <a:r>
              <a:rPr lang="en-US" sz="2800" baseline="30000" dirty="0"/>
              <a:t>2</a:t>
            </a:r>
            <a:r>
              <a:rPr lang="en-US" sz="2800" dirty="0"/>
              <a:t> = 0.172</a:t>
            </a:r>
          </a:p>
          <a:p>
            <a:pPr>
              <a:spcBef>
                <a:spcPts val="0"/>
              </a:spcBef>
            </a:pPr>
            <a:endParaRPr lang="en-US" sz="2800" dirty="0"/>
          </a:p>
          <a:p>
            <a:pPr>
              <a:spcBef>
                <a:spcPts val="0"/>
              </a:spcBef>
            </a:pPr>
            <a:endParaRPr lang="en-US" sz="2800" dirty="0"/>
          </a:p>
          <a:p>
            <a:pPr>
              <a:spcBef>
                <a:spcPts val="0"/>
              </a:spcBef>
            </a:pPr>
            <a:endParaRPr lang="en-US" sz="2800" dirty="0"/>
          </a:p>
          <a:p>
            <a:pPr>
              <a:spcBef>
                <a:spcPts val="0"/>
              </a:spcBef>
            </a:pPr>
            <a:endParaRPr lang="en-US" sz="2800" dirty="0"/>
          </a:p>
          <a:p>
            <a:pPr>
              <a:spcBef>
                <a:spcPts val="0"/>
              </a:spcBef>
            </a:pPr>
            <a:endParaRPr lang="en-US" sz="2800" dirty="0"/>
          </a:p>
          <a:p>
            <a:pPr>
              <a:spcBef>
                <a:spcPts val="0"/>
              </a:spcBef>
            </a:pPr>
            <a:endParaRPr lang="en-US" sz="2800" dirty="0"/>
          </a:p>
          <a:p>
            <a:pPr>
              <a:spcBef>
                <a:spcPts val="0"/>
              </a:spcBef>
            </a:pPr>
            <a:r>
              <a:rPr lang="en-US" sz="2800" dirty="0"/>
              <a:t>Critical Table </a:t>
            </a:r>
            <a:r>
              <a:rPr lang="el-GR" sz="2800" dirty="0"/>
              <a:t>χ</a:t>
            </a:r>
            <a:r>
              <a:rPr lang="en-US" sz="2800" baseline="30000" dirty="0"/>
              <a:t>2</a:t>
            </a:r>
            <a:r>
              <a:rPr lang="en-US" sz="2800" dirty="0"/>
              <a:t> = 5.99</a:t>
            </a:r>
          </a:p>
          <a:p>
            <a:pPr>
              <a:spcBef>
                <a:spcPts val="0"/>
              </a:spcBef>
            </a:pPr>
            <a:r>
              <a:rPr lang="en-US" sz="2800" dirty="0"/>
              <a:t>There is no significant difference between observed and expected; </a:t>
            </a:r>
            <a:r>
              <a:rPr lang="en-US" sz="2800" b="1" i="1" dirty="0"/>
              <a:t>fail to reject null hypothesis.</a:t>
            </a:r>
            <a:endParaRPr lang="en-US" sz="2800" dirty="0"/>
          </a:p>
          <a:p>
            <a:pPr>
              <a:spcBef>
                <a:spcPts val="0"/>
              </a:spcBef>
            </a:pPr>
            <a:endParaRPr lang="en-US" sz="2800" dirty="0"/>
          </a:p>
        </p:txBody>
      </p:sp>
      <p:sp>
        <p:nvSpPr>
          <p:cNvPr id="20" name="Rectangle 19"/>
          <p:cNvSpPr/>
          <p:nvPr/>
        </p:nvSpPr>
        <p:spPr>
          <a:xfrm>
            <a:off x="7349187" y="1719394"/>
            <a:ext cx="3143489" cy="461665"/>
          </a:xfrm>
          <a:prstGeom prst="rect">
            <a:avLst/>
          </a:prstGeom>
        </p:spPr>
        <p:txBody>
          <a:bodyPr wrap="none">
            <a:spAutoFit/>
          </a:bodyPr>
          <a:lstStyle/>
          <a:p>
            <a:pPr algn="ctr"/>
            <a:r>
              <a:rPr lang="en-US" sz="2400" b="1" dirty="0"/>
              <a:t>standard </a:t>
            </a:r>
            <a:r>
              <a:rPr lang="en-US" sz="2400" b="1" i="1" dirty="0"/>
              <a:t>p</a:t>
            </a:r>
            <a:r>
              <a:rPr lang="en-US" sz="2400" b="1" dirty="0"/>
              <a:t> value = 0.05</a:t>
            </a:r>
          </a:p>
        </p:txBody>
      </p:sp>
      <p:pic>
        <p:nvPicPr>
          <p:cNvPr id="1026"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28801" y="2438400"/>
            <a:ext cx="8531225" cy="211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251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524001" y="6172200"/>
            <a:ext cx="9144001" cy="685800"/>
            <a:chOff x="0" y="6172200"/>
            <a:chExt cx="9144001" cy="685800"/>
          </a:xfrm>
        </p:grpSpPr>
        <p:pic>
          <p:nvPicPr>
            <p:cNvPr id="5" name="Picture 55" descr="23_01MedGroundFinch-L"/>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098" t="2684" r="1685" b="4295"/>
            <a:stretch/>
          </p:blipFill>
          <p:spPr bwMode="auto">
            <a:xfrm>
              <a:off x="0" y="6172200"/>
              <a:ext cx="911066" cy="685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25_T01bGeologicRecord-L"/>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28" t="2292" r="1512" b="5046"/>
            <a:stretch/>
          </p:blipFill>
          <p:spPr bwMode="auto">
            <a:xfrm>
              <a:off x="911066" y="6172200"/>
              <a:ext cx="1014353" cy="685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7" descr="27_02_ProkaryoteShapes-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712" t="1981" r="750" b="11531"/>
            <a:stretch/>
          </p:blipFill>
          <p:spPr bwMode="auto">
            <a:xfrm>
              <a:off x="1925419" y="6172200"/>
              <a:ext cx="91121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30_05aGymnospermDivers-U"/>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814" t="2407" r="1876" b="15774"/>
            <a:stretch/>
          </p:blipFill>
          <p:spPr bwMode="auto">
            <a:xfrm>
              <a:off x="2836629" y="6172200"/>
              <a:ext cx="1065106" cy="685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5" descr="31_01ForestMushrooms-U"/>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030" t="2186" r="1887" b="4272"/>
            <a:stretch/>
          </p:blipFill>
          <p:spPr bwMode="auto">
            <a:xfrm>
              <a:off x="3901735" y="6172200"/>
              <a:ext cx="963256" cy="6858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6" descr="32_12Ecdysis-U"/>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438" t="1637" r="1626" b="5949"/>
            <a:stretch/>
          </p:blipFill>
          <p:spPr bwMode="auto">
            <a:xfrm>
              <a:off x="4864991" y="6172200"/>
              <a:ext cx="772645" cy="685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0" descr="34_14EarlyGnathostome-U"/>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b="2930"/>
            <a:stretch/>
          </p:blipFill>
          <p:spPr bwMode="auto">
            <a:xfrm>
              <a:off x="5637636" y="6172200"/>
              <a:ext cx="857665" cy="6858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rotWithShape="1">
            <a:blip r:embed="rId10" cstate="print">
              <a:extLst>
                <a:ext uri="{28A0092B-C50C-407E-A947-70E740481C1C}">
                  <a14:useLocalDpi xmlns:a14="http://schemas.microsoft.com/office/drawing/2010/main" val="0"/>
                </a:ext>
              </a:extLst>
            </a:blip>
            <a:srcRect r="26785"/>
            <a:stretch/>
          </p:blipFill>
          <p:spPr>
            <a:xfrm>
              <a:off x="8390315" y="6172200"/>
              <a:ext cx="753686" cy="685800"/>
            </a:xfrm>
            <a:prstGeom prst="rect">
              <a:avLst/>
            </a:prstGeom>
          </p:spPr>
        </p:pic>
        <p:pic>
          <p:nvPicPr>
            <p:cNvPr id="13" name="Picture 55" descr="46_01SeaSlugsMating-U"/>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5084" t="3713" r="2214" b="4291"/>
            <a:stretch/>
          </p:blipFill>
          <p:spPr bwMode="auto">
            <a:xfrm>
              <a:off x="7493167" y="6172200"/>
              <a:ext cx="89714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descr="34_23cFrogMetamorphosis-U"/>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2590" t="6069" r="3123" b="12275"/>
            <a:stretch/>
          </p:blipFill>
          <p:spPr bwMode="auto">
            <a:xfrm>
              <a:off x="6495301" y="6172200"/>
              <a:ext cx="997866" cy="685800"/>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itle 1"/>
          <p:cNvSpPr txBox="1">
            <a:spLocks/>
          </p:cNvSpPr>
          <p:nvPr/>
        </p:nvSpPr>
        <p:spPr>
          <a:xfrm>
            <a:off x="1825171" y="159856"/>
            <a:ext cx="8458200" cy="1492716"/>
          </a:xfrm>
          <a:prstGeom prst="rect">
            <a:avLst/>
          </a:prstGeom>
        </p:spPr>
        <p:txBody>
          <a:bodyPr vert="horz" wrap="square" lIns="91440" tIns="45720" rIns="91440" bIns="4572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Aft>
                <a:spcPts val="1800"/>
              </a:spcAft>
            </a:pPr>
            <a:r>
              <a:rPr lang="en-US" sz="3600" dirty="0"/>
              <a:t>Hypothesis Testing with Statistics: Example</a:t>
            </a:r>
          </a:p>
          <a:p>
            <a:pPr algn="l"/>
            <a:r>
              <a:rPr lang="en-US" sz="2000" dirty="0"/>
              <a:t>H</a:t>
            </a:r>
            <a:r>
              <a:rPr lang="en-US" sz="2000" baseline="-25000" dirty="0"/>
              <a:t>0</a:t>
            </a:r>
            <a:r>
              <a:rPr lang="en-US" sz="2000" dirty="0"/>
              <a:t>= There is no difference in allelic frequency between the parent and new populations. (i.e. The population is in Hardy-Weinberg equilibrium)</a:t>
            </a:r>
          </a:p>
        </p:txBody>
      </p:sp>
      <p:sp>
        <p:nvSpPr>
          <p:cNvPr id="33" name="Content Placeholder 2"/>
          <p:cNvSpPr>
            <a:spLocks noGrp="1"/>
          </p:cNvSpPr>
          <p:nvPr>
            <p:ph idx="1"/>
          </p:nvPr>
        </p:nvSpPr>
        <p:spPr>
          <a:xfrm>
            <a:off x="1981200" y="1795594"/>
            <a:ext cx="8309958" cy="4757606"/>
          </a:xfrm>
        </p:spPr>
        <p:txBody>
          <a:bodyPr>
            <a:noAutofit/>
          </a:bodyPr>
          <a:lstStyle/>
          <a:p>
            <a:pPr>
              <a:spcBef>
                <a:spcPts val="0"/>
              </a:spcBef>
            </a:pPr>
            <a:r>
              <a:rPr lang="en-US" sz="2800" dirty="0"/>
              <a:t>What is your H</a:t>
            </a:r>
            <a:r>
              <a:rPr lang="en-US" sz="2800" baseline="-25000" dirty="0"/>
              <a:t>a</a:t>
            </a:r>
            <a:r>
              <a:rPr lang="en-US" sz="2800" dirty="0"/>
              <a:t>?</a:t>
            </a:r>
          </a:p>
          <a:p>
            <a:pPr>
              <a:spcBef>
                <a:spcPts val="0"/>
              </a:spcBef>
            </a:pPr>
            <a:r>
              <a:rPr lang="en-US" sz="2800" dirty="0"/>
              <a:t>What is your dependent variable?</a:t>
            </a:r>
          </a:p>
          <a:p>
            <a:pPr>
              <a:spcBef>
                <a:spcPts val="0"/>
              </a:spcBef>
            </a:pPr>
            <a:r>
              <a:rPr lang="en-US" sz="2800" dirty="0"/>
              <a:t>Independent variable?</a:t>
            </a:r>
          </a:p>
          <a:p>
            <a:pPr lvl="1">
              <a:spcBef>
                <a:spcPts val="0"/>
              </a:spcBef>
            </a:pPr>
            <a:r>
              <a:rPr lang="en-US" sz="2400" dirty="0"/>
              <a:t>When testing observed vs expected</a:t>
            </a:r>
          </a:p>
          <a:p>
            <a:pPr lvl="1">
              <a:spcBef>
                <a:spcPts val="0"/>
              </a:spcBef>
            </a:pPr>
            <a:r>
              <a:rPr lang="en-US" sz="2400" dirty="0"/>
              <a:t>What about in the bead model?</a:t>
            </a:r>
          </a:p>
          <a:p>
            <a:pPr>
              <a:spcBef>
                <a:spcPts val="0"/>
              </a:spcBef>
            </a:pPr>
            <a:r>
              <a:rPr lang="en-US" sz="2800" dirty="0"/>
              <a:t>Control treatment?</a:t>
            </a:r>
          </a:p>
          <a:p>
            <a:pPr>
              <a:spcBef>
                <a:spcPts val="0"/>
              </a:spcBef>
            </a:pPr>
            <a:r>
              <a:rPr lang="en-US" sz="2800" dirty="0"/>
              <a:t>Replication?</a:t>
            </a:r>
          </a:p>
          <a:p>
            <a:pPr lvl="1">
              <a:spcBef>
                <a:spcPts val="0"/>
              </a:spcBef>
            </a:pPr>
            <a:r>
              <a:rPr lang="en-US" sz="2400" dirty="0"/>
              <a:t>How could replication be included?</a:t>
            </a:r>
          </a:p>
          <a:p>
            <a:pPr>
              <a:spcBef>
                <a:spcPts val="0"/>
              </a:spcBef>
            </a:pPr>
            <a:endParaRPr lang="en-US" sz="2800" dirty="0"/>
          </a:p>
          <a:p>
            <a:pPr>
              <a:spcBef>
                <a:spcPts val="0"/>
              </a:spcBef>
            </a:pPr>
            <a:endParaRPr lang="en-US" sz="2800" dirty="0"/>
          </a:p>
          <a:p>
            <a:pPr>
              <a:spcBef>
                <a:spcPts val="0"/>
              </a:spcBef>
            </a:pPr>
            <a:endParaRPr lang="en-US" sz="2800" dirty="0"/>
          </a:p>
        </p:txBody>
      </p:sp>
    </p:spTree>
    <p:extLst>
      <p:ext uri="{BB962C8B-B14F-4D97-AF65-F5344CB8AC3E}">
        <p14:creationId xmlns:p14="http://schemas.microsoft.com/office/powerpoint/2010/main" val="243992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104900" y="945931"/>
            <a:ext cx="9982199" cy="5029200"/>
          </a:xfrm>
        </p:spPr>
        <p:txBody>
          <a:bodyPr>
            <a:normAutofit/>
          </a:bodyPr>
          <a:lstStyle/>
          <a:p>
            <a:pPr marL="0" indent="0">
              <a:buNone/>
            </a:pPr>
            <a:r>
              <a:rPr lang="en-US" sz="2400" b="1" dirty="0"/>
              <a:t>Population Genetics, Evolution and the Hardy-Weinberg Principle</a:t>
            </a:r>
            <a:endParaRPr lang="en-US" sz="2400" dirty="0"/>
          </a:p>
          <a:p>
            <a:pPr lvl="1"/>
            <a:r>
              <a:rPr lang="en-US" sz="2600" dirty="0"/>
              <a:t>Exercise 1: Testing H-W equilibrium (Bead model)</a:t>
            </a:r>
          </a:p>
          <a:p>
            <a:pPr lvl="2"/>
            <a:r>
              <a:rPr lang="en-US" dirty="0"/>
              <a:t>Conduct all procedures, fill out the tables in your manual, and answer the questions on your Assignment Sheet, including calculating the Chi-squared test. Also, </a:t>
            </a:r>
            <a:r>
              <a:rPr lang="en-US" dirty="0">
                <a:solidFill>
                  <a:srgbClr val="C00000"/>
                </a:solidFill>
              </a:rPr>
              <a:t>run a simulation </a:t>
            </a:r>
            <a:r>
              <a:rPr lang="en-US" dirty="0"/>
              <a:t>with the program </a:t>
            </a:r>
            <a:r>
              <a:rPr lang="en-US" i="1" dirty="0"/>
              <a:t>Allele A1 </a:t>
            </a:r>
            <a:r>
              <a:rPr lang="en-US" dirty="0"/>
              <a:t>from University of Washington</a:t>
            </a:r>
            <a:r>
              <a:rPr lang="en-US" i="1" dirty="0"/>
              <a:t>. </a:t>
            </a:r>
          </a:p>
          <a:p>
            <a:pPr lvl="3"/>
            <a:r>
              <a:rPr lang="en-US" i="1" dirty="0"/>
              <a:t>https://faculty.washington.edu/herronjc/a1/</a:t>
            </a:r>
          </a:p>
          <a:p>
            <a:pPr lvl="1"/>
            <a:r>
              <a:rPr lang="en-US" sz="2600" dirty="0"/>
              <a:t>Exercise 2: Simulations of evolutionary change (</a:t>
            </a:r>
            <a:r>
              <a:rPr lang="en-US" sz="2600" i="1" dirty="0"/>
              <a:t>Allele A1</a:t>
            </a:r>
            <a:r>
              <a:rPr lang="en-US" sz="2600" dirty="0"/>
              <a:t>)</a:t>
            </a:r>
          </a:p>
          <a:p>
            <a:pPr lvl="2"/>
            <a:r>
              <a:rPr lang="en-US" dirty="0"/>
              <a:t>Genetic drift</a:t>
            </a:r>
          </a:p>
          <a:p>
            <a:pPr lvl="2"/>
            <a:r>
              <a:rPr lang="en-US" dirty="0"/>
              <a:t>Gene flow caused by migration</a:t>
            </a:r>
          </a:p>
          <a:p>
            <a:pPr lvl="2"/>
            <a:r>
              <a:rPr lang="en-US" dirty="0"/>
              <a:t>Natural selection</a:t>
            </a:r>
          </a:p>
          <a:p>
            <a:pPr lvl="3"/>
            <a:r>
              <a:rPr lang="en-US" dirty="0"/>
              <a:t>In a sickle-cell disease system</a:t>
            </a:r>
          </a:p>
          <a:p>
            <a:pPr marL="914400" lvl="2" indent="0">
              <a:buNone/>
            </a:pPr>
            <a:endParaRPr lang="en-US" dirty="0"/>
          </a:p>
          <a:p>
            <a:pPr marL="457200" lvl="1" indent="0">
              <a:buNone/>
            </a:pPr>
            <a:endParaRPr lang="en-US" sz="2400" i="1" dirty="0"/>
          </a:p>
        </p:txBody>
      </p:sp>
      <p:sp>
        <p:nvSpPr>
          <p:cNvPr id="32" name="Title 1"/>
          <p:cNvSpPr>
            <a:spLocks noGrp="1"/>
          </p:cNvSpPr>
          <p:nvPr>
            <p:ph type="title"/>
          </p:nvPr>
        </p:nvSpPr>
        <p:spPr>
          <a:xfrm>
            <a:off x="1981200" y="0"/>
            <a:ext cx="8229600" cy="914400"/>
          </a:xfrm>
        </p:spPr>
        <p:txBody>
          <a:bodyPr>
            <a:normAutofit/>
          </a:bodyPr>
          <a:lstStyle/>
          <a:p>
            <a:r>
              <a:rPr lang="en-US" sz="4000" dirty="0"/>
              <a:t>In Today’s Lab…</a:t>
            </a:r>
            <a:endParaRPr lang="en-US" sz="3200" dirty="0"/>
          </a:p>
        </p:txBody>
      </p:sp>
    </p:spTree>
    <p:extLst>
      <p:ext uri="{BB962C8B-B14F-4D97-AF65-F5344CB8AC3E}">
        <p14:creationId xmlns:p14="http://schemas.microsoft.com/office/powerpoint/2010/main" val="397129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Content Placeholder 2"/>
          <p:cNvSpPr>
            <a:spLocks noGrp="1"/>
          </p:cNvSpPr>
          <p:nvPr>
            <p:ph idx="1"/>
          </p:nvPr>
        </p:nvSpPr>
        <p:spPr>
          <a:xfrm>
            <a:off x="1143000" y="1051560"/>
            <a:ext cx="9220200" cy="5120640"/>
          </a:xfrm>
        </p:spPr>
        <p:txBody>
          <a:bodyPr>
            <a:normAutofit/>
          </a:bodyPr>
          <a:lstStyle/>
          <a:p>
            <a:pPr marL="0" indent="0">
              <a:buNone/>
            </a:pPr>
            <a:r>
              <a:rPr lang="en-US" sz="2400" b="1" dirty="0"/>
              <a:t>Population Genetics, Evolution and the Hardy-Weinberg Principle</a:t>
            </a:r>
            <a:endParaRPr lang="en-US" sz="2000" dirty="0"/>
          </a:p>
          <a:p>
            <a:pPr lvl="1"/>
            <a:r>
              <a:rPr lang="en-US" sz="2600" dirty="0"/>
              <a:t>Exercise 3. Natural selection of coat color variation in animals</a:t>
            </a:r>
            <a:r>
              <a:rPr lang="en-US" sz="2400" dirty="0"/>
              <a:t> </a:t>
            </a:r>
          </a:p>
          <a:p>
            <a:pPr marL="457200" lvl="1" indent="0">
              <a:buNone/>
            </a:pPr>
            <a:r>
              <a:rPr lang="en-US" sz="2400" dirty="0"/>
              <a:t>(on side benches)</a:t>
            </a:r>
          </a:p>
          <a:p>
            <a:pPr lvl="2"/>
            <a:r>
              <a:rPr lang="en-US" sz="2200" dirty="0">
                <a:hlinkClick r:id="rId12"/>
              </a:rPr>
              <a:t>Rock pocket mice</a:t>
            </a:r>
            <a:r>
              <a:rPr lang="en-US" sz="2200" dirty="0"/>
              <a:t> (10:31) and fox squirrel</a:t>
            </a:r>
          </a:p>
          <a:p>
            <a:pPr lvl="1"/>
            <a:r>
              <a:rPr lang="en-US" sz="2400" i="1" dirty="0"/>
              <a:t>Turn in Assignment Sheet at end of Lab period (20 points)</a:t>
            </a:r>
          </a:p>
          <a:p>
            <a:pPr lvl="1"/>
            <a:endParaRPr lang="en-US" sz="2400" i="1" dirty="0"/>
          </a:p>
          <a:p>
            <a:pPr lvl="1"/>
            <a:r>
              <a:rPr lang="en-US" sz="2400" i="1" dirty="0">
                <a:solidFill>
                  <a:srgbClr val="C00000"/>
                </a:solidFill>
              </a:rPr>
              <a:t>We will now open Allele A1 to examine the parameters</a:t>
            </a:r>
          </a:p>
          <a:p>
            <a:pPr lvl="1"/>
            <a:endParaRPr lang="en-US" sz="2400" i="1" dirty="0"/>
          </a:p>
          <a:p>
            <a:pPr lvl="1"/>
            <a:endParaRPr lang="en-US" sz="2400" i="1" dirty="0"/>
          </a:p>
          <a:p>
            <a:pPr lvl="1"/>
            <a:endParaRPr lang="en-US" sz="2400" i="1" dirty="0"/>
          </a:p>
          <a:p>
            <a:pPr lvl="1"/>
            <a:endParaRPr lang="en-US" sz="2400" i="1" dirty="0"/>
          </a:p>
        </p:txBody>
      </p:sp>
      <p:sp>
        <p:nvSpPr>
          <p:cNvPr id="32" name="Title 1"/>
          <p:cNvSpPr>
            <a:spLocks noGrp="1"/>
          </p:cNvSpPr>
          <p:nvPr>
            <p:ph type="title"/>
          </p:nvPr>
        </p:nvSpPr>
        <p:spPr>
          <a:xfrm>
            <a:off x="1981200" y="0"/>
            <a:ext cx="8229600" cy="914400"/>
          </a:xfrm>
        </p:spPr>
        <p:txBody>
          <a:bodyPr>
            <a:normAutofit/>
          </a:bodyPr>
          <a:lstStyle/>
          <a:p>
            <a:r>
              <a:rPr lang="en-US" sz="4000" dirty="0"/>
              <a:t>In Today’s Lab…</a:t>
            </a:r>
            <a:endParaRPr lang="en-US" sz="3200" dirty="0"/>
          </a:p>
        </p:txBody>
      </p:sp>
    </p:spTree>
    <p:extLst>
      <p:ext uri="{BB962C8B-B14F-4D97-AF65-F5344CB8AC3E}">
        <p14:creationId xmlns:p14="http://schemas.microsoft.com/office/powerpoint/2010/main" val="310073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524001" y="5943600"/>
            <a:ext cx="9143998" cy="914400"/>
            <a:chOff x="1" y="5943600"/>
            <a:chExt cx="9143998" cy="914400"/>
          </a:xfrm>
        </p:grpSpPr>
        <p:pic>
          <p:nvPicPr>
            <p:cNvPr id="22"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1" y="5943600"/>
              <a:ext cx="72688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l="5239" r="2713"/>
            <a:stretch/>
          </p:blipFill>
          <p:spPr>
            <a:xfrm>
              <a:off x="726888" y="5943600"/>
              <a:ext cx="1122257" cy="914400"/>
            </a:xfrm>
            <a:prstGeom prst="rect">
              <a:avLst/>
            </a:prstGeom>
          </p:spPr>
        </p:pic>
        <p:pic>
          <p:nvPicPr>
            <p:cNvPr id="24" name="Picture 23" descr="29_05caSporangia-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434" t="13627" r="41274" b="15053"/>
            <a:stretch/>
          </p:blipFill>
          <p:spPr bwMode="auto">
            <a:xfrm>
              <a:off x="1849145" y="5943600"/>
              <a:ext cx="77273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www.antartekrecords.com/wp-content/uploads/2014/09/subterrainian-termites.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588"/>
            <a:stretch/>
          </p:blipFill>
          <p:spPr bwMode="auto">
            <a:xfrm>
              <a:off x="2621878" y="5943600"/>
              <a:ext cx="1204293" cy="91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dancinggecko.files.wordpress.com/2009/03/radishseedling.jpg?w=620"/>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rcRect l="9614" t="8211" r="11875" b="7741"/>
            <a:stretch/>
          </p:blipFill>
          <p:spPr bwMode="auto">
            <a:xfrm>
              <a:off x="3826172" y="5943600"/>
              <a:ext cx="993289"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4.bp.blogspot.com/_bRqnAEhlHik/THRL8DBxWvI/AAAAAAAAAEw/TTfncxQ_1_M/s640/large_squash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19461" y="5943600"/>
              <a:ext cx="122189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upload.wikimedia.org/wikipedia/commons/c/cb/Maize-teosinte.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41358" y="5943600"/>
              <a:ext cx="7608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http://media.web.britannica.com/eb-media/55/28355-004-6421901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02195" y="5943600"/>
              <a:ext cx="1235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http://www.redorbit.com/media/uploads/2013/08/starfish-617x416.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4880" t="17402" r="17765"/>
            <a:stretch/>
          </p:blipFill>
          <p:spPr bwMode="auto">
            <a:xfrm>
              <a:off x="8037870" y="5943600"/>
              <a:ext cx="1106129" cy="9144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itle 1"/>
          <p:cNvSpPr>
            <a:spLocks noGrp="1"/>
          </p:cNvSpPr>
          <p:nvPr>
            <p:ph type="title"/>
          </p:nvPr>
        </p:nvSpPr>
        <p:spPr>
          <a:xfrm>
            <a:off x="1981200" y="0"/>
            <a:ext cx="8229600" cy="914400"/>
          </a:xfrm>
        </p:spPr>
        <p:txBody>
          <a:bodyPr>
            <a:normAutofit/>
          </a:bodyPr>
          <a:lstStyle/>
          <a:p>
            <a:r>
              <a:rPr lang="en-US" sz="4000" dirty="0"/>
              <a:t>The Hardy-Weinberg Principle</a:t>
            </a:r>
            <a:endParaRPr lang="en-US" sz="3200" dirty="0"/>
          </a:p>
        </p:txBody>
      </p:sp>
      <p:sp>
        <p:nvSpPr>
          <p:cNvPr id="17" name="Content Placeholder 2"/>
          <p:cNvSpPr txBox="1">
            <a:spLocks/>
          </p:cNvSpPr>
          <p:nvPr/>
        </p:nvSpPr>
        <p:spPr>
          <a:xfrm>
            <a:off x="1371599" y="1143000"/>
            <a:ext cx="9296400" cy="51816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600" dirty="0"/>
              <a:t>Hardy-Weinberg equilibrium – the frequency of alleles in the population will remain the same from generation to generation. </a:t>
            </a:r>
          </a:p>
          <a:p>
            <a:r>
              <a:rPr lang="en-US" sz="2600" dirty="0"/>
              <a:t>This principle is valid only if certain conditions are met: </a:t>
            </a:r>
            <a:r>
              <a:rPr lang="en-US" sz="2000" dirty="0"/>
              <a:t>(</a:t>
            </a:r>
            <a:r>
              <a:rPr lang="en-US" sz="2000" dirty="0">
                <a:solidFill>
                  <a:srgbClr val="C00000"/>
                </a:solidFill>
              </a:rPr>
              <a:t>Simulations in </a:t>
            </a:r>
            <a:r>
              <a:rPr lang="en-US" sz="2000" i="1" dirty="0">
                <a:solidFill>
                  <a:srgbClr val="C00000"/>
                </a:solidFill>
              </a:rPr>
              <a:t>Allele A1 </a:t>
            </a:r>
            <a:r>
              <a:rPr lang="en-US" sz="2000" dirty="0">
                <a:solidFill>
                  <a:srgbClr val="C00000"/>
                </a:solidFill>
              </a:rPr>
              <a:t>will change these parameters</a:t>
            </a:r>
            <a:r>
              <a:rPr lang="en-US" sz="2000" dirty="0"/>
              <a:t>)</a:t>
            </a:r>
          </a:p>
          <a:p>
            <a:pPr marL="914400" lvl="1" indent="-457200">
              <a:buFont typeface="+mj-lt"/>
              <a:buAutoNum type="arabicPeriod"/>
            </a:pPr>
            <a:r>
              <a:rPr lang="en-US" sz="2200" dirty="0"/>
              <a:t>The population is very </a:t>
            </a:r>
            <a:r>
              <a:rPr lang="en-US" sz="2200" b="1" dirty="0"/>
              <a:t>large.</a:t>
            </a:r>
          </a:p>
          <a:p>
            <a:pPr marL="914400" lvl="1" indent="-457200">
              <a:buFont typeface="+mj-lt"/>
              <a:buAutoNum type="arabicPeriod"/>
            </a:pPr>
            <a:r>
              <a:rPr lang="en-US" sz="2200" dirty="0"/>
              <a:t>Matings are </a:t>
            </a:r>
            <a:r>
              <a:rPr lang="en-US" sz="2200" b="1" dirty="0"/>
              <a:t>random.</a:t>
            </a:r>
          </a:p>
          <a:p>
            <a:pPr marL="914400" lvl="1" indent="-457200">
              <a:buFont typeface="+mj-lt"/>
              <a:buAutoNum type="arabicPeriod"/>
            </a:pPr>
            <a:r>
              <a:rPr lang="en-US" sz="2200" dirty="0"/>
              <a:t>There are </a:t>
            </a:r>
            <a:r>
              <a:rPr lang="en-US" sz="2200" b="1" dirty="0"/>
              <a:t>no</a:t>
            </a:r>
            <a:r>
              <a:rPr lang="en-US" sz="2200" dirty="0"/>
              <a:t> net changes in the gene pool due to </a:t>
            </a:r>
            <a:r>
              <a:rPr lang="en-US" sz="2200" b="1" dirty="0"/>
              <a:t>mutation</a:t>
            </a:r>
            <a:r>
              <a:rPr lang="en-US" sz="2200" dirty="0"/>
              <a:t>; that is, mutation from </a:t>
            </a:r>
            <a:r>
              <a:rPr lang="en-US" sz="2200" b="1" i="1" dirty="0">
                <a:latin typeface="Times New Roman" panose="02020603050405020304" pitchFamily="18" charset="0"/>
                <a:cs typeface="Times New Roman" panose="02020603050405020304" pitchFamily="18" charset="0"/>
              </a:rPr>
              <a:t>A</a:t>
            </a:r>
            <a:r>
              <a:rPr lang="en-US" sz="2200" dirty="0"/>
              <a:t> to </a:t>
            </a:r>
            <a:r>
              <a:rPr lang="en-US" sz="2200" b="1" i="1" dirty="0">
                <a:latin typeface="Times New Roman" panose="02020603050405020304" pitchFamily="18" charset="0"/>
                <a:cs typeface="Times New Roman" panose="02020603050405020304" pitchFamily="18" charset="0"/>
              </a:rPr>
              <a:t>a</a:t>
            </a:r>
            <a:r>
              <a:rPr lang="en-US" sz="2200" dirty="0"/>
              <a:t> must be equal to mutation from </a:t>
            </a:r>
            <a:r>
              <a:rPr lang="en-US" sz="2200" b="1" i="1" dirty="0">
                <a:latin typeface="Times New Roman" panose="02020603050405020304" pitchFamily="18" charset="0"/>
                <a:cs typeface="Times New Roman" panose="02020603050405020304" pitchFamily="18" charset="0"/>
              </a:rPr>
              <a:t>a</a:t>
            </a:r>
            <a:r>
              <a:rPr lang="en-US" sz="2200" dirty="0"/>
              <a:t> to </a:t>
            </a:r>
            <a:r>
              <a:rPr lang="en-US" sz="2200" b="1" i="1" dirty="0">
                <a:latin typeface="Times New Roman" panose="02020603050405020304" pitchFamily="18" charset="0"/>
                <a:cs typeface="Times New Roman" panose="02020603050405020304" pitchFamily="18" charset="0"/>
              </a:rPr>
              <a:t>A</a:t>
            </a:r>
            <a:r>
              <a:rPr lang="en-US" sz="2200" dirty="0"/>
              <a:t>.</a:t>
            </a:r>
          </a:p>
          <a:p>
            <a:pPr marL="914400" lvl="1" indent="-457200">
              <a:buFont typeface="+mj-lt"/>
              <a:buAutoNum type="arabicPeriod"/>
            </a:pPr>
            <a:r>
              <a:rPr lang="en-US" sz="2200" dirty="0"/>
              <a:t>There is </a:t>
            </a:r>
            <a:r>
              <a:rPr lang="en-US" sz="2200" b="1" dirty="0"/>
              <a:t>no migration </a:t>
            </a:r>
            <a:r>
              <a:rPr lang="en-US" sz="2200" dirty="0"/>
              <a:t>of individuals into and out of the population.</a:t>
            </a:r>
          </a:p>
          <a:p>
            <a:pPr marL="914400" lvl="1" indent="-457200">
              <a:buFont typeface="+mj-lt"/>
              <a:buAutoNum type="arabicPeriod"/>
            </a:pPr>
            <a:r>
              <a:rPr lang="en-US" sz="2200" dirty="0"/>
              <a:t>There is </a:t>
            </a:r>
            <a:r>
              <a:rPr lang="en-US" sz="2200" b="1" dirty="0"/>
              <a:t>no selection</a:t>
            </a:r>
            <a:r>
              <a:rPr lang="en-US" sz="2200" dirty="0"/>
              <a:t>; all genotypes are equal in reproductive success.</a:t>
            </a:r>
          </a:p>
        </p:txBody>
      </p:sp>
    </p:spTree>
    <p:extLst>
      <p:ext uri="{BB962C8B-B14F-4D97-AF65-F5344CB8AC3E}">
        <p14:creationId xmlns:p14="http://schemas.microsoft.com/office/powerpoint/2010/main" val="1966454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Reminders</a:t>
            </a:r>
          </a:p>
        </p:txBody>
      </p:sp>
      <p:sp>
        <p:nvSpPr>
          <p:cNvPr id="6" name="TextBox 5"/>
          <p:cNvSpPr txBox="1"/>
          <p:nvPr/>
        </p:nvSpPr>
        <p:spPr>
          <a:xfrm>
            <a:off x="1575555" y="1219200"/>
            <a:ext cx="9040890" cy="954107"/>
          </a:xfrm>
          <a:prstGeom prst="rect">
            <a:avLst/>
          </a:prstGeom>
          <a:noFill/>
        </p:spPr>
        <p:txBody>
          <a:bodyPr wrap="square" rtlCol="0">
            <a:spAutoFit/>
          </a:bodyPr>
          <a:lstStyle/>
          <a:p>
            <a:r>
              <a:rPr lang="en-US" sz="2800" b="1" dirty="0"/>
              <a:t>The Methods writing assignment takes the place of the pre-lab quiz next week. Due at the beginning of lab next week.</a:t>
            </a:r>
            <a:endParaRPr lang="en-US" sz="2800" dirty="0"/>
          </a:p>
        </p:txBody>
      </p:sp>
      <p:sp>
        <p:nvSpPr>
          <p:cNvPr id="2" name="TextBox 1"/>
          <p:cNvSpPr txBox="1"/>
          <p:nvPr/>
        </p:nvSpPr>
        <p:spPr>
          <a:xfrm>
            <a:off x="1181100" y="2590800"/>
            <a:ext cx="9829800" cy="3447098"/>
          </a:xfrm>
          <a:prstGeom prst="rect">
            <a:avLst/>
          </a:prstGeom>
          <a:noFill/>
        </p:spPr>
        <p:txBody>
          <a:bodyPr wrap="square" rtlCol="0">
            <a:spAutoFit/>
          </a:bodyPr>
          <a:lstStyle/>
          <a:p>
            <a:r>
              <a:rPr lang="en-US" sz="2000" b="1" dirty="0"/>
              <a:t>Write a Methods Section for the Hardy-Weinberg Equilibrium Experiment in a Bead Population</a:t>
            </a:r>
            <a:r>
              <a:rPr lang="en-US" sz="2000" cap="small" dirty="0"/>
              <a:t> (</a:t>
            </a:r>
            <a:r>
              <a:rPr lang="en-US" sz="2000" dirty="0"/>
              <a:t>4 pts)</a:t>
            </a:r>
          </a:p>
          <a:p>
            <a:r>
              <a:rPr lang="en-US" sz="2000" dirty="0"/>
              <a:t> </a:t>
            </a:r>
          </a:p>
          <a:p>
            <a:r>
              <a:rPr lang="en-US" sz="2000" dirty="0"/>
              <a:t>On the back of this page, write your name, lab time/section, and a paragraph explaining the </a:t>
            </a:r>
            <a:r>
              <a:rPr lang="en-US" sz="2000" b="1" dirty="0"/>
              <a:t>experimental methods and data analysis </a:t>
            </a:r>
            <a:r>
              <a:rPr lang="en-US" sz="2000" dirty="0"/>
              <a:t>associated with the bead experiment, pretending that the beads are a real live population.  Describe the experiment, including the dependent (what was measured) and independent (what was manipulated or compared) variables and treatments. Include sample sizes for each treatment and briefly describe the statistical analysis used (the type of statistic, number of categories, and p-value used for significance). Refer to Lab 1.1 for guidance.</a:t>
            </a:r>
          </a:p>
          <a:p>
            <a:endParaRPr lang="en-US" sz="2000" dirty="0"/>
          </a:p>
        </p:txBody>
      </p:sp>
    </p:spTree>
    <p:extLst>
      <p:ext uri="{BB962C8B-B14F-4D97-AF65-F5344CB8AC3E}">
        <p14:creationId xmlns:p14="http://schemas.microsoft.com/office/powerpoint/2010/main" val="1952928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ap&#10;&#10;Description automatically generated">
            <a:extLst>
              <a:ext uri="{FF2B5EF4-FFF2-40B4-BE49-F238E27FC236}">
                <a16:creationId xmlns:a16="http://schemas.microsoft.com/office/drawing/2014/main" id="{035439C2-98C5-6FB4-87F2-C5547495F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7554" y="553720"/>
            <a:ext cx="4453046" cy="5827776"/>
          </a:xfrm>
          <a:prstGeom prst="rect">
            <a:avLst/>
          </a:prstGeom>
        </p:spPr>
      </p:pic>
      <p:pic>
        <p:nvPicPr>
          <p:cNvPr id="7" name="Picture 6" descr="A picture containing letter&#10;&#10;Description automatically generated">
            <a:extLst>
              <a:ext uri="{FF2B5EF4-FFF2-40B4-BE49-F238E27FC236}">
                <a16:creationId xmlns:a16="http://schemas.microsoft.com/office/drawing/2014/main" id="{091C1230-DD04-2A0F-9150-D946709A7C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2640" y="568960"/>
            <a:ext cx="4441401" cy="5812536"/>
          </a:xfrm>
          <a:prstGeom prst="rect">
            <a:avLst/>
          </a:prstGeom>
        </p:spPr>
      </p:pic>
    </p:spTree>
    <p:extLst>
      <p:ext uri="{BB962C8B-B14F-4D97-AF65-F5344CB8AC3E}">
        <p14:creationId xmlns:p14="http://schemas.microsoft.com/office/powerpoint/2010/main" val="1755053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map&#10;&#10;Description automatically generated">
            <a:extLst>
              <a:ext uri="{FF2B5EF4-FFF2-40B4-BE49-F238E27FC236}">
                <a16:creationId xmlns:a16="http://schemas.microsoft.com/office/drawing/2014/main" id="{7859D98A-45BF-ACCC-F594-340EC2D9A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6641" y="558247"/>
            <a:ext cx="4472327" cy="5853009"/>
          </a:xfrm>
          <a:prstGeom prst="rect">
            <a:avLst/>
          </a:prstGeom>
        </p:spPr>
      </p:pic>
      <p:pic>
        <p:nvPicPr>
          <p:cNvPr id="9" name="Picture 8" descr="A picture containing calendar&#10;&#10;Description automatically generated">
            <a:extLst>
              <a:ext uri="{FF2B5EF4-FFF2-40B4-BE49-F238E27FC236}">
                <a16:creationId xmlns:a16="http://schemas.microsoft.com/office/drawing/2014/main" id="{13B06AEB-279E-1DA5-F523-821D4828A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333" y="558247"/>
            <a:ext cx="4472327" cy="5853009"/>
          </a:xfrm>
          <a:prstGeom prst="rect">
            <a:avLst/>
          </a:prstGeom>
        </p:spPr>
      </p:pic>
    </p:spTree>
    <p:extLst>
      <p:ext uri="{BB962C8B-B14F-4D97-AF65-F5344CB8AC3E}">
        <p14:creationId xmlns:p14="http://schemas.microsoft.com/office/powerpoint/2010/main" val="18521636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ab 03 – Population Genetics:&amp;#x0D;&amp;#x0A;The Hardy-Weinberg Principle&amp;quot;&quot;/&gt;&lt;property id=&quot;20307&quot; value=&quot;256&quot;/&gt;&lt;/object&gt;&lt;object type=&quot;3&quot; unique_id=&quot;12961&quot;&gt;&lt;property id=&quot;20148&quot; value=&quot;5&quot;/&gt;&lt;property id=&quot;20300&quot; value=&quot;Slide 2 - &amp;quot;In Today’s Lab…&amp;quot;&quot;/&gt;&lt;property id=&quot;20307&quot; value=&quot;315&quot;/&gt;&lt;/object&gt;&lt;object type=&quot;3&quot; unique_id=&quot;12962&quot;&gt;&lt;property id=&quot;20148&quot; value=&quot;5&quot;/&gt;&lt;property id=&quot;20300&quot; value=&quot;Slide 3 - &amp;quot;The Hardy-Weinberg Principle&amp;quot;&quot;/&gt;&lt;property id=&quot;20307&quot; value=&quot;316&quot;/&gt;&lt;/object&gt;&lt;object type=&quot;3&quot; unique_id=&quot;12993&quot;&gt;&lt;property id=&quot;20148&quot; value=&quot;5&quot;/&gt;&lt;property id=&quot;20300&quot; value=&quot;Slide 4 - &amp;quot;The Hardy-Weinberg Principle&amp;quot;&quot;/&gt;&lt;property id=&quot;20307&quot; value=&quot;318&quot;/&gt;&lt;/object&gt;&lt;object type=&quot;3&quot; unique_id=&quot;12994&quot;&gt;&lt;property id=&quot;20148&quot; value=&quot;5&quot;/&gt;&lt;property id=&quot;20300&quot; value=&quot;Slide 5 - &amp;quot;The Hardy-Weinberg Principle&amp;quot;&quot;/&gt;&lt;property id=&quot;20307&quot; value=&quot;319&quot;/&gt;&lt;/object&gt;&lt;object type=&quot;3&quot; unique_id=&quot;12995&quot;&gt;&lt;property id=&quot;20148&quot; value=&quot;5&quot;/&gt;&lt;property id=&quot;20300&quot; value=&quot;Slide 7 - &amp;quot;The Hardy-Weinberg Principle&amp;quot;&quot;/&gt;&lt;property id=&quot;20307&quot; value=&quot;320&quot;/&gt;&lt;/object&gt;&lt;object type=&quot;3&quot; unique_id=&quot;12996&quot;&gt;&lt;property id=&quot;20148&quot; value=&quot;5&quot;/&gt;&lt;property id=&quot;20300&quot; value=&quot;Slide 8 - &amp;quot;The Hardy-Weinberg Principle&amp;quot;&quot;/&gt;&lt;property id=&quot;20307&quot; value=&quot;321&quot;/&gt;&lt;/object&gt;&lt;object type=&quot;3&quot; unique_id=&quot;12997&quot;&gt;&lt;property id=&quot;20148&quot; value=&quot;5&quot;/&gt;&lt;property id=&quot;20300&quot; value=&quot;Slide 10 - &amp;quot;The Hardy-Weinberg Principle&amp;quot;&quot;/&gt;&lt;property id=&quot;20307&quot; value=&quot;322&quot;/&gt;&lt;/object&gt;&lt;object type=&quot;3&quot; unique_id=&quot;13195&quot;&gt;&lt;property id=&quot;20148&quot; value=&quot;5&quot;/&gt;&lt;property id=&quot;20300&quot; value=&quot;Slide 11 - &amp;quot;In Today’s Lab…&amp;quot;&quot;/&gt;&lt;property id=&quot;20307&quot; value=&quot;323&quot;/&gt;&lt;/object&gt;&lt;object type=&quot;3&quot; unique_id=&quot;25499&quot;&gt;&lt;property id=&quot;20148&quot; value=&quot;5&quot;/&gt;&lt;property id=&quot;20300&quot; value=&quot;Slide 6 - &amp;quot;The Hardy-Weinberg Principle&amp;quot;&quot;/&gt;&lt;property id=&quot;20307&quot; value=&quot;326&quot;/&gt;&lt;/object&gt;&lt;object type=&quot;3&quot; unique_id=&quot;25500&quot;&gt;&lt;property id=&quot;20148&quot; value=&quot;5&quot;/&gt;&lt;property id=&quot;20300&quot; value=&quot;Slide 9&quot;/&gt;&lt;property id=&quot;20307&quot; value=&quot;325&quot;/&gt;&lt;/object&gt;&lt;object type=&quot;3&quot; unique_id=&quot;25501&quot;&gt;&lt;property id=&quot;20148&quot; value=&quot;5&quot;/&gt;&lt;property id=&quot;20300&quot; value=&quot;Slide 12 - &amp;quot;Natural Selection – rock pocket mouse&amp;quot;&quot;/&gt;&lt;property id=&quot;20307&quot; value=&quot;327&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a3debf8-bfb3-4e2a-9540-36d8cad61acc">
      <Terms xmlns="http://schemas.microsoft.com/office/infopath/2007/PartnerControls"/>
    </lcf76f155ced4ddcb4097134ff3c332f>
    <TaxCatchAll xmlns="7003c64d-e6d3-4008-b37b-8dcb739b0592" xsi:nil="true"/>
  </documentManagement>
</p:properties>
</file>

<file path=customXml/item2.xml><?xml version="1.0" encoding="utf-8"?>
<?mso-contentType ?>
<FormTemplates xmlns="http://schemas.microsoft.com/sharepoint/v3/contenttype/forms"/>
</file>

<file path=customXml/item3.xml><?xml version="1.0" encoding="utf-8"?>
<ct:contentTypeSchema xmlns:ct="http://schemas.microsoft.com/office/2006/metadata/contentType" xmlns:ma="http://schemas.microsoft.com/office/2006/metadata/properties/metaAttributes" ct:_="" ma:_="" ma:contentTypeName="Document" ma:contentTypeID="0x0101005146E5A3E9C7FC429CBF6AF21B67FB00" ma:contentTypeVersion="20" ma:contentTypeDescription="Create a new document." ma:contentTypeScope="" ma:versionID="f1a74daf3db0417c1d0f2237ac0d0fa9">
  <xsd:schema xmlns:xsd="http://www.w3.org/2001/XMLSchema" xmlns:xs="http://www.w3.org/2001/XMLSchema" xmlns:p="http://schemas.microsoft.com/office/2006/metadata/properties" xmlns:ns2="0a3debf8-bfb3-4e2a-9540-36d8cad61acc" xmlns:ns3="7003c64d-e6d3-4008-b37b-8dcb739b0592" targetNamespace="http://schemas.microsoft.com/office/2006/metadata/properties" ma:root="true" ma:fieldsID="e083d3b604b9340300eca2f3db3f8a21" ns2:_="" ns3:_="">
    <xsd:import namespace="0a3debf8-bfb3-4e2a-9540-36d8cad61acc"/>
    <xsd:import namespace="7003c64d-e6d3-4008-b37b-8dcb739b0592"/>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BillingMetadata"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debf8-bfb3-4e2a-9540-36d8cad61acc"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GenerationTime" ma:index="6" nillable="true" ma:displayName="MediaServiceGenerationTime" ma:hidden="true" ma:internalName="MediaServiceGenerationTime" ma:readOnly="true">
      <xsd:simpleType>
        <xsd:restriction base="dms:Text"/>
      </xsd:simpleType>
    </xsd:element>
    <xsd:element name="MediaServiceEventHashCode" ma:index="7" nillable="true" ma:displayName="MediaServiceEventHashCode" ma:hidden="true" ma:internalName="MediaServiceEventHashCode" ma:readOnly="true">
      <xsd:simpleType>
        <xsd:restriction base="dms:Text"/>
      </xsd:simpleType>
    </xsd:element>
    <xsd:element name="MediaServiceDateTaken" ma:index="8" nillable="true" ma:displayName="MediaServiceDateTaken" ma:hidden="true" ma:indexed="true" ma:internalName="MediaServiceDateTaken" ma:readOnly="true">
      <xsd:simpleType>
        <xsd:restriction base="dms:Text"/>
      </xsd:simpleType>
    </xsd:element>
    <xsd:element name="MediaLengthInSeconds" ma:index="9" nillable="true" ma:displayName="MediaLengthInSeconds" ma:hidden="true" ma:internalName="MediaLengthInSeconds" ma:readOnly="true">
      <xsd:simpleType>
        <xsd:restriction base="dms:Unknown"/>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7fa96fb-b0ee-4967-af60-c778f60915c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03c64d-e6d3-4008-b37b-8dcb739b059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f0bd993-5cdf-4aea-a3de-9641f7e3ffe2}" ma:internalName="TaxCatchAll" ma:showField="CatchAllData" ma:web="7003c64d-e6d3-4008-b37b-8dcb739b05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2B2BA5-6893-4BD8-9356-BE3763A26A09}">
  <ds:schemaRefs>
    <ds:schemaRef ds:uri="http://schemas.microsoft.com/office/2006/metadata/properties"/>
    <ds:schemaRef ds:uri="http://schemas.microsoft.com/office/infopath/2007/PartnerControls"/>
    <ds:schemaRef ds:uri="f77bcdf1-20e2-41e0-baf4-b4ad2893c760"/>
    <ds:schemaRef ds:uri="9cd26ddd-bd77-4774-8487-dbd52e2b790d"/>
    <ds:schemaRef ds:uri="0a3debf8-bfb3-4e2a-9540-36d8cad61acc"/>
    <ds:schemaRef ds:uri="7003c64d-e6d3-4008-b37b-8dcb739b0592"/>
  </ds:schemaRefs>
</ds:datastoreItem>
</file>

<file path=customXml/itemProps2.xml><?xml version="1.0" encoding="utf-8"?>
<ds:datastoreItem xmlns:ds="http://schemas.openxmlformats.org/officeDocument/2006/customXml" ds:itemID="{8DF0C89E-4790-4D46-A8A6-20FFB6AB90BF}">
  <ds:schemaRefs>
    <ds:schemaRef ds:uri="http://schemas.microsoft.com/sharepoint/v3/contenttype/forms"/>
  </ds:schemaRefs>
</ds:datastoreItem>
</file>

<file path=customXml/itemProps3.xml><?xml version="1.0" encoding="utf-8"?>
<ds:datastoreItem xmlns:ds="http://schemas.openxmlformats.org/officeDocument/2006/customXml" ds:itemID="{53E49BBF-11A9-4869-9B7D-0480B38F51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3debf8-bfb3-4e2a-9540-36d8cad61acc"/>
    <ds:schemaRef ds:uri="7003c64d-e6d3-4008-b37b-8dcb739b05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2448</TotalTime>
  <Words>1587</Words>
  <Application>Microsoft Office PowerPoint</Application>
  <PresentationFormat>Widescreen</PresentationFormat>
  <Paragraphs>211</Paragraphs>
  <Slides>22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 2</vt:lpstr>
      <vt:lpstr>Office Theme</vt:lpstr>
      <vt:lpstr>Population Genetics, Evolution, and the Hardy-Weinberg Principle</vt:lpstr>
      <vt:lpstr>PowerPoint Presentation</vt:lpstr>
      <vt:lpstr>PowerPoint Presentation</vt:lpstr>
      <vt:lpstr>In Today’s Lab…</vt:lpstr>
      <vt:lpstr>In Today’s Lab…</vt:lpstr>
      <vt:lpstr>In Today’s Lab…</vt:lpstr>
      <vt:lpstr>The Hardy-Weinberg Principle</vt:lpstr>
      <vt:lpstr>The Hardy-Weinberg Principle</vt:lpstr>
      <vt:lpstr>Hardy-Weinberg in Action</vt:lpstr>
      <vt:lpstr>The Hardy-Weinberg Principle</vt:lpstr>
      <vt:lpstr>The Hardy-Weinberg Principle</vt:lpstr>
      <vt:lpstr>The Hardy-Weinberg Principle</vt:lpstr>
      <vt:lpstr>The Hardy-Weinberg Principle</vt:lpstr>
      <vt:lpstr>The Hardy-Weinberg Principle</vt:lpstr>
      <vt:lpstr>PowerPoint Presentation</vt:lpstr>
      <vt:lpstr>PowerPoint Presentation</vt:lpstr>
      <vt:lpstr>In Today’s Lab…</vt:lpstr>
      <vt:lpstr>In Today’s Lab…</vt:lpstr>
      <vt:lpstr>The Hardy-Weinberg Principle</vt:lpstr>
      <vt:lpstr>Reminders</vt:lpstr>
      <vt:lpstr>PowerPoint Presentation</vt:lpstr>
      <vt:lpstr>PowerPoint Presentation</vt:lpstr>
    </vt:vector>
  </TitlesOfParts>
  <Company>uno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22 – Descent with Modification</dc:title>
  <dc:creator>uno user</dc:creator>
  <cp:lastModifiedBy>Travis Robbins</cp:lastModifiedBy>
  <cp:revision>197</cp:revision>
  <cp:lastPrinted>2017-09-01T16:31:57Z</cp:lastPrinted>
  <dcterms:created xsi:type="dcterms:W3CDTF">2011-12-26T16:38:39Z</dcterms:created>
  <dcterms:modified xsi:type="dcterms:W3CDTF">2026-01-22T16:10:25Z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0x0101005146E5A3E9C7FC429CBF6AF21B67FB00</vt:lpwstr>
  </property>
  <property fmtid="{D5CDD505-2E9C-101B-9397-08002B2CF9AE}" pid="3" name="MediaServiceImageTags">
    <vt:lpwstr/>
  </property>
  <property fmtid="{D5CDD505-2E9C-101B-9397-08002B2CF9AE}" pid="4" name="_ExtendedDescription">
    <vt:lpwstr/>
  </property>
</Properties>
</file>