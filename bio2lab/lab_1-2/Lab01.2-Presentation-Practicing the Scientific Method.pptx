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6" r:id="rId5"/>
    <p:sldId id="325" r:id="rId6"/>
    <p:sldId id="324" r:id="rId7"/>
    <p:sldId id="354" r:id="rId8"/>
    <p:sldId id="352" r:id="rId9"/>
    <p:sldId id="315" r:id="rId10"/>
    <p:sldId id="338" r:id="rId11"/>
    <p:sldId id="326" r:id="rId12"/>
    <p:sldId id="321" r:id="rId13"/>
    <p:sldId id="336" r:id="rId14"/>
    <p:sldId id="337" r:id="rId15"/>
    <p:sldId id="322" r:id="rId16"/>
    <p:sldId id="323" r:id="rId17"/>
    <p:sldId id="320" r:id="rId18"/>
    <p:sldId id="342" r:id="rId19"/>
    <p:sldId id="341" r:id="rId20"/>
    <p:sldId id="343" r:id="rId21"/>
    <p:sldId id="344" r:id="rId22"/>
    <p:sldId id="345" r:id="rId23"/>
    <p:sldId id="346" r:id="rId24"/>
    <p:sldId id="368" r:id="rId25"/>
    <p:sldId id="349" r:id="rId26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D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6FF23A-713F-4E0A-BDEF-CF04379D2623}" v="9" dt="2026-01-11T19:45:58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65" autoAdjust="0"/>
    <p:restoredTop sz="89165" autoAdjust="0"/>
  </p:normalViewPr>
  <p:slideViewPr>
    <p:cSldViewPr>
      <p:cViewPr varScale="1">
        <p:scale>
          <a:sx n="82" d="100"/>
          <a:sy n="82" d="100"/>
        </p:scale>
        <p:origin x="907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12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vis Robbins" userId="47b46fb5-27c3-483a-abe4-5b0e45afa2e4" providerId="ADAL" clId="{0C92D019-473C-4AFF-BB2B-3847E4F802D7}"/>
    <pc:docChg chg="undo custSel addSld delSld modSld">
      <pc:chgData name="Travis Robbins" userId="47b46fb5-27c3-483a-abe4-5b0e45afa2e4" providerId="ADAL" clId="{0C92D019-473C-4AFF-BB2B-3847E4F802D7}" dt="2026-01-11T19:45:58.652" v="246"/>
      <pc:docMkLst>
        <pc:docMk/>
      </pc:docMkLst>
      <pc:sldChg chg="addSp delSp mod">
        <pc:chgData name="Travis Robbins" userId="47b46fb5-27c3-483a-abe4-5b0e45afa2e4" providerId="ADAL" clId="{0C92D019-473C-4AFF-BB2B-3847E4F802D7}" dt="2026-01-11T18:43:33.305" v="1" actId="22"/>
        <pc:sldMkLst>
          <pc:docMk/>
          <pc:sldMk cId="2477094983" sldId="256"/>
        </pc:sldMkLst>
        <pc:spChg chg="add del">
          <ac:chgData name="Travis Robbins" userId="47b46fb5-27c3-483a-abe4-5b0e45afa2e4" providerId="ADAL" clId="{0C92D019-473C-4AFF-BB2B-3847E4F802D7}" dt="2026-01-11T18:43:33.305" v="1" actId="22"/>
          <ac:spMkLst>
            <pc:docMk/>
            <pc:sldMk cId="2477094983" sldId="256"/>
            <ac:spMk id="6" creationId="{42DA11FF-665C-8912-906D-AE96D4CF653C}"/>
          </ac:spMkLst>
        </pc:spChg>
      </pc:sldChg>
      <pc:sldChg chg="del">
        <pc:chgData name="Travis Robbins" userId="47b46fb5-27c3-483a-abe4-5b0e45afa2e4" providerId="ADAL" clId="{0C92D019-473C-4AFF-BB2B-3847E4F802D7}" dt="2026-01-11T18:46:28.652" v="11" actId="47"/>
        <pc:sldMkLst>
          <pc:docMk/>
          <pc:sldMk cId="0" sldId="257"/>
        </pc:sldMkLst>
      </pc:sldChg>
      <pc:sldChg chg="del">
        <pc:chgData name="Travis Robbins" userId="47b46fb5-27c3-483a-abe4-5b0e45afa2e4" providerId="ADAL" clId="{0C92D019-473C-4AFF-BB2B-3847E4F802D7}" dt="2026-01-11T18:46:28.652" v="11" actId="47"/>
        <pc:sldMkLst>
          <pc:docMk/>
          <pc:sldMk cId="0" sldId="269"/>
        </pc:sldMkLst>
      </pc:sldChg>
      <pc:sldChg chg="del">
        <pc:chgData name="Travis Robbins" userId="47b46fb5-27c3-483a-abe4-5b0e45afa2e4" providerId="ADAL" clId="{0C92D019-473C-4AFF-BB2B-3847E4F802D7}" dt="2026-01-11T18:47:52.222" v="12" actId="47"/>
        <pc:sldMkLst>
          <pc:docMk/>
          <pc:sldMk cId="3719089324" sldId="316"/>
        </pc:sldMkLst>
      </pc:sldChg>
      <pc:sldChg chg="del">
        <pc:chgData name="Travis Robbins" userId="47b46fb5-27c3-483a-abe4-5b0e45afa2e4" providerId="ADAL" clId="{0C92D019-473C-4AFF-BB2B-3847E4F802D7}" dt="2026-01-11T18:47:52.222" v="12" actId="47"/>
        <pc:sldMkLst>
          <pc:docMk/>
          <pc:sldMk cId="3475716250" sldId="317"/>
        </pc:sldMkLst>
      </pc:sldChg>
      <pc:sldChg chg="modSp add mod">
        <pc:chgData name="Travis Robbins" userId="47b46fb5-27c3-483a-abe4-5b0e45afa2e4" providerId="ADAL" clId="{0C92D019-473C-4AFF-BB2B-3847E4F802D7}" dt="2026-01-11T18:44:15.116" v="6" actId="14100"/>
        <pc:sldMkLst>
          <pc:docMk/>
          <pc:sldMk cId="3695273354" sldId="325"/>
        </pc:sldMkLst>
        <pc:spChg chg="mod">
          <ac:chgData name="Travis Robbins" userId="47b46fb5-27c3-483a-abe4-5b0e45afa2e4" providerId="ADAL" clId="{0C92D019-473C-4AFF-BB2B-3847E4F802D7}" dt="2026-01-11T18:44:15.116" v="6" actId="14100"/>
          <ac:spMkLst>
            <pc:docMk/>
            <pc:sldMk cId="3695273354" sldId="325"/>
            <ac:spMk id="3" creationId="{00000000-0000-0000-0000-000000000000}"/>
          </ac:spMkLst>
        </pc:spChg>
      </pc:sldChg>
      <pc:sldChg chg="del">
        <pc:chgData name="Travis Robbins" userId="47b46fb5-27c3-483a-abe4-5b0e45afa2e4" providerId="ADAL" clId="{0C92D019-473C-4AFF-BB2B-3847E4F802D7}" dt="2026-01-11T18:45:42.996" v="9" actId="47"/>
        <pc:sldMkLst>
          <pc:docMk/>
          <pc:sldMk cId="2649865537" sldId="327"/>
        </pc:sldMkLst>
      </pc:sldChg>
      <pc:sldChg chg="del">
        <pc:chgData name="Travis Robbins" userId="47b46fb5-27c3-483a-abe4-5b0e45afa2e4" providerId="ADAL" clId="{0C92D019-473C-4AFF-BB2B-3847E4F802D7}" dt="2026-01-11T18:45:48.963" v="10" actId="47"/>
        <pc:sldMkLst>
          <pc:docMk/>
          <pc:sldMk cId="3894133203" sldId="328"/>
        </pc:sldMkLst>
      </pc:sldChg>
      <pc:sldChg chg="modSp mod">
        <pc:chgData name="Travis Robbins" userId="47b46fb5-27c3-483a-abe4-5b0e45afa2e4" providerId="ADAL" clId="{0C92D019-473C-4AFF-BB2B-3847E4F802D7}" dt="2026-01-11T18:59:44.826" v="140" actId="1035"/>
        <pc:sldMkLst>
          <pc:docMk/>
          <pc:sldMk cId="2312183082" sldId="338"/>
        </pc:sldMkLst>
        <pc:spChg chg="mod">
          <ac:chgData name="Travis Robbins" userId="47b46fb5-27c3-483a-abe4-5b0e45afa2e4" providerId="ADAL" clId="{0C92D019-473C-4AFF-BB2B-3847E4F802D7}" dt="2026-01-11T18:59:44.826" v="140" actId="1035"/>
          <ac:spMkLst>
            <pc:docMk/>
            <pc:sldMk cId="2312183082" sldId="338"/>
            <ac:spMk id="2" creationId="{00000000-0000-0000-0000-000000000000}"/>
          </ac:spMkLst>
        </pc:spChg>
        <pc:spChg chg="mod">
          <ac:chgData name="Travis Robbins" userId="47b46fb5-27c3-483a-abe4-5b0e45afa2e4" providerId="ADAL" clId="{0C92D019-473C-4AFF-BB2B-3847E4F802D7}" dt="2026-01-11T18:59:44.826" v="140" actId="1035"/>
          <ac:spMkLst>
            <pc:docMk/>
            <pc:sldMk cId="2312183082" sldId="338"/>
            <ac:spMk id="3" creationId="{00000000-0000-0000-0000-000000000000}"/>
          </ac:spMkLst>
        </pc:spChg>
        <pc:spChg chg="mod">
          <ac:chgData name="Travis Robbins" userId="47b46fb5-27c3-483a-abe4-5b0e45afa2e4" providerId="ADAL" clId="{0C92D019-473C-4AFF-BB2B-3847E4F802D7}" dt="2026-01-11T18:59:44.826" v="140" actId="1035"/>
          <ac:spMkLst>
            <pc:docMk/>
            <pc:sldMk cId="2312183082" sldId="338"/>
            <ac:spMk id="4" creationId="{00000000-0000-0000-0000-000000000000}"/>
          </ac:spMkLst>
        </pc:spChg>
        <pc:spChg chg="mod">
          <ac:chgData name="Travis Robbins" userId="47b46fb5-27c3-483a-abe4-5b0e45afa2e4" providerId="ADAL" clId="{0C92D019-473C-4AFF-BB2B-3847E4F802D7}" dt="2026-01-11T18:59:44.826" v="140" actId="1035"/>
          <ac:spMkLst>
            <pc:docMk/>
            <pc:sldMk cId="2312183082" sldId="338"/>
            <ac:spMk id="15" creationId="{00000000-0000-0000-0000-000000000000}"/>
          </ac:spMkLst>
        </pc:spChg>
        <pc:spChg chg="mod">
          <ac:chgData name="Travis Robbins" userId="47b46fb5-27c3-483a-abe4-5b0e45afa2e4" providerId="ADAL" clId="{0C92D019-473C-4AFF-BB2B-3847E4F802D7}" dt="2026-01-11T18:59:44.826" v="140" actId="1035"/>
          <ac:spMkLst>
            <pc:docMk/>
            <pc:sldMk cId="2312183082" sldId="338"/>
            <ac:spMk id="18" creationId="{00000000-0000-0000-0000-000000000000}"/>
          </ac:spMkLst>
        </pc:spChg>
        <pc:spChg chg="mod">
          <ac:chgData name="Travis Robbins" userId="47b46fb5-27c3-483a-abe4-5b0e45afa2e4" providerId="ADAL" clId="{0C92D019-473C-4AFF-BB2B-3847E4F802D7}" dt="2026-01-11T18:59:44.826" v="140" actId="1035"/>
          <ac:spMkLst>
            <pc:docMk/>
            <pc:sldMk cId="2312183082" sldId="338"/>
            <ac:spMk id="19" creationId="{00000000-0000-0000-0000-000000000000}"/>
          </ac:spMkLst>
        </pc:spChg>
        <pc:picChg chg="mod">
          <ac:chgData name="Travis Robbins" userId="47b46fb5-27c3-483a-abe4-5b0e45afa2e4" providerId="ADAL" clId="{0C92D019-473C-4AFF-BB2B-3847E4F802D7}" dt="2026-01-11T18:59:44.826" v="140" actId="1035"/>
          <ac:picMkLst>
            <pc:docMk/>
            <pc:sldMk cId="2312183082" sldId="338"/>
            <ac:picMk id="17" creationId="{00000000-0000-0000-0000-000000000000}"/>
          </ac:picMkLst>
        </pc:picChg>
        <pc:picChg chg="mod">
          <ac:chgData name="Travis Robbins" userId="47b46fb5-27c3-483a-abe4-5b0e45afa2e4" providerId="ADAL" clId="{0C92D019-473C-4AFF-BB2B-3847E4F802D7}" dt="2026-01-11T18:59:44.826" v="140" actId="1035"/>
          <ac:picMkLst>
            <pc:docMk/>
            <pc:sldMk cId="2312183082" sldId="338"/>
            <ac:picMk id="20" creationId="{00000000-0000-0000-0000-000000000000}"/>
          </ac:picMkLst>
        </pc:picChg>
      </pc:sldChg>
      <pc:sldChg chg="del">
        <pc:chgData name="Travis Robbins" userId="47b46fb5-27c3-483a-abe4-5b0e45afa2e4" providerId="ADAL" clId="{0C92D019-473C-4AFF-BB2B-3847E4F802D7}" dt="2026-01-11T18:47:52.222" v="12" actId="47"/>
        <pc:sldMkLst>
          <pc:docMk/>
          <pc:sldMk cId="3905597728" sldId="339"/>
        </pc:sldMkLst>
      </pc:sldChg>
      <pc:sldChg chg="modSp del mod">
        <pc:chgData name="Travis Robbins" userId="47b46fb5-27c3-483a-abe4-5b0e45afa2e4" providerId="ADAL" clId="{0C92D019-473C-4AFF-BB2B-3847E4F802D7}" dt="2026-01-11T18:58:51.999" v="130" actId="47"/>
        <pc:sldMkLst>
          <pc:docMk/>
          <pc:sldMk cId="874144796" sldId="340"/>
        </pc:sldMkLst>
        <pc:spChg chg="mod">
          <ac:chgData name="Travis Robbins" userId="47b46fb5-27c3-483a-abe4-5b0e45afa2e4" providerId="ADAL" clId="{0C92D019-473C-4AFF-BB2B-3847E4F802D7}" dt="2026-01-11T18:54:16.811" v="118" actId="6549"/>
          <ac:spMkLst>
            <pc:docMk/>
            <pc:sldMk cId="874144796" sldId="340"/>
            <ac:spMk id="6" creationId="{00000000-0000-0000-0000-000000000000}"/>
          </ac:spMkLst>
        </pc:spChg>
      </pc:sldChg>
      <pc:sldChg chg="del">
        <pc:chgData name="Travis Robbins" userId="47b46fb5-27c3-483a-abe4-5b0e45afa2e4" providerId="ADAL" clId="{0C92D019-473C-4AFF-BB2B-3847E4F802D7}" dt="2026-01-11T18:46:28.652" v="11" actId="47"/>
        <pc:sldMkLst>
          <pc:docMk/>
          <pc:sldMk cId="2282750801" sldId="347"/>
        </pc:sldMkLst>
      </pc:sldChg>
      <pc:sldChg chg="del">
        <pc:chgData name="Travis Robbins" userId="47b46fb5-27c3-483a-abe4-5b0e45afa2e4" providerId="ADAL" clId="{0C92D019-473C-4AFF-BB2B-3847E4F802D7}" dt="2026-01-11T18:47:52.222" v="12" actId="47"/>
        <pc:sldMkLst>
          <pc:docMk/>
          <pc:sldMk cId="4193939192" sldId="348"/>
        </pc:sldMkLst>
      </pc:sldChg>
      <pc:sldChg chg="addSp delSp modSp add mod">
        <pc:chgData name="Travis Robbins" userId="47b46fb5-27c3-483a-abe4-5b0e45afa2e4" providerId="ADAL" clId="{0C92D019-473C-4AFF-BB2B-3847E4F802D7}" dt="2026-01-11T19:45:58.652" v="246"/>
        <pc:sldMkLst>
          <pc:docMk/>
          <pc:sldMk cId="492662455" sldId="349"/>
        </pc:sldMkLst>
        <pc:spChg chg="add del mod">
          <ac:chgData name="Travis Robbins" userId="47b46fb5-27c3-483a-abe4-5b0e45afa2e4" providerId="ADAL" clId="{0C92D019-473C-4AFF-BB2B-3847E4F802D7}" dt="2026-01-11T19:42:46.794" v="180" actId="478"/>
          <ac:spMkLst>
            <pc:docMk/>
            <pc:sldMk cId="492662455" sldId="349"/>
            <ac:spMk id="3" creationId="{6539F6B1-F1BA-03A7-C130-C0E116ECFD30}"/>
          </ac:spMkLst>
        </pc:spChg>
        <pc:spChg chg="add mod">
          <ac:chgData name="Travis Robbins" userId="47b46fb5-27c3-483a-abe4-5b0e45afa2e4" providerId="ADAL" clId="{0C92D019-473C-4AFF-BB2B-3847E4F802D7}" dt="2026-01-11T19:42:55.184" v="181"/>
          <ac:spMkLst>
            <pc:docMk/>
            <pc:sldMk cId="492662455" sldId="349"/>
            <ac:spMk id="4" creationId="{E0FA0C6E-6D17-34AC-71DF-D5541470E8DE}"/>
          </ac:spMkLst>
        </pc:spChg>
        <pc:spChg chg="add mod">
          <ac:chgData name="Travis Robbins" userId="47b46fb5-27c3-483a-abe4-5b0e45afa2e4" providerId="ADAL" clId="{0C92D019-473C-4AFF-BB2B-3847E4F802D7}" dt="2026-01-11T19:45:58.652" v="246"/>
          <ac:spMkLst>
            <pc:docMk/>
            <pc:sldMk cId="492662455" sldId="349"/>
            <ac:spMk id="5" creationId="{6069ED6D-9B41-5FAB-6B7A-039462162C33}"/>
          </ac:spMkLst>
        </pc:spChg>
        <pc:spChg chg="mod">
          <ac:chgData name="Travis Robbins" userId="47b46fb5-27c3-483a-abe4-5b0e45afa2e4" providerId="ADAL" clId="{0C92D019-473C-4AFF-BB2B-3847E4F802D7}" dt="2026-01-11T19:44:17.651" v="195" actId="1036"/>
          <ac:spMkLst>
            <pc:docMk/>
            <pc:sldMk cId="492662455" sldId="349"/>
            <ac:spMk id="31" creationId="{00000000-0000-0000-0000-000000000000}"/>
          </ac:spMkLst>
        </pc:spChg>
        <pc:spChg chg="del">
          <ac:chgData name="Travis Robbins" userId="47b46fb5-27c3-483a-abe4-5b0e45afa2e4" providerId="ADAL" clId="{0C92D019-473C-4AFF-BB2B-3847E4F802D7}" dt="2026-01-11T19:42:43.831" v="179" actId="478"/>
          <ac:spMkLst>
            <pc:docMk/>
            <pc:sldMk cId="492662455" sldId="349"/>
            <ac:spMk id="32" creationId="{00000000-0000-0000-0000-000000000000}"/>
          </ac:spMkLst>
        </pc:spChg>
      </pc:sldChg>
      <pc:sldChg chg="del">
        <pc:chgData name="Travis Robbins" userId="47b46fb5-27c3-483a-abe4-5b0e45afa2e4" providerId="ADAL" clId="{0C92D019-473C-4AFF-BB2B-3847E4F802D7}" dt="2026-01-11T18:47:52.222" v="12" actId="47"/>
        <pc:sldMkLst>
          <pc:docMk/>
          <pc:sldMk cId="3619175929" sldId="349"/>
        </pc:sldMkLst>
      </pc:sldChg>
      <pc:sldChg chg="del">
        <pc:chgData name="Travis Robbins" userId="47b46fb5-27c3-483a-abe4-5b0e45afa2e4" providerId="ADAL" clId="{0C92D019-473C-4AFF-BB2B-3847E4F802D7}" dt="2026-01-11T18:47:52.222" v="12" actId="47"/>
        <pc:sldMkLst>
          <pc:docMk/>
          <pc:sldMk cId="1553074834" sldId="350"/>
        </pc:sldMkLst>
      </pc:sldChg>
      <pc:sldChg chg="del">
        <pc:chgData name="Travis Robbins" userId="47b46fb5-27c3-483a-abe4-5b0e45afa2e4" providerId="ADAL" clId="{0C92D019-473C-4AFF-BB2B-3847E4F802D7}" dt="2026-01-11T18:47:52.222" v="12" actId="47"/>
        <pc:sldMkLst>
          <pc:docMk/>
          <pc:sldMk cId="3033889302" sldId="351"/>
        </pc:sldMkLst>
      </pc:sldChg>
      <pc:sldChg chg="modSp mod">
        <pc:chgData name="Travis Robbins" userId="47b46fb5-27c3-483a-abe4-5b0e45afa2e4" providerId="ADAL" clId="{0C92D019-473C-4AFF-BB2B-3847E4F802D7}" dt="2026-01-11T18:59:27.715" v="131" actId="207"/>
        <pc:sldMkLst>
          <pc:docMk/>
          <pc:sldMk cId="1573126342" sldId="352"/>
        </pc:sldMkLst>
        <pc:spChg chg="mod">
          <ac:chgData name="Travis Robbins" userId="47b46fb5-27c3-483a-abe4-5b0e45afa2e4" providerId="ADAL" clId="{0C92D019-473C-4AFF-BB2B-3847E4F802D7}" dt="2026-01-11T18:50:02.895" v="94" actId="1076"/>
          <ac:spMkLst>
            <pc:docMk/>
            <pc:sldMk cId="1573126342" sldId="352"/>
            <ac:spMk id="2" creationId="{00000000-0000-0000-0000-000000000000}"/>
          </ac:spMkLst>
        </pc:spChg>
        <pc:spChg chg="mod">
          <ac:chgData name="Travis Robbins" userId="47b46fb5-27c3-483a-abe4-5b0e45afa2e4" providerId="ADAL" clId="{0C92D019-473C-4AFF-BB2B-3847E4F802D7}" dt="2026-01-11T18:59:27.715" v="131" actId="207"/>
          <ac:spMkLst>
            <pc:docMk/>
            <pc:sldMk cId="1573126342" sldId="352"/>
            <ac:spMk id="4" creationId="{00000000-0000-0000-0000-000000000000}"/>
          </ac:spMkLst>
        </pc:spChg>
        <pc:spChg chg="mod">
          <ac:chgData name="Travis Robbins" userId="47b46fb5-27c3-483a-abe4-5b0e45afa2e4" providerId="ADAL" clId="{0C92D019-473C-4AFF-BB2B-3847E4F802D7}" dt="2026-01-11T18:48:34.051" v="49" actId="14100"/>
          <ac:spMkLst>
            <pc:docMk/>
            <pc:sldMk cId="1573126342" sldId="352"/>
            <ac:spMk id="15" creationId="{00000000-0000-0000-0000-000000000000}"/>
          </ac:spMkLst>
        </pc:spChg>
      </pc:sldChg>
      <pc:sldChg chg="del">
        <pc:chgData name="Travis Robbins" userId="47b46fb5-27c3-483a-abe4-5b0e45afa2e4" providerId="ADAL" clId="{0C92D019-473C-4AFF-BB2B-3847E4F802D7}" dt="2026-01-11T18:47:56.644" v="13" actId="47"/>
        <pc:sldMkLst>
          <pc:docMk/>
          <pc:sldMk cId="3044556938" sldId="353"/>
        </pc:sldMkLst>
      </pc:sldChg>
      <pc:sldChg chg="modSp add mod">
        <pc:chgData name="Travis Robbins" userId="47b46fb5-27c3-483a-abe4-5b0e45afa2e4" providerId="ADAL" clId="{0C92D019-473C-4AFF-BB2B-3847E4F802D7}" dt="2026-01-11T18:45:35.852" v="8" actId="1076"/>
        <pc:sldMkLst>
          <pc:docMk/>
          <pc:sldMk cId="2392394291" sldId="354"/>
        </pc:sldMkLst>
        <pc:spChg chg="mod">
          <ac:chgData name="Travis Robbins" userId="47b46fb5-27c3-483a-abe4-5b0e45afa2e4" providerId="ADAL" clId="{0C92D019-473C-4AFF-BB2B-3847E4F802D7}" dt="2026-01-11T18:45:35.852" v="8" actId="1076"/>
          <ac:spMkLst>
            <pc:docMk/>
            <pc:sldMk cId="2392394291" sldId="354"/>
            <ac:spMk id="3" creationId="{00000000-0000-0000-0000-000000000000}"/>
          </ac:spMkLst>
        </pc:spChg>
      </pc:sldChg>
      <pc:sldChg chg="addSp delSp modSp add del mod">
        <pc:chgData name="Travis Robbins" userId="47b46fb5-27c3-483a-abe4-5b0e45afa2e4" providerId="ADAL" clId="{0C92D019-473C-4AFF-BB2B-3847E4F802D7}" dt="2026-01-11T19:44:24.651" v="196" actId="47"/>
        <pc:sldMkLst>
          <pc:docMk/>
          <pc:sldMk cId="4199582342" sldId="355"/>
        </pc:sldMkLst>
        <pc:spChg chg="add mod">
          <ac:chgData name="Travis Robbins" userId="47b46fb5-27c3-483a-abe4-5b0e45afa2e4" providerId="ADAL" clId="{0C92D019-473C-4AFF-BB2B-3847E4F802D7}" dt="2026-01-11T19:40:14.385" v="166" actId="20577"/>
          <ac:spMkLst>
            <pc:docMk/>
            <pc:sldMk cId="4199582342" sldId="355"/>
            <ac:spMk id="2" creationId="{7E5C0BC9-6AFE-09FB-06C8-20094464B84A}"/>
          </ac:spMkLst>
        </pc:spChg>
        <pc:spChg chg="del">
          <ac:chgData name="Travis Robbins" userId="47b46fb5-27c3-483a-abe4-5b0e45afa2e4" providerId="ADAL" clId="{0C92D019-473C-4AFF-BB2B-3847E4F802D7}" dt="2026-01-11T18:57:54.115" v="124" actId="478"/>
          <ac:spMkLst>
            <pc:docMk/>
            <pc:sldMk cId="4199582342" sldId="355"/>
            <ac:spMk id="3" creationId="{00000000-0000-0000-0000-000000000000}"/>
          </ac:spMkLst>
        </pc:spChg>
        <pc:spChg chg="del mod">
          <ac:chgData name="Travis Robbins" userId="47b46fb5-27c3-483a-abe4-5b0e45afa2e4" providerId="ADAL" clId="{0C92D019-473C-4AFF-BB2B-3847E4F802D7}" dt="2026-01-11T19:40:18.019" v="167" actId="478"/>
          <ac:spMkLst>
            <pc:docMk/>
            <pc:sldMk cId="4199582342" sldId="355"/>
            <ac:spMk id="6" creationId="{00000000-0000-0000-0000-000000000000}"/>
          </ac:spMkLst>
        </pc:spChg>
      </pc:sldChg>
      <pc:sldChg chg="modSp add del mod">
        <pc:chgData name="Travis Robbins" userId="47b46fb5-27c3-483a-abe4-5b0e45afa2e4" providerId="ADAL" clId="{0C92D019-473C-4AFF-BB2B-3847E4F802D7}" dt="2026-01-11T19:40:22.535" v="168" actId="47"/>
        <pc:sldMkLst>
          <pc:docMk/>
          <pc:sldMk cId="3976953205" sldId="356"/>
        </pc:sldMkLst>
        <pc:spChg chg="mod">
          <ac:chgData name="Travis Robbins" userId="47b46fb5-27c3-483a-abe4-5b0e45afa2e4" providerId="ADAL" clId="{0C92D019-473C-4AFF-BB2B-3847E4F802D7}" dt="2026-01-11T18:58:21.632" v="129" actId="1076"/>
          <ac:spMkLst>
            <pc:docMk/>
            <pc:sldMk cId="3976953205" sldId="356"/>
            <ac:spMk id="6" creationId="{00000000-0000-0000-0000-000000000000}"/>
          </ac:spMkLst>
        </pc:spChg>
      </pc:sldChg>
      <pc:sldChg chg="addSp delSp modSp add mod">
        <pc:chgData name="Travis Robbins" userId="47b46fb5-27c3-483a-abe4-5b0e45afa2e4" providerId="ADAL" clId="{0C92D019-473C-4AFF-BB2B-3847E4F802D7}" dt="2026-01-11T19:45:54.673" v="245" actId="1076"/>
        <pc:sldMkLst>
          <pc:docMk/>
          <pc:sldMk cId="3122493669" sldId="368"/>
        </pc:sldMkLst>
        <pc:spChg chg="add del mod">
          <ac:chgData name="Travis Robbins" userId="47b46fb5-27c3-483a-abe4-5b0e45afa2e4" providerId="ADAL" clId="{0C92D019-473C-4AFF-BB2B-3847E4F802D7}" dt="2026-01-11T19:42:13.599" v="171" actId="478"/>
          <ac:spMkLst>
            <pc:docMk/>
            <pc:sldMk cId="3122493669" sldId="368"/>
            <ac:spMk id="3" creationId="{D1F862CB-4276-BC92-B2B0-4CEAE692945D}"/>
          </ac:spMkLst>
        </pc:spChg>
        <pc:spChg chg="add mod">
          <ac:chgData name="Travis Robbins" userId="47b46fb5-27c3-483a-abe4-5b0e45afa2e4" providerId="ADAL" clId="{0C92D019-473C-4AFF-BB2B-3847E4F802D7}" dt="2026-01-11T19:42:18.025" v="174" actId="1035"/>
          <ac:spMkLst>
            <pc:docMk/>
            <pc:sldMk cId="3122493669" sldId="368"/>
            <ac:spMk id="4" creationId="{7B9F4EAC-8736-EEAF-6CD7-8255F452D313}"/>
          </ac:spMkLst>
        </pc:spChg>
        <pc:spChg chg="add mod">
          <ac:chgData name="Travis Robbins" userId="47b46fb5-27c3-483a-abe4-5b0e45afa2e4" providerId="ADAL" clId="{0C92D019-473C-4AFF-BB2B-3847E4F802D7}" dt="2026-01-11T19:45:54.673" v="245" actId="1076"/>
          <ac:spMkLst>
            <pc:docMk/>
            <pc:sldMk cId="3122493669" sldId="368"/>
            <ac:spMk id="5" creationId="{E4F0216E-AFCC-CC3D-16D2-FCDB96B03DFF}"/>
          </ac:spMkLst>
        </pc:spChg>
        <pc:spChg chg="mod">
          <ac:chgData name="Travis Robbins" userId="47b46fb5-27c3-483a-abe4-5b0e45afa2e4" providerId="ADAL" clId="{0C92D019-473C-4AFF-BB2B-3847E4F802D7}" dt="2026-01-11T19:42:28.041" v="176" actId="1076"/>
          <ac:spMkLst>
            <pc:docMk/>
            <pc:sldMk cId="3122493669" sldId="368"/>
            <ac:spMk id="31" creationId="{00000000-0000-0000-0000-000000000000}"/>
          </ac:spMkLst>
        </pc:spChg>
        <pc:spChg chg="del">
          <ac:chgData name="Travis Robbins" userId="47b46fb5-27c3-483a-abe4-5b0e45afa2e4" providerId="ADAL" clId="{0C92D019-473C-4AFF-BB2B-3847E4F802D7}" dt="2026-01-11T19:42:10.293" v="170" actId="478"/>
          <ac:spMkLst>
            <pc:docMk/>
            <pc:sldMk cId="3122493669" sldId="368"/>
            <ac:spMk id="3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EDFBC-8F3C-4D3F-B12E-3A70B3DC895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06B1C-58C1-41D3-9EC2-70DEB5A28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60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506B1C-58C1-41D3-9EC2-70DEB5A2897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89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1178-11FB-4BEC-8E0F-DDF6CD1EF48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A0EFE-B331-4723-AD14-CCE6D5E15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56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1178-11FB-4BEC-8E0F-DDF6CD1EF48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A0EFE-B331-4723-AD14-CCE6D5E15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93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1178-11FB-4BEC-8E0F-DDF6CD1EF48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A0EFE-B331-4723-AD14-CCE6D5E15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49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1178-11FB-4BEC-8E0F-DDF6CD1EF48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A0EFE-B331-4723-AD14-CCE6D5E15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29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1178-11FB-4BEC-8E0F-DDF6CD1EF48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A0EFE-B331-4723-AD14-CCE6D5E15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1178-11FB-4BEC-8E0F-DDF6CD1EF48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A0EFE-B331-4723-AD14-CCE6D5E15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25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1178-11FB-4BEC-8E0F-DDF6CD1EF48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A0EFE-B331-4723-AD14-CCE6D5E15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55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1178-11FB-4BEC-8E0F-DDF6CD1EF48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A0EFE-B331-4723-AD14-CCE6D5E15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70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1178-11FB-4BEC-8E0F-DDF6CD1EF48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A0EFE-B331-4723-AD14-CCE6D5E15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38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1178-11FB-4BEC-8E0F-DDF6CD1EF48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A0EFE-B331-4723-AD14-CCE6D5E15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18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21178-11FB-4BEC-8E0F-DDF6CD1EF48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A0EFE-B331-4723-AD14-CCE6D5E15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82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39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61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21178-11FB-4BEC-8E0F-DDF6CD1EF48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A0EFE-B331-4723-AD14-CCE6D5E15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21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2.wdp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2.wdp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2.wdp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2.wdp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9.jpeg"/><Relationship Id="rId3" Type="http://schemas.openxmlformats.org/officeDocument/2006/relationships/image" Target="../media/image12.jpg"/><Relationship Id="rId7" Type="http://schemas.openxmlformats.org/officeDocument/2006/relationships/image" Target="../media/image4.jpeg"/><Relationship Id="rId12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11" Type="http://schemas.openxmlformats.org/officeDocument/2006/relationships/image" Target="../media/image7.jpeg"/><Relationship Id="rId5" Type="http://schemas.openxmlformats.org/officeDocument/2006/relationships/image" Target="../media/image2.jpeg"/><Relationship Id="rId10" Type="http://schemas.openxmlformats.org/officeDocument/2006/relationships/image" Target="../media/image6.jpeg"/><Relationship Id="rId4" Type="http://schemas.openxmlformats.org/officeDocument/2006/relationships/image" Target="../media/image10.jpeg"/><Relationship Id="rId9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12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12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jpeg"/><Relationship Id="rId10" Type="http://schemas.openxmlformats.org/officeDocument/2006/relationships/image" Target="../media/image8.jpeg"/><Relationship Id="rId4" Type="http://schemas.openxmlformats.org/officeDocument/2006/relationships/image" Target="../media/image3.jpe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1143001"/>
            <a:ext cx="7391400" cy="1470025"/>
          </a:xfrm>
        </p:spPr>
        <p:txBody>
          <a:bodyPr/>
          <a:lstStyle/>
          <a:p>
            <a:r>
              <a:rPr lang="en-US" dirty="0"/>
              <a:t>Practicing the Scientific Method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276600"/>
            <a:ext cx="6400800" cy="16764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BIOL 1750 – Biology II Lab</a:t>
            </a:r>
          </a:p>
          <a:p>
            <a:r>
              <a:rPr lang="en-US" sz="2000" dirty="0">
                <a:solidFill>
                  <a:schemeClr val="tx1"/>
                </a:solidFill>
              </a:rPr>
              <a:t>University of Nebraska at Omaha</a:t>
            </a:r>
          </a:p>
          <a:p>
            <a:r>
              <a:rPr lang="en-US" sz="2000" dirty="0">
                <a:solidFill>
                  <a:schemeClr val="tx1"/>
                </a:solidFill>
              </a:rPr>
              <a:t>AH 225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3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34" name="Picture 3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77094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2361" y="1219200"/>
            <a:ext cx="9544239" cy="4419600"/>
          </a:xfrm>
        </p:spPr>
        <p:txBody>
          <a:bodyPr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000" b="1" dirty="0">
                <a:solidFill>
                  <a:schemeClr val="tx1"/>
                </a:solidFill>
              </a:rPr>
              <a:t>Lab 1.1 </a:t>
            </a:r>
          </a:p>
          <a:p>
            <a:pPr algn="l">
              <a:spcBef>
                <a:spcPts val="0"/>
              </a:spcBef>
            </a:pPr>
            <a:r>
              <a:rPr lang="en-US" sz="2000" b="1" dirty="0">
                <a:solidFill>
                  <a:schemeClr val="tx1"/>
                </a:solidFill>
              </a:rPr>
              <a:t>Scientific Method and </a:t>
            </a:r>
            <a:r>
              <a:rPr lang="en-US" sz="2000" b="1" dirty="0" err="1">
                <a:solidFill>
                  <a:schemeClr val="tx1"/>
                </a:solidFill>
              </a:rPr>
              <a:t>and</a:t>
            </a:r>
            <a:r>
              <a:rPr lang="en-US" sz="2000" b="1" dirty="0">
                <a:solidFill>
                  <a:schemeClr val="tx1"/>
                </a:solidFill>
              </a:rPr>
              <a:t> Experimental Design (post-lab)</a:t>
            </a:r>
          </a:p>
          <a:p>
            <a:pPr algn="l"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</a:rPr>
              <a:t>1. Controlled variables should be similar across treatments, true or false?</a:t>
            </a:r>
          </a:p>
          <a:p>
            <a:pPr algn="l"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</a:rPr>
              <a:t>2. Why is it important to include replication when conducting an experiment to test a hypothesis?</a:t>
            </a:r>
          </a:p>
          <a:p>
            <a:pPr algn="l"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</a:rPr>
              <a:t>3. Describe one way to include replication in an experimental design.</a:t>
            </a:r>
          </a:p>
          <a:p>
            <a:pPr algn="l"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</a:rPr>
              <a:t>4. In an experiment with a sample size of 2, would you be confident that the data reflect the true measure of the population?</a:t>
            </a:r>
          </a:p>
          <a:p>
            <a:pPr algn="l"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</a:rPr>
              <a:t>5. Is the variable that you manipulate to test for its effect the independent or dependent variable?</a:t>
            </a:r>
          </a:p>
          <a:p>
            <a:pPr algn="l">
              <a:spcBef>
                <a:spcPts val="12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3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34" name="Picture 3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itle 1"/>
          <p:cNvSpPr txBox="1">
            <a:spLocks/>
          </p:cNvSpPr>
          <p:nvPr/>
        </p:nvSpPr>
        <p:spPr>
          <a:xfrm>
            <a:off x="1600200" y="76201"/>
            <a:ext cx="8305800" cy="947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Pre/Post-lab Quiz Questions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73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76201"/>
            <a:ext cx="8305800" cy="947737"/>
          </a:xfrm>
        </p:spPr>
        <p:txBody>
          <a:bodyPr>
            <a:normAutofit/>
          </a:bodyPr>
          <a:lstStyle/>
          <a:p>
            <a:r>
              <a:rPr lang="en-US" dirty="0"/>
              <a:t>Pre/Post-lab Quiz Questions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7785" y="1219200"/>
            <a:ext cx="9356430" cy="4836118"/>
          </a:xfrm>
        </p:spPr>
        <p:txBody>
          <a:bodyPr>
            <a:noAutofit/>
          </a:bodyPr>
          <a:lstStyle/>
          <a:p>
            <a:pPr algn="l">
              <a:spcBef>
                <a:spcPts val="1200"/>
              </a:spcBef>
            </a:pPr>
            <a:r>
              <a:rPr lang="en-US" sz="2000" b="1" dirty="0">
                <a:solidFill>
                  <a:schemeClr val="tx1"/>
                </a:solidFill>
              </a:rPr>
              <a:t>Lab 1.2</a:t>
            </a:r>
          </a:p>
          <a:p>
            <a:pPr algn="l">
              <a:spcBef>
                <a:spcPts val="0"/>
              </a:spcBef>
            </a:pPr>
            <a:r>
              <a:rPr lang="en-US" sz="2000" b="1" dirty="0">
                <a:solidFill>
                  <a:schemeClr val="tx1"/>
                </a:solidFill>
              </a:rPr>
              <a:t>Practicing the Scientific Method (pre-lab)</a:t>
            </a:r>
          </a:p>
          <a:p>
            <a:pPr algn="l"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</a:rPr>
              <a:t>1. What is an independent variable?</a:t>
            </a:r>
          </a:p>
          <a:p>
            <a:pPr algn="l"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</a:rPr>
              <a:t>2. What is a dependent variable?</a:t>
            </a:r>
          </a:p>
          <a:p>
            <a:pPr algn="l"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</a:rPr>
              <a:t>3. For which species of wild primate are we collecting behavioral data? </a:t>
            </a:r>
          </a:p>
          <a:p>
            <a:pPr algn="l"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</a:rPr>
              <a:t>4. While investigating an unknown in today’s lab, will you be allowed to open the box?</a:t>
            </a:r>
          </a:p>
          <a:p>
            <a:pPr algn="l"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</a:rPr>
              <a:t>5. How many behavioral categories will be used to assess the behavior of wild primates across campus?</a:t>
            </a:r>
          </a:p>
          <a:p>
            <a:pPr algn="l"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</a:rPr>
              <a:t>6. What will the null hypothesis be with regard to the treatments assessed in the wild primate experiment when examining a single location?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3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34" name="Picture 3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32051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76200"/>
            <a:ext cx="8305800" cy="1676400"/>
          </a:xfrm>
        </p:spPr>
        <p:txBody>
          <a:bodyPr>
            <a:normAutofit fontScale="90000"/>
          </a:bodyPr>
          <a:lstStyle/>
          <a:p>
            <a:r>
              <a:rPr lang="en-US" dirty="0"/>
              <a:t>Pre/Post-lab Quiz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NO QUIZ THIS WEEK!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sz="3600" dirty="0">
                <a:solidFill>
                  <a:srgbClr val="FF0000"/>
                </a:solidFill>
              </a:rPr>
              <a:t>Turn in your Introduction writing assignment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752600"/>
            <a:ext cx="7832430" cy="4074118"/>
          </a:xfrm>
        </p:spPr>
        <p:txBody>
          <a:bodyPr>
            <a:noAutofit/>
          </a:bodyPr>
          <a:lstStyle/>
          <a:p>
            <a:pPr algn="l">
              <a:spcBef>
                <a:spcPts val="1200"/>
              </a:spcBef>
            </a:pPr>
            <a:r>
              <a:rPr lang="en-US" sz="2800" b="1" dirty="0">
                <a:solidFill>
                  <a:schemeClr val="tx1"/>
                </a:solidFill>
              </a:rPr>
              <a:t>1. </a:t>
            </a:r>
          </a:p>
          <a:p>
            <a:pPr algn="l">
              <a:spcBef>
                <a:spcPts val="1200"/>
              </a:spcBef>
            </a:pPr>
            <a:r>
              <a:rPr lang="en-US" sz="2800" b="1" dirty="0">
                <a:solidFill>
                  <a:schemeClr val="tx1"/>
                </a:solidFill>
              </a:rPr>
              <a:t>2. </a:t>
            </a:r>
          </a:p>
          <a:p>
            <a:pPr algn="l">
              <a:spcBef>
                <a:spcPts val="1200"/>
              </a:spcBef>
            </a:pPr>
            <a:r>
              <a:rPr lang="en-US" sz="2800" b="1" dirty="0">
                <a:solidFill>
                  <a:schemeClr val="tx1"/>
                </a:solidFill>
              </a:rPr>
              <a:t>3. </a:t>
            </a:r>
          </a:p>
          <a:p>
            <a:pPr algn="l">
              <a:spcBef>
                <a:spcPts val="1200"/>
              </a:spcBef>
            </a:pPr>
            <a:r>
              <a:rPr lang="en-US" sz="2800" b="1" dirty="0">
                <a:solidFill>
                  <a:schemeClr val="tx1"/>
                </a:solidFill>
              </a:rPr>
              <a:t>4.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3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34" name="Picture 3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92394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67884" y="0"/>
            <a:ext cx="8351154" cy="1676400"/>
          </a:xfrm>
        </p:spPr>
        <p:txBody>
          <a:bodyPr>
            <a:normAutofit/>
          </a:bodyPr>
          <a:lstStyle/>
          <a:p>
            <a:r>
              <a:rPr lang="en-US" sz="4000" dirty="0"/>
              <a:t>Practicing the Scientific Method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2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24" name="Picture 2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Box 3"/>
          <p:cNvSpPr txBox="1"/>
          <p:nvPr/>
        </p:nvSpPr>
        <p:spPr>
          <a:xfrm>
            <a:off x="801047" y="1623030"/>
            <a:ext cx="7893954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dirty="0">
                <a:solidFill>
                  <a:srgbClr val="FF0000"/>
                </a:solidFill>
              </a:rPr>
              <a:t>Remember: Science is a process!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1) Determine the variables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2) Design the experiment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3) Make predictions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4) Conduct the experiment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5) Present and analyze the results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6) Discuss and disseminate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721024" y="2514600"/>
            <a:ext cx="54709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D6"/>
                </a:solidFill>
              </a:rPr>
              <a:t>Understanding experimental design helps you understand the scientific process</a:t>
            </a:r>
          </a:p>
        </p:txBody>
      </p:sp>
    </p:spTree>
    <p:extLst>
      <p:ext uri="{BB962C8B-B14F-4D97-AF65-F5344CB8AC3E}">
        <p14:creationId xmlns:p14="http://schemas.microsoft.com/office/powerpoint/2010/main" val="1573126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2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24" name="Picture 2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447800" y="1066800"/>
            <a:ext cx="9296400" cy="4343400"/>
          </a:xfrm>
        </p:spPr>
        <p:txBody>
          <a:bodyPr>
            <a:normAutofit/>
          </a:bodyPr>
          <a:lstStyle/>
          <a:p>
            <a:r>
              <a:rPr lang="en-US" sz="2800" b="1" dirty="0"/>
              <a:t>Practicing the Scientific Method</a:t>
            </a:r>
          </a:p>
          <a:p>
            <a:pPr lvl="1"/>
            <a:r>
              <a:rPr lang="en-US" sz="2400" dirty="0"/>
              <a:t>Exercise 1: Investigating an Unknown (10 points)</a:t>
            </a:r>
            <a:endParaRPr lang="en-US" dirty="0"/>
          </a:p>
          <a:p>
            <a:pPr lvl="1"/>
            <a:r>
              <a:rPr lang="en-US" sz="2400" dirty="0"/>
              <a:t>Exercise 2: Behavioral Observations of a “Wild” Primate (10 points)</a:t>
            </a:r>
          </a:p>
          <a:p>
            <a:endParaRPr lang="en-US" sz="2800" b="1" dirty="0"/>
          </a:p>
          <a:p>
            <a:r>
              <a:rPr lang="en-US" sz="2800" b="1" dirty="0"/>
              <a:t>Class will split up</a:t>
            </a:r>
          </a:p>
          <a:p>
            <a:pPr lvl="1"/>
            <a:r>
              <a:rPr lang="en-US" sz="2400" b="1" dirty="0"/>
              <a:t>Half start with Ex. 1. Half start with Ex. 2.</a:t>
            </a:r>
          </a:p>
          <a:p>
            <a:endParaRPr lang="en-US" sz="2800" b="1" dirty="0"/>
          </a:p>
          <a:p>
            <a:r>
              <a:rPr lang="en-US" sz="2800" b="1" dirty="0"/>
              <a:t>Turn in Assignment Sheets before you leave </a:t>
            </a:r>
            <a:endParaRPr lang="en-US" sz="2400" dirty="0"/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In Today’s Lab…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68396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3" t="6451" r="6862" b="73297"/>
          <a:stretch/>
        </p:blipFill>
        <p:spPr>
          <a:xfrm>
            <a:off x="4703429" y="228601"/>
            <a:ext cx="5964573" cy="1777399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3179428" cy="2057400"/>
          </a:xfrm>
        </p:spPr>
        <p:txBody>
          <a:bodyPr>
            <a:normAutofit/>
          </a:bodyPr>
          <a:lstStyle/>
          <a:p>
            <a:r>
              <a:rPr lang="en-US" sz="4000" dirty="0"/>
              <a:t>Science is a Process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3" t="34135" r="6862" b="23902"/>
          <a:stretch/>
        </p:blipFill>
        <p:spPr>
          <a:xfrm>
            <a:off x="4703428" y="2006000"/>
            <a:ext cx="5964573" cy="368292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534401" y="1527629"/>
            <a:ext cx="2133601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703428" y="1527629"/>
            <a:ext cx="223077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2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24" name="Picture 23" descr="29_05caSporangia-U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 1"/>
          <p:cNvSpPr/>
          <p:nvPr/>
        </p:nvSpPr>
        <p:spPr>
          <a:xfrm>
            <a:off x="4703427" y="2442030"/>
            <a:ext cx="2230773" cy="2739571"/>
          </a:xfrm>
          <a:prstGeom prst="rect">
            <a:avLst/>
          </a:prstGeom>
          <a:noFill/>
          <a:ln w="508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818442" y="2005999"/>
            <a:ext cx="20007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Statistical Analyses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7445" y="2752334"/>
            <a:ext cx="27327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Basic Summary: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Observe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Hypothesize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Test by experiment (comparative also)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Interpret results</a:t>
            </a:r>
          </a:p>
        </p:txBody>
      </p:sp>
    </p:spTree>
    <p:extLst>
      <p:ext uri="{BB962C8B-B14F-4D97-AF65-F5344CB8AC3E}">
        <p14:creationId xmlns:p14="http://schemas.microsoft.com/office/powerpoint/2010/main" val="2312183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2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24" name="Picture 2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Experimental Design</a:t>
            </a:r>
            <a:endParaRPr lang="en-US" sz="3200" dirty="0"/>
          </a:p>
        </p:txBody>
      </p:sp>
      <p:sp>
        <p:nvSpPr>
          <p:cNvPr id="15" name="TextBox 14"/>
          <p:cNvSpPr txBox="1"/>
          <p:nvPr/>
        </p:nvSpPr>
        <p:spPr>
          <a:xfrm>
            <a:off x="1752600" y="1066801"/>
            <a:ext cx="8610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Recall some of the important aspects of an experiment: 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Dependent variable(s)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Independent variable(s)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Controlled variables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Level of treatment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Replication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Control treatment</a:t>
            </a:r>
          </a:p>
        </p:txBody>
      </p:sp>
    </p:spTree>
    <p:extLst>
      <p:ext uri="{BB962C8B-B14F-4D97-AF65-F5344CB8AC3E}">
        <p14:creationId xmlns:p14="http://schemas.microsoft.com/office/powerpoint/2010/main" val="3572315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2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24" name="Picture 2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333500" y="914400"/>
            <a:ext cx="9525000" cy="5029200"/>
          </a:xfrm>
        </p:spPr>
        <p:txBody>
          <a:bodyPr>
            <a:normAutofit/>
          </a:bodyPr>
          <a:lstStyle/>
          <a:p>
            <a:r>
              <a:rPr lang="en-US" sz="2800" dirty="0"/>
              <a:t>After we make observations and ask questions, we formulate ideas to explain the observations.</a:t>
            </a:r>
          </a:p>
          <a:p>
            <a:r>
              <a:rPr lang="en-US" sz="2800" dirty="0"/>
              <a:t>In some cases, we may make a claim about the effect of a treatment or process, and we need evidence to support our claim.</a:t>
            </a:r>
          </a:p>
          <a:p>
            <a:pPr lvl="1"/>
            <a:r>
              <a:rPr lang="en-US" sz="2400" dirty="0"/>
              <a:t>e.g. High sugar intake causes diabetes.</a:t>
            </a:r>
          </a:p>
          <a:p>
            <a:pPr lvl="1"/>
            <a:r>
              <a:rPr lang="en-US" sz="2400" dirty="0"/>
              <a:t>e.g. Bees visit blue flowers more often than yellow flowers.</a:t>
            </a:r>
          </a:p>
          <a:p>
            <a:r>
              <a:rPr lang="en-US" sz="2800" dirty="0"/>
              <a:t>In order to test the validity of our claims, it is necessary to construct two statements: the </a:t>
            </a:r>
            <a:r>
              <a:rPr lang="en-US" sz="2800" u="sng" dirty="0"/>
              <a:t>null hypothesis</a:t>
            </a:r>
            <a:r>
              <a:rPr lang="en-US" sz="2800" dirty="0"/>
              <a:t> and the </a:t>
            </a:r>
            <a:r>
              <a:rPr lang="en-US" sz="2800" u="sng" dirty="0"/>
              <a:t>alternative hypothesis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Hypothesis Testing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0062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219200" y="1143000"/>
            <a:ext cx="9906000" cy="5029200"/>
          </a:xfrm>
          <a:noFill/>
        </p:spPr>
        <p:txBody>
          <a:bodyPr>
            <a:normAutofit/>
          </a:bodyPr>
          <a:lstStyle/>
          <a:p>
            <a:r>
              <a:rPr lang="en-US" sz="2800" b="1" dirty="0"/>
              <a:t>Null hypothesis</a:t>
            </a:r>
            <a:r>
              <a:rPr lang="en-US" sz="2800" dirty="0"/>
              <a:t> – there will be </a:t>
            </a:r>
            <a:r>
              <a:rPr lang="en-US" sz="2800" b="1" dirty="0">
                <a:solidFill>
                  <a:srgbClr val="FF0000"/>
                </a:solidFill>
              </a:rPr>
              <a:t>no observed effect </a:t>
            </a:r>
            <a:r>
              <a:rPr lang="en-US" sz="2800" dirty="0"/>
              <a:t>for our experiment (denoted by </a:t>
            </a:r>
            <a:r>
              <a:rPr lang="en-US" sz="2800" i="1" dirty="0"/>
              <a:t>H</a:t>
            </a:r>
            <a:r>
              <a:rPr lang="en-US" sz="2800" baseline="-25000" dirty="0"/>
              <a:t>0</a:t>
            </a:r>
            <a:r>
              <a:rPr lang="en-US" sz="2800" dirty="0"/>
              <a:t>)</a:t>
            </a:r>
          </a:p>
          <a:p>
            <a:pPr lvl="1"/>
            <a:r>
              <a:rPr lang="en-US" sz="2400" i="1" dirty="0"/>
              <a:t>H</a:t>
            </a:r>
            <a:r>
              <a:rPr lang="en-US" sz="2400" i="1" baseline="-25000" dirty="0"/>
              <a:t>0</a:t>
            </a:r>
            <a:r>
              <a:rPr lang="en-US" sz="2400" dirty="0"/>
              <a:t>: There is no increased incidence of diabetes from increased sugar intake.</a:t>
            </a:r>
          </a:p>
          <a:p>
            <a:pPr lvl="1"/>
            <a:r>
              <a:rPr lang="en-US" sz="2400" i="1" dirty="0"/>
              <a:t>H</a:t>
            </a:r>
            <a:r>
              <a:rPr lang="en-US" sz="2400" i="1" baseline="-25000" dirty="0"/>
              <a:t>0</a:t>
            </a:r>
            <a:r>
              <a:rPr lang="en-US" sz="2400" dirty="0"/>
              <a:t>: There is no difference in bee visitation to blue and yellow flowers.</a:t>
            </a:r>
          </a:p>
          <a:p>
            <a:r>
              <a:rPr lang="en-US" sz="2800" dirty="0"/>
              <a:t>The null hypothesis is what we are attempting to overturn by our test.</a:t>
            </a:r>
          </a:p>
          <a:p>
            <a:pPr lvl="1"/>
            <a:r>
              <a:rPr lang="en-US" sz="2400" dirty="0"/>
              <a:t>If we </a:t>
            </a:r>
            <a:r>
              <a:rPr lang="en-US" sz="2400" i="1" dirty="0"/>
              <a:t>reject the null hypothesis</a:t>
            </a:r>
            <a:r>
              <a:rPr lang="en-US" sz="2400" dirty="0"/>
              <a:t>, it means that our data support our claim that there is an effect (e.g. H</a:t>
            </a:r>
            <a:r>
              <a:rPr lang="en-US" sz="2400" baseline="-25000" dirty="0"/>
              <a:t>a</a:t>
            </a:r>
            <a:r>
              <a:rPr lang="en-US" sz="2400" dirty="0"/>
              <a:t>).</a:t>
            </a:r>
          </a:p>
          <a:p>
            <a:pPr lvl="1"/>
            <a:r>
              <a:rPr lang="en-US" sz="2400" dirty="0"/>
              <a:t>If we </a:t>
            </a:r>
            <a:r>
              <a:rPr lang="en-US" sz="2400" i="1" dirty="0"/>
              <a:t>fail to reject the null hypothesis</a:t>
            </a:r>
            <a:r>
              <a:rPr lang="en-US" sz="2400" dirty="0"/>
              <a:t>, it does not mean our claim is not true, it only means that our data do not support our claim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Null vs. Alternative Hypotheses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8443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10058400" cy="4284250"/>
          </a:xfrm>
          <a:noFill/>
        </p:spPr>
        <p:txBody>
          <a:bodyPr wrap="square">
            <a:spAutoFit/>
          </a:bodyPr>
          <a:lstStyle/>
          <a:p>
            <a:r>
              <a:rPr lang="en-US" sz="2600" b="1" dirty="0"/>
              <a:t>Alternative (or experimental) hypothesis</a:t>
            </a:r>
            <a:r>
              <a:rPr lang="en-US" sz="2600" dirty="0"/>
              <a:t> – there </a:t>
            </a:r>
            <a:r>
              <a:rPr lang="en-US" sz="2600" b="1" dirty="0">
                <a:solidFill>
                  <a:srgbClr val="FF0000"/>
                </a:solidFill>
              </a:rPr>
              <a:t>will be an observed effect </a:t>
            </a:r>
            <a:r>
              <a:rPr lang="en-US" sz="2600" dirty="0"/>
              <a:t>for our experiment (denoted by either </a:t>
            </a:r>
            <a:r>
              <a:rPr lang="en-US" sz="2600" i="1" dirty="0"/>
              <a:t>H</a:t>
            </a:r>
            <a:r>
              <a:rPr lang="en-US" sz="2600" baseline="-25000" dirty="0"/>
              <a:t>a</a:t>
            </a:r>
            <a:r>
              <a:rPr lang="en-US" sz="2600" dirty="0"/>
              <a:t> or by </a:t>
            </a:r>
            <a:r>
              <a:rPr lang="en-US" sz="2600" i="1" dirty="0"/>
              <a:t>H</a:t>
            </a:r>
            <a:r>
              <a:rPr lang="en-US" sz="2600" i="1" baseline="-25000" dirty="0"/>
              <a:t>1</a:t>
            </a:r>
            <a:r>
              <a:rPr lang="en-US" sz="2600" dirty="0"/>
              <a:t>)</a:t>
            </a:r>
          </a:p>
          <a:p>
            <a:pPr lvl="1"/>
            <a:r>
              <a:rPr lang="en-US" sz="2400" i="1" dirty="0"/>
              <a:t>H</a:t>
            </a:r>
            <a:r>
              <a:rPr lang="en-US" sz="2400" i="1" baseline="-25000" dirty="0"/>
              <a:t>a</a:t>
            </a:r>
            <a:r>
              <a:rPr lang="en-US" sz="2400" dirty="0"/>
              <a:t>: There is increased incidence of diabetes from increased sugar intake.</a:t>
            </a:r>
          </a:p>
          <a:p>
            <a:pPr lvl="1"/>
            <a:r>
              <a:rPr lang="en-US" sz="2400" i="1" dirty="0"/>
              <a:t>H</a:t>
            </a:r>
            <a:r>
              <a:rPr lang="en-US" sz="2400" i="1" baseline="-25000" dirty="0"/>
              <a:t>a</a:t>
            </a:r>
            <a:r>
              <a:rPr lang="en-US" sz="2400" dirty="0"/>
              <a:t>: Bees visit blue flowers more often than yellow flowers.</a:t>
            </a:r>
          </a:p>
          <a:p>
            <a:r>
              <a:rPr lang="en-US" sz="2600" dirty="0"/>
              <a:t>The alternative hypothesis is what we are attempting to demonstrate in an indirect way by the use of our hypothesis test.</a:t>
            </a:r>
          </a:p>
          <a:p>
            <a:pPr lvl="1"/>
            <a:r>
              <a:rPr lang="en-US" sz="2400" dirty="0"/>
              <a:t>If the null hypothesis is rejected, then we accept the alternative hypothesis. (i.e. our data support </a:t>
            </a:r>
            <a:r>
              <a:rPr lang="en-US" sz="2400" i="1" dirty="0"/>
              <a:t>H</a:t>
            </a:r>
            <a:r>
              <a:rPr lang="en-US" sz="2400" i="1" baseline="-25000" dirty="0"/>
              <a:t>a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If the null hypothesis is not rejected, then we do not accept the alternative hypothesis based on these data.</a:t>
            </a:r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Null vs. Alternative Hypotheses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0019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2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24" name="Picture 2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219200" y="1143000"/>
            <a:ext cx="9906000" cy="434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Exercise 1: Investigating an Unknown (10 points)</a:t>
            </a:r>
          </a:p>
          <a:p>
            <a:pPr lvl="1"/>
            <a:endParaRPr lang="en-US" sz="2400" dirty="0"/>
          </a:p>
          <a:p>
            <a:r>
              <a:rPr lang="en-US" sz="2800" b="1" dirty="0"/>
              <a:t>Follow the instructions in your manual </a:t>
            </a:r>
            <a:r>
              <a:rPr lang="en-US" sz="2800" dirty="0"/>
              <a:t>to arrive at 3 experimental designs</a:t>
            </a:r>
          </a:p>
          <a:p>
            <a:pPr lvl="1"/>
            <a:r>
              <a:rPr lang="en-US" sz="2400" dirty="0"/>
              <a:t>Because of simplicity, redundancy will seem absurd, but it will instill the proper scientific process</a:t>
            </a:r>
          </a:p>
          <a:p>
            <a:pPr lvl="1"/>
            <a:r>
              <a:rPr lang="en-US" sz="2400" dirty="0"/>
              <a:t>Run your experiments</a:t>
            </a:r>
          </a:p>
          <a:p>
            <a:pPr lvl="1"/>
            <a:r>
              <a:rPr lang="en-US" sz="2400" dirty="0"/>
              <a:t>Complete the assignment sheet (mini-lab report)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Do NOT open the box!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In Today’s Lab…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25987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2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24" name="Picture 2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952500" y="1102272"/>
            <a:ext cx="10287000" cy="4653455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800" dirty="0"/>
              <a:t>Exercise 2: Behavioral Observations of a “Wild” Primate (10 points)</a:t>
            </a:r>
          </a:p>
          <a:p>
            <a:r>
              <a:rPr lang="en-US" sz="2800" b="1" dirty="0"/>
              <a:t>Follow the instructions in your manual</a:t>
            </a:r>
            <a:endParaRPr lang="en-US" sz="2800" dirty="0"/>
          </a:p>
          <a:p>
            <a:pPr lvl="1"/>
            <a:r>
              <a:rPr lang="en-US" sz="2400" b="1" dirty="0"/>
              <a:t>In the field: </a:t>
            </a:r>
            <a:r>
              <a:rPr lang="en-US" sz="2400" dirty="0"/>
              <a:t>Observe “wild” primates in their native habitat</a:t>
            </a:r>
          </a:p>
          <a:p>
            <a:pPr lvl="1"/>
            <a:r>
              <a:rPr lang="en-US" sz="2400" dirty="0"/>
              <a:t>You must come up with </a:t>
            </a:r>
            <a:r>
              <a:rPr lang="en-US" sz="2400" dirty="0">
                <a:solidFill>
                  <a:srgbClr val="FF0000"/>
                </a:solidFill>
              </a:rPr>
              <a:t>your own set of rules </a:t>
            </a:r>
            <a:r>
              <a:rPr lang="en-US" sz="2400" dirty="0"/>
              <a:t>for determining exactly which behavior you record</a:t>
            </a:r>
          </a:p>
          <a:p>
            <a:pPr lvl="1"/>
            <a:r>
              <a:rPr lang="en-US" sz="2400" dirty="0"/>
              <a:t>Develop your hypotheses</a:t>
            </a:r>
          </a:p>
          <a:p>
            <a:pPr lvl="1"/>
            <a:r>
              <a:rPr lang="en-US" sz="2400" dirty="0"/>
              <a:t>Record behavior of 25 people at each of 2 locations</a:t>
            </a:r>
          </a:p>
          <a:p>
            <a:pPr lvl="1"/>
            <a:r>
              <a:rPr lang="en-US" sz="2400" b="1" dirty="0"/>
              <a:t>Back in the lab: </a:t>
            </a:r>
            <a:r>
              <a:rPr lang="en-US" sz="2400" dirty="0"/>
              <a:t>Assess your data with statistics</a:t>
            </a:r>
          </a:p>
          <a:p>
            <a:pPr lvl="1"/>
            <a:r>
              <a:rPr lang="en-US" sz="2400" dirty="0"/>
              <a:t>Chi-square table is on your bench (handout), or find one online</a:t>
            </a:r>
          </a:p>
          <a:p>
            <a:pPr lvl="1"/>
            <a:r>
              <a:rPr lang="en-US" sz="2400" dirty="0"/>
              <a:t>Complete the assignment sheet (mini-lab report)</a:t>
            </a:r>
            <a:endParaRPr lang="en-US" dirty="0"/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In Today’s Lab…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02878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2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24" name="Picture 2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143000" y="1579263"/>
            <a:ext cx="9906000" cy="3699474"/>
          </a:xfr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Follow the instructions in your manual</a:t>
            </a:r>
            <a:endParaRPr lang="en-US" sz="2800" dirty="0"/>
          </a:p>
          <a:p>
            <a:pPr lvl="1"/>
            <a:r>
              <a:rPr lang="en-US" sz="2400" dirty="0"/>
              <a:t>Chi-square table is on your bench (handout), or find one online</a:t>
            </a:r>
          </a:p>
          <a:p>
            <a:pPr lvl="1"/>
            <a:r>
              <a:rPr lang="en-US" sz="2400" dirty="0"/>
              <a:t>NOTE: In order for the math to work, there cannot be a zero (0) for any of the expected values </a:t>
            </a:r>
            <a:r>
              <a:rPr lang="en-US" sz="2400" b="1" dirty="0"/>
              <a:t>because you divide by expected values </a:t>
            </a:r>
            <a:r>
              <a:rPr lang="en-US" sz="2400" dirty="0"/>
              <a:t>in the calculations, which is infinity! </a:t>
            </a:r>
          </a:p>
          <a:p>
            <a:pPr lvl="1"/>
            <a:r>
              <a:rPr lang="en-US" sz="2400" dirty="0"/>
              <a:t>If you have zeros, you must transform your data. </a:t>
            </a:r>
            <a:r>
              <a:rPr lang="en-US" sz="2400" b="1" dirty="0"/>
              <a:t>Transforming data is a common occurrence and is totally acceptable as long as you transform ALL of your data the same way.</a:t>
            </a:r>
            <a:r>
              <a:rPr lang="en-US" sz="2400" dirty="0"/>
              <a:t> Here, you can add one (1) to all of your data so that zeros do not exist. </a:t>
            </a:r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Exercise 2. Statistics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40423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2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24" name="Picture 2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Exercise 2. Statistics</a:t>
            </a:r>
            <a:endParaRPr lang="en-US" sz="32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4A4F084-5CC5-4781-9A44-6181D7E474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3615000"/>
              </p:ext>
            </p:extLst>
          </p:nvPr>
        </p:nvGraphicFramePr>
        <p:xfrm>
          <a:off x="2331942" y="1604273"/>
          <a:ext cx="7502716" cy="299540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102782">
                  <a:extLst>
                    <a:ext uri="{9D8B030D-6E8A-4147-A177-3AD203B41FA5}">
                      <a16:colId xmlns:a16="http://schemas.microsoft.com/office/drawing/2014/main" val="2712797360"/>
                    </a:ext>
                  </a:extLst>
                </a:gridCol>
                <a:gridCol w="771878">
                  <a:extLst>
                    <a:ext uri="{9D8B030D-6E8A-4147-A177-3AD203B41FA5}">
                      <a16:colId xmlns:a16="http://schemas.microsoft.com/office/drawing/2014/main" val="719345440"/>
                    </a:ext>
                  </a:extLst>
                </a:gridCol>
                <a:gridCol w="771075">
                  <a:extLst>
                    <a:ext uri="{9D8B030D-6E8A-4147-A177-3AD203B41FA5}">
                      <a16:colId xmlns:a16="http://schemas.microsoft.com/office/drawing/2014/main" val="3738942142"/>
                    </a:ext>
                  </a:extLst>
                </a:gridCol>
                <a:gridCol w="771075">
                  <a:extLst>
                    <a:ext uri="{9D8B030D-6E8A-4147-A177-3AD203B41FA5}">
                      <a16:colId xmlns:a16="http://schemas.microsoft.com/office/drawing/2014/main" val="341460294"/>
                    </a:ext>
                  </a:extLst>
                </a:gridCol>
                <a:gridCol w="771075">
                  <a:extLst>
                    <a:ext uri="{9D8B030D-6E8A-4147-A177-3AD203B41FA5}">
                      <a16:colId xmlns:a16="http://schemas.microsoft.com/office/drawing/2014/main" val="2721857407"/>
                    </a:ext>
                  </a:extLst>
                </a:gridCol>
                <a:gridCol w="771878">
                  <a:extLst>
                    <a:ext uri="{9D8B030D-6E8A-4147-A177-3AD203B41FA5}">
                      <a16:colId xmlns:a16="http://schemas.microsoft.com/office/drawing/2014/main" val="4108049195"/>
                    </a:ext>
                  </a:extLst>
                </a:gridCol>
                <a:gridCol w="771075">
                  <a:extLst>
                    <a:ext uri="{9D8B030D-6E8A-4147-A177-3AD203B41FA5}">
                      <a16:colId xmlns:a16="http://schemas.microsoft.com/office/drawing/2014/main" val="1528084400"/>
                    </a:ext>
                  </a:extLst>
                </a:gridCol>
                <a:gridCol w="771878">
                  <a:extLst>
                    <a:ext uri="{9D8B030D-6E8A-4147-A177-3AD203B41FA5}">
                      <a16:colId xmlns:a16="http://schemas.microsoft.com/office/drawing/2014/main" val="3678412122"/>
                    </a:ext>
                  </a:extLst>
                </a:gridCol>
              </a:tblGrid>
              <a:tr h="268071">
                <a:tc gridSpan="8">
                  <a:txBody>
                    <a:bodyPr/>
                    <a:lstStyle/>
                    <a:p>
                      <a:pPr marL="24130" marR="0" algn="l">
                        <a:spcBef>
                          <a:spcPts val="75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1:  Wherever you go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765506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1295" marR="18796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1930" marR="18669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1930" marR="18415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0660" marR="18796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1930" marR="180975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8915" marR="19558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TV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6215" marR="18796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213372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109220" marR="90805"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Observed (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 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053184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109220" marR="98425" algn="ctr">
                        <a:spcBef>
                          <a:spcPts val="4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(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 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085417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93980" marR="100330"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Deviation (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 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 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 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= 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4.43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239939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104140" marR="100330" algn="ctr"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 </a:t>
                      </a:r>
                      <a:r>
                        <a:rPr lang="en-US" sz="12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19.63 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548077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86360" marR="100330" algn="ctr"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 </a:t>
                      </a:r>
                      <a:r>
                        <a:rPr lang="en-US" sz="12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/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5.5 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110521"/>
                  </a:ext>
                </a:extLst>
              </a:tr>
              <a:tr h="419591">
                <a:tc>
                  <a:txBody>
                    <a:bodyPr/>
                    <a:lstStyle/>
                    <a:p>
                      <a:pPr marL="274320" marR="100330"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Chi-square (χ2) = Σ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 </a:t>
                      </a:r>
                      <a:r>
                        <a:rPr lang="en-US" sz="12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/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marL="27432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 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420778"/>
                  </a:ext>
                </a:extLst>
              </a:tr>
              <a:tr h="419591">
                <a:tc>
                  <a:txBody>
                    <a:bodyPr/>
                    <a:lstStyle/>
                    <a:p>
                      <a:pPr marL="109220" marR="100330" algn="ctr"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en-US" sz="12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Table range 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of χ2 </a:t>
                      </a:r>
                      <a:r>
                        <a:rPr lang="en-US" sz="12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and 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  </a:t>
                      </a:r>
                      <a:r>
                        <a:rPr lang="en-US" sz="12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value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840286"/>
                  </a:ext>
                </a:extLst>
              </a:tr>
            </a:tbl>
          </a:graphicData>
        </a:graphic>
      </p:graphicFrame>
      <p:sp>
        <p:nvSpPr>
          <p:cNvPr id="16" name="Rectangle 3">
            <a:extLst>
              <a:ext uri="{FF2B5EF4-FFF2-40B4-BE49-F238E27FC236}">
                <a16:creationId xmlns:a16="http://schemas.microsoft.com/office/drawing/2014/main" id="{E71E9C32-3834-4E78-8073-2D4FA3922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101" y="4604933"/>
            <a:ext cx="7463557" cy="104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6176" tIns="5713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Degrees of freedom = (7 columns – 1) x (2 rows – 1) = 6		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Level of significance: </a:t>
            </a:r>
            <a:r>
              <a:rPr lang="en-US" alt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p </a:t>
            </a: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&lt; 0.05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BC9FFD-CB50-4A36-BCC3-569EC43ADB81}"/>
              </a:ext>
            </a:extLst>
          </p:cNvPr>
          <p:cNvSpPr txBox="1"/>
          <p:nvPr/>
        </p:nvSpPr>
        <p:spPr>
          <a:xfrm>
            <a:off x="6083300" y="3759200"/>
            <a:ext cx="214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= 17.29</a:t>
            </a:r>
          </a:p>
        </p:txBody>
      </p:sp>
    </p:spTree>
    <p:extLst>
      <p:ext uri="{BB962C8B-B14F-4D97-AF65-F5344CB8AC3E}">
        <p14:creationId xmlns:p14="http://schemas.microsoft.com/office/powerpoint/2010/main" val="3519799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2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24" name="Picture 2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Exercise 2. Statistics</a:t>
            </a:r>
            <a:endParaRPr lang="en-US" sz="3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340C37-E395-4D26-838B-6B152003BF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14562" y="1790700"/>
            <a:ext cx="7762875" cy="3009900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57D5534-A3A6-462F-988B-4C9CB421D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7881" y="1410514"/>
            <a:ext cx="7996237" cy="39842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Chi-square Table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B7A5A9-CC28-ED4C-2507-4A334DCC9987}"/>
              </a:ext>
            </a:extLst>
          </p:cNvPr>
          <p:cNvSpPr txBox="1"/>
          <p:nvPr/>
        </p:nvSpPr>
        <p:spPr>
          <a:xfrm>
            <a:off x="7948896" y="5313160"/>
            <a:ext cx="2321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Critical value = 12.59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5DE6E9D-546E-396E-5DF6-84A6444E7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101" y="4604933"/>
            <a:ext cx="7463557" cy="104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6176" tIns="5713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Degrees of freedom = (7 columns – 1) x (2 rows – 1) = 6		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Level of significance: </a:t>
            </a:r>
            <a:r>
              <a:rPr lang="en-US" alt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p </a:t>
            </a: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&lt; 0.05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307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2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24" name="Picture 2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Exercise 2. Statistics</a:t>
            </a:r>
            <a:endParaRPr lang="en-US" sz="32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4A4F084-5CC5-4781-9A44-6181D7E474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2305310"/>
              </p:ext>
            </p:extLst>
          </p:nvPr>
        </p:nvGraphicFramePr>
        <p:xfrm>
          <a:off x="2331942" y="1604273"/>
          <a:ext cx="7502716" cy="299540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102782">
                  <a:extLst>
                    <a:ext uri="{9D8B030D-6E8A-4147-A177-3AD203B41FA5}">
                      <a16:colId xmlns:a16="http://schemas.microsoft.com/office/drawing/2014/main" val="2712797360"/>
                    </a:ext>
                  </a:extLst>
                </a:gridCol>
                <a:gridCol w="771878">
                  <a:extLst>
                    <a:ext uri="{9D8B030D-6E8A-4147-A177-3AD203B41FA5}">
                      <a16:colId xmlns:a16="http://schemas.microsoft.com/office/drawing/2014/main" val="719345440"/>
                    </a:ext>
                  </a:extLst>
                </a:gridCol>
                <a:gridCol w="771075">
                  <a:extLst>
                    <a:ext uri="{9D8B030D-6E8A-4147-A177-3AD203B41FA5}">
                      <a16:colId xmlns:a16="http://schemas.microsoft.com/office/drawing/2014/main" val="3738942142"/>
                    </a:ext>
                  </a:extLst>
                </a:gridCol>
                <a:gridCol w="771075">
                  <a:extLst>
                    <a:ext uri="{9D8B030D-6E8A-4147-A177-3AD203B41FA5}">
                      <a16:colId xmlns:a16="http://schemas.microsoft.com/office/drawing/2014/main" val="341460294"/>
                    </a:ext>
                  </a:extLst>
                </a:gridCol>
                <a:gridCol w="771075">
                  <a:extLst>
                    <a:ext uri="{9D8B030D-6E8A-4147-A177-3AD203B41FA5}">
                      <a16:colId xmlns:a16="http://schemas.microsoft.com/office/drawing/2014/main" val="2721857407"/>
                    </a:ext>
                  </a:extLst>
                </a:gridCol>
                <a:gridCol w="771878">
                  <a:extLst>
                    <a:ext uri="{9D8B030D-6E8A-4147-A177-3AD203B41FA5}">
                      <a16:colId xmlns:a16="http://schemas.microsoft.com/office/drawing/2014/main" val="4108049195"/>
                    </a:ext>
                  </a:extLst>
                </a:gridCol>
                <a:gridCol w="771075">
                  <a:extLst>
                    <a:ext uri="{9D8B030D-6E8A-4147-A177-3AD203B41FA5}">
                      <a16:colId xmlns:a16="http://schemas.microsoft.com/office/drawing/2014/main" val="1528084400"/>
                    </a:ext>
                  </a:extLst>
                </a:gridCol>
                <a:gridCol w="771878">
                  <a:extLst>
                    <a:ext uri="{9D8B030D-6E8A-4147-A177-3AD203B41FA5}">
                      <a16:colId xmlns:a16="http://schemas.microsoft.com/office/drawing/2014/main" val="3678412122"/>
                    </a:ext>
                  </a:extLst>
                </a:gridCol>
              </a:tblGrid>
              <a:tr h="268071">
                <a:tc gridSpan="8">
                  <a:txBody>
                    <a:bodyPr/>
                    <a:lstStyle/>
                    <a:p>
                      <a:pPr marL="24130" marR="0" algn="l">
                        <a:spcBef>
                          <a:spcPts val="75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1:  Wherever you go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765506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1295" marR="18796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1930" marR="18669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1930" marR="18415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0660" marR="18796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1930" marR="180975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8915" marR="19558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TV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6215" marR="18796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213372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109220" marR="90805"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Observed (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 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053184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109220" marR="98425" algn="ctr">
                        <a:spcBef>
                          <a:spcPts val="4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(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 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085417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93980" marR="100330"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Deviation (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 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 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 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= 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4.43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239939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104140" marR="100330" algn="ctr"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 </a:t>
                      </a:r>
                      <a:r>
                        <a:rPr lang="en-US" sz="12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19.63 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548077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86360" marR="100330" algn="ctr"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 </a:t>
                      </a:r>
                      <a:r>
                        <a:rPr lang="en-US" sz="12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/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5.5 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110521"/>
                  </a:ext>
                </a:extLst>
              </a:tr>
              <a:tr h="419591">
                <a:tc>
                  <a:txBody>
                    <a:bodyPr/>
                    <a:lstStyle/>
                    <a:p>
                      <a:pPr marL="274320" marR="100330"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Chi-square (χ2) = Σ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 </a:t>
                      </a:r>
                      <a:r>
                        <a:rPr lang="en-US" sz="12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/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marL="27432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 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420778"/>
                  </a:ext>
                </a:extLst>
              </a:tr>
              <a:tr h="419591">
                <a:tc>
                  <a:txBody>
                    <a:bodyPr/>
                    <a:lstStyle/>
                    <a:p>
                      <a:pPr marL="109220" marR="100330" algn="ctr"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en-US" sz="12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Table range 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of χ2 </a:t>
                      </a:r>
                      <a:r>
                        <a:rPr lang="en-US" sz="12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and 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  </a:t>
                      </a:r>
                      <a:r>
                        <a:rPr lang="en-US" sz="12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value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84028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ABC9FFD-CB50-4A36-BCC3-569EC43ADB81}"/>
              </a:ext>
            </a:extLst>
          </p:cNvPr>
          <p:cNvSpPr txBox="1"/>
          <p:nvPr/>
        </p:nvSpPr>
        <p:spPr>
          <a:xfrm>
            <a:off x="6083300" y="3759200"/>
            <a:ext cx="214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= 17.29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BE887C-4148-4222-963E-04D63F914356}"/>
              </a:ext>
            </a:extLst>
          </p:cNvPr>
          <p:cNvSpPr txBox="1"/>
          <p:nvPr/>
        </p:nvSpPr>
        <p:spPr>
          <a:xfrm>
            <a:off x="5983235" y="4192138"/>
            <a:ext cx="214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&gt; 16.81 and </a:t>
            </a:r>
            <a:r>
              <a:rPr lang="en-US" i="1" dirty="0"/>
              <a:t>P</a:t>
            </a:r>
            <a:r>
              <a:rPr lang="en-US" dirty="0"/>
              <a:t> &lt; 0.01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74A630-1433-D3F7-EE17-E49E484C3CEC}"/>
              </a:ext>
            </a:extLst>
          </p:cNvPr>
          <p:cNvSpPr txBox="1"/>
          <p:nvPr/>
        </p:nvSpPr>
        <p:spPr>
          <a:xfrm>
            <a:off x="7565358" y="5253727"/>
            <a:ext cx="2874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Critical value = 12.59</a:t>
            </a:r>
          </a:p>
          <a:p>
            <a:r>
              <a:rPr lang="en-US" dirty="0">
                <a:solidFill>
                  <a:srgbClr val="FF0000"/>
                </a:solidFill>
              </a:rPr>
              <a:t>The difference is significant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104D77-CDEF-7126-4F6F-3A9B0C3A5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101" y="4604933"/>
            <a:ext cx="7463557" cy="104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6176" tIns="5713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Degrees of freedom = (7 columns – 1) x (2 rows – 1) = 6		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Level of significance: </a:t>
            </a:r>
            <a:r>
              <a:rPr lang="en-US" alt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p </a:t>
            </a: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&lt; 0.05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600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2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24" name="Picture 2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Exercise 2. Statistics</a:t>
            </a:r>
            <a:endParaRPr lang="en-US" sz="32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4A4F084-5CC5-4781-9A44-6181D7E474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7659430"/>
              </p:ext>
            </p:extLst>
          </p:nvPr>
        </p:nvGraphicFramePr>
        <p:xfrm>
          <a:off x="2331942" y="1604273"/>
          <a:ext cx="7502716" cy="299540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102782">
                  <a:extLst>
                    <a:ext uri="{9D8B030D-6E8A-4147-A177-3AD203B41FA5}">
                      <a16:colId xmlns:a16="http://schemas.microsoft.com/office/drawing/2014/main" val="2712797360"/>
                    </a:ext>
                  </a:extLst>
                </a:gridCol>
                <a:gridCol w="771878">
                  <a:extLst>
                    <a:ext uri="{9D8B030D-6E8A-4147-A177-3AD203B41FA5}">
                      <a16:colId xmlns:a16="http://schemas.microsoft.com/office/drawing/2014/main" val="719345440"/>
                    </a:ext>
                  </a:extLst>
                </a:gridCol>
                <a:gridCol w="771075">
                  <a:extLst>
                    <a:ext uri="{9D8B030D-6E8A-4147-A177-3AD203B41FA5}">
                      <a16:colId xmlns:a16="http://schemas.microsoft.com/office/drawing/2014/main" val="3738942142"/>
                    </a:ext>
                  </a:extLst>
                </a:gridCol>
                <a:gridCol w="771075">
                  <a:extLst>
                    <a:ext uri="{9D8B030D-6E8A-4147-A177-3AD203B41FA5}">
                      <a16:colId xmlns:a16="http://schemas.microsoft.com/office/drawing/2014/main" val="341460294"/>
                    </a:ext>
                  </a:extLst>
                </a:gridCol>
                <a:gridCol w="771075">
                  <a:extLst>
                    <a:ext uri="{9D8B030D-6E8A-4147-A177-3AD203B41FA5}">
                      <a16:colId xmlns:a16="http://schemas.microsoft.com/office/drawing/2014/main" val="2721857407"/>
                    </a:ext>
                  </a:extLst>
                </a:gridCol>
                <a:gridCol w="771878">
                  <a:extLst>
                    <a:ext uri="{9D8B030D-6E8A-4147-A177-3AD203B41FA5}">
                      <a16:colId xmlns:a16="http://schemas.microsoft.com/office/drawing/2014/main" val="4108049195"/>
                    </a:ext>
                  </a:extLst>
                </a:gridCol>
                <a:gridCol w="771075">
                  <a:extLst>
                    <a:ext uri="{9D8B030D-6E8A-4147-A177-3AD203B41FA5}">
                      <a16:colId xmlns:a16="http://schemas.microsoft.com/office/drawing/2014/main" val="1528084400"/>
                    </a:ext>
                  </a:extLst>
                </a:gridCol>
                <a:gridCol w="771878">
                  <a:extLst>
                    <a:ext uri="{9D8B030D-6E8A-4147-A177-3AD203B41FA5}">
                      <a16:colId xmlns:a16="http://schemas.microsoft.com/office/drawing/2014/main" val="3678412122"/>
                    </a:ext>
                  </a:extLst>
                </a:gridCol>
              </a:tblGrid>
              <a:tr h="268071">
                <a:tc gridSpan="8">
                  <a:txBody>
                    <a:bodyPr/>
                    <a:lstStyle/>
                    <a:p>
                      <a:pPr marL="24130" marR="0" algn="l">
                        <a:spcBef>
                          <a:spcPts val="75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1:  Wherever you go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765506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1295" marR="18796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1930" marR="18669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1930" marR="18415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0660" marR="18796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1930" marR="180975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8915" marR="19558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TV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6215" marR="18796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213372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109220" marR="90805"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Observed (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 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053184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109220" marR="98425" algn="ctr">
                        <a:spcBef>
                          <a:spcPts val="4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(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 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085417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93980" marR="100330"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Deviation (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 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 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 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= 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4.43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239939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104140" marR="100330" algn="ctr"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 </a:t>
                      </a:r>
                      <a:r>
                        <a:rPr lang="en-US" sz="12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19.63 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548077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86360" marR="100330" algn="ctr"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 </a:t>
                      </a:r>
                      <a:r>
                        <a:rPr lang="en-US" sz="12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/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5.5 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110521"/>
                  </a:ext>
                </a:extLst>
              </a:tr>
              <a:tr h="419591">
                <a:tc>
                  <a:txBody>
                    <a:bodyPr/>
                    <a:lstStyle/>
                    <a:p>
                      <a:pPr marL="274320" marR="100330"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Chi-square (χ2) = Σ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 </a:t>
                      </a:r>
                      <a:r>
                        <a:rPr lang="en-US" sz="12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/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marL="27432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 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420778"/>
                  </a:ext>
                </a:extLst>
              </a:tr>
              <a:tr h="419591">
                <a:tc>
                  <a:txBody>
                    <a:bodyPr/>
                    <a:lstStyle/>
                    <a:p>
                      <a:pPr marL="109220" marR="100330" algn="ctr"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en-US" sz="12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Table range 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of χ2 </a:t>
                      </a:r>
                      <a:r>
                        <a:rPr lang="en-US" sz="12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and 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  </a:t>
                      </a:r>
                      <a:r>
                        <a:rPr lang="en-US" sz="12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value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84028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ABC9FFD-CB50-4A36-BCC3-569EC43ADB81}"/>
              </a:ext>
            </a:extLst>
          </p:cNvPr>
          <p:cNvSpPr txBox="1"/>
          <p:nvPr/>
        </p:nvSpPr>
        <p:spPr>
          <a:xfrm>
            <a:off x="6083300" y="3759200"/>
            <a:ext cx="214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=  5.50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26E8CC-1A03-3F36-B171-06606013AF38}"/>
              </a:ext>
            </a:extLst>
          </p:cNvPr>
          <p:cNvSpPr txBox="1"/>
          <p:nvPr/>
        </p:nvSpPr>
        <p:spPr>
          <a:xfrm>
            <a:off x="7801100" y="5334181"/>
            <a:ext cx="2321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Critical value = 12.59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618403-CE22-59F4-38BA-B4A713D36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101" y="4604933"/>
            <a:ext cx="7463557" cy="104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6176" tIns="5713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Degrees of freedom = (7 columns – 1) x (2 rows – 1) = 6		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Level of significance: </a:t>
            </a:r>
            <a:r>
              <a:rPr lang="en-US" alt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p </a:t>
            </a: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&lt; 0.05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719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2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24" name="Picture 2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Exercise 2. Statistics</a:t>
            </a:r>
            <a:endParaRPr lang="en-US" sz="3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340C37-E395-4D26-838B-6B152003BF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14563" y="1828800"/>
            <a:ext cx="7762875" cy="3009900"/>
          </a:xfrm>
          <a:prstGeom prst="rect">
            <a:avLst/>
          </a:prstGeom>
        </p:spPr>
      </p:pic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DCB8C199-A30E-4247-9D85-76F3DE52E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7881" y="1410514"/>
            <a:ext cx="7996237" cy="39842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Chi-square Table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2A93DC-650B-A93C-5C69-EFA35C90D542}"/>
              </a:ext>
            </a:extLst>
          </p:cNvPr>
          <p:cNvSpPr txBox="1"/>
          <p:nvPr/>
        </p:nvSpPr>
        <p:spPr>
          <a:xfrm>
            <a:off x="7848600" y="5334000"/>
            <a:ext cx="2321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Critical value = 12.59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6BF3825-1222-5269-5418-ED8F4CDB9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101" y="4604933"/>
            <a:ext cx="7463557" cy="104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6176" tIns="5713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Degrees of freedom = (7 columns – 1) x (2 rows – 1) = 6		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Level of significance: </a:t>
            </a:r>
            <a:r>
              <a:rPr lang="en-US" alt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p </a:t>
            </a: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&lt; 0.05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770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2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24" name="Picture 2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Exercise 2. Statistics</a:t>
            </a:r>
            <a:endParaRPr lang="en-US" sz="32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4A4F084-5CC5-4781-9A44-6181D7E474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777972"/>
              </p:ext>
            </p:extLst>
          </p:nvPr>
        </p:nvGraphicFramePr>
        <p:xfrm>
          <a:off x="2331942" y="1604273"/>
          <a:ext cx="7502716" cy="299540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102782">
                  <a:extLst>
                    <a:ext uri="{9D8B030D-6E8A-4147-A177-3AD203B41FA5}">
                      <a16:colId xmlns:a16="http://schemas.microsoft.com/office/drawing/2014/main" val="2712797360"/>
                    </a:ext>
                  </a:extLst>
                </a:gridCol>
                <a:gridCol w="771878">
                  <a:extLst>
                    <a:ext uri="{9D8B030D-6E8A-4147-A177-3AD203B41FA5}">
                      <a16:colId xmlns:a16="http://schemas.microsoft.com/office/drawing/2014/main" val="719345440"/>
                    </a:ext>
                  </a:extLst>
                </a:gridCol>
                <a:gridCol w="771075">
                  <a:extLst>
                    <a:ext uri="{9D8B030D-6E8A-4147-A177-3AD203B41FA5}">
                      <a16:colId xmlns:a16="http://schemas.microsoft.com/office/drawing/2014/main" val="3738942142"/>
                    </a:ext>
                  </a:extLst>
                </a:gridCol>
                <a:gridCol w="771075">
                  <a:extLst>
                    <a:ext uri="{9D8B030D-6E8A-4147-A177-3AD203B41FA5}">
                      <a16:colId xmlns:a16="http://schemas.microsoft.com/office/drawing/2014/main" val="341460294"/>
                    </a:ext>
                  </a:extLst>
                </a:gridCol>
                <a:gridCol w="771075">
                  <a:extLst>
                    <a:ext uri="{9D8B030D-6E8A-4147-A177-3AD203B41FA5}">
                      <a16:colId xmlns:a16="http://schemas.microsoft.com/office/drawing/2014/main" val="2721857407"/>
                    </a:ext>
                  </a:extLst>
                </a:gridCol>
                <a:gridCol w="771878">
                  <a:extLst>
                    <a:ext uri="{9D8B030D-6E8A-4147-A177-3AD203B41FA5}">
                      <a16:colId xmlns:a16="http://schemas.microsoft.com/office/drawing/2014/main" val="4108049195"/>
                    </a:ext>
                  </a:extLst>
                </a:gridCol>
                <a:gridCol w="771075">
                  <a:extLst>
                    <a:ext uri="{9D8B030D-6E8A-4147-A177-3AD203B41FA5}">
                      <a16:colId xmlns:a16="http://schemas.microsoft.com/office/drawing/2014/main" val="1528084400"/>
                    </a:ext>
                  </a:extLst>
                </a:gridCol>
                <a:gridCol w="771878">
                  <a:extLst>
                    <a:ext uri="{9D8B030D-6E8A-4147-A177-3AD203B41FA5}">
                      <a16:colId xmlns:a16="http://schemas.microsoft.com/office/drawing/2014/main" val="3678412122"/>
                    </a:ext>
                  </a:extLst>
                </a:gridCol>
              </a:tblGrid>
              <a:tr h="268071">
                <a:tc gridSpan="8">
                  <a:txBody>
                    <a:bodyPr/>
                    <a:lstStyle/>
                    <a:p>
                      <a:pPr marL="24130" marR="0" algn="l">
                        <a:spcBef>
                          <a:spcPts val="75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1:  Wherever you go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765506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1295" marR="18796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1930" marR="18669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1930" marR="18415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0660" marR="18796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PH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1930" marR="180975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8915" marR="19558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TV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96215" marR="187960" algn="ctr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XX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213372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109220" marR="90805"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Observed (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 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053184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109220" marR="98425" algn="ctr">
                        <a:spcBef>
                          <a:spcPts val="4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(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 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3.57 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085417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93980" marR="100330"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Deviation (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 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 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 </a:t>
                      </a:r>
                      <a:r>
                        <a:rPr lang="en-US" sz="12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= 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4.43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239939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104140" marR="100330" algn="ctr"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 </a:t>
                      </a:r>
                      <a:r>
                        <a:rPr lang="en-US" sz="12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19.63 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548077"/>
                  </a:ext>
                </a:extLst>
              </a:tr>
              <a:tr h="314692">
                <a:tc>
                  <a:txBody>
                    <a:bodyPr/>
                    <a:lstStyle/>
                    <a:p>
                      <a:pPr marL="86360" marR="100330" algn="ctr">
                        <a:spcBef>
                          <a:spcPts val="35"/>
                        </a:spcBef>
                        <a:spcAft>
                          <a:spcPts val="0"/>
                        </a:spcAft>
                      </a:pP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 </a:t>
                      </a:r>
                      <a:r>
                        <a:rPr lang="en-US" sz="12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/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5.5 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110521"/>
                  </a:ext>
                </a:extLst>
              </a:tr>
              <a:tr h="419591">
                <a:tc>
                  <a:txBody>
                    <a:bodyPr/>
                    <a:lstStyle/>
                    <a:p>
                      <a:pPr marL="274320" marR="100330" algn="ctr">
                        <a:spcBef>
                          <a:spcPts val="1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Chi-square (χ2) = Σ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 </a:t>
                      </a:r>
                      <a:r>
                        <a:rPr lang="en-US" sz="12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/ 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marL="27432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 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420778"/>
                  </a:ext>
                </a:extLst>
              </a:tr>
              <a:tr h="419591">
                <a:tc>
                  <a:txBody>
                    <a:bodyPr/>
                    <a:lstStyle/>
                    <a:p>
                      <a:pPr marL="109220" marR="100330" algn="ctr"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en-US" sz="1200" spc="-3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Table range 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of χ2 </a:t>
                      </a:r>
                      <a:r>
                        <a:rPr lang="en-US" sz="12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and </a:t>
                      </a: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  </a:t>
                      </a:r>
                      <a:r>
                        <a:rPr lang="en-US" sz="12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value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84028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ABC9FFD-CB50-4A36-BCC3-569EC43ADB81}"/>
              </a:ext>
            </a:extLst>
          </p:cNvPr>
          <p:cNvSpPr txBox="1"/>
          <p:nvPr/>
        </p:nvSpPr>
        <p:spPr>
          <a:xfrm>
            <a:off x="6083300" y="3759200"/>
            <a:ext cx="214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=  5.50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2C7966-BBE1-4B7D-AE3F-718C69E8D0E5}"/>
              </a:ext>
            </a:extLst>
          </p:cNvPr>
          <p:cNvSpPr txBox="1"/>
          <p:nvPr/>
        </p:nvSpPr>
        <p:spPr>
          <a:xfrm>
            <a:off x="5181600" y="4202180"/>
            <a:ext cx="371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5.35 – 7.84 and </a:t>
            </a:r>
            <a:r>
              <a:rPr lang="en-US" i="1" dirty="0"/>
              <a:t>P</a:t>
            </a:r>
            <a:r>
              <a:rPr lang="en-US" dirty="0"/>
              <a:t> = 0.25 – 0.50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B9642-19F2-FD67-ABFB-70D8A0C1DAC1}"/>
              </a:ext>
            </a:extLst>
          </p:cNvPr>
          <p:cNvSpPr txBox="1"/>
          <p:nvPr/>
        </p:nvSpPr>
        <p:spPr>
          <a:xfrm>
            <a:off x="7430441" y="5221069"/>
            <a:ext cx="3313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Critical value = 12.59</a:t>
            </a:r>
          </a:p>
          <a:p>
            <a:r>
              <a:rPr lang="en-US" dirty="0">
                <a:solidFill>
                  <a:srgbClr val="FF0000"/>
                </a:solidFill>
              </a:rPr>
              <a:t>The difference is NOT significant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0596FF-35C1-334D-24F9-698FD4F90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1101" y="4604933"/>
            <a:ext cx="7463557" cy="104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6176" tIns="5713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Degrees of freedom = (7 columns – 1) x (2 rows – 1) = 6		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Level of significance: </a:t>
            </a:r>
            <a:r>
              <a:rPr lang="en-US" alt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p </a:t>
            </a: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&lt; 0.05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51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2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24" name="Picture 2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914400" y="1276529"/>
            <a:ext cx="10667999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Population Genetics, Evolution and the Hardy-Weinberg Principle</a:t>
            </a:r>
            <a:endParaRPr lang="en-US" sz="2400" dirty="0"/>
          </a:p>
          <a:p>
            <a:pPr lvl="1"/>
            <a:r>
              <a:rPr lang="en-US" sz="2600" dirty="0"/>
              <a:t>Exercise 1: Testing H-W equilibrium (Bead model)</a:t>
            </a:r>
          </a:p>
          <a:p>
            <a:pPr lvl="2"/>
            <a:r>
              <a:rPr lang="en-US" dirty="0"/>
              <a:t>Conduct all procedures, fill out the tables in your manual, and answer the questions on your Assignment Sheet, including calculating the Chi-squared test. Also, run a simulation with the program </a:t>
            </a:r>
            <a:r>
              <a:rPr lang="en-US" i="1" dirty="0"/>
              <a:t>Allele A1. </a:t>
            </a:r>
          </a:p>
          <a:p>
            <a:pPr lvl="1"/>
            <a:r>
              <a:rPr lang="en-US" sz="2600" dirty="0"/>
              <a:t>Exercise 2: Simulations of evolutionary change (</a:t>
            </a:r>
            <a:r>
              <a:rPr lang="en-US" sz="2600" i="1" dirty="0"/>
              <a:t>Allele A1</a:t>
            </a:r>
            <a:r>
              <a:rPr lang="en-US" sz="2600" dirty="0"/>
              <a:t>)</a:t>
            </a:r>
          </a:p>
          <a:p>
            <a:pPr lvl="2"/>
            <a:r>
              <a:rPr lang="en-US" dirty="0"/>
              <a:t>Genetic drift</a:t>
            </a:r>
          </a:p>
          <a:p>
            <a:pPr lvl="2"/>
            <a:r>
              <a:rPr lang="en-US" dirty="0"/>
              <a:t>Gene flow caused by migration</a:t>
            </a:r>
          </a:p>
          <a:p>
            <a:pPr lvl="2"/>
            <a:r>
              <a:rPr lang="en-US" dirty="0"/>
              <a:t>Natural selection (each group does ONE of the following)</a:t>
            </a:r>
          </a:p>
          <a:p>
            <a:pPr lvl="3"/>
            <a:r>
              <a:rPr lang="en-US" dirty="0"/>
              <a:t>In a predator-prey system</a:t>
            </a:r>
          </a:p>
          <a:p>
            <a:pPr lvl="3"/>
            <a:r>
              <a:rPr lang="en-US" dirty="0"/>
              <a:t>In a sickle-cell disease system</a:t>
            </a:r>
          </a:p>
          <a:p>
            <a:pPr marL="914400" lvl="2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sz="24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F4EAC-8736-EEAF-6CD7-8255F452D313}"/>
              </a:ext>
            </a:extLst>
          </p:cNvPr>
          <p:cNvSpPr txBox="1"/>
          <p:nvPr/>
        </p:nvSpPr>
        <p:spPr>
          <a:xfrm>
            <a:off x="1828800" y="76200"/>
            <a:ext cx="845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Reminders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NO QUIZ NEXT WEEK!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F0216E-AFCC-CC3D-16D2-FCDB96B03DFF}"/>
              </a:ext>
            </a:extLst>
          </p:cNvPr>
          <p:cNvSpPr txBox="1"/>
          <p:nvPr/>
        </p:nvSpPr>
        <p:spPr>
          <a:xfrm>
            <a:off x="304800" y="175984"/>
            <a:ext cx="3733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D6"/>
                </a:solidFill>
              </a:rPr>
              <a:t>Review Lab 2 before you get to lab!</a:t>
            </a:r>
          </a:p>
        </p:txBody>
      </p:sp>
    </p:spTree>
    <p:extLst>
      <p:ext uri="{BB962C8B-B14F-4D97-AF65-F5344CB8AC3E}">
        <p14:creationId xmlns:p14="http://schemas.microsoft.com/office/powerpoint/2010/main" val="312249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524001" y="5943600"/>
            <a:ext cx="9143998" cy="914400"/>
            <a:chOff x="1" y="5943600"/>
            <a:chExt cx="9143998" cy="914400"/>
          </a:xfrm>
        </p:grpSpPr>
        <p:pic>
          <p:nvPicPr>
            <p:cNvPr id="22" name="Picture 23" descr="31_11eFungalDiversity-U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4" t="2235" r="16968" b="12423"/>
            <a:stretch/>
          </p:blipFill>
          <p:spPr bwMode="auto">
            <a:xfrm>
              <a:off x="1" y="5943600"/>
              <a:ext cx="72688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9" r="2713"/>
            <a:stretch/>
          </p:blipFill>
          <p:spPr>
            <a:xfrm>
              <a:off x="726888" y="5943600"/>
              <a:ext cx="1122257" cy="914400"/>
            </a:xfrm>
            <a:prstGeom prst="rect">
              <a:avLst/>
            </a:prstGeom>
          </p:spPr>
        </p:pic>
        <p:pic>
          <p:nvPicPr>
            <p:cNvPr id="24" name="Picture 23" descr="29_05caSporangia-U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34" t="13627" r="41274" b="15053"/>
            <a:stretch/>
          </p:blipFill>
          <p:spPr bwMode="auto">
            <a:xfrm>
              <a:off x="1849145" y="5943600"/>
              <a:ext cx="77273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ntartekrecords.com/wp-content/uploads/2014/09/subterrainian-termites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88"/>
            <a:stretch/>
          </p:blipFill>
          <p:spPr bwMode="auto">
            <a:xfrm>
              <a:off x="2621878" y="5943600"/>
              <a:ext cx="1204293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https://dancinggecko.files.wordpress.com/2009/03/radishseedling.jpg?w=620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8211" r="11875" b="7741"/>
            <a:stretch/>
          </p:blipFill>
          <p:spPr bwMode="auto">
            <a:xfrm>
              <a:off x="3826172" y="5943600"/>
              <a:ext cx="99328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6" descr="http://4.bp.blogspot.com/_bRqnAEhlHik/THRL8DBxWvI/AAAAAAAAAEw/TTfncxQ_1_M/s640/large_squash2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461" y="5943600"/>
              <a:ext cx="122189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ttp://upload.wikimedia.org/wikipedia/commons/c/cb/Maize-teosinte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1358" y="5943600"/>
              <a:ext cx="760837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http://media.web.britannica.com/eb-media/55/28355-004-64219017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2195" y="5943600"/>
              <a:ext cx="1235675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0" descr="http://www.redorbit.com/media/uploads/2013/08/starfish-617x416.jpg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0" t="17402" r="17765"/>
            <a:stretch/>
          </p:blipFill>
          <p:spPr bwMode="auto">
            <a:xfrm>
              <a:off x="8037870" y="5943600"/>
              <a:ext cx="1106129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914400" y="1275186"/>
            <a:ext cx="9982199" cy="3596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Population Genetics, Evolution and the Hardy-Weinberg Principle</a:t>
            </a:r>
            <a:endParaRPr lang="en-US" sz="2000" dirty="0"/>
          </a:p>
          <a:p>
            <a:pPr lvl="1"/>
            <a:r>
              <a:rPr lang="en-US" sz="2600" dirty="0"/>
              <a:t>Exercise 3. Coat color variation in animals</a:t>
            </a:r>
            <a:r>
              <a:rPr lang="en-US" sz="2400" dirty="0"/>
              <a:t> </a:t>
            </a:r>
          </a:p>
          <a:p>
            <a:pPr marL="457200" lvl="1" indent="0">
              <a:buNone/>
            </a:pPr>
            <a:r>
              <a:rPr lang="en-US" sz="2400" dirty="0"/>
              <a:t>(on side benches)</a:t>
            </a:r>
          </a:p>
          <a:p>
            <a:pPr lvl="2"/>
            <a:r>
              <a:rPr lang="en-US" sz="2200" dirty="0"/>
              <a:t>Rock pocket mice and fox squirrel</a:t>
            </a:r>
          </a:p>
          <a:p>
            <a:pPr lvl="1"/>
            <a:endParaRPr lang="en-US" sz="2400" i="1" dirty="0"/>
          </a:p>
          <a:p>
            <a:pPr lvl="1"/>
            <a:endParaRPr lang="en-US" sz="2400" i="1" dirty="0"/>
          </a:p>
          <a:p>
            <a:pPr marL="457200" lvl="1" indent="0">
              <a:buNone/>
            </a:pPr>
            <a:r>
              <a:rPr lang="en-US" sz="2400" i="1" dirty="0">
                <a:solidFill>
                  <a:srgbClr val="FF0000"/>
                </a:solidFill>
              </a:rPr>
              <a:t>Turn in Assignment Sheet at end of Lab period (20 points)</a:t>
            </a:r>
          </a:p>
          <a:p>
            <a:pPr lvl="1"/>
            <a:endParaRPr lang="en-US" sz="2400" i="1" dirty="0"/>
          </a:p>
          <a:p>
            <a:pPr lvl="1"/>
            <a:endParaRPr lang="en-US" sz="2400" i="1" dirty="0"/>
          </a:p>
          <a:p>
            <a:pPr lvl="1"/>
            <a:endParaRPr lang="en-US" sz="2400" i="1" dirty="0"/>
          </a:p>
          <a:p>
            <a:pPr lvl="1"/>
            <a:endParaRPr lang="en-US" sz="2400" i="1" dirty="0"/>
          </a:p>
          <a:p>
            <a:pPr lvl="1"/>
            <a:endParaRPr lang="en-US" sz="24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A0C6E-6D17-34AC-71DF-D5541470E8DE}"/>
              </a:ext>
            </a:extLst>
          </p:cNvPr>
          <p:cNvSpPr txBox="1"/>
          <p:nvPr/>
        </p:nvSpPr>
        <p:spPr>
          <a:xfrm>
            <a:off x="1828800" y="76200"/>
            <a:ext cx="845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Reminders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NO QUIZ NEXT WEEK!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9ED6D-9B41-5FAB-6B7A-039462162C33}"/>
              </a:ext>
            </a:extLst>
          </p:cNvPr>
          <p:cNvSpPr txBox="1"/>
          <p:nvPr/>
        </p:nvSpPr>
        <p:spPr>
          <a:xfrm>
            <a:off x="304800" y="175984"/>
            <a:ext cx="3733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D6"/>
                </a:solidFill>
              </a:rPr>
              <a:t>Review Lab 2 before you get to lab!</a:t>
            </a:r>
          </a:p>
        </p:txBody>
      </p:sp>
    </p:spTree>
    <p:extLst>
      <p:ext uri="{BB962C8B-B14F-4D97-AF65-F5344CB8AC3E}">
        <p14:creationId xmlns:p14="http://schemas.microsoft.com/office/powerpoint/2010/main" val="4926624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Lab 02 – Practicing the Scientific Method&amp;quot;&quot;/&gt;&lt;property id=&quot;20307&quot; value=&quot;256&quot;/&gt;&lt;/object&gt;&lt;object type=&quot;3&quot; unique_id=&quot;12703&quot;&gt;&lt;property id=&quot;20148&quot; value=&quot;5&quot;/&gt;&lt;property id=&quot;20300&quot; value=&quot;Slide 3 - &amp;quot;Science is a Process&amp;quot;&quot;/&gt;&lt;property id=&quot;20307&quot; value=&quot;314&quot;/&gt;&lt;/object&gt;&lt;object type=&quot;3&quot; unique_id=&quot;12961&quot;&gt;&lt;property id=&quot;20148&quot; value=&quot;5&quot;/&gt;&lt;property id=&quot;20300&quot; value=&quot;Slide 2 - &amp;quot;In Today’s Lab…&amp;quot;&quot;/&gt;&lt;property id=&quot;20307&quot; value=&quot;315&quot;/&gt;&lt;/object&gt;&lt;object type=&quot;3&quot; unique_id=&quot;12963&quot;&gt;&lt;property id=&quot;20148&quot; value=&quot;5&quot;/&gt;&lt;property id=&quot;20300&quot; value=&quot;Slide 6 - &amp;quot;Null vs. Alternative Hypotheses&amp;quot;&quot;/&gt;&lt;property id=&quot;20307&quot; value=&quot;317&quot;/&gt;&lt;/object&gt;&lt;object type=&quot;3&quot; unique_id=&quot;12992&quot;&gt;&lt;property id=&quot;20148&quot; value=&quot;5&quot;/&gt;&lt;property id=&quot;20300&quot; value=&quot;Slide 5 - &amp;quot;Null vs. Alternative Hypotheses&amp;quot;&quot;/&gt;&lt;property id=&quot;20307&quot; value=&quot;318&quot;/&gt;&lt;/object&gt;&lt;object type=&quot;3&quot; unique_id=&quot;12993&quot;&gt;&lt;property id=&quot;20148&quot; value=&quot;5&quot;/&gt;&lt;property id=&quot;20300&quot; value=&quot;Slide 7 - &amp;quot;Science is a Process&amp;quot;&quot;/&gt;&lt;property id=&quot;20307&quot; value=&quot;319&quot;/&gt;&lt;/object&gt;&lt;object type=&quot;3&quot; unique_id=&quot;13057&quot;&gt;&lt;property id=&quot;20148&quot; value=&quot;5&quot;/&gt;&lt;property id=&quot;20300&quot; value=&quot;Slide 8 - &amp;quot;Entering Equations in Excel&amp;quot;&quot;/&gt;&lt;property id=&quot;20307&quot; value=&quot;320&quot;/&gt;&lt;/object&gt;&lt;object type=&quot;3&quot; unique_id=&quot;13068&quot;&gt;&lt;property id=&quot;20148&quot; value=&quot;5&quot;/&gt;&lt;property id=&quot;20300&quot; value=&quot;Slide 4 - &amp;quot;Hypothesis Testing&amp;quot;&quot;/&gt;&lt;property id=&quot;20307&quot; value=&quot;321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a3debf8-bfb3-4e2a-9540-36d8cad61acc">
      <Terms xmlns="http://schemas.microsoft.com/office/infopath/2007/PartnerControls"/>
    </lcf76f155ced4ddcb4097134ff3c332f>
    <TaxCatchAll xmlns="7003c64d-e6d3-4008-b37b-8dcb739b059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46E5A3E9C7FC429CBF6AF21B67FB00" ma:contentTypeVersion="20" ma:contentTypeDescription="Create a new document." ma:contentTypeScope="" ma:versionID="d4deb3b96f28184c5df6ed6c8c116478">
  <xsd:schema xmlns:xsd="http://www.w3.org/2001/XMLSchema" xmlns:xs="http://www.w3.org/2001/XMLSchema" xmlns:p="http://schemas.microsoft.com/office/2006/metadata/properties" xmlns:ns2="0a3debf8-bfb3-4e2a-9540-36d8cad61acc" xmlns:ns3="7003c64d-e6d3-4008-b37b-8dcb739b0592" targetNamespace="http://schemas.microsoft.com/office/2006/metadata/properties" ma:root="true" ma:fieldsID="9748303cafa14a9999819ab155966217" ns2:_="" ns3:_="">
    <xsd:import namespace="0a3debf8-bfb3-4e2a-9540-36d8cad61acc"/>
    <xsd:import namespace="7003c64d-e6d3-4008-b37b-8dcb739b05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3debf8-bfb3-4e2a-9540-36d8cad61a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7fa96fb-b0ee-4967-af60-c778f60915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3c64d-e6d3-4008-b37b-8dcb739b059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f0bd993-5cdf-4aea-a3de-9641f7e3ffe2}" ma:internalName="TaxCatchAll" ma:showField="CatchAllData" ma:web="7003c64d-e6d3-4008-b37b-8dcb739b05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3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/>
</file>

<file path=customXml/itemProps1.xml><?xml version="1.0" encoding="utf-8"?>
<ds:datastoreItem xmlns:ds="http://schemas.openxmlformats.org/officeDocument/2006/customXml" ds:itemID="{B9E91FE2-0ABC-49C6-AB84-7621DE5B07E6}">
  <ds:schemaRefs>
    <ds:schemaRef ds:uri="http://schemas.microsoft.com/office/2006/metadata/properties"/>
    <ds:schemaRef ds:uri="http://schemas.microsoft.com/office/infopath/2007/PartnerControls"/>
    <ds:schemaRef ds:uri="f77bcdf1-20e2-41e0-baf4-b4ad2893c760"/>
    <ds:schemaRef ds:uri="9cd26ddd-bd77-4774-8487-dbd52e2b790d"/>
    <ds:schemaRef ds:uri="0a3debf8-bfb3-4e2a-9540-36d8cad61acc"/>
    <ds:schemaRef ds:uri="7003c64d-e6d3-4008-b37b-8dcb739b0592"/>
  </ds:schemaRefs>
</ds:datastoreItem>
</file>

<file path=customXml/itemProps2.xml><?xml version="1.0" encoding="utf-8"?>
<ds:datastoreItem xmlns:ds="http://schemas.openxmlformats.org/officeDocument/2006/customXml" ds:itemID="{B320F2B5-544A-460A-A215-907701256F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3debf8-bfb3-4e2a-9540-36d8cad61acc"/>
    <ds:schemaRef ds:uri="7003c64d-e6d3-4008-b37b-8dcb739b05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1DA85D-B83F-4956-99B9-AE072415FDE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1305</TotalTime>
  <Words>1809</Words>
  <Application>Microsoft Office PowerPoint</Application>
  <PresentationFormat>Widescreen</PresentationFormat>
  <Paragraphs>380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Practicing the Scientific Method</vt:lpstr>
      <vt:lpstr>PowerPoint Presentation</vt:lpstr>
      <vt:lpstr>Pre/Post-lab Quiz Questions</vt:lpstr>
      <vt:lpstr>Pre/Post-lab Quiz NO QUIZ THIS WEEK! Turn in your Introduction writing assignment</vt:lpstr>
      <vt:lpstr>Practicing the Scientific Method</vt:lpstr>
      <vt:lpstr>In Today’s Lab…</vt:lpstr>
      <vt:lpstr>Science is a Process</vt:lpstr>
      <vt:lpstr>Experimental Design</vt:lpstr>
      <vt:lpstr>Hypothesis Testing</vt:lpstr>
      <vt:lpstr>Null vs. Alternative Hypotheses</vt:lpstr>
      <vt:lpstr>Null vs. Alternative Hypotheses</vt:lpstr>
      <vt:lpstr>In Today’s Lab…</vt:lpstr>
      <vt:lpstr>In Today’s Lab…</vt:lpstr>
      <vt:lpstr>Exercise 2. Statistics</vt:lpstr>
      <vt:lpstr>Exercise 2. Statistics</vt:lpstr>
      <vt:lpstr>Exercise 2. Statistics</vt:lpstr>
      <vt:lpstr>Exercise 2. Statistics</vt:lpstr>
      <vt:lpstr>Exercise 2. Statistics</vt:lpstr>
      <vt:lpstr>Exercise 2. Statistics</vt:lpstr>
      <vt:lpstr>Exercise 2. Statistics</vt:lpstr>
      <vt:lpstr>PowerPoint Presentation</vt:lpstr>
      <vt:lpstr>PowerPoint Presentation</vt:lpstr>
    </vt:vector>
  </TitlesOfParts>
  <Company>uno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 22 – Descent with Modification</dc:title>
  <dc:creator>uno user</dc:creator>
  <cp:lastModifiedBy>Travis Robbins</cp:lastModifiedBy>
  <cp:revision>105</cp:revision>
  <dcterms:created xsi:type="dcterms:W3CDTF">2011-12-26T16:38:39Z</dcterms:created>
  <dcterms:modified xsi:type="dcterms:W3CDTF">2026-01-11T19:46:05Z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0x0101005146E5A3E9C7FC429CBF6AF21B67FB00</vt:lpwstr>
  </property>
  <property fmtid="{D5CDD505-2E9C-101B-9397-08002B2CF9AE}" pid="3" name="MediaServiceImageTags">
    <vt:lpwstr/>
  </property>
  <property fmtid="{D5CDD505-2E9C-101B-9397-08002B2CF9AE}" pid="4" name="_ExtendedDescription">
    <vt:lpwstr/>
  </property>
</Properties>
</file>